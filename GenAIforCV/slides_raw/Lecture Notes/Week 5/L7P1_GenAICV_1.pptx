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15" r:id="rId2"/>
    <p:sldId id="260" r:id="rId3"/>
    <p:sldId id="259" r:id="rId4"/>
    <p:sldId id="325" r:id="rId5"/>
    <p:sldId id="326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0" r:id="rId21"/>
    <p:sldId id="271" r:id="rId22"/>
    <p:sldId id="269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316" r:id="rId37"/>
    <p:sldId id="31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84CAA-5E00-42CD-95AB-870C745FCD4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496A1-00F0-408D-8DB4-C0D846E68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983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1BEF32-3B57-4ADA-8EA1-31BB3F8302E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342A-4C33-4CAA-AB98-645DB626D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45E98-47C7-4C99-8498-19D021F37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3CF2C-A60E-481D-8DEF-9D20A591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BE25D-28F5-4573-8EEE-6858FB82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78CB2-E564-4017-9817-DE7C9954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17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3680-9DAE-4529-8B3C-39CDF6B6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846BD-D29A-4B69-822E-6A6FCC5AC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C963-5727-4E1B-A6C2-274F8D94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3F64F-8C70-487F-94D1-BBFF7C0A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1D10A-F634-4F37-9DCE-100EE21B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892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7214-554A-446D-A4FF-167CAABF9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F686A-2686-4F71-9D69-6DCCC6616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49DBD-DA81-4348-8F67-0A133A90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EEAC8-58AE-402E-B6A3-26D6378D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4F130-04AC-4E3F-86E3-041E0323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751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997A-B2FC-4172-ADA6-7B1D0C06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5C07B-77DD-4C5E-8050-7690660FE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04064-BC87-45D5-B2E0-DA60799BD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203C3-9E02-4610-B258-0060815EB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71593-8278-4726-B98A-5EAF2EB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6117D-0D4F-4B1E-8759-BBE7735C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40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80EB-D96B-409B-8ACF-E3C28B4E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88D0A-F135-4B5F-984D-520555C60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8ED9F-6632-4B79-B927-F0A843BA9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645FE-853C-40A4-8A8B-15F2CFBA3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67F15-2231-4EF6-9A3D-14E944E5B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1426D-FA62-4757-AB65-1A51FB2B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B42ECD-86F3-46F4-B90A-4FDFB4A7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AF804-AAED-4818-B9B0-A99F2EB2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79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AC51-EB30-46A3-916B-E4B624E3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1AFFD-0D2B-4A4A-A187-36180D566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8B100-578E-4C0D-AA63-C77D1829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CC3ED-45AD-4CD3-8826-669F3983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51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B6EC2-9FD0-4D9E-A8F5-B57C56F9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8475C-4E08-4B50-9A6C-A044CA5B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2B089-7B01-4D6B-9FFC-A311AD48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45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B770-6356-410D-BE89-46EB8D94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9F623-3DBC-48AD-98AB-3FCAEF7F1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6B5CC-508D-4861-8D53-E20CD303E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A4DC5-788C-45FD-979B-7340675EE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103ED-79D1-4E31-B2D6-D8DEC2BB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78A79-77AE-485E-B3B6-8D917C9D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86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C3C8-E517-4646-8CEC-9F272DDA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C6616-8CBE-44DE-A490-81BE0978C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1A635-DB66-4F89-9222-DC8108CA7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0A0C1-05E0-4754-8788-ACE853FD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60882-2C52-451E-8603-A3FC1180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F991A-D13D-4709-B76C-08F6FA10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80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83E4-FB92-4B43-A656-FFA3EE05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1C476-EE6A-470D-9FC0-7526745F9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D6154-CADA-44DD-B981-BC2A5532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09FDC-BB7E-414D-85FD-4A22DAAB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4CF16-28EC-4D75-8B54-27A49825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40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A0A32-06BC-44A7-928B-9138D3125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6BAE4-647D-447C-8630-11BC41D7F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165E9-7B3A-44CD-A533-CC8B937A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D59F-6B36-4954-B7AF-4E5D328F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94A30-1225-48A0-8302-81D7AFFE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37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45BB1-7D17-484A-A328-BC23908E9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30DED-6D0E-42B8-A1E6-6FF698831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AC55-8FEF-4561-B629-C47B4C345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D5443-476C-4E79-B61F-E398950ACFA8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3FB74-ADDC-4205-98B8-F2EFC86FC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6511-DF30-410C-B414-983D428B8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EF5BF-BDB7-4642-940F-908AF6C58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78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57022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Generative AI for Vision Tasks </a:t>
            </a: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- I</a:t>
            </a:r>
            <a:br>
              <a:rPr lang="en-IN" sz="4000" dirty="0"/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7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70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496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Computer Vision: Definition</a:t>
            </a:r>
          </a:p>
          <a:p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Applications of Computer Vision</a:t>
            </a:r>
          </a:p>
          <a:p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Challenges of Computer Vision</a:t>
            </a:r>
          </a:p>
          <a:p>
            <a:pPr marL="0" indent="0">
              <a:buNone/>
            </a:pPr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Generative AI for Vision Tasks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Image classification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Object Detection</a:t>
            </a:r>
          </a:p>
          <a:p>
            <a:pPr lvl="1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Semantic and Instance Segmentation</a:t>
            </a:r>
          </a:p>
          <a:p>
            <a:pPr lvl="1"/>
            <a:r>
              <a:rPr lang="en-IN" sz="2000" dirty="0">
                <a:latin typeface="Arial Narrow" panose="020B0606020202030204" pitchFamily="34" charset="0"/>
              </a:rPr>
              <a:t>Image super-resolution</a:t>
            </a:r>
          </a:p>
          <a:p>
            <a:pPr lvl="1"/>
            <a:r>
              <a:rPr lang="en-IN" sz="2000" dirty="0">
                <a:latin typeface="Arial Narrow" panose="020B0606020202030204" pitchFamily="34" charset="0"/>
              </a:rPr>
              <a:t>Image In-painting</a:t>
            </a:r>
          </a:p>
        </p:txBody>
      </p:sp>
    </p:spTree>
    <p:extLst>
      <p:ext uri="{BB962C8B-B14F-4D97-AF65-F5344CB8AC3E}">
        <p14:creationId xmlns:p14="http://schemas.microsoft.com/office/powerpoint/2010/main" val="92063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1DC580-39A7-45DF-99D0-6FC46D00738C}"/>
              </a:ext>
            </a:extLst>
          </p:cNvPr>
          <p:cNvSpPr txBox="1"/>
          <p:nvPr/>
        </p:nvSpPr>
        <p:spPr>
          <a:xfrm>
            <a:off x="7636444" y="3087252"/>
            <a:ext cx="4456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itchFamily="18" charset="0"/>
              </a:rPr>
              <a:t>Interpretation: </a:t>
            </a:r>
          </a:p>
          <a:p>
            <a:pPr algn="ctr"/>
            <a:r>
              <a:rPr lang="en-IN" sz="24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itchFamily="18" charset="0"/>
              </a:rPr>
              <a:t>Colour Image, Human, Lady, </a:t>
            </a:r>
          </a:p>
          <a:p>
            <a:pPr algn="ctr"/>
            <a:r>
              <a:rPr lang="en-IN" sz="24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itchFamily="18" charset="0"/>
              </a:rPr>
              <a:t>Monalisa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CA133-DD26-4208-B1D5-9C332839F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720" y="1768810"/>
            <a:ext cx="1247949" cy="1276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F53CCD-E252-459F-A23E-EFBBEF5BB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797" y="3045338"/>
            <a:ext cx="1247949" cy="1845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5652A4-73E1-48E1-8308-44CC06DB5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17" y="4389560"/>
            <a:ext cx="1343212" cy="1409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7C9FF4-5DE4-42DA-A556-96B5C17A4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8001" y="1916468"/>
            <a:ext cx="1571844" cy="981212"/>
          </a:xfrm>
          <a:prstGeom prst="rect">
            <a:avLst/>
          </a:prstGeom>
        </p:spPr>
      </p:pic>
      <p:pic>
        <p:nvPicPr>
          <p:cNvPr id="9" name="Picture 8" descr="robot.jpeg">
            <a:extLst>
              <a:ext uri="{FF2B5EF4-FFF2-40B4-BE49-F238E27FC236}">
                <a16:creationId xmlns:a16="http://schemas.microsoft.com/office/drawing/2014/main" id="{BA147DF6-C431-4832-8CB5-B46075F7B11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24212" y="4251195"/>
            <a:ext cx="1604963" cy="160496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8C9211-3800-401A-92F5-7416CFD955E4}"/>
              </a:ext>
            </a:extLst>
          </p:cNvPr>
          <p:cNvCxnSpPr/>
          <p:nvPr/>
        </p:nvCxnSpPr>
        <p:spPr>
          <a:xfrm flipV="1">
            <a:off x="2566652" y="2633972"/>
            <a:ext cx="641349" cy="304657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C9965B-0DD0-45E8-9506-5834D8F741C7}"/>
              </a:ext>
            </a:extLst>
          </p:cNvPr>
          <p:cNvCxnSpPr/>
          <p:nvPr/>
        </p:nvCxnSpPr>
        <p:spPr>
          <a:xfrm>
            <a:off x="4932780" y="2407074"/>
            <a:ext cx="74619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ABF304-6617-4EF0-806F-9018334DFFCA}"/>
              </a:ext>
            </a:extLst>
          </p:cNvPr>
          <p:cNvCxnSpPr/>
          <p:nvPr/>
        </p:nvCxnSpPr>
        <p:spPr>
          <a:xfrm>
            <a:off x="2472384" y="4774932"/>
            <a:ext cx="735617" cy="297738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D64B3F-4152-454D-B6C2-39CF2057B3AB}"/>
              </a:ext>
            </a:extLst>
          </p:cNvPr>
          <p:cNvCxnSpPr/>
          <p:nvPr/>
        </p:nvCxnSpPr>
        <p:spPr>
          <a:xfrm>
            <a:off x="4863932" y="5094508"/>
            <a:ext cx="815038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B65BD8-BC65-4889-B327-C45AB6145F58}"/>
              </a:ext>
            </a:extLst>
          </p:cNvPr>
          <p:cNvCxnSpPr/>
          <p:nvPr/>
        </p:nvCxnSpPr>
        <p:spPr>
          <a:xfrm>
            <a:off x="7329175" y="2515443"/>
            <a:ext cx="978400" cy="63826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A126B0-26A6-4710-8DAC-23374AEAA22A}"/>
              </a:ext>
            </a:extLst>
          </p:cNvPr>
          <p:cNvCxnSpPr/>
          <p:nvPr/>
        </p:nvCxnSpPr>
        <p:spPr>
          <a:xfrm flipV="1">
            <a:off x="7324169" y="4251194"/>
            <a:ext cx="1059255" cy="788572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21D3DBF8-35C4-476C-9ED7-BCEC37B2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  <a:cs typeface="Arial" panose="020B0604020202020204" pitchFamily="34" charset="0"/>
              </a:rPr>
              <a:t>What is Computer Vision?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A59C85-0625-4041-A9A7-6EF2B94CEBD9}"/>
              </a:ext>
            </a:extLst>
          </p:cNvPr>
          <p:cNvSpPr txBox="1"/>
          <p:nvPr/>
        </p:nvSpPr>
        <p:spPr>
          <a:xfrm>
            <a:off x="9852991" y="6413362"/>
            <a:ext cx="2339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Source: Internet</a:t>
            </a:r>
          </a:p>
        </p:txBody>
      </p:sp>
    </p:spTree>
    <p:extLst>
      <p:ext uri="{BB962C8B-B14F-4D97-AF65-F5344CB8AC3E}">
        <p14:creationId xmlns:p14="http://schemas.microsoft.com/office/powerpoint/2010/main" val="240635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2F7D-4220-4B1B-AE02-694E0569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IN" sz="4000" dirty="0">
                <a:latin typeface="Century" panose="02040604050505020304" pitchFamily="18" charset="0"/>
                <a:cs typeface="Times New Roman" panose="02020603050405020304" pitchFamily="18" charset="0"/>
              </a:rPr>
              <a:t>Applications of Computer Vision</a:t>
            </a:r>
            <a:b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55780-F5D1-4DDD-9C9D-9B7D41536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5305" cy="4351338"/>
          </a:xfrm>
        </p:spPr>
        <p:txBody>
          <a:bodyPr>
            <a:normAutofit fontScale="85000" lnSpcReduction="10000"/>
          </a:bodyPr>
          <a:lstStyle/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Face Recognition</a:t>
            </a:r>
            <a:r>
              <a:rPr lang="en-US" sz="2600" dirty="0">
                <a:latin typeface="Arial Narrow" panose="020B0606020202030204" pitchFamily="34" charset="0"/>
              </a:rPr>
              <a:t> – Used for security, authentication, and unlocking devices.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Medical Imaging</a:t>
            </a:r>
            <a:r>
              <a:rPr lang="en-US" sz="2600" dirty="0">
                <a:latin typeface="Arial Narrow" panose="020B0606020202030204" pitchFamily="34" charset="0"/>
              </a:rPr>
              <a:t> – Helps doctors detect diseases from X-rays, CT scans, and MRI images.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Autonomous Vehicles</a:t>
            </a:r>
            <a:r>
              <a:rPr lang="en-US" sz="2600" dirty="0">
                <a:latin typeface="Arial Narrow" panose="020B0606020202030204" pitchFamily="34" charset="0"/>
              </a:rPr>
              <a:t> – Enables vehicles to detect roads, pedestrians, traffic signs, and other vehicles.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Surveillance and Security</a:t>
            </a:r>
            <a:r>
              <a:rPr lang="en-US" sz="2600" dirty="0">
                <a:latin typeface="Arial Narrow" panose="020B0606020202030204" pitchFamily="34" charset="0"/>
              </a:rPr>
              <a:t> – Used to monitor activities and detect suspicious behavior.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Object Detection</a:t>
            </a:r>
            <a:r>
              <a:rPr lang="en-US" sz="2600" dirty="0">
                <a:latin typeface="Arial Narrow" panose="020B0606020202030204" pitchFamily="34" charset="0"/>
              </a:rPr>
              <a:t> – Identifies and locates objects in images and videos.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Agriculture</a:t>
            </a:r>
            <a:r>
              <a:rPr lang="en-US" sz="2600" dirty="0">
                <a:latin typeface="Arial Narrow" panose="020B0606020202030204" pitchFamily="34" charset="0"/>
              </a:rPr>
              <a:t> – Helps detect crop diseases, weeds, and monitor plant growth.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Manufacturing</a:t>
            </a:r>
            <a:r>
              <a:rPr lang="en-US" sz="2600" dirty="0">
                <a:latin typeface="Arial Narrow" panose="020B0606020202030204" pitchFamily="34" charset="0"/>
              </a:rPr>
              <a:t> – Used for quality inspection and detecting defects in products.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Optical Character Recognition (OCR) </a:t>
            </a:r>
            <a:r>
              <a:rPr lang="en-US" sz="2600" dirty="0">
                <a:latin typeface="Arial Narrow" panose="020B0606020202030204" pitchFamily="34" charset="0"/>
              </a:rPr>
              <a:t>– Converts printed or handwritten text in images into digital text.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Augmented Reality (AR) </a:t>
            </a:r>
            <a:r>
              <a:rPr lang="en-US" sz="2600" dirty="0">
                <a:latin typeface="Arial Narrow" panose="020B0606020202030204" pitchFamily="34" charset="0"/>
              </a:rPr>
              <a:t>– Recognizes objects and environments to place virtual elements accurately.</a:t>
            </a:r>
          </a:p>
          <a:p>
            <a:r>
              <a:rPr lang="en-US" sz="2600" dirty="0">
                <a:solidFill>
                  <a:srgbClr val="7030A0"/>
                </a:solidFill>
                <a:latin typeface="Arial Narrow" panose="020B0606020202030204" pitchFamily="34" charset="0"/>
              </a:rPr>
              <a:t>Robotics</a:t>
            </a:r>
            <a:r>
              <a:rPr lang="en-US" sz="2600" dirty="0">
                <a:latin typeface="Arial Narrow" panose="020B0606020202030204" pitchFamily="34" charset="0"/>
              </a:rPr>
              <a:t> – Helps robots understand and interact with their surroundings.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91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C9A9-3583-46DD-BBA4-3A43CA9F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Challenges in Computer Vision</a:t>
            </a: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EEC24-8181-4DF8-AB3D-D98E85D44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Viewpoint variation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Scale variation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Deformation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Occlusion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Illumination conditions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Background clutter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Intra-class variation, etc.</a:t>
            </a:r>
          </a:p>
        </p:txBody>
      </p:sp>
    </p:spTree>
    <p:extLst>
      <p:ext uri="{BB962C8B-B14F-4D97-AF65-F5344CB8AC3E}">
        <p14:creationId xmlns:p14="http://schemas.microsoft.com/office/powerpoint/2010/main" val="234693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D561-6525-4811-9D5B-49518A71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Viewpoint Variation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F776F-2E0E-4076-A7F1-439186DC6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84"/>
            <a:ext cx="10515600" cy="206764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Viewpoint variation</a:t>
            </a:r>
            <a:r>
              <a:rPr lang="en-US" sz="2000" dirty="0">
                <a:latin typeface="Arial Narrow" panose="020B0606020202030204" pitchFamily="34" charset="0"/>
              </a:rPr>
              <a:t> is an important challenge in computer vision because an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object can look very different when viewed from different angles or positions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Changes in viewpoint can alter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object's shape, size, visible features, and perspective</a:t>
            </a:r>
            <a:r>
              <a:rPr lang="en-US" sz="2000" dirty="0">
                <a:latin typeface="Arial Narrow" panose="020B0606020202030204" pitchFamily="34" charset="0"/>
              </a:rPr>
              <a:t>, while some parts may become hidden or occluded.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For example,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 car viewed from the front looks different from the same car viewed from the side</a:t>
            </a:r>
            <a:r>
              <a:rPr lang="en-US" sz="2000" dirty="0">
                <a:latin typeface="Arial Narrow" panose="020B0606020202030204" pitchFamily="34" charset="0"/>
              </a:rPr>
              <a:t>. Therefore, computer vision systems need to recognize objects accurately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despite these changes in viewpoint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BA7570-A34F-4479-B986-02AB00DCE344}"/>
              </a:ext>
            </a:extLst>
          </p:cNvPr>
          <p:cNvSpPr/>
          <p:nvPr/>
        </p:nvSpPr>
        <p:spPr>
          <a:xfrm>
            <a:off x="219958" y="6396335"/>
            <a:ext cx="111338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</a:rPr>
              <a:t>Luna, Elena &amp; </a:t>
            </a:r>
            <a:r>
              <a:rPr lang="en-IN" sz="1200" dirty="0" err="1">
                <a:latin typeface="Arial Narrow" panose="020B0606020202030204" pitchFamily="34" charset="0"/>
              </a:rPr>
              <a:t>Sanmiguel</a:t>
            </a:r>
            <a:r>
              <a:rPr lang="en-IN" sz="1200" dirty="0">
                <a:latin typeface="Arial Narrow" panose="020B0606020202030204" pitchFamily="34" charset="0"/>
              </a:rPr>
              <a:t>, J.C. &amp; Martínez, José &amp; Escudero-</a:t>
            </a:r>
            <a:r>
              <a:rPr lang="en-IN" sz="1200" dirty="0" err="1">
                <a:latin typeface="Arial Narrow" panose="020B0606020202030204" pitchFamily="34" charset="0"/>
              </a:rPr>
              <a:t>Viñolo</a:t>
            </a:r>
            <a:r>
              <a:rPr lang="en-IN" sz="1200" dirty="0">
                <a:latin typeface="Arial Narrow" panose="020B0606020202030204" pitchFamily="34" charset="0"/>
              </a:rPr>
              <a:t>, Marcos. (2022). Online clustering-based multi-camera vehicle tracking in scenarios with overlapping FOVs. Multimedia Tools and Applications. 81. 1-21. 10.1007/s11042-022-11923-2.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BE252-2B97-431D-8BDD-779A00A22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89889"/>
            <a:ext cx="1657581" cy="2000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3A164-D764-4D90-8BA2-2487D2A84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628" y="4285231"/>
            <a:ext cx="2086266" cy="120984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520086-05C6-44F3-A089-B973A0F3DBA4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495781" y="4890153"/>
            <a:ext cx="78484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ED5EC8A-89B3-42BD-B7DA-D886527CD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420" y="3887625"/>
            <a:ext cx="1829055" cy="20005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A8690-DEFB-4328-AB86-F6F8C8894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2322" y="4247750"/>
            <a:ext cx="2191056" cy="121937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94CD27-D91B-4391-925F-327877CD8860}"/>
              </a:ext>
            </a:extLst>
          </p:cNvPr>
          <p:cNvCxnSpPr/>
          <p:nvPr/>
        </p:nvCxnSpPr>
        <p:spPr>
          <a:xfrm flipV="1">
            <a:off x="8047475" y="4831879"/>
            <a:ext cx="78484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881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B38E8-944F-409C-A49A-B5399247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r>
              <a:rPr lang="en-IN" sz="4000" dirty="0">
                <a:latin typeface="Century" panose="02040604050505020304" pitchFamily="18" charset="0"/>
                <a:cs typeface="Times New Roman" panose="02020603050405020304" pitchFamily="18" charset="0"/>
              </a:rPr>
              <a:t>Scale Variation</a:t>
            </a:r>
            <a:b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266AC-C679-4134-9492-B21B75BA9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992"/>
            <a:ext cx="5138394" cy="474937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Scale change</a:t>
            </a:r>
            <a:r>
              <a:rPr lang="en-US" dirty="0">
                <a:latin typeface="Arial Narrow" panose="020B0606020202030204" pitchFamily="34" charset="0"/>
              </a:rPr>
              <a:t> is a common challenge in computer vision because the same object can appear at different sizes in an image depending on its distance from the camera.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For example, a car may appear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large when standing near the camera and very small when far away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This change in size can make object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detection</a:t>
            </a:r>
            <a:r>
              <a:rPr lang="en-US" dirty="0">
                <a:latin typeface="Arial Narrow" panose="020B0606020202030204" pitchFamily="34" charset="0"/>
              </a:rPr>
              <a:t> and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recognition difficult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Computer vision systems must therefore be able to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recognize objects accurately at different scales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ED04B-A417-4D5E-B337-68384B235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458" y="1690688"/>
            <a:ext cx="1657581" cy="2000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CB96B5-43B7-4A55-81D4-12259F90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12" y="2859800"/>
            <a:ext cx="2769944" cy="334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6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03194-A410-4CCB-8878-70ADB72E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Object Deformities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93292-5BAF-491E-A91E-779D833D4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391400" cy="3996681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Object deformities</a:t>
            </a:r>
            <a:r>
              <a:rPr lang="en-US" sz="2200" dirty="0">
                <a:latin typeface="Arial Narrow" panose="020B0606020202030204" pitchFamily="34" charset="0"/>
              </a:rPr>
              <a:t> are a challenge in computer vision because the shape and appearance of an object can change when it bends, stretches, moves, or changes its posture.</a:t>
            </a:r>
          </a:p>
          <a:p>
            <a:pPr marL="0" indent="0" algn="just">
              <a:buNone/>
            </a:pPr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For example, a person can sit, stand, or bend, causing their shape to look very different in an image.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These changes make object detection and recognition difficult.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Computer vision systems must therefore learn to recognize objects even when their shape or structure is deformed.</a:t>
            </a:r>
            <a:endParaRPr lang="en-IN" sz="2200" dirty="0">
              <a:latin typeface="Arial Narrow" panose="020B06060202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683A0-F295-4DD1-BD07-AC8DDA8AA26B}"/>
              </a:ext>
            </a:extLst>
          </p:cNvPr>
          <p:cNvSpPr/>
          <p:nvPr/>
        </p:nvSpPr>
        <p:spPr>
          <a:xfrm>
            <a:off x="182251" y="6354375"/>
            <a:ext cx="111715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</a:rPr>
              <a:t>Dhana </a:t>
            </a:r>
            <a:r>
              <a:rPr lang="en-IN" sz="1200" dirty="0" err="1">
                <a:latin typeface="Arial Narrow" panose="020B0606020202030204" pitchFamily="34" charset="0"/>
              </a:rPr>
              <a:t>Frerichs</a:t>
            </a:r>
            <a:r>
              <a:rPr lang="en-IN" sz="1200" dirty="0">
                <a:latin typeface="Arial Narrow" panose="020B0606020202030204" pitchFamily="34" charset="0"/>
              </a:rPr>
              <a:t>, Andrew Vidler, Christos </a:t>
            </a:r>
            <a:r>
              <a:rPr lang="en-IN" sz="1200" dirty="0" err="1">
                <a:latin typeface="Arial Narrow" panose="020B0606020202030204" pitchFamily="34" charset="0"/>
              </a:rPr>
              <a:t>Gatzidis</a:t>
            </a:r>
            <a:r>
              <a:rPr lang="en-IN" sz="1200" dirty="0">
                <a:latin typeface="Arial Narrow" panose="020B0606020202030204" pitchFamily="34" charset="0"/>
              </a:rPr>
              <a:t>, “A survey on object deformation and decomposition in computer graphics, Computers &amp; Graphics”, Volume 52, 2015, Pages 18-32, ISSN 0097-8493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BD18F-05C5-45D5-8AD4-3669075E2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852" y="2000051"/>
            <a:ext cx="1895740" cy="1428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DC591-4AF9-401F-8143-3C5702C0E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852" y="4112399"/>
            <a:ext cx="1895740" cy="1409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0F8C12-556B-4C1C-9453-2662C38C6A9B}"/>
              </a:ext>
            </a:extLst>
          </p:cNvPr>
          <p:cNvSpPr txBox="1"/>
          <p:nvPr/>
        </p:nvSpPr>
        <p:spPr>
          <a:xfrm>
            <a:off x="9115720" y="3563332"/>
            <a:ext cx="1555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Actual Object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139BD-3C82-4ECB-B7E1-96FEE2311BA0}"/>
              </a:ext>
            </a:extLst>
          </p:cNvPr>
          <p:cNvSpPr txBox="1"/>
          <p:nvPr/>
        </p:nvSpPr>
        <p:spPr>
          <a:xfrm>
            <a:off x="9021452" y="5651540"/>
            <a:ext cx="179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Deformed Object</a:t>
            </a:r>
          </a:p>
        </p:txBody>
      </p:sp>
    </p:spTree>
    <p:extLst>
      <p:ext uri="{BB962C8B-B14F-4D97-AF65-F5344CB8AC3E}">
        <p14:creationId xmlns:p14="http://schemas.microsoft.com/office/powerpoint/2010/main" val="237475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A68C-7054-4CDB-A97A-16F96421B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Occlusion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7787E-9356-421B-AD16-74041F270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93"/>
            <a:ext cx="4552446" cy="4857979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Occlusion</a:t>
            </a:r>
            <a:r>
              <a:rPr lang="en-US" sz="2000" dirty="0">
                <a:latin typeface="Arial Narrow" panose="020B0606020202030204" pitchFamily="34" charset="0"/>
              </a:rPr>
              <a:t> is a major challenge in computer vision that occurs when one object partially or completely blocks another object from view.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For example, a person may be hidden behind another person or an object may be covered by a vehicle.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makes it difficult for computer vision systems to identify and recognize the hidden object correctly.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Therefore, systems need to detect objects even when only a part of them is visible.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FDE8F-4CEA-43DC-8D95-7731270A2AA9}"/>
              </a:ext>
            </a:extLst>
          </p:cNvPr>
          <p:cNvSpPr txBox="1"/>
          <p:nvPr/>
        </p:nvSpPr>
        <p:spPr>
          <a:xfrm>
            <a:off x="5645170" y="5754211"/>
            <a:ext cx="6452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Source: Zohra, </a:t>
            </a:r>
            <a:r>
              <a:rPr lang="en-IN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Fatema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Tuz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&amp; Rahman, Md </a:t>
            </a:r>
            <a:r>
              <a:rPr lang="en-IN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Wasiur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&amp; Gavrilova, Marina. (2016). Occlusion Detection and Localization from Kinect Depth Images. 189-196. 10.1109/CW.2016.40. </a:t>
            </a:r>
          </a:p>
        </p:txBody>
      </p:sp>
      <p:pic>
        <p:nvPicPr>
          <p:cNvPr id="5" name="Picture 4" descr="Example of occluded RGB facial images from EURECOM Kinect Face dataset [20]. (a) occlusion by paper, and (b) occlusion by hand. (Color figure online)">
            <a:extLst>
              <a:ext uri="{FF2B5EF4-FFF2-40B4-BE49-F238E27FC236}">
                <a16:creationId xmlns:a16="http://schemas.microsoft.com/office/drawing/2014/main" id="{5D2C1A91-78C7-4AC2-8630-A11F7999F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170" y="2072168"/>
            <a:ext cx="6373281" cy="314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65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7E7B-6E86-4B05-BBB7-7F1A3EBE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Illumination Changes</a:t>
            </a:r>
            <a:b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</a:br>
            <a:endParaRPr lang="en-IN" sz="1300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BB5B4-F9A3-4910-97A1-73593CAC8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992"/>
            <a:ext cx="6835219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Illumination changes</a:t>
            </a:r>
            <a:r>
              <a:rPr lang="en-US" sz="2000" dirty="0">
                <a:latin typeface="Arial Narrow" panose="020B0606020202030204" pitchFamily="34" charset="0"/>
              </a:rPr>
              <a:t> are an important challenge in computer vision because the appearance of an object can change under different lighting conditions.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Bright sunlight, darkness, shadows, or artificial light can affect the color, brightness, and visibility of objects in an image.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For example, the same person may look different in daylight and low light. </a:t>
            </a:r>
          </a:p>
          <a:p>
            <a:pPr marL="0" indent="0" algn="just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These changes can make object detection and recognition difficult for computer vision systems.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72D804-6530-4C2D-A0C0-4C1082BC3625}"/>
              </a:ext>
            </a:extLst>
          </p:cNvPr>
          <p:cNvSpPr/>
          <p:nvPr/>
        </p:nvSpPr>
        <p:spPr>
          <a:xfrm>
            <a:off x="691300" y="6492875"/>
            <a:ext cx="102626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Source: </a:t>
            </a:r>
            <a:r>
              <a:rPr lang="en-IN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Belhumeur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, Peter &amp; </a:t>
            </a:r>
            <a:r>
              <a:rPr lang="en-IN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Hespanha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, Joao &amp; Kriegman, David. (2005). Eigenfaces vs. </a:t>
            </a:r>
            <a:r>
              <a:rPr lang="en-IN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Fisherfaces</a:t>
            </a:r>
            <a:r>
              <a:rPr lang="en-IN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: Recognition using class specific linear projection. 10.1007/BFb0015522.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2F01A6-B847-486A-8223-905A817A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20" y="1585360"/>
            <a:ext cx="2591162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1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D0-38F2-4C4B-A873-BC068C77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Background Clutter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F064D-10A1-4F18-9464-6296BC9FF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7309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Background clutter</a:t>
            </a:r>
            <a:r>
              <a:rPr lang="en-US" sz="2000" dirty="0">
                <a:latin typeface="Arial Narrow" panose="020B0606020202030204" pitchFamily="34" charset="0"/>
              </a:rPr>
              <a:t> is a common challenge in computer vision where the background contains many objects, patterns, or textures that make the main object difficult to identify.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For example, a wolf standing in a forest background with similar texture may be difficult to detect because the background contains many similar shapes and colors.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 Background clutter can confuse vision systems and reduce the accuracy of object detection and recognition.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4CAF336-C284-4F14-AC55-270702EF0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33202" y="1498879"/>
            <a:ext cx="5903259" cy="4785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DDFCB8-82AB-4AC1-A6E9-F2617C3F5F67}"/>
              </a:ext>
            </a:extLst>
          </p:cNvPr>
          <p:cNvSpPr txBox="1"/>
          <p:nvPr/>
        </p:nvSpPr>
        <p:spPr>
          <a:xfrm>
            <a:off x="9472274" y="6338986"/>
            <a:ext cx="2047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Source: Internet</a:t>
            </a:r>
          </a:p>
        </p:txBody>
      </p:sp>
    </p:spTree>
    <p:extLst>
      <p:ext uri="{BB962C8B-B14F-4D97-AF65-F5344CB8AC3E}">
        <p14:creationId xmlns:p14="http://schemas.microsoft.com/office/powerpoint/2010/main" val="137369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3E3A-497E-4746-9F43-B8F9C6C3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Intra-class Variation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D803C-744C-4556-BA4B-5E4331EF7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99548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Interclass variation</a:t>
            </a:r>
            <a:r>
              <a:rPr lang="en-US" dirty="0">
                <a:latin typeface="Arial Narrow" panose="020B0606020202030204" pitchFamily="34" charset="0"/>
              </a:rPr>
              <a:t> is a challenge in computer vision where objects belonging to the same category can have very different appearances.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For example, cars can differ greatly in color, shape, size, and design, even though they belong to the same class.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This variation makes it difficult for computer vision systems to identify all objects of the same category accurately. </a:t>
            </a:r>
          </a:p>
          <a:p>
            <a:pPr algn="just"/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Therefore, models need to learn common features that are shared by objects within the same class.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007D-61A7-4B46-BED2-C7CA63A0D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003" y="1523968"/>
            <a:ext cx="3305636" cy="2238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3E09B8-EDD1-4CB0-AFD1-0C22FAED1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003" y="3772082"/>
            <a:ext cx="3305636" cy="22958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1DBF58-953B-4512-8160-439060998BCC}"/>
              </a:ext>
            </a:extLst>
          </p:cNvPr>
          <p:cNvSpPr/>
          <p:nvPr/>
        </p:nvSpPr>
        <p:spPr>
          <a:xfrm>
            <a:off x="432062" y="6492875"/>
            <a:ext cx="113278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</a:rPr>
              <a:t>Image Source: Bastian, Blossom &amp; Jiji, C.. (2020). Detection and pose estimation of auto-rickshaws from traffic images. Machine Vision and Applications. 31. 10.1007/s00138-020-01106-0. </a:t>
            </a:r>
          </a:p>
        </p:txBody>
      </p:sp>
    </p:spTree>
    <p:extLst>
      <p:ext uri="{BB962C8B-B14F-4D97-AF65-F5344CB8AC3E}">
        <p14:creationId xmlns:p14="http://schemas.microsoft.com/office/powerpoint/2010/main" val="364504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519-C251-47B2-955A-9583230D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AI for 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BFA1-AFBC-44C2-89D6-9342FA098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Generative Artificial Intelligence (Generative AI) has significantly enhanced computer vision by enabling models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generate, modify, and understand visual data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Unlike traditional computer vision methods that focus primarily on recognition and classification,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Generative AI learns the underlying distribution of images and can create realistic visual content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Popular generative models include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Generative Adversarial Networks (GANs), Variational Autoencoders (VAEs), Diffusion Models, and Vision Transformers (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ViTs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) </a:t>
            </a:r>
            <a:r>
              <a:rPr lang="en-US" sz="2000" dirty="0">
                <a:latin typeface="Arial Narrow" panose="020B0606020202030204" pitchFamily="34" charset="0"/>
              </a:rPr>
              <a:t>integrated with generative frameworks. </a:t>
            </a:r>
          </a:p>
          <a:p>
            <a:pPr marL="0" indent="0" algn="just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These models improve the performance of downstream computer vision tasks by generating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high-quality synthetic data, learning robust feature representations, and supporting data augmentation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04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C811-3482-46D0-8D74-7A484AAD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AI for Downstream Vision Tasks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51777-91A8-4FF9-B8D2-55F9BCCAF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4150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Generative AI is widely used in several downstream computer vision applications.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classification</a:t>
            </a:r>
            <a:r>
              <a:rPr lang="en-US" sz="2000" dirty="0">
                <a:latin typeface="Arial Narrow" panose="020B0606020202030204" pitchFamily="34" charset="0"/>
              </a:rPr>
              <a:t>, synthetic images are generated to augment training datasets, improving model accuracy and robustness.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For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object detection</a:t>
            </a:r>
            <a:r>
              <a:rPr lang="en-US" sz="2000" dirty="0">
                <a:latin typeface="Arial Narrow" panose="020B0606020202030204" pitchFamily="34" charset="0"/>
              </a:rPr>
              <a:t>, generative models create diverse object variations that help detectors recognize objects under different lighting conditions, viewpoints, and occlusions.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semantic and instance segmentation</a:t>
            </a:r>
            <a:r>
              <a:rPr lang="en-US" sz="2000" dirty="0">
                <a:latin typeface="Arial Narrow" panose="020B0606020202030204" pitchFamily="34" charset="0"/>
              </a:rPr>
              <a:t>, generated images and masks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increase training data diversity</a:t>
            </a:r>
            <a:r>
              <a:rPr lang="en-US" sz="2000" dirty="0">
                <a:latin typeface="Arial Narrow" panose="020B0606020202030204" pitchFamily="34" charset="0"/>
              </a:rPr>
              <a:t>, leading to more accurate pixel-level predictions. </a:t>
            </a:r>
          </a:p>
          <a:p>
            <a:pPr algn="just"/>
            <a:endParaRPr lang="en-US" sz="2000" b="1" dirty="0">
              <a:solidFill>
                <a:srgbClr val="00B0F0"/>
              </a:solidFill>
              <a:latin typeface="Arial Narrow" panose="020B0606020202030204" pitchFamily="34" charset="0"/>
            </a:endParaRPr>
          </a:p>
          <a:p>
            <a:pPr algn="just">
              <a:buClr>
                <a:schemeClr val="tx1"/>
              </a:buClr>
            </a:pP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super-resolution </a:t>
            </a:r>
            <a:r>
              <a:rPr lang="en-US" sz="2000" dirty="0">
                <a:latin typeface="Arial Narrow" panose="020B0606020202030204" pitchFamily="34" charset="0"/>
              </a:rPr>
              <a:t>employs generative models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reconstruct high-resolution images from low-resolution inputs</a:t>
            </a:r>
            <a:r>
              <a:rPr lang="en-US" sz="2000" dirty="0">
                <a:latin typeface="Arial Narrow" panose="020B0606020202030204" pitchFamily="34" charset="0"/>
              </a:rPr>
              <a:t>, which is valuable in medical imaging, surveillance, and satellite image analysis. 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541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B2C6-4B67-4251-AFC0-1D4CD404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AI for Downstream Vision Tasks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BA45-B891-4A3B-B03B-2A8662F8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4053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inpainting </a:t>
            </a:r>
            <a:r>
              <a:rPr lang="en-US" sz="2000" dirty="0">
                <a:latin typeface="Arial Narrow" panose="020B0606020202030204" pitchFamily="34" charset="0"/>
              </a:rPr>
              <a:t>restores damaged or missing regions of images by generating visually consistent content, while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image-to-image translation </a:t>
            </a:r>
            <a:r>
              <a:rPr lang="en-US" sz="2000" dirty="0">
                <a:latin typeface="Arial Narrow" panose="020B0606020202030204" pitchFamily="34" charset="0"/>
              </a:rPr>
              <a:t>converts images between different domains, such as day-to-night, sketches to photographs, or MRI to CT images.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Generative AI is also extensively used for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medical image synthesis</a:t>
            </a:r>
            <a:r>
              <a:rPr lang="en-US" sz="2000" dirty="0">
                <a:latin typeface="Arial Narrow" panose="020B0606020202030204" pitchFamily="34" charset="0"/>
              </a:rPr>
              <a:t>, producing realistic medical scans to support diagnosis and address data scarcity while preserving patient privacy.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anomaly detection</a:t>
            </a:r>
            <a:r>
              <a:rPr lang="en-US" sz="2000" dirty="0">
                <a:latin typeface="Arial Narrow" panose="020B0606020202030204" pitchFamily="34" charset="0"/>
              </a:rPr>
              <a:t>, generative models learn the distribution of normal images and identify deviations that indicate defects or abnormalities.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Additionally,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3D scene generation, face synthesis, style transfer</a:t>
            </a:r>
            <a:r>
              <a:rPr lang="en-US" sz="2000" dirty="0">
                <a:latin typeface="Arial Narrow" panose="020B0606020202030204" pitchFamily="34" charset="0"/>
              </a:rPr>
              <a:t>, and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video generation </a:t>
            </a:r>
            <a:r>
              <a:rPr lang="en-US" sz="2000" dirty="0">
                <a:latin typeface="Arial Narrow" panose="020B0606020202030204" pitchFamily="34" charset="0"/>
              </a:rPr>
              <a:t>have become important applications in entertainment, autonomous driving, robotics, and virtual reality.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82214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636C-4F17-49C3-A8B5-548D6978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AI for Downstream Vision Tasks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45F5E-5270-4D97-91A4-933540447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Overall,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Generative AI </a:t>
            </a:r>
            <a:r>
              <a:rPr lang="en-US" sz="2000" dirty="0">
                <a:latin typeface="Arial Narrow" panose="020B0606020202030204" pitchFamily="34" charset="0"/>
              </a:rPr>
              <a:t>has become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powerful tool for enhancing downstream computer vision tasks </a:t>
            </a:r>
            <a:r>
              <a:rPr lang="en-US" sz="2000" dirty="0">
                <a:latin typeface="Arial Narrow" panose="020B0606020202030204" pitchFamily="34" charset="0"/>
              </a:rPr>
              <a:t>by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improving data quality, increasing model robustness, reducing annotation costs, and enabling the generation of realistic visual content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Its ability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learn complex image distributions </a:t>
            </a:r>
            <a:r>
              <a:rPr lang="en-US" sz="2000" dirty="0">
                <a:latin typeface="Arial Narrow" panose="020B0606020202030204" pitchFamily="34" charset="0"/>
              </a:rPr>
              <a:t>has made it a key technology in modern computer vision systems across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healthcare, manufacturing, security, remote sensing, and creative industries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806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982-9FFF-4103-880D-0C9F279B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203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Image classification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8A210-9B55-497C-AEAF-F3AAFA6B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01" y="1482571"/>
            <a:ext cx="6109447" cy="471404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Classification </a:t>
            </a:r>
            <a:r>
              <a:rPr lang="en-US" sz="2000" dirty="0">
                <a:latin typeface="Arial Narrow" panose="020B0606020202030204" pitchFamily="34" charset="0"/>
              </a:rPr>
              <a:t>is a fundamental computer vision task that automatically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assigns an input image to one of several predefined categories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Deep learning models, particularly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Convolutional Neural Networks (CNNs)</a:t>
            </a:r>
            <a:r>
              <a:rPr lang="en-US" sz="2000" dirty="0">
                <a:latin typeface="Arial Narrow" panose="020B0606020202030204" pitchFamily="34" charset="0"/>
              </a:rPr>
              <a:t>, learn hierarchical visual features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edges, textures, shapes, and objects directly from labeled training data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During inference,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model extracts discriminative features from the image and predicts the most probable class using a classification layer</a:t>
            </a:r>
            <a:r>
              <a:rPr lang="en-US" sz="2000" dirty="0">
                <a:latin typeface="Arial Narrow" panose="020B0606020202030204" pitchFamily="34" charset="0"/>
              </a:rPr>
              <a:t>, typically followed by a Softmax activation function.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8234725" y="1819373"/>
            <a:ext cx="3119075" cy="3685994"/>
            <a:chOff x="8234725" y="1028216"/>
            <a:chExt cx="3537320" cy="449011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219" y="1523260"/>
              <a:ext cx="906257" cy="11711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5F7C8A-F005-4A4A-9F78-2CCAC2268DCB}"/>
                </a:ext>
              </a:extLst>
            </p:cNvPr>
            <p:cNvSpPr txBox="1"/>
            <p:nvPr/>
          </p:nvSpPr>
          <p:spPr>
            <a:xfrm>
              <a:off x="9421446" y="2670813"/>
              <a:ext cx="709660" cy="412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Cow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D0FD5C-98FB-4CA5-8D99-718E704B2F04}"/>
                </a:ext>
              </a:extLst>
            </p:cNvPr>
            <p:cNvSpPr txBox="1"/>
            <p:nvPr/>
          </p:nvSpPr>
          <p:spPr>
            <a:xfrm>
              <a:off x="9950002" y="2672295"/>
              <a:ext cx="824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Horse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61D266-20C2-46C5-8266-33678D4216D1}"/>
                </a:ext>
              </a:extLst>
            </p:cNvPr>
            <p:cNvSpPr txBox="1"/>
            <p:nvPr/>
          </p:nvSpPr>
          <p:spPr>
            <a:xfrm>
              <a:off x="10601115" y="2672295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96AF75-9363-4610-84AF-61E7A6E1284D}"/>
                </a:ext>
              </a:extLst>
            </p:cNvPr>
            <p:cNvSpPr txBox="1"/>
            <p:nvPr/>
          </p:nvSpPr>
          <p:spPr>
            <a:xfrm>
              <a:off x="11121983" y="2672295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8CFE83-24CC-40AC-B153-3120E97D1F66}"/>
                </a:ext>
              </a:extLst>
            </p:cNvPr>
            <p:cNvSpPr txBox="1"/>
            <p:nvPr/>
          </p:nvSpPr>
          <p:spPr>
            <a:xfrm>
              <a:off x="9550104" y="2051318"/>
              <a:ext cx="5330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12%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97A3D48-C149-4DFB-BFE4-C73F9C0F2237}"/>
                </a:ext>
              </a:extLst>
            </p:cNvPr>
            <p:cNvCxnSpPr/>
            <p:nvPr/>
          </p:nvCxnSpPr>
          <p:spPr>
            <a:xfrm flipV="1">
              <a:off x="9354179" y="2687478"/>
              <a:ext cx="2417866" cy="95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5FD909-3087-4417-9694-416AE6583A66}"/>
                </a:ext>
              </a:extLst>
            </p:cNvPr>
            <p:cNvSpPr/>
            <p:nvPr/>
          </p:nvSpPr>
          <p:spPr>
            <a:xfrm>
              <a:off x="9663097" y="2347291"/>
              <a:ext cx="176857" cy="33855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9DC2CFD-AD9F-4A8E-9BE3-76041CBCB9F9}"/>
                </a:ext>
              </a:extLst>
            </p:cNvPr>
            <p:cNvSpPr/>
            <p:nvPr/>
          </p:nvSpPr>
          <p:spPr>
            <a:xfrm>
              <a:off x="10796912" y="2044345"/>
              <a:ext cx="172618" cy="63616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1F8FE8-EE0B-4BA7-989F-0D9A72F92809}"/>
                </a:ext>
              </a:extLst>
            </p:cNvPr>
            <p:cNvSpPr txBox="1"/>
            <p:nvPr/>
          </p:nvSpPr>
          <p:spPr>
            <a:xfrm>
              <a:off x="10666691" y="1773122"/>
              <a:ext cx="605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29%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001525C-FB1C-4930-B48D-A2F28D16888E}"/>
                </a:ext>
              </a:extLst>
            </p:cNvPr>
            <p:cNvSpPr/>
            <p:nvPr/>
          </p:nvSpPr>
          <p:spPr>
            <a:xfrm>
              <a:off x="11261337" y="1332366"/>
              <a:ext cx="172618" cy="13467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81B0B1-3239-4114-9455-A67914C754F6}"/>
                </a:ext>
              </a:extLst>
            </p:cNvPr>
            <p:cNvSpPr txBox="1"/>
            <p:nvPr/>
          </p:nvSpPr>
          <p:spPr>
            <a:xfrm>
              <a:off x="11116291" y="1028216"/>
              <a:ext cx="605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94%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16F5477-AEE6-4D5C-AB8A-4DB31218DCFD}"/>
                </a:ext>
              </a:extLst>
            </p:cNvPr>
            <p:cNvSpPr/>
            <p:nvPr/>
          </p:nvSpPr>
          <p:spPr>
            <a:xfrm>
              <a:off x="10184901" y="2569010"/>
              <a:ext cx="172618" cy="11486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A6E366C-9561-477E-8A7E-C8A4CF7AE6A8}"/>
                </a:ext>
              </a:extLst>
            </p:cNvPr>
            <p:cNvSpPr txBox="1"/>
            <p:nvPr/>
          </p:nvSpPr>
          <p:spPr>
            <a:xfrm>
              <a:off x="10063194" y="2276657"/>
              <a:ext cx="510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4%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EE00207-0EF8-4401-97EF-D4A893A6E610}"/>
                </a:ext>
              </a:extLst>
            </p:cNvPr>
            <p:cNvSpPr txBox="1"/>
            <p:nvPr/>
          </p:nvSpPr>
          <p:spPr>
            <a:xfrm>
              <a:off x="10008256" y="4392487"/>
              <a:ext cx="5330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11%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6094728-814B-4F8D-AA27-6BDD29E8F3A6}"/>
                </a:ext>
              </a:extLst>
            </p:cNvPr>
            <p:cNvCxnSpPr/>
            <p:nvPr/>
          </p:nvCxnSpPr>
          <p:spPr>
            <a:xfrm flipV="1">
              <a:off x="9335918" y="5099539"/>
              <a:ext cx="2417866" cy="95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9949B0A-3BFC-4CD4-88EF-42EE329239E6}"/>
                </a:ext>
              </a:extLst>
            </p:cNvPr>
            <p:cNvSpPr txBox="1"/>
            <p:nvPr/>
          </p:nvSpPr>
          <p:spPr>
            <a:xfrm>
              <a:off x="11076032" y="4185351"/>
              <a:ext cx="605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32%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A67CD8-2F78-4034-9A4B-E789A0C86744}"/>
                </a:ext>
              </a:extLst>
            </p:cNvPr>
            <p:cNvSpPr txBox="1"/>
            <p:nvPr/>
          </p:nvSpPr>
          <p:spPr>
            <a:xfrm>
              <a:off x="10612323" y="3484813"/>
              <a:ext cx="6056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97%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282477-C6AF-44DE-98E8-F745066B9D9B}"/>
                </a:ext>
              </a:extLst>
            </p:cNvPr>
            <p:cNvSpPr txBox="1"/>
            <p:nvPr/>
          </p:nvSpPr>
          <p:spPr>
            <a:xfrm>
              <a:off x="9511141" y="4591618"/>
              <a:ext cx="5104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3%</a:t>
              </a: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34725" y="4037607"/>
              <a:ext cx="1030582" cy="107378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5F7C8A-F005-4A4A-9F78-2CCAC2268DCB}"/>
                </a:ext>
              </a:extLst>
            </p:cNvPr>
            <p:cNvSpPr txBox="1"/>
            <p:nvPr/>
          </p:nvSpPr>
          <p:spPr>
            <a:xfrm>
              <a:off x="9354179" y="5105917"/>
              <a:ext cx="686936" cy="412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Cow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AD0FD5C-98FB-4CA5-8D99-718E704B2F04}"/>
                </a:ext>
              </a:extLst>
            </p:cNvPr>
            <p:cNvSpPr txBox="1"/>
            <p:nvPr/>
          </p:nvSpPr>
          <p:spPr>
            <a:xfrm>
              <a:off x="9945540" y="5107399"/>
              <a:ext cx="824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Horse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D61D266-20C2-46C5-8266-33678D4216D1}"/>
                </a:ext>
              </a:extLst>
            </p:cNvPr>
            <p:cNvSpPr txBox="1"/>
            <p:nvPr/>
          </p:nvSpPr>
          <p:spPr>
            <a:xfrm>
              <a:off x="10596653" y="5107399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Dog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796AF75-9363-4610-84AF-61E7A6E1284D}"/>
                </a:ext>
              </a:extLst>
            </p:cNvPr>
            <p:cNvSpPr txBox="1"/>
            <p:nvPr/>
          </p:nvSpPr>
          <p:spPr>
            <a:xfrm>
              <a:off x="11117521" y="5107399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001525C-FB1C-4930-B48D-A2F28D16888E}"/>
                </a:ext>
              </a:extLst>
            </p:cNvPr>
            <p:cNvSpPr/>
            <p:nvPr/>
          </p:nvSpPr>
          <p:spPr>
            <a:xfrm>
              <a:off x="10742544" y="3748829"/>
              <a:ext cx="172618" cy="13467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9DC2CFD-AD9F-4A8E-9BE3-76041CBCB9F9}"/>
                </a:ext>
              </a:extLst>
            </p:cNvPr>
            <p:cNvSpPr/>
            <p:nvPr/>
          </p:nvSpPr>
          <p:spPr>
            <a:xfrm>
              <a:off x="11206253" y="4456743"/>
              <a:ext cx="172618" cy="63616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25FD909-3087-4417-9694-416AE6583A66}"/>
                </a:ext>
              </a:extLst>
            </p:cNvPr>
            <p:cNvSpPr/>
            <p:nvPr/>
          </p:nvSpPr>
          <p:spPr>
            <a:xfrm>
              <a:off x="10113206" y="4672331"/>
              <a:ext cx="176857" cy="42540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16F5477-AEE6-4D5C-AB8A-4DB31218DCFD}"/>
                </a:ext>
              </a:extLst>
            </p:cNvPr>
            <p:cNvSpPr/>
            <p:nvPr/>
          </p:nvSpPr>
          <p:spPr>
            <a:xfrm>
              <a:off x="9608551" y="4856957"/>
              <a:ext cx="172618" cy="24458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8562742" y="5808446"/>
            <a:ext cx="2451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Image Classification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7676" y="1686695"/>
            <a:ext cx="3445924" cy="3999729"/>
          </a:xfrm>
          <a:prstGeom prst="rect">
            <a:avLst/>
          </a:prstGeom>
          <a:noFill/>
          <a:ln w="222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409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5642-7077-43F7-B9DD-DC81A668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Generative AI for Image classification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3DAF6-7336-4FE6-98B8-FF38AA965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Generative AI has emerged as a powerful approach for image classification by learning complex data distributions and generating realistic image representations that improve model performance.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Unlike traditional discriminative models, generative models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Generative Adversarial Networks (GANs), Variational Autoencoders (VAEs), and diffusion models </a:t>
            </a:r>
            <a:r>
              <a:rPr lang="en-US" sz="2000" dirty="0">
                <a:latin typeface="Arial Narrow" panose="020B0606020202030204" pitchFamily="34" charset="0"/>
              </a:rPr>
              <a:t>can synthesize new training samples, helping to overcome challenges such as limited datasets, class imbalance, and noisy data.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These synthetic images enhance data augmentation, enabling classifiers to achieve higher accuracy and better generalization.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image classification tasks, generative AI can also perform feature learning by extracting meaningful latent representations that improve recognition of objects, faces, medical images, and remote sensing data.</a:t>
            </a:r>
          </a:p>
        </p:txBody>
      </p:sp>
    </p:spTree>
    <p:extLst>
      <p:ext uri="{BB962C8B-B14F-4D97-AF65-F5344CB8AC3E}">
        <p14:creationId xmlns:p14="http://schemas.microsoft.com/office/powerpoint/2010/main" val="133151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4263-077B-4E26-B825-3889B1D2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Generative AI for Image classification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E0AA-EE30-4FA1-80B8-672E844B4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Furthermore, generative models support semi-supervised and unsupervised learning, reducing the dependency on large labeled datasets.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Recent advancements integrate generative AI with deep convolutional neural networks (CNNs) and transformer-based architectures, resulting in robust classification systems capable of handling complex real-world scenarios.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Consequently, generative AI has become an essential component of modern computer vision, significantly enhancing the efficiency, accuracy, and reliability of image classification applications across healthcare, autonomous driving, agriculture, and security.</a:t>
            </a:r>
            <a:endParaRPr lang="en-IN" sz="2000" dirty="0">
              <a:latin typeface="Arial Narrow" panose="020B0606020202030204" pitchFamily="34" charset="0"/>
            </a:endParaRPr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379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Object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75" y="1690688"/>
            <a:ext cx="11159836" cy="4479635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Object Detection is a computer vision task that identifies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both the location and the class </a:t>
            </a:r>
            <a:r>
              <a:rPr lang="en-US" sz="2000" dirty="0">
                <a:latin typeface="Arial Narrow" panose="020B0606020202030204" pitchFamily="34" charset="0"/>
              </a:rPr>
              <a:t>of one or more objects within an image. </a:t>
            </a:r>
          </a:p>
          <a:p>
            <a:pPr algn="just">
              <a:lnSpc>
                <a:spcPct val="11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Unlike image classification, which assigns a single label to an entire image, object detection predicts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bounding boxes </a:t>
            </a:r>
            <a:r>
              <a:rPr lang="en-US" sz="2000" dirty="0">
                <a:latin typeface="Arial Narrow" panose="020B0606020202030204" pitchFamily="34" charset="0"/>
              </a:rPr>
              <a:t>around objects along with their corresponding class labels and confidence scores. </a:t>
            </a:r>
          </a:p>
          <a:p>
            <a:pPr algn="just">
              <a:lnSpc>
                <a:spcPct val="11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Modern deep learning models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YOLO, Faster R-CNN, and SSD </a:t>
            </a:r>
            <a:r>
              <a:rPr lang="en-US" sz="2000" dirty="0">
                <a:latin typeface="Arial Narrow" panose="020B0606020202030204" pitchFamily="34" charset="0"/>
              </a:rPr>
              <a:t>perform object detection by learning robust spatial and semantic features from annotated datasets, enabling real-time and accurate detection in complex scenes.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280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164006" y="1935189"/>
            <a:ext cx="11914909" cy="3754416"/>
          </a:xfrm>
          <a:prstGeom prst="rect">
            <a:avLst/>
          </a:prstGeom>
          <a:solidFill>
            <a:schemeClr val="accent4">
              <a:lumMod val="60000"/>
              <a:lumOff val="40000"/>
              <a:alpha val="1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97" y="292229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Object detection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11" y="2771054"/>
            <a:ext cx="2137150" cy="16017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887" y="2307024"/>
            <a:ext cx="775071" cy="9847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362" y="3880485"/>
            <a:ext cx="775071" cy="98472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2680970" y="3626171"/>
            <a:ext cx="1663124" cy="9236"/>
          </a:xfrm>
          <a:prstGeom prst="straightConnector1">
            <a:avLst/>
          </a:prstGeom>
          <a:ln w="31750">
            <a:solidFill>
              <a:srgbClr val="FF0000">
                <a:alpha val="99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flipV="1">
            <a:off x="6695083" y="2785191"/>
            <a:ext cx="1332095" cy="785174"/>
          </a:xfrm>
          <a:prstGeom prst="bentConnector3">
            <a:avLst/>
          </a:prstGeom>
          <a:ln w="31750">
            <a:solidFill>
              <a:srgbClr val="FF0000">
                <a:alpha val="99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>
            <a:off x="6695083" y="3563221"/>
            <a:ext cx="1332095" cy="856272"/>
          </a:xfrm>
          <a:prstGeom prst="bentConnector3">
            <a:avLst/>
          </a:prstGeom>
          <a:ln w="31750">
            <a:solidFill>
              <a:srgbClr val="FF0000">
                <a:alpha val="99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9144831" y="4356641"/>
            <a:ext cx="960617" cy="0"/>
          </a:xfrm>
          <a:prstGeom prst="straightConnector1">
            <a:avLst/>
          </a:prstGeom>
          <a:ln w="31750">
            <a:solidFill>
              <a:srgbClr val="FF0000">
                <a:alpha val="99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197057" y="2143498"/>
            <a:ext cx="13680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Person  0.03</a:t>
            </a:r>
          </a:p>
          <a:p>
            <a:r>
              <a:rPr lang="en-IN" dirty="0">
                <a:latin typeface="Arial Narrow" panose="020B0606020202030204" pitchFamily="34" charset="0"/>
              </a:rPr>
              <a:t>Horse    0.05</a:t>
            </a:r>
          </a:p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Dog        0.8</a:t>
            </a:r>
          </a:p>
          <a:p>
            <a:r>
              <a:rPr lang="en-IN" dirty="0">
                <a:latin typeface="Arial Narrow" panose="020B0606020202030204" pitchFamily="34" charset="0"/>
              </a:rPr>
              <a:t>.</a:t>
            </a:r>
          </a:p>
          <a:p>
            <a:r>
              <a:rPr lang="en-IN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88575" y="2091731"/>
            <a:ext cx="1376507" cy="1547567"/>
          </a:xfrm>
          <a:prstGeom prst="roundRect">
            <a:avLst/>
          </a:prstGeom>
          <a:noFill/>
          <a:ln w="254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855" y="2771054"/>
            <a:ext cx="2137150" cy="1601792"/>
          </a:xfrm>
          <a:prstGeom prst="rect">
            <a:avLst/>
          </a:prstGeom>
        </p:spPr>
      </p:pic>
      <p:pic>
        <p:nvPicPr>
          <p:cNvPr id="6" name="Graphic 15" descr="Magnifying glass">
            <a:extLst>
              <a:ext uri="{FF2B5EF4-FFF2-40B4-BE49-F238E27FC236}">
                <a16:creationId xmlns:a16="http://schemas.microsoft.com/office/drawing/2014/main" id="{83885F3C-382C-4793-BC85-6F9692BE7D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8506" y="3416451"/>
            <a:ext cx="1270607" cy="143283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726" y="3880485"/>
            <a:ext cx="775071" cy="984722"/>
          </a:xfrm>
          <a:prstGeom prst="rect">
            <a:avLst/>
          </a:prstGeom>
        </p:spPr>
      </p:pic>
      <p:cxnSp>
        <p:nvCxnSpPr>
          <p:cNvPr id="35" name="Straight Arrow Connector 34"/>
          <p:cNvCxnSpPr/>
          <p:nvPr/>
        </p:nvCxnSpPr>
        <p:spPr>
          <a:xfrm>
            <a:off x="9075558" y="2783754"/>
            <a:ext cx="960617" cy="0"/>
          </a:xfrm>
          <a:prstGeom prst="straightConnector1">
            <a:avLst/>
          </a:prstGeom>
          <a:ln w="31750">
            <a:solidFill>
              <a:srgbClr val="FF0000">
                <a:alpha val="99000"/>
              </a:srgb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 flipH="1">
            <a:off x="845274" y="4461778"/>
            <a:ext cx="1304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Training Image</a:t>
            </a:r>
          </a:p>
        </p:txBody>
      </p:sp>
      <p:sp>
        <p:nvSpPr>
          <p:cNvPr id="43" name="TextBox 42"/>
          <p:cNvSpPr txBox="1"/>
          <p:nvPr/>
        </p:nvSpPr>
        <p:spPr>
          <a:xfrm flipH="1">
            <a:off x="2811411" y="3255444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Feature extraction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7968" y="3763538"/>
            <a:ext cx="107753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latin typeface="Arial Narrow" panose="020B0606020202030204" pitchFamily="34" charset="0"/>
              </a:rPr>
              <a:t>HOG</a:t>
            </a:r>
          </a:p>
          <a:p>
            <a:pPr algn="ctr"/>
            <a:r>
              <a:rPr lang="en-IN" sz="1400" dirty="0">
                <a:latin typeface="Arial Narrow" panose="020B0606020202030204" pitchFamily="34" charset="0"/>
              </a:rPr>
              <a:t>SIFT</a:t>
            </a:r>
          </a:p>
          <a:p>
            <a:pPr algn="ctr"/>
            <a:r>
              <a:rPr lang="en-IN" sz="1400" dirty="0">
                <a:latin typeface="Arial Narrow" panose="020B0606020202030204" pitchFamily="34" charset="0"/>
              </a:rPr>
              <a:t>CNN features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A77ED1-FBFA-4D05-808A-35D5950F1B5E}"/>
              </a:ext>
            </a:extLst>
          </p:cNvPr>
          <p:cNvSpPr txBox="1"/>
          <p:nvPr/>
        </p:nvSpPr>
        <p:spPr>
          <a:xfrm>
            <a:off x="4430855" y="2219196"/>
            <a:ext cx="2354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Looking for possible regions with objects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BCA97F-8DAB-4B68-BC8E-5A0B6AEBB770}"/>
              </a:ext>
            </a:extLst>
          </p:cNvPr>
          <p:cNvSpPr txBox="1"/>
          <p:nvPr/>
        </p:nvSpPr>
        <p:spPr>
          <a:xfrm>
            <a:off x="4030275" y="4756023"/>
            <a:ext cx="26546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 Narrow" panose="020B0606020202030204" pitchFamily="34" charset="0"/>
              </a:rPr>
              <a:t>Sliding window</a:t>
            </a:r>
          </a:p>
          <a:p>
            <a:pPr algn="ctr"/>
            <a:r>
              <a:rPr lang="en-IN" sz="1400" dirty="0">
                <a:latin typeface="Arial Narrow" panose="020B0606020202030204" pitchFamily="34" charset="0"/>
              </a:rPr>
              <a:t>Selective search</a:t>
            </a:r>
          </a:p>
          <a:p>
            <a:pPr algn="ctr"/>
            <a:r>
              <a:rPr lang="en-IN" sz="1400" dirty="0">
                <a:latin typeface="Arial Narrow" panose="020B0606020202030204" pitchFamily="34" charset="0"/>
              </a:rPr>
              <a:t>Region proposals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3C8BD6-E5D7-4D4A-A182-9AA6A8888149}"/>
              </a:ext>
            </a:extLst>
          </p:cNvPr>
          <p:cNvSpPr txBox="1"/>
          <p:nvPr/>
        </p:nvSpPr>
        <p:spPr>
          <a:xfrm>
            <a:off x="6299200" y="4492555"/>
            <a:ext cx="2354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localization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F454B3-EFB2-422F-A229-FFD605D3B7DD}"/>
              </a:ext>
            </a:extLst>
          </p:cNvPr>
          <p:cNvSpPr txBox="1"/>
          <p:nvPr/>
        </p:nvSpPr>
        <p:spPr>
          <a:xfrm>
            <a:off x="6324661" y="2399450"/>
            <a:ext cx="2354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rgbClr val="7030A0"/>
                </a:solidFill>
                <a:latin typeface="Arial Narrow" panose="020B0606020202030204" pitchFamily="34" charset="0"/>
              </a:rPr>
              <a:t>classification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2352A9-1DC0-4C3E-8C03-8F95D4A55329}"/>
              </a:ext>
            </a:extLst>
          </p:cNvPr>
          <p:cNvSpPr txBox="1"/>
          <p:nvPr/>
        </p:nvSpPr>
        <p:spPr>
          <a:xfrm>
            <a:off x="4344094" y="5865433"/>
            <a:ext cx="3987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Conventional object detection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340241-5CE3-4F87-99BD-410BF314B46D}"/>
              </a:ext>
            </a:extLst>
          </p:cNvPr>
          <p:cNvSpPr/>
          <p:nvPr/>
        </p:nvSpPr>
        <p:spPr>
          <a:xfrm>
            <a:off x="10708849" y="3880485"/>
            <a:ext cx="452487" cy="968805"/>
          </a:xfrm>
          <a:prstGeom prst="rect">
            <a:avLst/>
          </a:prstGeom>
          <a:solidFill>
            <a:schemeClr val="accent1">
              <a:alpha val="1400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077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6715-FE26-438F-B70E-F8AF204C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AI for </a:t>
            </a:r>
            <a:r>
              <a:rPr lang="en-US" sz="3600" dirty="0">
                <a:latin typeface="Century" panose="02040604050505020304" pitchFamily="18" charset="0"/>
              </a:rPr>
              <a:t>Object detection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14965-9DD3-45FC-99F7-0A242C044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1150"/>
            <a:ext cx="10696575" cy="512445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Generative Artificial Intelligence (Generative AI) is improving object detection by helping computers identify and locate objects in images and videos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more accurately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Traditional object detection models need a large amount of labeled training data, which is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expensive and time-consuming to collect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Generative AI models, such as Generative Adversarial Networks (GANs) and diffusion models, can create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realistic synthetic images</a:t>
            </a:r>
            <a:r>
              <a:rPr lang="en-US" sz="2000" dirty="0">
                <a:latin typeface="Arial Narrow" panose="020B0606020202030204" pitchFamily="34" charset="0"/>
              </a:rPr>
              <a:t> that increase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size and variety of training datasets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These additional images help object detection models like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YOLO, Faster R-CNN, and SSD </a:t>
            </a:r>
            <a:r>
              <a:rPr lang="en-US" sz="2000" dirty="0">
                <a:latin typeface="Arial Narrow" panose="020B0606020202030204" pitchFamily="34" charset="0"/>
              </a:rPr>
              <a:t>learn to recognize objects under different conditions, including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poor lighting, different backgrounds, and partial occlusion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5113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212"/>
            <a:ext cx="10515600" cy="104847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AI for </a:t>
            </a:r>
            <a:r>
              <a:rPr lang="en-US" sz="3600" dirty="0">
                <a:latin typeface="Century" panose="02040604050505020304" pitchFamily="18" charset="0"/>
              </a:rPr>
              <a:t>Object detection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727" y="1319762"/>
            <a:ext cx="11215255" cy="174395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Generative AI also supports data augmentation and image enhancement, making detection systems more accurate and reliable. 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As a result, object detection models become more robust, require less manual data collection, and perform better in real-world applications such as autonomous vehicles, medical imaging, security surveillance, robotics, and smart manufacturing.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3715" y="5923345"/>
            <a:ext cx="2209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</a:rPr>
              <a:t>Object Generation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72" y="6520809"/>
            <a:ext cx="12053455" cy="317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1200" dirty="0">
                <a:latin typeface="Arial Narrow" panose="020B0606020202030204" pitchFamily="34" charset="0"/>
              </a:rPr>
              <a:t>Image Source : </a:t>
            </a:r>
            <a:r>
              <a:rPr lang="en-US" sz="1200" dirty="0">
                <a:latin typeface="Arial Narrow" panose="020B0606020202030204" pitchFamily="34" charset="0"/>
              </a:rPr>
              <a:t>Lee, H.; Kang, S.; Chung, K. Robust Data Augmentation Generative Adversarial Network for Object Detection. Sensors 2023, 23, 157. https://doi.org/10.3390/s23010157</a:t>
            </a:r>
            <a:endParaRPr lang="en-IN" sz="1200" dirty="0"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DFCE7-3295-419E-B603-0D4CFF689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349" y="3045666"/>
            <a:ext cx="6218062" cy="286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61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Semantic and Instance Segmentation</a:t>
            </a: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Semantic segmentation </a:t>
            </a:r>
            <a:r>
              <a:rPr lang="en-US" sz="2000" dirty="0">
                <a:latin typeface="Arial Narrow" panose="020B0606020202030204" pitchFamily="34" charset="0"/>
              </a:rPr>
              <a:t>assigns a class label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every pixel in an image</a:t>
            </a:r>
            <a:r>
              <a:rPr lang="en-US" sz="2000" dirty="0">
                <a:latin typeface="Arial Narrow" panose="020B0606020202030204" pitchFamily="34" charset="0"/>
              </a:rPr>
              <a:t>, grouping all pixels of the same category together without distinguishing individual objects.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Instance segmentation goes further by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identifying and separating each individual object within the same class</a:t>
            </a:r>
            <a:r>
              <a:rPr lang="en-US" sz="2000" dirty="0">
                <a:latin typeface="Arial Narrow" panose="020B0606020202030204" pitchFamily="34" charset="0"/>
              </a:rPr>
              <a:t>, enabling precise object-level differentiation.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While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semantic segmentation </a:t>
            </a:r>
            <a:r>
              <a:rPr lang="en-US" sz="2000" dirty="0">
                <a:latin typeface="Arial Narrow" panose="020B0606020202030204" pitchFamily="34" charset="0"/>
              </a:rPr>
              <a:t>provides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overall scene understanding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instance segmentation</a:t>
            </a:r>
            <a:r>
              <a:rPr lang="en-US" sz="2000" dirty="0">
                <a:latin typeface="Arial Narrow" panose="020B0606020202030204" pitchFamily="34" charset="0"/>
              </a:rPr>
              <a:t> offers more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detailed information by distinguishing separate objects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Both tasks are widely used in computer vision applications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autonomous driving and medical imaging</a:t>
            </a:r>
            <a:r>
              <a:rPr lang="en-US" sz="2000" dirty="0">
                <a:latin typeface="Arial Narrow" panose="020B0606020202030204" pitchFamily="34" charset="0"/>
              </a:rPr>
              <a:t>, and have been significantly improved by modern deep learning models like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FCNs, U-Net, 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DeepLab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, and Mask R-CNN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374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27364" y="121933"/>
            <a:ext cx="10515600" cy="104983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Semantic and Instance Segmentation</a:t>
            </a: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088" y="1541104"/>
            <a:ext cx="1376712" cy="18387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585" y="4133068"/>
            <a:ext cx="1313618" cy="17672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601" y="4085985"/>
            <a:ext cx="1388326" cy="18206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11573" y="5900358"/>
            <a:ext cx="219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Semantic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0011" y="5901347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Instance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7546" y="1230298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Original Image</a:t>
            </a:r>
          </a:p>
        </p:txBody>
      </p:sp>
      <p:cxnSp>
        <p:nvCxnSpPr>
          <p:cNvPr id="28" name="Straight Arrow Connector 27"/>
          <p:cNvCxnSpPr>
            <a:stCxn id="4" idx="2"/>
            <a:endCxn id="7" idx="0"/>
          </p:cNvCxnSpPr>
          <p:nvPr/>
        </p:nvCxnSpPr>
        <p:spPr>
          <a:xfrm>
            <a:off x="5712444" y="3379847"/>
            <a:ext cx="1601320" cy="7061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" idx="2"/>
            <a:endCxn id="6" idx="0"/>
          </p:cNvCxnSpPr>
          <p:nvPr/>
        </p:nvCxnSpPr>
        <p:spPr>
          <a:xfrm flipH="1">
            <a:off x="3811394" y="3379847"/>
            <a:ext cx="1901050" cy="75322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92437" y="6516675"/>
            <a:ext cx="6976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https://miro.medium.com/v2/resize:fit:720/format:webp/1*vsXei_-NBulKfQhfkxTdKw.jpeg</a:t>
            </a:r>
          </a:p>
        </p:txBody>
      </p:sp>
    </p:spTree>
    <p:extLst>
      <p:ext uri="{BB962C8B-B14F-4D97-AF65-F5344CB8AC3E}">
        <p14:creationId xmlns:p14="http://schemas.microsoft.com/office/powerpoint/2010/main" val="1698339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5655" cy="116811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Generative AI  for Semantic and Instance Segmentation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372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Generative Artificial Intelligence (Generative AI) has emerged as a promising paradigm for enhancing semantic and instance segmentation by leveraging powerful generative models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improve feature representation, data synthesis, and segmentation accuracy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Unlike conventional discriminative approaches that directly predict pixel-wise labels, Generative AI models,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Generative Adversarial Networks (GANs), Variational Autoencoders (VAEs), diffusion models, and transformer-based generative architectures</a:t>
            </a:r>
            <a:r>
              <a:rPr lang="en-US" sz="2000" dirty="0">
                <a:latin typeface="Arial Narrow" panose="020B0606020202030204" pitchFamily="34" charset="0"/>
              </a:rPr>
              <a:t>, learn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underlying distribution of visual data to generate realistic images, refine segmentation masks, and produce high-quality synthetic training samples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In semantic segmentation, generative models facilitate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domain adaptation, image-to-image translation, and data augmentation</a:t>
            </a:r>
            <a:r>
              <a:rPr lang="en-US" sz="2000" dirty="0">
                <a:latin typeface="Arial Narrow" panose="020B0606020202030204" pitchFamily="34" charset="0"/>
              </a:rPr>
              <a:t>, thereby improving model robustness under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limited labeled data and varying environmental conditions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14172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Generative AI  for Semantic and Instance Segmentation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For instance segmentation, these models enhance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object boundary delineation, recover occluded object regions, and generate instance-aware representations</a:t>
            </a:r>
            <a:r>
              <a:rPr lang="en-US" sz="2000" dirty="0">
                <a:latin typeface="Arial Narrow" panose="020B0606020202030204" pitchFamily="34" charset="0"/>
              </a:rPr>
              <a:t> that improve the separation of overlapping objects.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Recent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vision-language foundation models and prompt-driven segmentation frameworks, such as the Segment Anything Model (SAM) and diffusion-based segmentation methods</a:t>
            </a:r>
            <a:r>
              <a:rPr lang="en-US" sz="2000" dirty="0">
                <a:latin typeface="Arial Narrow" panose="020B0606020202030204" pitchFamily="34" charset="0"/>
              </a:rPr>
              <a:t>, further demonstrate the capability of Generative AI to perform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zero-shot and few-shot segmentation </a:t>
            </a:r>
            <a:r>
              <a:rPr lang="en-US" sz="2000" dirty="0">
                <a:latin typeface="Arial Narrow" panose="020B0606020202030204" pitchFamily="34" charset="0"/>
              </a:rPr>
              <a:t>with minimal task-specific supervision.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By combining generative modeling with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large-scale pretraining and self-supervised learning</a:t>
            </a:r>
            <a:r>
              <a:rPr lang="en-US" sz="2000" dirty="0">
                <a:latin typeface="Arial Narrow" panose="020B0606020202030204" pitchFamily="34" charset="0"/>
              </a:rPr>
              <a:t>, Generative AI significantly improves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segmentation performance, generalization, and adaptability across diverse application domains</a:t>
            </a:r>
            <a:r>
              <a:rPr lang="en-US" sz="2000" dirty="0">
                <a:latin typeface="Arial Narrow" panose="020B0606020202030204" pitchFamily="34" charset="0"/>
              </a:rPr>
              <a:t>, including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medical imaging, autonomous driving, remote sensing, robotics, and industrial inspection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389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2069"/>
            <a:ext cx="10515600" cy="1177348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Image Super-resolution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4909"/>
            <a:ext cx="10515600" cy="432261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Image super-resolution (SR) is a computer vision technique that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reconstructs high-resolution images from low-resolution inputs</a:t>
            </a:r>
            <a:r>
              <a:rPr lang="en-US" sz="2000" dirty="0">
                <a:latin typeface="Arial Narrow" panose="020B0606020202030204" pitchFamily="34" charset="0"/>
              </a:rPr>
              <a:t> by recovering lost spatial details.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Traditional methods </a:t>
            </a:r>
            <a:r>
              <a:rPr lang="en-US" sz="2000" dirty="0">
                <a:latin typeface="Arial Narrow" panose="020B0606020202030204" pitchFamily="34" charset="0"/>
              </a:rPr>
              <a:t>such as interpolation and example-based approaches often produce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blurred results with limited detail restoration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Recent deep learning approaches, including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CNNs, transformers, and generative models (e.g., SRCNN, EDSR, ESRGAN, 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SwinIR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)</a:t>
            </a:r>
            <a:r>
              <a:rPr lang="en-US" sz="2000" dirty="0">
                <a:latin typeface="Arial Narrow" panose="020B0606020202030204" pitchFamily="34" charset="0"/>
              </a:rPr>
              <a:t>, significantly improve performance by learning complex mappings between low- and high-resolution images, producing more realistic and detailed outputs. </a:t>
            </a:r>
          </a:p>
        </p:txBody>
      </p:sp>
    </p:spTree>
    <p:extLst>
      <p:ext uri="{BB962C8B-B14F-4D97-AF65-F5344CB8AC3E}">
        <p14:creationId xmlns:p14="http://schemas.microsoft.com/office/powerpoint/2010/main" val="34097866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Image Super-resolution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3801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Generative AI further enhances SR by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synthesizing missing textures and improving visual fidelity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Image super-resolution is widely used in applications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medical imaging, remote sensing, autonomous driving, surveillance, and digital photography</a:t>
            </a:r>
            <a:r>
              <a:rPr lang="en-US" sz="2000" dirty="0">
                <a:latin typeface="Arial Narrow" panose="020B0606020202030204" pitchFamily="34" charset="0"/>
              </a:rPr>
              <a:t>, where high-quality images are essential for accurate analysis.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pic>
        <p:nvPicPr>
          <p:cNvPr id="4098" name="Picture 2" descr="Unlocking Clarity: Revolutionizing Image Super-Resolution with Shallow Neural Net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975" y="3720157"/>
            <a:ext cx="5867854" cy="193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2225964" y="3592951"/>
            <a:ext cx="6483927" cy="2179781"/>
          </a:xfrm>
          <a:prstGeom prst="roundRect">
            <a:avLst/>
          </a:prstGeom>
          <a:noFill/>
          <a:ln w="222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357687" y="5899938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Image Super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09" y="6321136"/>
            <a:ext cx="8977053" cy="57842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https://media.licdn.com/dms/image/v2/D4D12AQGF_t_di8taoA/article-cover_image-shrink_720_1280/article-cover_image-shrink_720_1280/0/1695617252545?e=2147483647&amp;v=beta&amp;t=Vn4kvoO30OMG3ZjphZr6Eaf-eLVyHMbLOnDPf7VoE8c </a:t>
            </a:r>
          </a:p>
        </p:txBody>
      </p:sp>
    </p:spTree>
    <p:extLst>
      <p:ext uri="{BB962C8B-B14F-4D97-AF65-F5344CB8AC3E}">
        <p14:creationId xmlns:p14="http://schemas.microsoft.com/office/powerpoint/2010/main" val="3257449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54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AI for Image Super-resolution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988"/>
            <a:ext cx="10515600" cy="507047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Generative Artificial Intelligence (Generative AI) has significantly advanced image super-resolution by enabling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reconstruction of high-resolution images with enhanced visual quality, realistic textures, and fine structural details</a:t>
            </a:r>
            <a:r>
              <a:rPr lang="en-US" sz="2000" dirty="0">
                <a:latin typeface="Arial Narrow" panose="020B0606020202030204" pitchFamily="34" charset="0"/>
              </a:rPr>
              <a:t> from low-resolution inputs.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Unlike conventional interpolation and discriminative deep learning methods that primarily optimize pixel-wise reconstruction, generative models learn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underlying distribution of natural images to synthesize plausible high-frequency details that are often missing in degraded images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Techniques based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Generative Adversarial Networks (GANs), diffusion models, and transformer-based generative architectures </a:t>
            </a:r>
            <a:r>
              <a:rPr lang="en-US" sz="2000" dirty="0">
                <a:latin typeface="Arial Narrow" panose="020B0606020202030204" pitchFamily="34" charset="0"/>
              </a:rPr>
              <a:t>have demonstrated remarkable performance in producing perceptually realistic images while preserving semantic consistency.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Models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ESRGAN, Real-ESRGAN, Stable Diffusion-based super-resolution frameworks, and latent diffusion models</a:t>
            </a:r>
            <a:r>
              <a:rPr lang="en-US" sz="2000" dirty="0">
                <a:latin typeface="Arial Narrow" panose="020B0606020202030204" pitchFamily="34" charset="0"/>
              </a:rPr>
              <a:t> effectively reduce blur, suppress artifacts, and recover complex textures under challenging imaging conditions.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856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4897"/>
            <a:ext cx="11279909" cy="227625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Furthermore,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foundation models trained on large-scale datasets exhibit strong generalization capabilities, enabling robust super-resolution across diverse domains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Generative AI-based super-resolution has found widespread applications in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medical imaging, satellite and remote sensing, surveillance, autonomous driving, digital photography, video restoration, scientific imaging, and cultural heritage preservation</a:t>
            </a:r>
            <a:r>
              <a:rPr lang="en-US" sz="2000" dirty="0">
                <a:latin typeface="Arial Narrow" panose="020B0606020202030204" pitchFamily="34" charset="0"/>
              </a:rPr>
              <a:t>, where enhanced image quality is essential for accurate analysis, interpretation, and decision-making.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00567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AI for Image Super-resolution</a:t>
            </a:r>
          </a:p>
        </p:txBody>
      </p:sp>
      <p:pic>
        <p:nvPicPr>
          <p:cNvPr id="5124" name="Picture 4" descr="https://www.sonyalpharumors.com/wp-content/uploads/2023/02/f0c9cec4cbf11d37ce480ce266d068d7a2fdef9b-2-700x293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162" y="3721274"/>
            <a:ext cx="6169313" cy="245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001" y="6550223"/>
            <a:ext cx="8911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https://www.sonyalpharumors.com/wp-content/uploads/2023/02/f0c9cec4cbf11d37ce480ce266d068d7a2fdef9b-2.jpeg</a:t>
            </a:r>
          </a:p>
        </p:txBody>
      </p:sp>
    </p:spTree>
    <p:extLst>
      <p:ext uri="{BB962C8B-B14F-4D97-AF65-F5344CB8AC3E}">
        <p14:creationId xmlns:p14="http://schemas.microsoft.com/office/powerpoint/2010/main" val="2949756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Image Inpainting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7050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Image inpainting is a computer vision technique that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reconstructs missing, damaged, or unwanted regions of an image by generating visually realistic content that seamlessly blends with the surrounding pixels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Its primary objective is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preserve structural details, texture consistency, and semantic information while restoring the image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Traditional inpainting methods rely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diffusion- and patch-based algorithms</a:t>
            </a:r>
            <a:r>
              <a:rPr lang="en-US" sz="2000" dirty="0">
                <a:latin typeface="Arial Narrow" panose="020B0606020202030204" pitchFamily="34" charset="0"/>
              </a:rPr>
              <a:t>, which perform well for small missing regions but often fail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reconstruct complex scenes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0686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0987"/>
            <a:ext cx="10515600" cy="122396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Image Inpainting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550"/>
            <a:ext cx="6816365" cy="472757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Modern deep learning approaches, particularly those based on convolutional neural networks (CNNs), transformers, and Generative AI models such as Generative Adversarial Networks (GANs) and diffusion models, have significantly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improved inpainting performance by learning contextual and semantic representations from large datasets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These models can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generate high-quality, photorealistic content even for large missing areas, making image inpainting an essential technology in image restoration, object removal, photo editing, medical imaging, cultural heritage preservation, remote sensing, and augmented reality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  <p:pic>
        <p:nvPicPr>
          <p:cNvPr id="6148" name="Picture 4" descr="Guide to Image Inpainting: Using machine learning to edit and correct  defects in photos - Com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677" y="1630361"/>
            <a:ext cx="3991797" cy="2742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2875" y="6477000"/>
            <a:ext cx="70619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Image Source : </a:t>
            </a:r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https://miro.medium.com/v2/resize:fit:652/1*s2bG37m-8g4sqioUC3T76w.png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011126" y="4373191"/>
            <a:ext cx="1588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Image Inpainting</a:t>
            </a:r>
          </a:p>
        </p:txBody>
      </p:sp>
    </p:spTree>
    <p:extLst>
      <p:ext uri="{BB962C8B-B14F-4D97-AF65-F5344CB8AC3E}">
        <p14:creationId xmlns:p14="http://schemas.microsoft.com/office/powerpoint/2010/main" val="3286877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Generative AI for Image Inpainting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Generative Artificial Intelligence (Generative AI) has transformed image inpainting by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enabling the realistic reconstruction of missing, damaged, or unwanted regions</a:t>
            </a:r>
            <a:r>
              <a:rPr lang="en-US" sz="2000" dirty="0">
                <a:latin typeface="Arial Narrow" panose="020B0606020202030204" pitchFamily="34" charset="0"/>
              </a:rPr>
              <a:t> of an image using learned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semantic and contextual information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Unlike traditional diffusion- and patch-based methods, generative models learn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underlying distribution of visual data to synthesize coherent structures, textures, and object details that seamlessly integrate with the surrounding content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Advanced architectures based on Generative Adversarial Networks (GANs), diffusion models, transformer-based networks, and foundation models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can effectively restore large missing areas, remove undesired objects, and preserve both local texture and global scene consistency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1306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1758"/>
            <a:ext cx="10515600" cy="118462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Generative AI for Image Inpainting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387"/>
            <a:ext cx="6105525" cy="492918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 Recent approaches, including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Stable Diffusion-based inpainting and transformer-guided models</a:t>
            </a:r>
            <a:r>
              <a:rPr lang="en-US" sz="2000" dirty="0">
                <a:latin typeface="Arial Narrow" panose="020B0606020202030204" pitchFamily="34" charset="0"/>
              </a:rPr>
              <a:t>, achieve high-quality, photorealistic image completion with minimal user input. 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Arial Narrow" panose="020B0606020202030204" pitchFamily="34" charset="0"/>
              </a:rPr>
              <a:t>As a result, Generative AI-based image inpainting has become a key technology in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restoration, photo editing, film and video post-production, medical imaging, cultural heritage preservation, remote sensing, and augmented reality</a:t>
            </a:r>
            <a:r>
              <a:rPr lang="en-US" sz="2000" dirty="0">
                <a:latin typeface="Arial Narrow" panose="020B0606020202030204" pitchFamily="34" charset="0"/>
              </a:rPr>
              <a:t>, where accurate and visually plausible image reconstruction is essential.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pic>
        <p:nvPicPr>
          <p:cNvPr id="7170" name="Picture 2" descr="Inpainting Services for Rapid Synthetic Data Generation on the Rendered.ai  PaaS - Rendered.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2090738"/>
            <a:ext cx="4813300" cy="263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97750" y="4850796"/>
            <a:ext cx="43815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0" i="1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Using AI inpainting tools to modify a real image (top left), remove the object of interest (bottom left), and then place a new object in the scene realistically at varying positions and directions (top and bottom right).</a:t>
            </a:r>
            <a:endParaRPr lang="en-IN" sz="1400" dirty="0">
              <a:latin typeface="Arial Narrow" panose="020B0606020202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825" y="6474379"/>
            <a:ext cx="792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https://support.rendered.ai/application-user-guides/tutorials/creating-and-using-volumes/inpaint-service</a:t>
            </a:r>
          </a:p>
        </p:txBody>
      </p:sp>
    </p:spTree>
    <p:extLst>
      <p:ext uri="{BB962C8B-B14F-4D97-AF65-F5344CB8AC3E}">
        <p14:creationId xmlns:p14="http://schemas.microsoft.com/office/powerpoint/2010/main" val="3795299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70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496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Computer Vision: Definition</a:t>
            </a:r>
          </a:p>
          <a:p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Applications of Computer Vision</a:t>
            </a:r>
          </a:p>
          <a:p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Challenges of Computer Vision</a:t>
            </a:r>
          </a:p>
          <a:p>
            <a:pPr marL="0" indent="0">
              <a:buNone/>
            </a:pPr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Generative AI for Vision Tasks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Image classification</a:t>
            </a:r>
          </a:p>
          <a:p>
            <a:pPr lvl="1"/>
            <a:r>
              <a:rPr lang="en-US" sz="2000" dirty="0">
                <a:latin typeface="Arial Narrow" panose="020B0606020202030204" pitchFamily="34" charset="0"/>
              </a:rPr>
              <a:t>Object Detection</a:t>
            </a:r>
          </a:p>
          <a:p>
            <a:pPr lvl="1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Semantic and Instance Segmentation</a:t>
            </a:r>
          </a:p>
          <a:p>
            <a:pPr lvl="1"/>
            <a:r>
              <a:rPr lang="en-IN" sz="2000" dirty="0">
                <a:latin typeface="Arial Narrow" panose="020B0606020202030204" pitchFamily="34" charset="0"/>
              </a:rPr>
              <a:t>Image super-resolution</a:t>
            </a:r>
          </a:p>
          <a:p>
            <a:pPr lvl="1"/>
            <a:r>
              <a:rPr lang="en-IN" sz="2000" dirty="0">
                <a:latin typeface="Arial Narrow" panose="020B0606020202030204" pitchFamily="34" charset="0"/>
              </a:rPr>
              <a:t>Image In-painting</a:t>
            </a:r>
          </a:p>
        </p:txBody>
      </p:sp>
    </p:spTree>
    <p:extLst>
      <p:ext uri="{BB962C8B-B14F-4D97-AF65-F5344CB8AC3E}">
        <p14:creationId xmlns:p14="http://schemas.microsoft.com/office/powerpoint/2010/main" val="4149371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Generative AI for Vision Tasks </a:t>
            </a: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- 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7: Part 2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3441</Words>
  <Application>Microsoft Office PowerPoint</Application>
  <PresentationFormat>Widescreen</PresentationFormat>
  <Paragraphs>297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Arial Narrow</vt:lpstr>
      <vt:lpstr>Book Antiqua</vt:lpstr>
      <vt:lpstr>Calibri</vt:lpstr>
      <vt:lpstr>Calibri Light</vt:lpstr>
      <vt:lpstr>Century</vt:lpstr>
      <vt:lpstr>Times New Roman</vt:lpstr>
      <vt:lpstr>Office Theme</vt:lpstr>
      <vt:lpstr>     Generative AI for Vision Tasks - I  </vt:lpstr>
      <vt:lpstr>Content</vt:lpstr>
      <vt:lpstr>What is Computer Vision?</vt:lpstr>
      <vt:lpstr> Applications of Computer Vision </vt:lpstr>
      <vt:lpstr>Challenges in Computer Vision</vt:lpstr>
      <vt:lpstr>Viewpoint Variation</vt:lpstr>
      <vt:lpstr> Scale Variation </vt:lpstr>
      <vt:lpstr>Object Deformities</vt:lpstr>
      <vt:lpstr>Occlusion</vt:lpstr>
      <vt:lpstr>Illumination Changes </vt:lpstr>
      <vt:lpstr>Background Clutter</vt:lpstr>
      <vt:lpstr>Intra-class Variation</vt:lpstr>
      <vt:lpstr>Generative AI for Computer Vision</vt:lpstr>
      <vt:lpstr>Generative AI for Downstream Vision Tasks</vt:lpstr>
      <vt:lpstr>Generative AI for Downstream Vision Tasks</vt:lpstr>
      <vt:lpstr>Generative AI for Downstream Vision Tasks</vt:lpstr>
      <vt:lpstr>Image classification</vt:lpstr>
      <vt:lpstr>Generative AI for Image classification</vt:lpstr>
      <vt:lpstr>Generative AI for Image classification</vt:lpstr>
      <vt:lpstr>Object Detection</vt:lpstr>
      <vt:lpstr>Object detection</vt:lpstr>
      <vt:lpstr>Generative AI for Object detection</vt:lpstr>
      <vt:lpstr>Generative AI for Object detection</vt:lpstr>
      <vt:lpstr>Semantic and Instance Segmentation</vt:lpstr>
      <vt:lpstr>Semantic and Instance Segmentation</vt:lpstr>
      <vt:lpstr>Generative AI  for Semantic and Instance Segmentation</vt:lpstr>
      <vt:lpstr>Generative AI  for Semantic and Instance Segmentation</vt:lpstr>
      <vt:lpstr>Image Super-resolution</vt:lpstr>
      <vt:lpstr>Image Super-resolution</vt:lpstr>
      <vt:lpstr>Generative AI for Image Super-resolution</vt:lpstr>
      <vt:lpstr>Generative AI for Image Super-resolution</vt:lpstr>
      <vt:lpstr>Image Inpainting</vt:lpstr>
      <vt:lpstr>Image Inpainting</vt:lpstr>
      <vt:lpstr>Generative AI for Image Inpainting</vt:lpstr>
      <vt:lpstr>Generative AI for Image Inpainting</vt:lpstr>
      <vt:lpstr>Summary</vt:lpstr>
      <vt:lpstr>Generative AI for Vision Tasks - II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Generative AI for Vision Tasks - I  </dc:title>
  <dc:creator>IITG</dc:creator>
  <cp:lastModifiedBy>HP</cp:lastModifiedBy>
  <cp:revision>26</cp:revision>
  <dcterms:created xsi:type="dcterms:W3CDTF">2026-08-03T07:15:57Z</dcterms:created>
  <dcterms:modified xsi:type="dcterms:W3CDTF">2026-08-16T03:48:00Z</dcterms:modified>
</cp:coreProperties>
</file>