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58" r:id="rId3"/>
    <p:sldId id="357" r:id="rId4"/>
    <p:sldId id="405" r:id="rId5"/>
    <p:sldId id="406" r:id="rId6"/>
    <p:sldId id="407" r:id="rId7"/>
    <p:sldId id="359" r:id="rId8"/>
    <p:sldId id="408" r:id="rId9"/>
    <p:sldId id="409" r:id="rId10"/>
    <p:sldId id="360" r:id="rId11"/>
    <p:sldId id="404" r:id="rId12"/>
    <p:sldId id="410" r:id="rId13"/>
    <p:sldId id="411" r:id="rId14"/>
    <p:sldId id="414" r:id="rId15"/>
    <p:sldId id="363" r:id="rId16"/>
    <p:sldId id="361" r:id="rId17"/>
    <p:sldId id="364" r:id="rId18"/>
    <p:sldId id="415" r:id="rId19"/>
    <p:sldId id="417" r:id="rId20"/>
    <p:sldId id="365" r:id="rId21"/>
    <p:sldId id="366" r:id="rId22"/>
    <p:sldId id="416" r:id="rId23"/>
    <p:sldId id="380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806E1-BB3E-49CD-8125-5BEE53095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4064D-E0A4-4AB7-A80C-BD1BA2EB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012D-F112-49D3-BD90-F0119827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C8F60-B5DC-4EB2-9824-2EF32EB65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56D2C-E783-475E-A15B-7668773C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7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74EC-17C6-49AA-BD8C-BF6735D3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2DD5-AF26-4F5F-9E95-60F4795E7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242D3-887D-4E94-B202-5261985C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B1746-285E-4E18-92A9-FB9325E7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81A3A-5471-497A-B5EE-96EF6A01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93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ACC6F-F31F-41CA-BEF2-86EC6139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ABC03-A5FF-43F0-9660-6787A3501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43BD8-C0A7-4304-8D8C-C6FAA377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ACF2B-738D-4B76-95B0-7600E7EC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4B750-3C50-4399-9FED-95E5FDBA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78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9038D-7D22-45BC-8E46-4267A29A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4229-93F5-4645-B3B4-EC290F1B3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3380E-9E09-4B9D-8E0B-BF37042DD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8D477-04C8-4584-ADC4-99499167F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A6A8E-538F-4D6E-A069-A4DAD261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BFFF3-DF82-4868-A870-B75CF4B0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F1BD0-7ECE-4598-B3C7-408DCAC2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0B82F-E170-49B7-A6FC-7153259C4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6C254D-FDB1-4806-B35B-5B8A4FDEA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0AE20-A112-42BB-9EAF-7E622DA1B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D617F0-7A49-4E23-AD86-57FFE28C0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2A4931-F8C9-4750-9D00-AF4B9525A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DF450A-F798-4339-BC27-DF85F7543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E8C30E-494C-4FBC-BDE0-6D4D8607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62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93F5-C933-4B1F-89F7-3C2B3A54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2519A9-6D2B-401F-AF71-E3A06F0B1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94946-AFF4-4537-AEEE-629A792E9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7C439-1CBE-44FD-8895-9DE96DCE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30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97AC4A-94B5-40FE-AE50-432C0DCAF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FD1A9-8A09-45ED-AA41-000657A1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A4893-39F5-40E5-8E56-FE1644A7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78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4D0A-F961-4728-B026-2C232FD7E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8B187-77DB-4646-8C57-9AB7A97AE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93558-AF19-408F-A387-3FEDEFE78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97FC1-9B6F-4D40-9981-140A253E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73652-EBA8-4726-868D-665D3B4A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213D3-FD48-439B-98C6-A4E3D846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81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FC7B8-E35A-45D6-B724-B9FF3B19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48FE91-CCD0-4C87-9DA3-0F8C5D2E5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7A8BA-8C75-4450-BB31-5F8440D51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F04E4-B59E-49BA-B2A7-0F3EB6113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E9BB7-8064-4951-B3CE-5C78B8DA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5615C-E34C-4A16-9CAA-5A786AA2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23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23F8-7E3C-4CF4-A2BB-2E89713A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6491C-D7EB-4826-B95D-0F9D25328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09264-F9A1-4BF5-A5B1-3605B1B3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FF955-5CEF-475B-BDB5-9E8C4653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2E9F5-0FCB-4D7A-9786-E1F5DFDB4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98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7522EB-B761-4CBB-9772-3E3FD736E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74FEC-6D86-4F90-9F73-84D115F8D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76C4C-B679-4B11-85C6-CCEE765A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1BC6-98DA-4A91-BA58-D25E002A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20287-0BFE-4E29-80C5-9E6C8075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614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BE3E9-B53D-4A62-80DD-12570B4E8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2D41B-90B4-4C69-A241-0639DDBE6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1EA83-2934-4FA7-A00A-B0E3B764E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C2A10-2271-4353-A14D-7F4D07428F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CA743-1E09-4781-8F51-5FF3F28CE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4728D-B2E0-4FFF-B1E1-B7F7A01D7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3EDC5-57B9-4BFF-B7BA-13774447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96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856321"/>
            <a:ext cx="9144000" cy="942001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Auto-regressive Generative Models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2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8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Autoregressive Model</a:t>
            </a:r>
          </a:p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Fully Visible Belief Network (FVBN)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Pixel CNN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Pixel RNN</a:t>
            </a:r>
          </a:p>
        </p:txBody>
      </p:sp>
    </p:spTree>
    <p:extLst>
      <p:ext uri="{BB962C8B-B14F-4D97-AF65-F5344CB8AC3E}">
        <p14:creationId xmlns:p14="http://schemas.microsoft.com/office/powerpoint/2010/main" val="2221083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E35F-7118-4AC0-994F-D5DA7B33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Autoregressive Generative Model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62D7D-448C-406E-BF48-FA336FB8BF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30830"/>
                <a:ext cx="10515600" cy="486204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4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Autoregressive (AR) generative models</a:t>
                </a:r>
                <a:r>
                  <a:rPr lang="en-US" sz="2400" dirty="0">
                    <a:latin typeface="Arial Narrow" panose="020B0606020202030204" pitchFamily="34" charset="0"/>
                  </a:rPr>
                  <a:t> generate data </a:t>
                </a:r>
                <a:r>
                  <a:rPr lang="en-US" sz="24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one element at a time</a:t>
                </a:r>
                <a:r>
                  <a:rPr lang="en-US" sz="2400" dirty="0">
                    <a:latin typeface="Arial Narrow" panose="020B0606020202030204" pitchFamily="34" charset="0"/>
                  </a:rPr>
                  <a:t>.</a:t>
                </a:r>
              </a:p>
              <a:p>
                <a:endParaRPr lang="en-US" sz="2400" dirty="0">
                  <a:latin typeface="Arial Narrow" panose="020B0606020202030204" pitchFamily="34" charset="0"/>
                </a:endParaRPr>
              </a:p>
              <a:p>
                <a:r>
                  <a:rPr lang="en-US" sz="2400" dirty="0">
                    <a:latin typeface="Arial Narrow" panose="020B0606020202030204" pitchFamily="34" charset="0"/>
                  </a:rPr>
                  <a:t>Each new element is predicted based on the elements generated previously.</a:t>
                </a:r>
              </a:p>
              <a:p>
                <a:endParaRPr lang="en-US" sz="2400" dirty="0">
                  <a:latin typeface="Arial Narrow" panose="020B0606020202030204" pitchFamily="34" charset="0"/>
                </a:endParaRPr>
              </a:p>
              <a:p>
                <a:r>
                  <a:rPr lang="en-US" sz="2400" dirty="0">
                    <a:latin typeface="Arial Narrow" panose="020B0606020202030204" pitchFamily="34" charset="0"/>
                  </a:rPr>
                  <a:t>They model the probability </a:t>
                </a:r>
                <a:r>
                  <a:rPr lang="en-US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for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400" b="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)⨉</m:t>
                      </m:r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)⨉</m:t>
                      </m:r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)⨉…⨉</m:t>
                      </m:r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>
                  <a:solidFill>
                    <a:srgbClr val="00B0F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So the model learns conditional probabilities of each step.</a:t>
                </a:r>
              </a:p>
              <a:p>
                <a:pPr algn="just"/>
                <a:endParaRPr lang="en-US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Common examples include GPT-style language models, </a:t>
                </a:r>
                <a:r>
                  <a:rPr lang="en-US" sz="2400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PixelCNN</a:t>
                </a:r>
                <a:r>
                  <a:rPr lang="en-US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and </a:t>
                </a:r>
                <a:r>
                  <a:rPr lang="en-US" sz="2400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WaveNet</a:t>
                </a:r>
                <a:r>
                  <a:rPr lang="en-US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endParaRPr lang="en-US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They are widely used for text, speech, music, and image generation.</a:t>
                </a:r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62D7D-448C-406E-BF48-FA336FB8BF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30830"/>
                <a:ext cx="10515600" cy="4862045"/>
              </a:xfrm>
              <a:blipFill>
                <a:blip r:embed="rId2"/>
                <a:stretch>
                  <a:fillRect l="-696" t="-27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04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9D304-30BF-4E4B-8DEA-08CEB8BD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19077"/>
          </a:xfrm>
        </p:spPr>
        <p:txBody>
          <a:bodyPr>
            <a:normAutofit fontScale="92500"/>
          </a:bodyPr>
          <a:lstStyle/>
          <a:p>
            <a:r>
              <a:rPr lang="en-US" sz="2200" dirty="0">
                <a:latin typeface="Arial Narrow" panose="020B0606020202030204" pitchFamily="34" charset="0"/>
              </a:rPr>
              <a:t>The model receives an initial input or 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prompt</a:t>
            </a:r>
            <a:r>
              <a:rPr lang="en-US" sz="2200" dirty="0">
                <a:latin typeface="Arial Narrow" panose="020B0606020202030204" pitchFamily="34" charset="0"/>
              </a:rPr>
              <a:t>. It predicts the probability distribution of the 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next element/token</a:t>
            </a:r>
            <a:r>
              <a:rPr lang="en-US" sz="2200" dirty="0">
                <a:latin typeface="Arial Narrow" panose="020B0606020202030204" pitchFamily="34" charset="0"/>
              </a:rPr>
              <a:t>.</a:t>
            </a:r>
          </a:p>
          <a:p>
            <a:endParaRPr lang="en-US" sz="2200" dirty="0">
              <a:latin typeface="Arial Narrow" panose="020B0606020202030204" pitchFamily="34" charset="0"/>
            </a:endParaRPr>
          </a:p>
          <a:p>
            <a:r>
              <a:rPr lang="en-US" sz="2200" dirty="0">
                <a:latin typeface="Arial Narrow" panose="020B0606020202030204" pitchFamily="34" charset="0"/>
              </a:rPr>
              <a:t>One token is selected from this distribution. The selected token is added to the sequence.</a:t>
            </a:r>
          </a:p>
          <a:p>
            <a:endParaRPr lang="en-US" sz="2200" dirty="0">
              <a:latin typeface="Arial Narrow" panose="020B0606020202030204" pitchFamily="34" charset="0"/>
            </a:endParaRPr>
          </a:p>
          <a:p>
            <a:r>
              <a:rPr lang="en-US" sz="2200" dirty="0">
                <a:latin typeface="Arial Narrow" panose="020B0606020202030204" pitchFamily="34" charset="0"/>
              </a:rPr>
              <a:t>The process repeats until the desired output is generated.</a:t>
            </a:r>
          </a:p>
          <a:p>
            <a:endParaRPr lang="en-US" sz="2200" dirty="0">
              <a:latin typeface="Arial Narrow" panose="020B0606020202030204" pitchFamily="34" charset="0"/>
            </a:endParaRPr>
          </a:p>
          <a:p>
            <a:r>
              <a:rPr lang="en-US" sz="2200" dirty="0">
                <a:latin typeface="Arial Narrow" panose="020B0606020202030204" pitchFamily="34" charset="0"/>
              </a:rPr>
              <a:t>Example:</a:t>
            </a:r>
          </a:p>
          <a:p>
            <a:r>
              <a:rPr lang="en-US" sz="2200" dirty="0">
                <a:latin typeface="Arial Narrow" panose="020B0606020202030204" pitchFamily="34" charset="0"/>
              </a:rPr>
              <a:t>Input: “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The cat is</a:t>
            </a:r>
            <a:r>
              <a:rPr lang="en-US" sz="2200" dirty="0">
                <a:latin typeface="Arial Narrow" panose="020B0606020202030204" pitchFamily="34" charset="0"/>
              </a:rPr>
              <a:t>”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Model predicts: “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sleeping</a:t>
            </a:r>
            <a:r>
              <a:rPr lang="en-US" sz="2200" dirty="0">
                <a:latin typeface="Arial Narrow" panose="020B0606020202030204" pitchFamily="34" charset="0"/>
              </a:rPr>
              <a:t>”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 “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The cat is sleeping</a:t>
            </a:r>
            <a:r>
              <a:rPr lang="en-US" sz="2200" dirty="0">
                <a:latin typeface="Arial Narrow" panose="020B0606020202030204" pitchFamily="34" charset="0"/>
              </a:rPr>
              <a:t>”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 predicts the next token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 continues until the sentence is complete.</a:t>
            </a:r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2513F3-A21E-46EE-9BB8-75B249D46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079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4000" dirty="0">
                <a:latin typeface="Century" panose="02040604050505020304" pitchFamily="18" charset="0"/>
              </a:rPr>
              <a:t>How Autoregressive Image Generation Works</a:t>
            </a:r>
            <a:br>
              <a:rPr lang="en-US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052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90E5-B52A-4FDF-924C-737568A4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079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4000" dirty="0">
                <a:latin typeface="Century" panose="02040604050505020304" pitchFamily="18" charset="0"/>
              </a:rPr>
              <a:t>How Autoregressive Image Generation Works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49557-679D-4776-B179-94F03D0D2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204"/>
            <a:ext cx="8021172" cy="2262281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An image is converted into a sequence of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pixels, patches, or tokens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model observes the previously generated elements.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It predicts the probability distribution of the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next visual token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A token is selected and added to the sequence.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process continues until the complete image is generated.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36D589-987D-48BB-A1AF-6A6F037E7D5D}"/>
              </a:ext>
            </a:extLst>
          </p:cNvPr>
          <p:cNvSpPr/>
          <p:nvPr/>
        </p:nvSpPr>
        <p:spPr>
          <a:xfrm>
            <a:off x="376517" y="6262042"/>
            <a:ext cx="112058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</a:rPr>
              <a:t>Figure Source: </a:t>
            </a:r>
            <a:r>
              <a:rPr lang="en-IN" sz="1200" dirty="0" err="1">
                <a:latin typeface="Arial Narrow" panose="020B0606020202030204" pitchFamily="34" charset="0"/>
              </a:rPr>
              <a:t>Mengqi</a:t>
            </a:r>
            <a:r>
              <a:rPr lang="en-IN" sz="1200" dirty="0">
                <a:latin typeface="Arial Narrow" panose="020B0606020202030204" pitchFamily="34" charset="0"/>
              </a:rPr>
              <a:t> Huang, </a:t>
            </a:r>
            <a:r>
              <a:rPr lang="en-IN" sz="1200" dirty="0" err="1">
                <a:latin typeface="Arial Narrow" panose="020B0606020202030204" pitchFamily="34" charset="0"/>
              </a:rPr>
              <a:t>Zhendong</a:t>
            </a:r>
            <a:r>
              <a:rPr lang="en-IN" sz="1200" dirty="0">
                <a:latin typeface="Arial Narrow" panose="020B0606020202030204" pitchFamily="34" charset="0"/>
              </a:rPr>
              <a:t> Mao, </a:t>
            </a:r>
            <a:r>
              <a:rPr lang="en-IN" sz="1200" dirty="0" err="1">
                <a:latin typeface="Arial Narrow" panose="020B0606020202030204" pitchFamily="34" charset="0"/>
              </a:rPr>
              <a:t>Zhuowei</a:t>
            </a:r>
            <a:r>
              <a:rPr lang="en-IN" sz="1200" dirty="0">
                <a:latin typeface="Arial Narrow" panose="020B0606020202030204" pitchFamily="34" charset="0"/>
              </a:rPr>
              <a:t> Chen, </a:t>
            </a:r>
            <a:r>
              <a:rPr lang="en-IN" sz="1200" dirty="0" err="1">
                <a:latin typeface="Arial Narrow" panose="020B0606020202030204" pitchFamily="34" charset="0"/>
              </a:rPr>
              <a:t>Yongdong</a:t>
            </a:r>
            <a:r>
              <a:rPr lang="en-IN" sz="1200" dirty="0">
                <a:latin typeface="Arial Narrow" panose="020B0606020202030204" pitchFamily="34" charset="0"/>
              </a:rPr>
              <a:t> Zhang, “</a:t>
            </a:r>
            <a:r>
              <a:rPr lang="en-US" sz="1200" dirty="0">
                <a:latin typeface="Arial Narrow" panose="020B0606020202030204" pitchFamily="34" charset="0"/>
              </a:rPr>
              <a:t>Towards Accurate Image Coding: Improved Autoregressive Image Generation with Dynamic Vector Quantization”, Link: https://arxiv.org/abs/2305.11718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D42D8-8947-4C8C-AF90-82252B1A5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816" y="3584485"/>
            <a:ext cx="6196556" cy="239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60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E148C-6B0A-4FD0-9E2F-AC4BC053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4000" dirty="0">
                <a:latin typeface="Century" panose="02040604050505020304" pitchFamily="18" charset="0"/>
              </a:rPr>
              <a:t>Auto-regressive Models: </a:t>
            </a:r>
            <a:br>
              <a:rPr lang="en-IN" sz="4000" dirty="0">
                <a:latin typeface="Century" panose="02040604050505020304" pitchFamily="18" charset="0"/>
              </a:rPr>
            </a:br>
            <a:r>
              <a:rPr lang="en-IN" sz="3100" dirty="0">
                <a:latin typeface="Century" panose="02040604050505020304" pitchFamily="18" charset="0"/>
              </a:rPr>
              <a:t>Advantages, Limitations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90037-283A-4F10-97E0-6B759B9BE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Advantages: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Captures complex 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spatial relationships</a:t>
            </a:r>
            <a:r>
              <a:rPr lang="en-US" sz="2200" dirty="0">
                <a:latin typeface="Arial Narrow" panose="020B0606020202030204" pitchFamily="34" charset="0"/>
              </a:rPr>
              <a:t> between image components.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Provides a clear probabilistic framework for image generation.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Can be conditioned on 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text, labels, or other images</a:t>
            </a:r>
            <a:r>
              <a:rPr lang="en-US" sz="2200" dirty="0">
                <a:latin typeface="Arial Narrow" panose="020B0606020202030204" pitchFamily="34" charset="0"/>
              </a:rPr>
              <a:t>.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Can generate diverse and realistic visual content.</a:t>
            </a:r>
          </a:p>
          <a:p>
            <a:endParaRPr lang="en-US" dirty="0">
              <a:latin typeface="Arial Narrow" panose="020B0606020202030204" pitchFamily="34" charset="0"/>
            </a:endParaRPr>
          </a:p>
          <a:p>
            <a:r>
              <a:rPr lang="en-US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Limitations: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Sequential generation can be 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computationally expensive and slow</a:t>
            </a:r>
            <a:r>
              <a:rPr lang="en-US" sz="2200" dirty="0">
                <a:latin typeface="Arial Narrow" panose="020B0606020202030204" pitchFamily="34" charset="0"/>
              </a:rPr>
              <a:t>.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Large images require many tokens.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High-quality generation may require substantial training data and computing resources.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915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1BC6E-94DF-4354-BDA1-1ED1C955AC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Explicit Density Model</a:t>
                </a:r>
              </a:p>
              <a:p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1BC6E-94DF-4354-BDA1-1ED1C955AC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41B26CB-630C-433E-90BF-08295B3A9D3E}"/>
              </a:ext>
            </a:extLst>
          </p:cNvPr>
          <p:cNvSpPr txBox="1"/>
          <p:nvPr/>
        </p:nvSpPr>
        <p:spPr>
          <a:xfrm>
            <a:off x="3227292" y="4574429"/>
            <a:ext cx="2321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Likelihood of image x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3E8816-C57F-4F95-9EB2-5B52F2B4B120}"/>
              </a:ext>
            </a:extLst>
          </p:cNvPr>
          <p:cNvCxnSpPr>
            <a:stCxn id="4" idx="0"/>
          </p:cNvCxnSpPr>
          <p:nvPr/>
        </p:nvCxnSpPr>
        <p:spPr>
          <a:xfrm flipV="1">
            <a:off x="4388222" y="3801035"/>
            <a:ext cx="0" cy="77339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374C0D0-FDCB-4424-B69B-1A6BBCF996F7}"/>
              </a:ext>
            </a:extLst>
          </p:cNvPr>
          <p:cNvSpPr/>
          <p:nvPr/>
        </p:nvSpPr>
        <p:spPr>
          <a:xfrm>
            <a:off x="5549151" y="4574429"/>
            <a:ext cx="251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Joint likelihood of each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pixel in the image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B713D4-BC88-4128-A807-01B1D6C1442F}"/>
              </a:ext>
            </a:extLst>
          </p:cNvPr>
          <p:cNvCxnSpPr/>
          <p:nvPr/>
        </p:nvCxnSpPr>
        <p:spPr>
          <a:xfrm flipH="1" flipV="1">
            <a:off x="6531346" y="3774115"/>
            <a:ext cx="1" cy="77339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644659-6933-4C5C-96B7-14D4134B4E79}"/>
              </a:ext>
            </a:extLst>
          </p:cNvPr>
          <p:cNvSpPr txBox="1"/>
          <p:nvPr/>
        </p:nvSpPr>
        <p:spPr>
          <a:xfrm>
            <a:off x="6531346" y="6492875"/>
            <a:ext cx="5298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et.al. CS 231n Deep Learning for Computer Vision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CCFC17C-CCB5-406A-8062-4EB626B0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Fully Visible Belief Network (FVBN)</a:t>
            </a:r>
            <a:endParaRPr lang="en-IN" sz="3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72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A1D39-469D-4424-A878-599B4BA4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Fully Visible Belief Network (FVBN)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90798E-2A73-4846-910C-A04BD2E009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A 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Fully Visible Belief Network (FVBN)</a:t>
                </a:r>
                <a:r>
                  <a:rPr lang="en-US" sz="2000" dirty="0">
                    <a:latin typeface="Arial Narrow" panose="020B0606020202030204" pitchFamily="34" charset="0"/>
                  </a:rPr>
                  <a:t> is an autoregressive probabilistic generative model in which all variables in the input are treated as visible and the joint probability distribution is factorized into a sequence of conditional probabilities. 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For an image represented as a set of pixels or visual tokens 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the model represents the distribution as 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Each pixel or token is therefore predicted based only on the previously ordered variables, enabling the network to capture dependencies among different regions of an image. 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90798E-2A73-4846-910C-A04BD2E009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DF757A9-DFF3-4340-9B98-D6C8DAE29E60}"/>
                  </a:ext>
                </a:extLst>
              </p:cNvPr>
              <p:cNvSpPr/>
              <p:nvPr/>
            </p:nvSpPr>
            <p:spPr>
              <a:xfrm>
                <a:off x="3927233" y="3765737"/>
                <a:ext cx="4337534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DF757A9-DFF3-4340-9B98-D6C8DAE29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233" y="3765737"/>
                <a:ext cx="4337534" cy="1100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2140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4E7CE-8A89-4C7B-894F-C88B7D517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FVBNs are typically trained using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maximum likelihood estimation</a:t>
            </a:r>
            <a:r>
              <a:rPr lang="en-US" sz="2000" dirty="0">
                <a:latin typeface="Arial Narrow" panose="020B0606020202030204" pitchFamily="34" charset="0"/>
              </a:rPr>
              <a:t>, where the objective is to maximize the probability assigned to the training images.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During generation, pixels or tokens are sampled sequentially according to the learned conditional distributions.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Models such as 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PixelRNN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and 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PixelCNN</a:t>
            </a:r>
            <a:r>
              <a:rPr lang="en-US" sz="2000" dirty="0">
                <a:latin typeface="Arial Narrow" panose="020B0606020202030204" pitchFamily="34" charset="0"/>
              </a:rPr>
              <a:t> are prominent examples of this fully visible autoregressive approach.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Although FVBNs provide an explicit and tractable likelihood function and can model complex image distributions, their sequential sampling process can make image generation computationally expensive and relatively slow.</a:t>
            </a:r>
            <a:endParaRPr lang="en-IN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230227-C5CB-4E2D-943F-E96810D4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Fully Visible Belief Network (FVBN)</a:t>
            </a:r>
            <a:endParaRPr lang="en-IN" sz="3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59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9AD534-C433-4B23-A33A-D4B95C9A8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753" y="2968883"/>
            <a:ext cx="2424119" cy="18466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25A46C8-59A5-4380-83BC-31CA31740CA6}"/>
              </a:ext>
            </a:extLst>
          </p:cNvPr>
          <p:cNvSpPr txBox="1"/>
          <p:nvPr/>
        </p:nvSpPr>
        <p:spPr>
          <a:xfrm>
            <a:off x="9980166" y="3707547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3F6FA2-60C6-4E86-8F34-272E9C157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Fully visible belief network (FVBN)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251E0-BF60-484B-9B87-FFB211D50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1783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This is an Explicit density model</a:t>
            </a:r>
          </a:p>
          <a:p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The chain rule is used to decompose the likelihood of an </a:t>
            </a: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data</a:t>
            </a: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into product of </a:t>
            </a: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distributions: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5AE3C06-6983-4678-B8D4-A16EBB3D03F8}"/>
                  </a:ext>
                </a:extLst>
              </p:cNvPr>
              <p:cNvSpPr/>
              <p:nvPr/>
            </p:nvSpPr>
            <p:spPr>
              <a:xfrm>
                <a:off x="3270371" y="2885999"/>
                <a:ext cx="5034520" cy="1268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5AE3C06-6983-4678-B8D4-A16EBB3D03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371" y="2885999"/>
                <a:ext cx="5034520" cy="1268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82D39D9-FC44-41C4-82F0-CBC4217E5925}"/>
              </a:ext>
            </a:extLst>
          </p:cNvPr>
          <p:cNvSpPr txBox="1"/>
          <p:nvPr/>
        </p:nvSpPr>
        <p:spPr>
          <a:xfrm>
            <a:off x="2608679" y="4574353"/>
            <a:ext cx="2321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Likelihood of image 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53833F-C699-4193-A7EC-B2C89E3773F0}"/>
              </a:ext>
            </a:extLst>
          </p:cNvPr>
          <p:cNvCxnSpPr>
            <a:stCxn id="5" idx="0"/>
          </p:cNvCxnSpPr>
          <p:nvPr/>
        </p:nvCxnSpPr>
        <p:spPr>
          <a:xfrm flipV="1">
            <a:off x="3769609" y="3800959"/>
            <a:ext cx="0" cy="77339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CB4D22A-87E5-4B13-A63E-5EB0329CDCF0}"/>
                  </a:ext>
                </a:extLst>
              </p:cNvPr>
              <p:cNvSpPr/>
              <p:nvPr/>
            </p:nvSpPr>
            <p:spPr>
              <a:xfrm>
                <a:off x="5587606" y="4606103"/>
                <a:ext cx="3047995" cy="6512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Probability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pixel value</a:t>
                </a:r>
              </a:p>
              <a:p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given all previous pixels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CB4D22A-87E5-4B13-A63E-5EB0329CDC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606" y="4606103"/>
                <a:ext cx="3047995" cy="651269"/>
              </a:xfrm>
              <a:prstGeom prst="rect">
                <a:avLst/>
              </a:prstGeom>
              <a:blipFill>
                <a:blip r:embed="rId4"/>
                <a:stretch>
                  <a:fillRect l="-1800" t="-4717" b="-15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A13850-41A4-4864-8140-B12447E0C813}"/>
              </a:ext>
            </a:extLst>
          </p:cNvPr>
          <p:cNvCxnSpPr/>
          <p:nvPr/>
        </p:nvCxnSpPr>
        <p:spPr>
          <a:xfrm flipV="1">
            <a:off x="6693784" y="3767854"/>
            <a:ext cx="0" cy="77339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899325-83FF-4F98-A15B-210F2B246871}"/>
                  </a:ext>
                </a:extLst>
              </p:cNvPr>
              <p:cNvSpPr txBox="1"/>
              <p:nvPr/>
            </p:nvSpPr>
            <p:spPr>
              <a:xfrm>
                <a:off x="9181752" y="2968883"/>
                <a:ext cx="401569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899325-83FF-4F98-A15B-210F2B246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752" y="2968883"/>
                <a:ext cx="40156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20F3E95-05BE-48F1-9253-9E5AD1915A49}"/>
              </a:ext>
            </a:extLst>
          </p:cNvPr>
          <p:cNvSpPr txBox="1"/>
          <p:nvPr/>
        </p:nvSpPr>
        <p:spPr>
          <a:xfrm>
            <a:off x="9583321" y="2968883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61B3C-44BF-4C81-A5A8-9119FACD2692}"/>
              </a:ext>
            </a:extLst>
          </p:cNvPr>
          <p:cNvSpPr txBox="1"/>
          <p:nvPr/>
        </p:nvSpPr>
        <p:spPr>
          <a:xfrm>
            <a:off x="9987640" y="2968883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552403-DD3F-4F45-88A9-EDF90CA1A75D}"/>
              </a:ext>
            </a:extLst>
          </p:cNvPr>
          <p:cNvSpPr txBox="1"/>
          <p:nvPr/>
        </p:nvSpPr>
        <p:spPr>
          <a:xfrm>
            <a:off x="10383421" y="2968883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6BD79C-C056-4D3A-8540-54585ECA74A7}"/>
              </a:ext>
            </a:extLst>
          </p:cNvPr>
          <p:cNvSpPr txBox="1"/>
          <p:nvPr/>
        </p:nvSpPr>
        <p:spPr>
          <a:xfrm>
            <a:off x="10787740" y="2968883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C99876-2DD7-43F5-BAA8-DD976DBD39C5}"/>
              </a:ext>
            </a:extLst>
          </p:cNvPr>
          <p:cNvSpPr txBox="1"/>
          <p:nvPr/>
        </p:nvSpPr>
        <p:spPr>
          <a:xfrm>
            <a:off x="11190296" y="2968883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2B4461-4AE9-41BB-903E-245BFFB9DE25}"/>
              </a:ext>
            </a:extLst>
          </p:cNvPr>
          <p:cNvSpPr txBox="1"/>
          <p:nvPr/>
        </p:nvSpPr>
        <p:spPr>
          <a:xfrm>
            <a:off x="9582334" y="3338215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66D2D-F50E-4307-9DAB-8BF1BB4D7F0D}"/>
              </a:ext>
            </a:extLst>
          </p:cNvPr>
          <p:cNvSpPr txBox="1"/>
          <p:nvPr/>
        </p:nvSpPr>
        <p:spPr>
          <a:xfrm>
            <a:off x="9986653" y="3338215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F226F5-C193-4EAB-8329-D41E215DCE1D}"/>
              </a:ext>
            </a:extLst>
          </p:cNvPr>
          <p:cNvSpPr txBox="1"/>
          <p:nvPr/>
        </p:nvSpPr>
        <p:spPr>
          <a:xfrm>
            <a:off x="10382434" y="3338215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B0509E-D536-4400-8E3D-4479C1FA39A5}"/>
              </a:ext>
            </a:extLst>
          </p:cNvPr>
          <p:cNvSpPr txBox="1"/>
          <p:nvPr/>
        </p:nvSpPr>
        <p:spPr>
          <a:xfrm>
            <a:off x="10786753" y="3338215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A7F596-D2A8-4F10-BD85-A744794BC183}"/>
              </a:ext>
            </a:extLst>
          </p:cNvPr>
          <p:cNvSpPr txBox="1"/>
          <p:nvPr/>
        </p:nvSpPr>
        <p:spPr>
          <a:xfrm>
            <a:off x="11189309" y="3338215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BEB5F8-3BDF-46F0-ADCC-636AE816548C}"/>
              </a:ext>
            </a:extLst>
          </p:cNvPr>
          <p:cNvSpPr txBox="1"/>
          <p:nvPr/>
        </p:nvSpPr>
        <p:spPr>
          <a:xfrm>
            <a:off x="9176884" y="3338215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5BC5C7-8FB4-46C4-A8CE-28376C110405}"/>
              </a:ext>
            </a:extLst>
          </p:cNvPr>
          <p:cNvSpPr txBox="1"/>
          <p:nvPr/>
        </p:nvSpPr>
        <p:spPr>
          <a:xfrm>
            <a:off x="9575847" y="3707547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C4F7FA-6C93-46BE-A5AB-B9923B77D082}"/>
                  </a:ext>
                </a:extLst>
              </p:cNvPr>
              <p:cNvSpPr txBox="1"/>
              <p:nvPr/>
            </p:nvSpPr>
            <p:spPr>
              <a:xfrm>
                <a:off x="10385472" y="3707547"/>
                <a:ext cx="401569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C4F7FA-6C93-46BE-A5AB-B9923B77D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72" y="3707547"/>
                <a:ext cx="40156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751B3471-240E-4B50-86AD-91F1F39CE44C}"/>
              </a:ext>
            </a:extLst>
          </p:cNvPr>
          <p:cNvSpPr txBox="1"/>
          <p:nvPr/>
        </p:nvSpPr>
        <p:spPr>
          <a:xfrm>
            <a:off x="10789791" y="3707547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5B88B4-2191-4DB5-9897-F4966008B9F9}"/>
              </a:ext>
            </a:extLst>
          </p:cNvPr>
          <p:cNvSpPr txBox="1"/>
          <p:nvPr/>
        </p:nvSpPr>
        <p:spPr>
          <a:xfrm>
            <a:off x="11192347" y="3707547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775942-5F01-4D46-A82C-E5F2C41D2D54}"/>
              </a:ext>
            </a:extLst>
          </p:cNvPr>
          <p:cNvSpPr txBox="1"/>
          <p:nvPr/>
        </p:nvSpPr>
        <p:spPr>
          <a:xfrm>
            <a:off x="9179922" y="3707547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4CD0EF-710D-4E32-9B86-15E9835FE0EA}"/>
              </a:ext>
            </a:extLst>
          </p:cNvPr>
          <p:cNvSpPr txBox="1"/>
          <p:nvPr/>
        </p:nvSpPr>
        <p:spPr>
          <a:xfrm>
            <a:off x="9582334" y="406939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F47AE8-64EE-41EB-8D06-5DDED4ADDFCA}"/>
              </a:ext>
            </a:extLst>
          </p:cNvPr>
          <p:cNvSpPr txBox="1"/>
          <p:nvPr/>
        </p:nvSpPr>
        <p:spPr>
          <a:xfrm>
            <a:off x="9977128" y="406939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C4D074-9877-4EEF-A39B-5BC603EF62A6}"/>
              </a:ext>
            </a:extLst>
          </p:cNvPr>
          <p:cNvSpPr txBox="1"/>
          <p:nvPr/>
        </p:nvSpPr>
        <p:spPr>
          <a:xfrm>
            <a:off x="10382434" y="406939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8D6E23-2716-4288-8E84-A97023D0E91A}"/>
              </a:ext>
            </a:extLst>
          </p:cNvPr>
          <p:cNvSpPr txBox="1"/>
          <p:nvPr/>
        </p:nvSpPr>
        <p:spPr>
          <a:xfrm>
            <a:off x="10786753" y="406939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10BD2F-6EB6-47D3-99AC-FAC51C80589A}"/>
              </a:ext>
            </a:extLst>
          </p:cNvPr>
          <p:cNvSpPr txBox="1"/>
          <p:nvPr/>
        </p:nvSpPr>
        <p:spPr>
          <a:xfrm>
            <a:off x="11189309" y="406939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E13589-C4F4-435D-AD98-E3DD1BD5BA6E}"/>
              </a:ext>
            </a:extLst>
          </p:cNvPr>
          <p:cNvSpPr txBox="1"/>
          <p:nvPr/>
        </p:nvSpPr>
        <p:spPr>
          <a:xfrm>
            <a:off x="9176884" y="406939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7B3613-46DA-4E54-AD14-818B992067F5}"/>
              </a:ext>
            </a:extLst>
          </p:cNvPr>
          <p:cNvSpPr txBox="1"/>
          <p:nvPr/>
        </p:nvSpPr>
        <p:spPr>
          <a:xfrm>
            <a:off x="9582334" y="444621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70E465-2AE8-44EF-97BE-45F140F7728A}"/>
              </a:ext>
            </a:extLst>
          </p:cNvPr>
          <p:cNvSpPr txBox="1"/>
          <p:nvPr/>
        </p:nvSpPr>
        <p:spPr>
          <a:xfrm>
            <a:off x="9986653" y="444621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DF3171-CD54-45ED-94C5-216583EFA207}"/>
              </a:ext>
            </a:extLst>
          </p:cNvPr>
          <p:cNvSpPr txBox="1"/>
          <p:nvPr/>
        </p:nvSpPr>
        <p:spPr>
          <a:xfrm>
            <a:off x="10382434" y="444621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34F018-6586-4D04-A3B9-9700BE68F183}"/>
              </a:ext>
            </a:extLst>
          </p:cNvPr>
          <p:cNvSpPr txBox="1"/>
          <p:nvPr/>
        </p:nvSpPr>
        <p:spPr>
          <a:xfrm>
            <a:off x="10786753" y="444621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4308F7-9CCD-49D0-9AFD-9AC902CE0F0F}"/>
              </a:ext>
            </a:extLst>
          </p:cNvPr>
          <p:cNvSpPr txBox="1"/>
          <p:nvPr/>
        </p:nvSpPr>
        <p:spPr>
          <a:xfrm>
            <a:off x="11189309" y="444621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89AC7D-CAC4-4F43-B68F-B51C019A7BF7}"/>
              </a:ext>
            </a:extLst>
          </p:cNvPr>
          <p:cNvSpPr txBox="1"/>
          <p:nvPr/>
        </p:nvSpPr>
        <p:spPr>
          <a:xfrm>
            <a:off x="9176884" y="4446211"/>
            <a:ext cx="401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E23C772-C957-4680-BAD1-9DDD8BEE2451}"/>
              </a:ext>
            </a:extLst>
          </p:cNvPr>
          <p:cNvSpPr/>
          <p:nvPr/>
        </p:nvSpPr>
        <p:spPr>
          <a:xfrm>
            <a:off x="816346" y="5403617"/>
            <a:ext cx="66030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The goal is to maximize the likelihood of training data</a:t>
            </a:r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FF1E9B-B3B1-42A8-B534-7DB9F3295536}"/>
              </a:ext>
            </a:extLst>
          </p:cNvPr>
          <p:cNvSpPr/>
          <p:nvPr/>
        </p:nvSpPr>
        <p:spPr>
          <a:xfrm>
            <a:off x="9166753" y="5050679"/>
            <a:ext cx="25321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solidFill>
                  <a:srgbClr val="0000FF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 neural network is used to realize the Complex pixel distribution.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90945F-3C1A-4B2C-B178-89D33C26A7E4}"/>
              </a:ext>
            </a:extLst>
          </p:cNvPr>
          <p:cNvSpPr txBox="1"/>
          <p:nvPr/>
        </p:nvSpPr>
        <p:spPr>
          <a:xfrm>
            <a:off x="6531346" y="6492875"/>
            <a:ext cx="5298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Concept: Fei-Fei Li et.al. CS 231n Deep Learning for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2245282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D3B0-3C10-4ADD-B6A1-78D63A2A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3600" dirty="0">
                <a:solidFill>
                  <a:srgbClr val="C00000"/>
                </a:solidFill>
                <a:latin typeface="Book Antiqua" panose="02040602050305030304" pitchFamily="18" charset="0"/>
              </a:rPr>
            </a:br>
            <a:r>
              <a:rPr lang="en-IN" sz="4000" dirty="0">
                <a:latin typeface="Century" panose="02040604050505020304" pitchFamily="18" charset="0"/>
              </a:rPr>
              <a:t>Examples of Autoregressive Models</a:t>
            </a:r>
            <a:br>
              <a:rPr lang="en-IN" sz="4000" b="1" dirty="0">
                <a:latin typeface="Century" panose="02040604050505020304" pitchFamily="18" charset="0"/>
              </a:rPr>
            </a:br>
            <a:endParaRPr lang="en-IN" sz="40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456D9-FE94-4151-A148-822AC140C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Several famous AI models use autoregressive generation:</a:t>
            </a:r>
          </a:p>
          <a:p>
            <a:pPr lvl="1"/>
            <a:r>
              <a:rPr lang="en-IN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PixelRNN</a:t>
            </a:r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and </a:t>
            </a:r>
            <a:r>
              <a:rPr lang="en-IN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PixelCNN</a:t>
            </a:r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– image generation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Transformer – widely used for sequence modelling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GPT (Generative Pre‑trained Transformer) – text generation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404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7BC9-7172-4A8C-8338-73244884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6122"/>
          </a:xfrm>
        </p:spPr>
        <p:txBody>
          <a:bodyPr>
            <a:normAutofit fontScale="90000"/>
          </a:bodyPr>
          <a:lstStyle/>
          <a:p>
            <a:r>
              <a:rPr lang="nl-NL" sz="3600" dirty="0">
                <a:latin typeface="Century" panose="02040604050505020304" pitchFamily="18" charset="0"/>
              </a:rPr>
              <a:t>Pixel Recurrent Neural Networks</a:t>
            </a:r>
            <a:br>
              <a:rPr lang="nl-NL" sz="3600" dirty="0">
                <a:latin typeface="Century" panose="02040604050505020304" pitchFamily="18" charset="0"/>
              </a:rPr>
            </a:br>
            <a:r>
              <a:rPr lang="nl-NL" sz="2400" dirty="0">
                <a:latin typeface="Arial Narrow" panose="020B0606020202030204" pitchFamily="34" charset="0"/>
              </a:rPr>
              <a:t>A¨aron van den Oord, Nal Kalchbrenner, Koray Kavukcuoglu, GOOGle Deep Mind, ICML 2016</a:t>
            </a:r>
            <a:endParaRPr lang="en-IN" sz="24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3C98A9-5682-4FEB-AD18-99B81105E1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1929"/>
                <a:ext cx="10515600" cy="4950946"/>
              </a:xfrm>
            </p:spPr>
            <p:txBody>
              <a:bodyPr>
                <a:normAutofit/>
              </a:bodyPr>
              <a:lstStyle/>
              <a:p>
                <a:r>
                  <a:rPr lang="en-GB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Pixel Recurrent Neural Networks (Pixel RNN) </a:t>
                </a:r>
                <a:r>
                  <a:rPr lang="en-GB" sz="2000" dirty="0">
                    <a:latin typeface="Arial Narrow" panose="020B0606020202030204" pitchFamily="34" charset="0"/>
                  </a:rPr>
                  <a:t>are deep generative image models designed to estimate the </a:t>
                </a:r>
                <a:r>
                  <a:rPr lang="en-GB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joint probability distribution of natural images</a:t>
                </a:r>
                <a:r>
                  <a:rPr lang="en-GB" sz="2000" dirty="0">
                    <a:latin typeface="Arial Narrow" panose="020B0606020202030204" pitchFamily="34" charset="0"/>
                  </a:rPr>
                  <a:t>.</a:t>
                </a:r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GB" sz="2000" dirty="0">
                    <a:latin typeface="Arial Narrow" panose="020B0606020202030204" pitchFamily="34" charset="0"/>
                  </a:rPr>
                  <a:t>Developed by </a:t>
                </a:r>
                <a:r>
                  <a:rPr lang="en-GB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Google DeepMind</a:t>
                </a:r>
                <a:r>
                  <a:rPr lang="en-GB" sz="2000" dirty="0">
                    <a:latin typeface="Arial Narrow" panose="020B0606020202030204" pitchFamily="34" charset="0"/>
                  </a:rPr>
                  <a:t>, this framework </a:t>
                </a:r>
                <a:r>
                  <a:rPr lang="en-GB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sequentially predicts pixels along two spatial dimensions to capture both highly local and long-range pixel correlations.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The joint distribution over the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pixels of an image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factorized as a product of conditional distributions</a:t>
                </a:r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The network scans the image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one row at a time and one pixel at a time within each row</a:t>
                </a:r>
                <a:r>
                  <a:rPr lang="en-US" sz="2000" dirty="0">
                    <a:latin typeface="Arial Narrow" panose="020B0606020202030204" pitchFamily="34" charset="0"/>
                  </a:rPr>
                  <a:t>, predicting the probability of the current pixel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given all previously generated pixels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Within each individual pixel, the three color channels (Red, Green, and Blue) are also factorized sequentially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000" b="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This means each color channel is conditioned on the other channels as well as all previously generated pixels in the image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3C98A9-5682-4FEB-AD18-99B81105E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1929"/>
                <a:ext cx="10515600" cy="4950946"/>
              </a:xfrm>
              <a:blipFill>
                <a:blip r:embed="rId2"/>
                <a:stretch>
                  <a:fillRect l="-522" t="-1355" r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DA8A17-A220-4A75-B354-8D6D8D9C26AD}"/>
                  </a:ext>
                </a:extLst>
              </p:cNvPr>
              <p:cNvSpPr/>
              <p:nvPr/>
            </p:nvSpPr>
            <p:spPr>
              <a:xfrm>
                <a:off x="3736535" y="3213997"/>
                <a:ext cx="3706206" cy="10008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p>
                            <m:sSupPr>
                              <m:ctrlP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sz="20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DA8A17-A220-4A75-B354-8D6D8D9C2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35" y="3213997"/>
                <a:ext cx="3706206" cy="10008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A0EA9C6-E524-44C8-A091-9F55F432AB1D}"/>
              </a:ext>
            </a:extLst>
          </p:cNvPr>
          <p:cNvSpPr txBox="1"/>
          <p:nvPr/>
        </p:nvSpPr>
        <p:spPr>
          <a:xfrm>
            <a:off x="838200" y="6492875"/>
            <a:ext cx="6411068" cy="27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>
                <a:latin typeface="Arial Narrow" panose="020B0606020202030204" pitchFamily="34" charset="0"/>
              </a:rPr>
              <a:t>A¨aron van den Oord, Nal Kalchbrenner, Koray Kavukcuoglu, “Pixel Recurrent Neural Networks”, ICML 2016</a:t>
            </a:r>
            <a:endParaRPr lang="en-IN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530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A43F-47C0-40DA-8F8C-EC9B5908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Century" panose="02040604050505020304" pitchFamily="18" charset="0"/>
              </a:rPr>
              <a:t>PixelCNN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9072A-ED63-489B-AD2E-2B50F4B8F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9481"/>
            <a:ext cx="4530358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PixelCNN</a:t>
            </a:r>
            <a:r>
              <a:rPr lang="en-US" sz="2000" b="1" dirty="0">
                <a:latin typeface="Arial Narrow" panose="020B0606020202030204" pitchFamily="34" charset="0"/>
              </a:rPr>
              <a:t>:</a:t>
            </a:r>
            <a:r>
              <a:rPr lang="en-US" sz="2000" dirty="0">
                <a:latin typeface="Arial Narrow" panose="020B0606020202030204" pitchFamily="34" charset="0"/>
              </a:rPr>
              <a:t> A simplified, fully convolutional alternative of fifteen layers that preserves spatial resolution and uses masked convolutions to capture a bounded receptive field.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While generation remains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sequential</a:t>
            </a:r>
            <a:r>
              <a:rPr lang="en-US" sz="2000" dirty="0">
                <a:latin typeface="Arial Narrow" panose="020B0606020202030204" pitchFamily="34" charset="0"/>
              </a:rPr>
              <a:t>, 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PixelCNN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allows for complete parallelization </a:t>
            </a:r>
            <a:r>
              <a:rPr lang="en-US" sz="2000" dirty="0">
                <a:latin typeface="Arial Narrow" panose="020B0606020202030204" pitchFamily="34" charset="0"/>
              </a:rPr>
              <a:t>of the pixel computations during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training and evaluation</a:t>
            </a:r>
          </a:p>
          <a:p>
            <a:pPr algn="just"/>
            <a:endParaRPr lang="en-US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Masks are adopted in the convolutions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avoid seeing the future context;</a:t>
            </a:r>
          </a:p>
          <a:p>
            <a:pPr algn="just"/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A1FA0-43BE-47D9-A415-B173D17D8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29481"/>
            <a:ext cx="2293576" cy="2304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6FC709-E7D0-4574-9AB8-D941A6C87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018" y="2219641"/>
            <a:ext cx="2236782" cy="35507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8D8371-9698-4597-AC6E-38364CC74E34}"/>
              </a:ext>
            </a:extLst>
          </p:cNvPr>
          <p:cNvSpPr txBox="1"/>
          <p:nvPr/>
        </p:nvSpPr>
        <p:spPr>
          <a:xfrm>
            <a:off x="5529920" y="6299375"/>
            <a:ext cx="6411068" cy="27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>
                <a:latin typeface="Arial Narrow" panose="020B0606020202030204" pitchFamily="34" charset="0"/>
              </a:rPr>
              <a:t>A¨aron van den Oord, Nal Kalchbrenner, Koray Kavukcuoglu, “Pixel Recurrent Neural Networks”, ICML 2016</a:t>
            </a:r>
            <a:endParaRPr lang="en-IN" sz="1200" dirty="0">
              <a:latin typeface="Arial Narrow" panose="020B0606020202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3979F1-BC69-4218-A25E-1DD15EB34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889" y="3995434"/>
            <a:ext cx="2238687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26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E29D9-8B74-44BC-8213-3A25F17DE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4"/>
            <a:ext cx="7579659" cy="5337175"/>
          </a:xfrm>
        </p:spPr>
        <p:txBody>
          <a:bodyPr>
            <a:noAutofit/>
          </a:bodyPr>
          <a:lstStyle/>
          <a:p>
            <a:pPr algn="just"/>
            <a:r>
              <a:rPr lang="en-GB" sz="2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Masked convolution in </a:t>
            </a:r>
            <a:r>
              <a:rPr lang="en-GB" sz="2000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PixelCNN</a:t>
            </a:r>
            <a:r>
              <a:rPr lang="en-GB" sz="2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is a modified convolution operation used to ensure that when predicting a pixel, the </a:t>
            </a:r>
            <a:r>
              <a:rPr lang="en-GB" sz="2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model only uses information from previously generated pixels and not from future pixels.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GB" sz="2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In a standard convolution, the filter can </a:t>
            </a:r>
            <a:r>
              <a:rPr lang="en-GB" sz="2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access all </a:t>
            </a:r>
            <a:r>
              <a:rPr lang="en-GB" sz="2000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neighboring</a:t>
            </a:r>
            <a:r>
              <a:rPr lang="en-GB" sz="2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pixels</a:t>
            </a:r>
            <a:r>
              <a:rPr lang="en-GB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, which would </a:t>
            </a:r>
            <a:r>
              <a:rPr lang="en-GB" sz="2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violate the autoregressive property </a:t>
            </a:r>
            <a:r>
              <a:rPr lang="en-GB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required for sequential image generation. </a:t>
            </a:r>
          </a:p>
          <a:p>
            <a:pPr algn="just"/>
            <a:endParaRPr lang="en-GB" sz="2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To solve this, </a:t>
            </a:r>
            <a:r>
              <a:rPr lang="en-GB" sz="20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PixelCNN</a:t>
            </a:r>
            <a:r>
              <a:rPr lang="en-GB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 applies a </a:t>
            </a:r>
            <a:r>
              <a:rPr lang="en-GB" sz="2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mask to the convolutional filters that sets certain weights to zero</a:t>
            </a:r>
            <a:r>
              <a:rPr lang="en-GB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, blocking connections to future pixels (such as pixels to the right or below the current pixel). </a:t>
            </a:r>
          </a:p>
          <a:p>
            <a:pPr algn="just"/>
            <a:endParaRPr lang="en-GB" sz="2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This ensures that </a:t>
            </a:r>
            <a:r>
              <a:rPr lang="en-GB" sz="2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each pixel is predicted based only on pixels above and to the left.</a:t>
            </a:r>
          </a:p>
        </p:txBody>
      </p:sp>
      <p:pic>
        <p:nvPicPr>
          <p:cNvPr id="4" name="Picture 2" descr="PixelCNN Architecture">
            <a:extLst>
              <a:ext uri="{FF2B5EF4-FFF2-40B4-BE49-F238E27FC236}">
                <a16:creationId xmlns:a16="http://schemas.microsoft.com/office/drawing/2014/main" id="{7FDB0A42-F768-45BE-8ED0-38F546DB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566" y="2543175"/>
            <a:ext cx="3546796" cy="2261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4DA2CA-F7D7-4E05-BF0C-4BA42623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58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Century" panose="02040604050505020304" pitchFamily="18" charset="0"/>
              </a:rPr>
              <a:t>PixelCNN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80740-9B32-46AC-82E1-797B6D99B090}"/>
              </a:ext>
            </a:extLst>
          </p:cNvPr>
          <p:cNvSpPr txBox="1"/>
          <p:nvPr/>
        </p:nvSpPr>
        <p:spPr>
          <a:xfrm>
            <a:off x="5529920" y="6299375"/>
            <a:ext cx="6411068" cy="27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>
                <a:latin typeface="Arial Narrow" panose="020B0606020202030204" pitchFamily="34" charset="0"/>
              </a:rPr>
              <a:t>A¨aron van den Oord, Nal Kalchbrenner, Koray Kavukcuoglu, “Pixel Recurrent Neural Networks”, ICML 2016</a:t>
            </a:r>
            <a:endParaRPr lang="en-IN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651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5288-2023-42C4-92C2-A1A8C79DB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PixelRNN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E18CA-93DE-4483-9C9B-536A1A3EA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4100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Pixel by pixel is generated.</a:t>
            </a:r>
          </a:p>
          <a:p>
            <a:pPr algn="just"/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The process is started in general from the left top corner.</a:t>
            </a:r>
          </a:p>
          <a:p>
            <a:pPr algn="just"/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An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RNN or LSTM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is used to model the dependency on previous pixels for the current pixel.</a:t>
            </a:r>
          </a:p>
          <a:p>
            <a:pPr algn="just"/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PixelRNN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treats an image as a sequence of pixels and predicts each pixel based on the pixels that come before it.</a:t>
            </a:r>
          </a:p>
          <a:p>
            <a:pPr algn="just"/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It generates an image by generating one pixel at a time.</a:t>
            </a:r>
          </a:p>
          <a:p>
            <a:pPr marL="0" indent="0" algn="just">
              <a:buNone/>
            </a:pP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73E54-AAF7-4091-B670-6BF056487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623" y="2786210"/>
            <a:ext cx="4833436" cy="178578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EA21222-E182-47EE-8C3F-FA75D0FF1BB6}"/>
              </a:ext>
            </a:extLst>
          </p:cNvPr>
          <p:cNvSpPr txBox="1"/>
          <p:nvPr/>
        </p:nvSpPr>
        <p:spPr>
          <a:xfrm>
            <a:off x="5529920" y="6299375"/>
            <a:ext cx="6411068" cy="27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>
                <a:latin typeface="Arial Narrow" panose="020B0606020202030204" pitchFamily="34" charset="0"/>
              </a:rPr>
              <a:t>A¨aron van den Oord, Nal Kalchbrenner, Koray Kavukcuoglu, “Pixel Recurrent Neural Networks”, ICML 2016</a:t>
            </a:r>
            <a:endParaRPr lang="en-IN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58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E18CA-93DE-4483-9C9B-536A1A3EA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42453"/>
            <a:ext cx="10515599" cy="297214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Left: To generate pixel xi one conditions on all the previously generated pixels left and above of xi. </a:t>
            </a:r>
          </a:p>
          <a:p>
            <a:pPr algn="just"/>
            <a:endParaRPr lang="en-US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Center: To generate a pixel in the multi-scale case we can also condition on the subsampled image pixels (in light blue). </a:t>
            </a:r>
          </a:p>
          <a:p>
            <a:pPr algn="just"/>
            <a:endParaRPr lang="en-US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Right: Diagram of the connectivity inside a masked convolution. In the first layer, each of the RGB channels is connected to previous channels and to the context, but is not connected to itself. </a:t>
            </a:r>
          </a:p>
          <a:p>
            <a:pPr algn="just"/>
            <a:endParaRPr lang="en-US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 subsequent layers, the channels are also connected to themselves.</a:t>
            </a:r>
            <a:endParaRPr lang="en-GB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4D26B84-C416-49F9-975F-5578B395C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111" y="4214595"/>
            <a:ext cx="5923777" cy="2188633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51C82556-0166-4223-B615-619B16FD7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7609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PixelRNN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49E9B9-BFEC-4ECC-8F74-3E27DA69CBB5}"/>
              </a:ext>
            </a:extLst>
          </p:cNvPr>
          <p:cNvSpPr txBox="1"/>
          <p:nvPr/>
        </p:nvSpPr>
        <p:spPr>
          <a:xfrm>
            <a:off x="195920" y="6492875"/>
            <a:ext cx="6411068" cy="27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>
                <a:latin typeface="Arial Narrow" panose="020B0606020202030204" pitchFamily="34" charset="0"/>
              </a:rPr>
              <a:t>A¨aron van den Oord, Nal Kalchbrenner, Koray Kavukcuoglu, “Pixel Recurrent Neural Networks”, ICML 2016</a:t>
            </a:r>
            <a:endParaRPr lang="en-IN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22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5288-2023-42C4-92C2-A1A8C79DB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PixelRNN</a:t>
            </a:r>
            <a:r>
              <a:rPr lang="en-IN" sz="3600" dirty="0">
                <a:latin typeface="Century" panose="02040604050505020304" pitchFamily="18" charset="0"/>
              </a:rPr>
              <a:t>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E18CA-93DE-4483-9C9B-536A1A3EA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15754" cy="4351338"/>
          </a:xfrm>
        </p:spPr>
        <p:txBody>
          <a:bodyPr>
            <a:normAutofit/>
          </a:bodyPr>
          <a:lstStyle/>
          <a:p>
            <a:pPr algn="just"/>
            <a:r>
              <a:rPr lang="en-GB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Row LSTM</a:t>
            </a:r>
            <a:r>
              <a:rPr lang="en-GB" sz="2200" dirty="0">
                <a:latin typeface="Arial Narrow" panose="020B0606020202030204" pitchFamily="34" charset="0"/>
              </a:rPr>
              <a:t>: A unidirectional layer that processes the image row by row from top to bottom using a 1D convolution. </a:t>
            </a:r>
          </a:p>
          <a:p>
            <a:pPr algn="just"/>
            <a:endParaRPr lang="en-GB" sz="2200" dirty="0">
              <a:latin typeface="Arial Narrow" panose="020B0606020202030204" pitchFamily="34" charset="0"/>
            </a:endParaRPr>
          </a:p>
          <a:p>
            <a:pPr algn="just"/>
            <a:r>
              <a:rPr lang="en-GB" sz="2200" dirty="0">
                <a:latin typeface="Arial Narrow" panose="020B0606020202030204" pitchFamily="34" charset="0"/>
              </a:rPr>
              <a:t>This layer captures a </a:t>
            </a:r>
            <a:r>
              <a:rPr lang="en-GB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roughly triangular context above the current pixel </a:t>
            </a:r>
            <a:r>
              <a:rPr lang="en-GB" sz="2200" dirty="0">
                <a:latin typeface="Arial Narrow" panose="020B0606020202030204" pitchFamily="34" charset="0"/>
              </a:rPr>
              <a:t>but is unable to capture the entire available context</a:t>
            </a:r>
            <a:endParaRPr lang="en-IN" sz="2200" dirty="0">
              <a:latin typeface="Arial Narrow" panose="020B0606020202030204" pitchFamily="34" charset="0"/>
            </a:endParaRPr>
          </a:p>
          <a:p>
            <a:pPr lvl="1" algn="just"/>
            <a:endParaRPr lang="en-GB" sz="2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4434AD-C5BC-46C9-94CD-869A6A982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362" y="1530740"/>
            <a:ext cx="2368450" cy="37965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17EBA5-CA84-4BA9-B5C1-CB75273DD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056" y="2185266"/>
            <a:ext cx="2993354" cy="255808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E37C21A-C764-473E-9254-5C88A47CD102}"/>
              </a:ext>
            </a:extLst>
          </p:cNvPr>
          <p:cNvSpPr txBox="1"/>
          <p:nvPr/>
        </p:nvSpPr>
        <p:spPr>
          <a:xfrm>
            <a:off x="195920" y="6492875"/>
            <a:ext cx="6411068" cy="27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>
                <a:latin typeface="Arial Narrow" panose="020B0606020202030204" pitchFamily="34" charset="0"/>
              </a:rPr>
              <a:t>A¨aron van den Oord, Nal Kalchbrenner, Koray Kavukcuoglu, “Pixel Recurrent Neural Networks”, ICML 2016</a:t>
            </a:r>
            <a:endParaRPr lang="en-IN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853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1B01E-26DB-4BD2-8812-664E87D9A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842"/>
            <a:ext cx="10515600" cy="1751293"/>
          </a:xfrm>
        </p:spPr>
        <p:txBody>
          <a:bodyPr/>
          <a:lstStyle/>
          <a:p>
            <a:pPr algn="just"/>
            <a:r>
              <a:rPr lang="en-GB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Diagonal </a:t>
            </a:r>
            <a:r>
              <a:rPr lang="en-GB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BiLSTM</a:t>
            </a:r>
            <a:r>
              <a:rPr lang="en-GB" sz="2000" dirty="0">
                <a:latin typeface="Arial Narrow" panose="020B0606020202030204" pitchFamily="34" charset="0"/>
              </a:rPr>
              <a:t>: Designed to capture the entire available global context.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It skews the input map by offsetting each row by one position to parallelize calculations along diagonals, utilizing a highly nonlinear 2×1 state-to-state convolution.</a:t>
            </a:r>
            <a:endParaRPr lang="en-IN" sz="2000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E001A2-5A35-40C9-86BA-FC2569BDD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128" y="3562303"/>
            <a:ext cx="6733218" cy="21562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119DC0-26B8-4578-A4DA-24B9B8713C29}"/>
              </a:ext>
            </a:extLst>
          </p:cNvPr>
          <p:cNvSpPr txBox="1"/>
          <p:nvPr/>
        </p:nvSpPr>
        <p:spPr>
          <a:xfrm>
            <a:off x="195920" y="6492875"/>
            <a:ext cx="6411068" cy="27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>
                <a:latin typeface="Arial Narrow" panose="020B0606020202030204" pitchFamily="34" charset="0"/>
              </a:rPr>
              <a:t>A¨aron van den Oord, Nal Kalchbrenner, Koray Kavukcuoglu, “Pixel Recurrent Neural Networks”, ICML 2016</a:t>
            </a:r>
            <a:endParaRPr lang="en-IN" sz="1200" dirty="0">
              <a:latin typeface="Arial Narrow" panose="020B060602020203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9267520-A0C9-4C08-ACA4-75B31C0F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PixelRNN</a:t>
            </a:r>
            <a:r>
              <a:rPr lang="en-IN" sz="3600" dirty="0">
                <a:latin typeface="Century" panose="02040604050505020304" pitchFamily="18" charset="0"/>
              </a:rPr>
              <a:t> Architectures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C609BE-9D7B-4FA2-9DAC-3D360EAB8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794" y="3230764"/>
            <a:ext cx="2160619" cy="326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51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1A51-7BD1-4360-BAB3-C6614DB4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Comparison between the 3 variants</a:t>
            </a:r>
            <a:endParaRPr lang="en-IN" sz="3600" dirty="0">
              <a:latin typeface="Century" panose="020406040505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079295-D23C-4436-8311-AD23F7951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03" y="1609590"/>
            <a:ext cx="9994006" cy="4883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9CA334-B6EA-4EC3-8636-0135EBFE8E40}"/>
              </a:ext>
            </a:extLst>
          </p:cNvPr>
          <p:cNvSpPr txBox="1"/>
          <p:nvPr/>
        </p:nvSpPr>
        <p:spPr>
          <a:xfrm>
            <a:off x="195920" y="6492875"/>
            <a:ext cx="6411068" cy="27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>
                <a:latin typeface="Arial Narrow" panose="020B0606020202030204" pitchFamily="34" charset="0"/>
              </a:rPr>
              <a:t>A¨aron van den Oord, Nal Kalchbrenner, Koray Kavukcuoglu, “Pixel Recurrent Neural Networks”, ICML 2016</a:t>
            </a:r>
            <a:endParaRPr lang="en-IN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544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5288-2023-42C4-92C2-A1A8C79DB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PixelRNN</a:t>
            </a:r>
            <a:r>
              <a:rPr lang="en-IN" sz="3600" dirty="0">
                <a:latin typeface="Century" panose="02040604050505020304" pitchFamily="18" charset="0"/>
              </a:rPr>
              <a:t>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E18CA-93DE-4483-9C9B-536A1A3EA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4100" cy="435133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generation</a:t>
            </a:r>
          </a:p>
          <a:p>
            <a:endParaRPr lang="en-GB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Density estimation for images</a:t>
            </a:r>
          </a:p>
          <a:p>
            <a:endParaRPr lang="en-GB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Image completion / inpainting</a:t>
            </a:r>
          </a:p>
          <a:p>
            <a:endParaRPr lang="en-GB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Lossless image compression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FC24E3-8E08-4625-80B3-817DD9BB6F0F}"/>
              </a:ext>
            </a:extLst>
          </p:cNvPr>
          <p:cNvSpPr txBox="1"/>
          <p:nvPr/>
        </p:nvSpPr>
        <p:spPr>
          <a:xfrm>
            <a:off x="6804212" y="6492875"/>
            <a:ext cx="5876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Fei-Fei Li et.al. CS 231n Deep Learning for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3926250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5288-2023-42C4-92C2-A1A8C79DB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PixelRNN</a:t>
            </a:r>
            <a:r>
              <a:rPr lang="en-IN" sz="3600" dirty="0">
                <a:latin typeface="Century" panose="02040604050505020304" pitchFamily="18" charset="0"/>
              </a:rPr>
              <a:t>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E18CA-93DE-4483-9C9B-536A1A3EA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4100" cy="435133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Very slow generation (pixel-by-pixel)</a:t>
            </a:r>
          </a:p>
          <a:p>
            <a:pPr marL="0" indent="0">
              <a:buNone/>
            </a:pPr>
            <a:endParaRPr lang="en-GB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Computationally expensive</a:t>
            </a:r>
          </a:p>
          <a:p>
            <a:pPr marL="0" indent="0">
              <a:buNone/>
            </a:pPr>
            <a:endParaRPr lang="en-GB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Hard to scale to very large images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392C29-3ED1-441B-85C4-9DD64935CED9}"/>
              </a:ext>
            </a:extLst>
          </p:cNvPr>
          <p:cNvSpPr txBox="1"/>
          <p:nvPr/>
        </p:nvSpPr>
        <p:spPr>
          <a:xfrm>
            <a:off x="6531346" y="6492875"/>
            <a:ext cx="5298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et.al. CS 231n Deep Learning for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4056192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BB78-539C-4D29-8E74-3749EA93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58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Visual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89E31-E5AE-454E-BE1A-580AFC9E5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1561"/>
            <a:ext cx="4995489" cy="450055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F63F284-34AC-4AE7-A4A9-9FADB71A36A4}"/>
              </a:ext>
            </a:extLst>
          </p:cNvPr>
          <p:cNvSpPr/>
          <p:nvPr/>
        </p:nvSpPr>
        <p:spPr>
          <a:xfrm>
            <a:off x="1331259" y="6123543"/>
            <a:ext cx="3798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Samples from models trained on CIFAR-10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F4DBB2-CA17-4B41-A9AF-38148AD60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212" y="1551560"/>
            <a:ext cx="4978726" cy="45005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EDB8DB-2A41-49E5-8D67-CFF4B47A3DEC}"/>
              </a:ext>
            </a:extLst>
          </p:cNvPr>
          <p:cNvSpPr/>
          <p:nvPr/>
        </p:nvSpPr>
        <p:spPr>
          <a:xfrm>
            <a:off x="7062072" y="6123543"/>
            <a:ext cx="4360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Samples from models trained on ImageNet 32x32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3BCCB-33C9-4306-B71C-8F2D728B7898}"/>
              </a:ext>
            </a:extLst>
          </p:cNvPr>
          <p:cNvSpPr txBox="1"/>
          <p:nvPr/>
        </p:nvSpPr>
        <p:spPr>
          <a:xfrm>
            <a:off x="195920" y="6492875"/>
            <a:ext cx="6411068" cy="27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>
                <a:latin typeface="Arial Narrow" panose="020B0606020202030204" pitchFamily="34" charset="0"/>
              </a:rPr>
              <a:t>A¨aron van den Oord, Nal Kalchbrenner, Koray Kavukcuoglu, “Pixel Recurrent Neural Networks”, ICML 2016</a:t>
            </a:r>
            <a:endParaRPr lang="en-IN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561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Autoregressive Model</a:t>
            </a:r>
          </a:p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Fully Visible Belief Network (FVBN)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Pixel CNN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Pixel RNN</a:t>
            </a:r>
          </a:p>
        </p:txBody>
      </p:sp>
    </p:spTree>
    <p:extLst>
      <p:ext uri="{BB962C8B-B14F-4D97-AF65-F5344CB8AC3E}">
        <p14:creationId xmlns:p14="http://schemas.microsoft.com/office/powerpoint/2010/main" val="1799600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742339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Transformers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8: Part 3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3685</TotalTime>
  <Words>1703</Words>
  <Application>Microsoft Office PowerPoint</Application>
  <PresentationFormat>Widescreen</PresentationFormat>
  <Paragraphs>188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Times New Roman</vt:lpstr>
      <vt:lpstr>Office Theme</vt:lpstr>
      <vt:lpstr>  Auto-regressive Generative Models</vt:lpstr>
      <vt:lpstr>Content</vt:lpstr>
      <vt:lpstr>Autoregressive Generative Model</vt:lpstr>
      <vt:lpstr> How Autoregressive Image Generation Works </vt:lpstr>
      <vt:lpstr> How Autoregressive Image Generation Works </vt:lpstr>
      <vt:lpstr> Auto-regressive Models:  Advantages, Limitations </vt:lpstr>
      <vt:lpstr>Fully Visible Belief Network (FVBN)</vt:lpstr>
      <vt:lpstr>Fully Visible Belief Network (FVBN)</vt:lpstr>
      <vt:lpstr>Fully Visible Belief Network (FVBN)</vt:lpstr>
      <vt:lpstr>Fully visible belief network (FVBN)</vt:lpstr>
      <vt:lpstr> Examples of Autoregressive Models </vt:lpstr>
      <vt:lpstr>Pixel Recurrent Neural Networks A¨aron van den Oord, Nal Kalchbrenner, Koray Kavukcuoglu, GOOGle Deep Mind, ICML 2016</vt:lpstr>
      <vt:lpstr>PixelCNN</vt:lpstr>
      <vt:lpstr>PixelCNN</vt:lpstr>
      <vt:lpstr>PixelRNN</vt:lpstr>
      <vt:lpstr>PixelRNN</vt:lpstr>
      <vt:lpstr>PixelRNN Architectures</vt:lpstr>
      <vt:lpstr>PixelRNN Architectures</vt:lpstr>
      <vt:lpstr>Comparison between the 3 variants</vt:lpstr>
      <vt:lpstr>PixelRNN Applications</vt:lpstr>
      <vt:lpstr>PixelRNN Drawbacks</vt:lpstr>
      <vt:lpstr>Visual Results</vt:lpstr>
      <vt:lpstr>Summary</vt:lpstr>
      <vt:lpstr>Transformers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Auto-regressive Generative Models</dc:title>
  <dc:creator>IITG</dc:creator>
  <cp:lastModifiedBy>IITG</cp:lastModifiedBy>
  <cp:revision>22</cp:revision>
  <dcterms:created xsi:type="dcterms:W3CDTF">2026-08-17T03:07:04Z</dcterms:created>
  <dcterms:modified xsi:type="dcterms:W3CDTF">2026-08-19T16:32:32Z</dcterms:modified>
</cp:coreProperties>
</file>