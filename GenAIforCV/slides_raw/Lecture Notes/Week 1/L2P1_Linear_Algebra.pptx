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72" r:id="rId4"/>
    <p:sldId id="274" r:id="rId5"/>
    <p:sldId id="273" r:id="rId6"/>
    <p:sldId id="275" r:id="rId7"/>
    <p:sldId id="270" r:id="rId8"/>
    <p:sldId id="276" r:id="rId9"/>
    <p:sldId id="277" r:id="rId10"/>
    <p:sldId id="278" r:id="rId11"/>
    <p:sldId id="279" r:id="rId12"/>
    <p:sldId id="281" r:id="rId13"/>
    <p:sldId id="280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B2C1-D4BF-4BC7-93F9-B1CCB5BAF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F01B8-3B07-46CB-AF29-C128E4784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09A2-2901-4E0C-8FC8-678B1728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C6B45-6A9E-4AF2-84AF-56906D77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3E1B-A8C3-46CD-A398-F89DD220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71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9660-0AB0-49BA-AD26-070904C8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419F-F422-48A7-84E8-316E90FE5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75BA-894B-4AAD-8620-11FF0C18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B6CD9-3F64-4E89-9F40-BA053E63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213F-7EE8-4437-AA69-25C846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5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0185-810A-4518-9C56-0E6CE5B3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03075-DB16-41BE-B418-E946812FC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24FE-AFCF-4661-A0F1-10E2174D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95A22-F02C-4547-BA31-B0ECC86E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657C-8FEC-4B2F-B158-66FE5682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1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4936-D875-44C1-B17C-8527B5FC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ECDFA-824B-4ADA-9CCA-722CB5AD7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E76FC-C124-40B7-9661-5A3989ABC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DCCEC-CBED-48CC-B168-78661CA2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AA3D9-D558-4220-B321-399A564E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1EB3C-82BB-4F05-9222-D95E569C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7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4286-8D95-452B-BED3-BF67458D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BED22-FFBD-49F0-A6B1-DB3675C0B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54752-3B39-45A9-8397-427D4A90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5F70A-E90A-488A-908A-E79388F60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2F7EF-83A8-44B7-AC7E-6B8058586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FE0F01-6D68-4B50-9A0F-2DC4BA77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AE74-51EB-4124-8F02-C9E1E60F6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452A9-CC49-4459-B6FC-7E3CEA39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86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D4DE-128E-49F1-AEB1-20ED16099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E2A5B-2501-46BC-A3E8-966D7CB4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C3962-1BC1-4121-A14B-5238839D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94D1F-214E-43A5-93A5-874102E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2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DA185-8336-4858-BA08-18F2DD36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BF8FD-92E0-4B42-BFA4-0AB440C6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2D888-9AA6-442D-A7CB-3F51014F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2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B8B3-BD08-4467-B8DB-833CB90A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B5B0-9CB3-441E-A981-FB0B16BA4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606FA-7E96-4C5D-9E04-26EC2F2A4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3374B-7846-479E-AEAD-87E6D79E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FC4A-5297-40E7-B640-89163926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58C0-CDC7-4F06-A3B8-2AD0F3BB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25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850B-86CB-43E5-89CF-E4E4998E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9203D-AFD4-4F87-B29F-FD4415417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A2B72-0AD4-4B3E-8DDD-96186B3A8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1B2A8-AA01-4350-A377-1E25E305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BB8DA-7B31-4947-A869-D7CC3F76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3C027-E02A-4278-96EF-021A6A4F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70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8F15-CA48-4DA7-998D-A8980478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79F72-E711-4760-BB45-1D8A08CFE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7176-A46F-401E-BDD6-575DF986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AF54E-A34F-48FF-9638-C64C7DE2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A1BC-6F4D-4187-AE6F-9D925898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8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41460-CB52-4139-A084-29450AC22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F574E-600E-446E-B28D-65AC241B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1BAE6-9D82-490A-A8AB-157C3FE2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D3178-CF4E-49AA-9DAF-ABCE7212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83C87-1752-4D7D-AC94-5FD5CCBD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2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110040-3DF1-4933-9FBD-5D5CDDA2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A682E-25B5-4AF0-9348-5C94D2E0D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F59CD-4AF8-4F6E-B7C1-C699BDE06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20E0E-C485-40A7-B17A-2CAED785941C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C93FF-3537-43B6-91BB-FFE17DA94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D8A2-BCC2-4B2C-B4E0-5ACC3A691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FE5A8-2077-449A-A438-ABD9794DC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704462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Mathematical Preliminaries – 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(Linear Algebra)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1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2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7871CE-1331-48E8-AEB6-484AFBCF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9888B-BF1D-4B6F-A2C6-E224426B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>
                <a:latin typeface="Arial Narrow" panose="020B0606020202030204" pitchFamily="34" charset="0"/>
              </a:rPr>
              <a:t>Vectors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Definitions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Basic Operations on Vectors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Matrices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Representations and Basic Operations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Matrix Transpose and Inverse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Eigenvalues and Eigenvectors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Definition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Geometrical Interpretation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69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51B2-A8DE-47D8-8112-9D9CB591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87467D-342A-4C39-81AA-D17E75805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1738" y="1690688"/>
                <a:ext cx="7140388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vector</a:t>
                </a:r>
                <a:r>
                  <a:rPr lang="en-US" sz="2000" dirty="0">
                    <a:latin typeface="Arial Narrow" panose="020B0606020202030204" pitchFamily="34" charset="0"/>
                  </a:rPr>
                  <a:t> is an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ordered collection of numbers </a:t>
                </a:r>
                <a:r>
                  <a:rPr lang="en-US" sz="2000" dirty="0">
                    <a:latin typeface="Arial Narrow" panose="020B0606020202030204" pitchFamily="34" charset="0"/>
                  </a:rPr>
                  <a:t>that represents a quantity with one or more components. In machine learning, vectors are used to represent data points, features, model parameters, embeddings, and latent variables.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A vector can be written as </a:t>
                </a:r>
              </a:p>
              <a:p>
                <a:pPr marL="0" indent="0" algn="just">
                  <a:buNone/>
                </a:pPr>
                <a:r>
                  <a:rPr lang="en-IN" sz="2000" b="0" dirty="0"/>
                  <a:t>              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or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=[2 3 4]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This is called 3-dimentional vector as it has three components (elements). The visual (Geometric) interpretation is given in the figure.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87467D-342A-4C39-81AA-D17E75805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1738" y="1690688"/>
                <a:ext cx="7140388" cy="4351338"/>
              </a:xfrm>
              <a:blipFill>
                <a:blip r:embed="rId2"/>
                <a:stretch>
                  <a:fillRect l="-769" t="-1401" r="-8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4B7068E-A737-4E42-A045-D55FB61815F8}"/>
              </a:ext>
            </a:extLst>
          </p:cNvPr>
          <p:cNvGrpSpPr/>
          <p:nvPr/>
        </p:nvGrpSpPr>
        <p:grpSpPr>
          <a:xfrm>
            <a:off x="8664805" y="2049827"/>
            <a:ext cx="3149277" cy="3014979"/>
            <a:chOff x="1463905" y="2230802"/>
            <a:chExt cx="3149277" cy="30149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9A6DED-66A1-4BD5-B2C6-8F99B80C2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056" y="2519194"/>
              <a:ext cx="2781688" cy="241016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4CB6AC-658A-4313-B627-3A35B1A79E04}"/>
                </a:ext>
              </a:extLst>
            </p:cNvPr>
            <p:cNvSpPr/>
            <p:nvPr/>
          </p:nvSpPr>
          <p:spPr>
            <a:xfrm>
              <a:off x="2219325" y="2519194"/>
              <a:ext cx="2114550" cy="177658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3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DBB14F7-D219-4D48-A635-6C963F352D83}"/>
                </a:ext>
              </a:extLst>
            </p:cNvPr>
            <p:cNvCxnSpPr/>
            <p:nvPr/>
          </p:nvCxnSpPr>
          <p:spPr>
            <a:xfrm>
              <a:off x="2219325" y="4295775"/>
              <a:ext cx="2114550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24D4891-2BE9-4405-B700-A9AA4A180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056" y="4295775"/>
              <a:ext cx="600270" cy="633580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5F5DA82-ECE6-4BA5-840C-5B3E26F6AD4A}"/>
                </a:ext>
              </a:extLst>
            </p:cNvPr>
            <p:cNvCxnSpPr/>
            <p:nvPr/>
          </p:nvCxnSpPr>
          <p:spPr>
            <a:xfrm flipV="1">
              <a:off x="2219325" y="2519194"/>
              <a:ext cx="0" cy="1776581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E784A51-6F24-4815-902A-AB18D5D803B0}"/>
                </a:ext>
              </a:extLst>
            </p:cNvPr>
            <p:cNvCxnSpPr/>
            <p:nvPr/>
          </p:nvCxnSpPr>
          <p:spPr>
            <a:xfrm flipV="1">
              <a:off x="2219325" y="2990850"/>
              <a:ext cx="619125" cy="130492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57E6FF-4EF3-4845-8EA3-53D57B0C3E4E}"/>
                </a:ext>
              </a:extLst>
            </p:cNvPr>
            <p:cNvCxnSpPr/>
            <p:nvPr/>
          </p:nvCxnSpPr>
          <p:spPr>
            <a:xfrm>
              <a:off x="2838450" y="2990850"/>
              <a:ext cx="0" cy="1590675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4D9BFC-D264-4037-8B59-3ADAF2340CE0}"/>
                </a:ext>
              </a:extLst>
            </p:cNvPr>
            <p:cNvCxnSpPr/>
            <p:nvPr/>
          </p:nvCxnSpPr>
          <p:spPr>
            <a:xfrm flipV="1">
              <a:off x="2838450" y="4305300"/>
              <a:ext cx="323850" cy="266700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91AF5A-A48E-4C67-8A5D-AA8EB5C622AF}"/>
                </a:ext>
              </a:extLst>
            </p:cNvPr>
            <p:cNvCxnSpPr/>
            <p:nvPr/>
          </p:nvCxnSpPr>
          <p:spPr>
            <a:xfrm flipH="1" flipV="1">
              <a:off x="1981200" y="4572000"/>
              <a:ext cx="857250" cy="9525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011797-526A-442D-9E11-D7A7886DDD28}"/>
                </a:ext>
              </a:extLst>
            </p:cNvPr>
            <p:cNvSpPr txBox="1"/>
            <p:nvPr/>
          </p:nvSpPr>
          <p:spPr>
            <a:xfrm>
              <a:off x="1701892" y="4392426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9A9AEA-2B70-4272-8AA2-5ECB76D6E0B3}"/>
                </a:ext>
              </a:extLst>
            </p:cNvPr>
            <p:cNvSpPr txBox="1"/>
            <p:nvPr/>
          </p:nvSpPr>
          <p:spPr>
            <a:xfrm>
              <a:off x="1976341" y="2847975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4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61ABAF-A133-4D66-8C45-A11911B2D8ED}"/>
                </a:ext>
              </a:extLst>
            </p:cNvPr>
            <p:cNvSpPr txBox="1"/>
            <p:nvPr/>
          </p:nvSpPr>
          <p:spPr>
            <a:xfrm>
              <a:off x="3065605" y="4012787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4083C88-3A1F-45D6-A462-4640511F8005}"/>
                </a:ext>
              </a:extLst>
            </p:cNvPr>
            <p:cNvSpPr txBox="1"/>
            <p:nvPr/>
          </p:nvSpPr>
          <p:spPr>
            <a:xfrm>
              <a:off x="2725733" y="2747175"/>
              <a:ext cx="7555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V(2,3,4)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E16371-5142-48FB-A7F2-8D27BB70A0AC}"/>
                </a:ext>
              </a:extLst>
            </p:cNvPr>
            <p:cNvSpPr txBox="1"/>
            <p:nvPr/>
          </p:nvSpPr>
          <p:spPr>
            <a:xfrm>
              <a:off x="1463905" y="4938004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x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025994-E373-4D08-A2A5-7421C6A65E11}"/>
                </a:ext>
              </a:extLst>
            </p:cNvPr>
            <p:cNvSpPr txBox="1"/>
            <p:nvPr/>
          </p:nvSpPr>
          <p:spPr>
            <a:xfrm>
              <a:off x="4333875" y="4151411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009575-A762-40A0-A7FD-41DDD01B59B0}"/>
                </a:ext>
              </a:extLst>
            </p:cNvPr>
            <p:cNvSpPr txBox="1"/>
            <p:nvPr/>
          </p:nvSpPr>
          <p:spPr>
            <a:xfrm>
              <a:off x="2079670" y="2230802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z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C1587C-E366-49FE-88AB-374A5F447E46}"/>
                </a:ext>
              </a:extLst>
            </p:cNvPr>
            <p:cNvSpPr/>
            <p:nvPr/>
          </p:nvSpPr>
          <p:spPr>
            <a:xfrm>
              <a:off x="1919191" y="4533900"/>
              <a:ext cx="85725" cy="76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373CD78-C0B2-4799-82EF-8B6687BAEA2F}"/>
                </a:ext>
              </a:extLst>
            </p:cNvPr>
            <p:cNvSpPr/>
            <p:nvPr/>
          </p:nvSpPr>
          <p:spPr>
            <a:xfrm>
              <a:off x="2181267" y="2962273"/>
              <a:ext cx="85725" cy="76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14B0C39-2208-404A-B0D4-DCAAB9D3D871}"/>
                </a:ext>
              </a:extLst>
            </p:cNvPr>
            <p:cNvSpPr/>
            <p:nvPr/>
          </p:nvSpPr>
          <p:spPr>
            <a:xfrm>
              <a:off x="3124297" y="4267199"/>
              <a:ext cx="85725" cy="76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7209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B968-3137-4FAF-875D-ADB775CE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Use of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70ABC-D2E8-48EC-9F6B-71ABA2DA8F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14882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Intuitively vector can be used to represent</a:t>
                </a:r>
              </a:p>
              <a:p>
                <a:pPr lvl="1" fontAlgn="base"/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 point in space </a:t>
                </a:r>
              </a:p>
              <a:p>
                <a:pPr lvl="2" fontAlgn="base"/>
                <a:r>
                  <a:rPr lang="en-IN" sz="1900" dirty="0">
                    <a:latin typeface="Arial Narrow" panose="020B0606020202030204" pitchFamily="34" charset="0"/>
                  </a:rPr>
                  <a:t>The figure is 3-dimensional space</a:t>
                </a:r>
              </a:p>
              <a:p>
                <a:pPr lvl="1" fontAlgn="base"/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 direction and magnitude</a:t>
                </a:r>
              </a:p>
              <a:p>
                <a:pPr lvl="1" fontAlgn="base"/>
                <a:r>
                  <a:rPr lang="en-IN" sz="2000" dirty="0">
                    <a:latin typeface="Arial Narrow" panose="020B0606020202030204" pitchFamily="34" charset="0"/>
                  </a:rPr>
                  <a:t>A list of features describing an object</a:t>
                </a:r>
              </a:p>
              <a:p>
                <a:pPr marL="457200" lvl="1" indent="0" fontAlgn="base">
                  <a:buNone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example, a student can be represented as: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=[21 55 86]</m:t>
                    </m:r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 </a:t>
                </a:r>
                <a:r>
                  <a:rPr lang="en-IN" sz="2000" dirty="0">
                    <a:latin typeface="Arial Narrow" panose="020B0606020202030204" pitchFamily="34" charset="0"/>
                  </a:rPr>
                  <a:t>where age=21, height = 55 inch, and obtained marks = 86. </a:t>
                </a: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In machine learning, this vector represents one data sample.</a:t>
                </a: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Vectors are used in different machine learning data representations such as word embedding in NLP, flattened image in Image Processing, latent vectors in Generative Adversarial Network and so on.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70ABC-D2E8-48EC-9F6B-71ABA2DA8F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14882" cy="4351338"/>
              </a:xfrm>
              <a:blipFill>
                <a:blip r:embed="rId2"/>
                <a:stretch>
                  <a:fillRect l="-696" t="-2101" r="-870" b="-5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AED1CAD-33E3-451B-A0F9-2236847F7D47}"/>
              </a:ext>
            </a:extLst>
          </p:cNvPr>
          <p:cNvGrpSpPr/>
          <p:nvPr/>
        </p:nvGrpSpPr>
        <p:grpSpPr>
          <a:xfrm>
            <a:off x="8046241" y="1921510"/>
            <a:ext cx="3149277" cy="3014979"/>
            <a:chOff x="1463905" y="2230802"/>
            <a:chExt cx="3149277" cy="30149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18781B-D131-4538-9323-4A0E0C2B4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056" y="2519194"/>
              <a:ext cx="2781688" cy="241016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CDC0AC-931E-4F3A-A69F-0826F72EF612}"/>
                </a:ext>
              </a:extLst>
            </p:cNvPr>
            <p:cNvSpPr/>
            <p:nvPr/>
          </p:nvSpPr>
          <p:spPr>
            <a:xfrm>
              <a:off x="2219325" y="2519194"/>
              <a:ext cx="2114550" cy="177658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3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E7167B2-A047-41AD-AAEA-73ED2D773A43}"/>
                </a:ext>
              </a:extLst>
            </p:cNvPr>
            <p:cNvCxnSpPr/>
            <p:nvPr/>
          </p:nvCxnSpPr>
          <p:spPr>
            <a:xfrm>
              <a:off x="2219325" y="4295775"/>
              <a:ext cx="2114550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2F63E09-234D-447C-8C54-69F7EE849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056" y="4295775"/>
              <a:ext cx="600270" cy="633580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14ED604-97ED-42F7-9732-561352E1EC07}"/>
                </a:ext>
              </a:extLst>
            </p:cNvPr>
            <p:cNvCxnSpPr/>
            <p:nvPr/>
          </p:nvCxnSpPr>
          <p:spPr>
            <a:xfrm flipV="1">
              <a:off x="2219325" y="2519194"/>
              <a:ext cx="0" cy="1776581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7C83D67-C755-4640-BBD2-71F92F46F411}"/>
                </a:ext>
              </a:extLst>
            </p:cNvPr>
            <p:cNvCxnSpPr/>
            <p:nvPr/>
          </p:nvCxnSpPr>
          <p:spPr>
            <a:xfrm flipV="1">
              <a:off x="2219325" y="2990850"/>
              <a:ext cx="619125" cy="130492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C1FD16-4357-4330-B7E7-EA6FE500F804}"/>
                </a:ext>
              </a:extLst>
            </p:cNvPr>
            <p:cNvCxnSpPr/>
            <p:nvPr/>
          </p:nvCxnSpPr>
          <p:spPr>
            <a:xfrm>
              <a:off x="2838450" y="2990850"/>
              <a:ext cx="0" cy="1590675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F0A3E1-0F2E-4AA2-AEDF-515448856CBC}"/>
                </a:ext>
              </a:extLst>
            </p:cNvPr>
            <p:cNvCxnSpPr/>
            <p:nvPr/>
          </p:nvCxnSpPr>
          <p:spPr>
            <a:xfrm flipV="1">
              <a:off x="2838450" y="4305300"/>
              <a:ext cx="323850" cy="266700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C66D00-E8F7-405E-9906-1231680C2DEA}"/>
                </a:ext>
              </a:extLst>
            </p:cNvPr>
            <p:cNvCxnSpPr/>
            <p:nvPr/>
          </p:nvCxnSpPr>
          <p:spPr>
            <a:xfrm flipH="1" flipV="1">
              <a:off x="1981200" y="4572000"/>
              <a:ext cx="857250" cy="9525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E24224-D740-4F61-8053-E96753F0ED80}"/>
                </a:ext>
              </a:extLst>
            </p:cNvPr>
            <p:cNvSpPr txBox="1"/>
            <p:nvPr/>
          </p:nvSpPr>
          <p:spPr>
            <a:xfrm>
              <a:off x="1701892" y="4392426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69E937-D975-449C-B21D-CB5691D95222}"/>
                </a:ext>
              </a:extLst>
            </p:cNvPr>
            <p:cNvSpPr txBox="1"/>
            <p:nvPr/>
          </p:nvSpPr>
          <p:spPr>
            <a:xfrm>
              <a:off x="1976341" y="2847975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C794D8-2978-4A59-84A1-5FC94936103B}"/>
                </a:ext>
              </a:extLst>
            </p:cNvPr>
            <p:cNvSpPr txBox="1"/>
            <p:nvPr/>
          </p:nvSpPr>
          <p:spPr>
            <a:xfrm>
              <a:off x="3065605" y="4012787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301678-75A3-4B0B-9EF7-8AE257884ADA}"/>
                </a:ext>
              </a:extLst>
            </p:cNvPr>
            <p:cNvSpPr txBox="1"/>
            <p:nvPr/>
          </p:nvSpPr>
          <p:spPr>
            <a:xfrm>
              <a:off x="2725733" y="2747175"/>
              <a:ext cx="7555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V(2,3,4)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4721D0-193F-414A-AD99-C30E738726D0}"/>
                </a:ext>
              </a:extLst>
            </p:cNvPr>
            <p:cNvSpPr txBox="1"/>
            <p:nvPr/>
          </p:nvSpPr>
          <p:spPr>
            <a:xfrm>
              <a:off x="1463905" y="4938004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x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C763AD-4ABE-44A1-ACE0-1ECF213D264A}"/>
                </a:ext>
              </a:extLst>
            </p:cNvPr>
            <p:cNvSpPr txBox="1"/>
            <p:nvPr/>
          </p:nvSpPr>
          <p:spPr>
            <a:xfrm>
              <a:off x="4333875" y="4151411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CD7D07-4E01-4054-9E20-A195F5F4CA09}"/>
                </a:ext>
              </a:extLst>
            </p:cNvPr>
            <p:cNvSpPr txBox="1"/>
            <p:nvPr/>
          </p:nvSpPr>
          <p:spPr>
            <a:xfrm>
              <a:off x="2079670" y="2230802"/>
              <a:ext cx="279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</a:rPr>
                <a:t>z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D37D6FC-1DDB-4959-8123-24D9B1B385D5}"/>
                </a:ext>
              </a:extLst>
            </p:cNvPr>
            <p:cNvSpPr/>
            <p:nvPr/>
          </p:nvSpPr>
          <p:spPr>
            <a:xfrm>
              <a:off x="1919191" y="4533900"/>
              <a:ext cx="85725" cy="76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898FBA0-FDFB-4761-922C-7BEC7C00B58E}"/>
                </a:ext>
              </a:extLst>
            </p:cNvPr>
            <p:cNvSpPr/>
            <p:nvPr/>
          </p:nvSpPr>
          <p:spPr>
            <a:xfrm>
              <a:off x="2181267" y="2962273"/>
              <a:ext cx="85725" cy="76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D5A88F6-BA4C-49D3-800C-397B73C7999D}"/>
                </a:ext>
              </a:extLst>
            </p:cNvPr>
            <p:cNvSpPr/>
            <p:nvPr/>
          </p:nvSpPr>
          <p:spPr>
            <a:xfrm>
              <a:off x="3124297" y="4267199"/>
              <a:ext cx="85725" cy="76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5955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49">
            <a:extLst>
              <a:ext uri="{FF2B5EF4-FFF2-40B4-BE49-F238E27FC236}">
                <a16:creationId xmlns:a16="http://schemas.microsoft.com/office/drawing/2014/main" id="{9B3DE57A-F827-43E0-BDF3-C57BBF96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Basic Operations on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7AEE02E1-0D2E-4CFA-B442-C5B576D406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6759" y="1619180"/>
                <a:ext cx="10515600" cy="195712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Vector Addition: </a:t>
                </a:r>
              </a:p>
              <a:p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=[2, 3, 4]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=[1, 2, 3]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=[3, 5, 7]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Graphical Illustration:</a:t>
                </a: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7AEE02E1-0D2E-4CFA-B442-C5B576D40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6759" y="1619180"/>
                <a:ext cx="10515600" cy="1957122"/>
              </a:xfrm>
              <a:blipFill>
                <a:blip r:embed="rId2"/>
                <a:stretch>
                  <a:fillRect l="-522" t="-4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Line 5">
            <a:extLst>
              <a:ext uri="{FF2B5EF4-FFF2-40B4-BE49-F238E27FC236}">
                <a16:creationId xmlns:a16="http://schemas.microsoft.com/office/drawing/2014/main" id="{43FC23C9-0500-4FE3-AF33-297F625C11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5717" y="4373444"/>
            <a:ext cx="430306" cy="1292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55" name="Line 6">
            <a:extLst>
              <a:ext uri="{FF2B5EF4-FFF2-40B4-BE49-F238E27FC236}">
                <a16:creationId xmlns:a16="http://schemas.microsoft.com/office/drawing/2014/main" id="{D9F64834-FEAB-4004-A295-38B39749F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6023" y="3673475"/>
            <a:ext cx="1147483" cy="699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57" name="Line 8">
            <a:extLst>
              <a:ext uri="{FF2B5EF4-FFF2-40B4-BE49-F238E27FC236}">
                <a16:creationId xmlns:a16="http://schemas.microsoft.com/office/drawing/2014/main" id="{DAAB3F2C-147C-4CD3-BE0A-F329864DE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5717" y="3727319"/>
            <a:ext cx="1529977" cy="1938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60" name="Text Box 11">
            <a:extLst>
              <a:ext uri="{FF2B5EF4-FFF2-40B4-BE49-F238E27FC236}">
                <a16:creationId xmlns:a16="http://schemas.microsoft.com/office/drawing/2014/main" id="{62C7CCC8-BA27-4D2A-92AD-21D32709E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706" y="3791259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61" name="Text Box 12">
            <a:extLst>
              <a:ext uri="{FF2B5EF4-FFF2-40B4-BE49-F238E27FC236}">
                <a16:creationId xmlns:a16="http://schemas.microsoft.com/office/drawing/2014/main" id="{C7D1A9CE-F178-4381-B05F-2828D4787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607" y="4706602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y</a:t>
            </a:r>
          </a:p>
        </p:txBody>
      </p:sp>
      <p:sp>
        <p:nvSpPr>
          <p:cNvPr id="62" name="Text Box 13">
            <a:extLst>
              <a:ext uri="{FF2B5EF4-FFF2-40B4-BE49-F238E27FC236}">
                <a16:creationId xmlns:a16="http://schemas.microsoft.com/office/drawing/2014/main" id="{E01AB880-E6CE-4316-BD98-587B20421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281" y="4373444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z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79EDC8-1623-49C7-8618-84C9E1E5F03F}"/>
              </a:ext>
            </a:extLst>
          </p:cNvPr>
          <p:cNvSpPr txBox="1"/>
          <p:nvPr/>
        </p:nvSpPr>
        <p:spPr>
          <a:xfrm>
            <a:off x="5369859" y="5719538"/>
            <a:ext cx="2608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Vector Addition z=</a:t>
            </a:r>
            <a:r>
              <a:rPr lang="en-IN" dirty="0" err="1">
                <a:latin typeface="Arial Narrow" panose="020B0606020202030204" pitchFamily="34" charset="0"/>
              </a:rPr>
              <a:t>x+y</a:t>
            </a:r>
            <a:r>
              <a:rPr lang="en-IN" dirty="0">
                <a:latin typeface="Arial Narrow" panose="020B0606020202030204" pitchFamily="34" charset="0"/>
              </a:rPr>
              <a:t> using </a:t>
            </a:r>
          </a:p>
          <a:p>
            <a:pPr algn="ctr"/>
            <a:r>
              <a:rPr lang="en-IN" dirty="0">
                <a:latin typeface="Arial Narrow" panose="020B0606020202030204" pitchFamily="34" charset="0"/>
              </a:rPr>
              <a:t>parallelogram method</a:t>
            </a:r>
          </a:p>
        </p:txBody>
      </p:sp>
      <p:sp>
        <p:nvSpPr>
          <p:cNvPr id="65" name="Line 4">
            <a:extLst>
              <a:ext uri="{FF2B5EF4-FFF2-40B4-BE49-F238E27FC236}">
                <a16:creationId xmlns:a16="http://schemas.microsoft.com/office/drawing/2014/main" id="{EA0F7581-1181-4D77-B6B2-7C3E62122A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0470" y="4965725"/>
            <a:ext cx="1147483" cy="699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66" name="Line 5">
            <a:extLst>
              <a:ext uri="{FF2B5EF4-FFF2-40B4-BE49-F238E27FC236}">
                <a16:creationId xmlns:a16="http://schemas.microsoft.com/office/drawing/2014/main" id="{0C150E1C-C1C9-453E-9611-2A5746950E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0470" y="4373444"/>
            <a:ext cx="430306" cy="1292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67" name="Line 6">
            <a:extLst>
              <a:ext uri="{FF2B5EF4-FFF2-40B4-BE49-F238E27FC236}">
                <a16:creationId xmlns:a16="http://schemas.microsoft.com/office/drawing/2014/main" id="{2C7361C2-D23A-4220-95B9-E164828F5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0776" y="3673475"/>
            <a:ext cx="1147483" cy="699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68" name="Line 7">
            <a:extLst>
              <a:ext uri="{FF2B5EF4-FFF2-40B4-BE49-F238E27FC236}">
                <a16:creationId xmlns:a16="http://schemas.microsoft.com/office/drawing/2014/main" id="{6D6237D8-9D84-496D-90A1-7F44EB65E8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7953" y="3673475"/>
            <a:ext cx="430306" cy="1292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69" name="Line 8">
            <a:extLst>
              <a:ext uri="{FF2B5EF4-FFF2-40B4-BE49-F238E27FC236}">
                <a16:creationId xmlns:a16="http://schemas.microsoft.com/office/drawing/2014/main" id="{25066DE9-5318-476D-AC2D-70D6AA94DA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0470" y="3727319"/>
            <a:ext cx="1529977" cy="1938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0EACB4B2-870E-46A7-AF75-847398E0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310" y="5260744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71" name="Text Box 10">
            <a:extLst>
              <a:ext uri="{FF2B5EF4-FFF2-40B4-BE49-F238E27FC236}">
                <a16:creationId xmlns:a16="http://schemas.microsoft.com/office/drawing/2014/main" id="{96B90FD2-746F-4D93-AA54-D2ED22073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4329696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y</a:t>
            </a:r>
          </a:p>
        </p:txBody>
      </p:sp>
      <p:sp>
        <p:nvSpPr>
          <p:cNvPr id="72" name="Text Box 11">
            <a:extLst>
              <a:ext uri="{FF2B5EF4-FFF2-40B4-BE49-F238E27FC236}">
                <a16:creationId xmlns:a16="http://schemas.microsoft.com/office/drawing/2014/main" id="{10E6CD2B-D5CB-4E2A-9C69-067E7A83A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459" y="3791259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73" name="Text Box 12">
            <a:extLst>
              <a:ext uri="{FF2B5EF4-FFF2-40B4-BE49-F238E27FC236}">
                <a16:creationId xmlns:a16="http://schemas.microsoft.com/office/drawing/2014/main" id="{C2E5638F-4100-40A2-8683-62FD4AC6F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8360" y="4706602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y</a:t>
            </a:r>
          </a:p>
        </p:txBody>
      </p:sp>
      <p:sp>
        <p:nvSpPr>
          <p:cNvPr id="74" name="Text Box 13">
            <a:extLst>
              <a:ext uri="{FF2B5EF4-FFF2-40B4-BE49-F238E27FC236}">
                <a16:creationId xmlns:a16="http://schemas.microsoft.com/office/drawing/2014/main" id="{098B4B51-0DA7-4894-BDFB-F2CE96472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034" y="4373444"/>
            <a:ext cx="2744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q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  <a:ea typeface="SimSun" panose="02010600030101010101" pitchFamily="2" charset="-122"/>
              </a:rPr>
              <a:t>z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B859A0-BFE9-4CA2-8907-B860250AB4F0}"/>
              </a:ext>
            </a:extLst>
          </p:cNvPr>
          <p:cNvSpPr txBox="1"/>
          <p:nvPr/>
        </p:nvSpPr>
        <p:spPr>
          <a:xfrm>
            <a:off x="721791" y="5729634"/>
            <a:ext cx="2922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Vector Addition z=</a:t>
            </a:r>
            <a:r>
              <a:rPr lang="en-IN" dirty="0" err="1">
                <a:latin typeface="Arial Narrow" panose="020B0606020202030204" pitchFamily="34" charset="0"/>
              </a:rPr>
              <a:t>x+y</a:t>
            </a:r>
            <a:r>
              <a:rPr lang="en-IN" dirty="0">
                <a:latin typeface="Arial Narrow" panose="020B0606020202030204" pitchFamily="34" charset="0"/>
              </a:rPr>
              <a:t> using </a:t>
            </a:r>
          </a:p>
          <a:p>
            <a:pPr algn="ctr"/>
            <a:r>
              <a:rPr lang="en-IN" dirty="0">
                <a:latin typeface="Arial Narrow" panose="020B0606020202030204" pitchFamily="34" charset="0"/>
              </a:rPr>
              <a:t>triangular (Head-to-Tail) method</a:t>
            </a:r>
          </a:p>
        </p:txBody>
      </p:sp>
    </p:spTree>
    <p:extLst>
      <p:ext uri="{BB962C8B-B14F-4D97-AF65-F5344CB8AC3E}">
        <p14:creationId xmlns:p14="http://schemas.microsoft.com/office/powerpoint/2010/main" val="165606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>
            <a:extLst>
              <a:ext uri="{FF2B5EF4-FFF2-40B4-BE49-F238E27FC236}">
                <a16:creationId xmlns:a16="http://schemas.microsoft.com/office/drawing/2014/main" id="{8EAF228F-F2D0-496C-95AF-BE39EDF296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1988" y="1690687"/>
            <a:ext cx="1352177" cy="1589927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00566-9667-44DA-B4CD-2B5A281C8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Basic Operations on Vectors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2FEB8-834A-4728-B328-76089BB27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138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Scalar Multiplication (product):</a:t>
                </a:r>
              </a:p>
              <a:p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Dot (Inner) Product: </a:t>
                </a:r>
                <a:endParaRPr lang="en-IN" sz="2000" b="1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  <a:r>
                  <a:rPr lang="en-IN" sz="2000" b="1" dirty="0"/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The inner (dot) product results scalar quantity. </a:t>
                </a:r>
                <a:endParaRPr lang="en-IN" sz="2000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=[1, 2, 3]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4, 5, 6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  <a:r>
                  <a:rPr lang="en-IN" sz="2000" b="1" dirty="0"/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(1)(4)+(2)(5)+(3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)(6)=32          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‖"/>
                        <m:endChr m:val="‖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IN" sz="24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dot product is one of the most important operations in machine learning because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it measures similarity </a:t>
                </a:r>
                <a:r>
                  <a:rPr lang="en-US" sz="2000" dirty="0">
                    <a:latin typeface="Arial Narrow" panose="020B0606020202030204" pitchFamily="34" charset="0"/>
                  </a:rPr>
                  <a:t>and is used throughout neural networks and transformers.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2FEB8-834A-4728-B328-76089BB27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1381"/>
                <a:ext cx="10515600" cy="4351338"/>
              </a:xfrm>
              <a:blipFill>
                <a:blip r:embed="rId2"/>
                <a:stretch>
                  <a:fillRect l="-522" t="-1401" b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8">
            <a:extLst>
              <a:ext uri="{FF2B5EF4-FFF2-40B4-BE49-F238E27FC236}">
                <a16:creationId xmlns:a16="http://schemas.microsoft.com/office/drawing/2014/main" id="{E08EC59B-22EB-4B89-864A-643B28FCDA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9459" y="2445365"/>
            <a:ext cx="696259" cy="817787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D1795E-56B3-4557-843D-A701BDC48ECE}"/>
                  </a:ext>
                </a:extLst>
              </p:cNvPr>
              <p:cNvSpPr txBox="1"/>
              <p:nvPr/>
            </p:nvSpPr>
            <p:spPr>
              <a:xfrm>
                <a:off x="6327588" y="2867110"/>
                <a:ext cx="2762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D1795E-56B3-4557-843D-A701BDC48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588" y="2867110"/>
                <a:ext cx="276225" cy="369332"/>
              </a:xfrm>
              <a:prstGeom prst="rect">
                <a:avLst/>
              </a:prstGeom>
              <a:blipFill>
                <a:blip r:embed="rId3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AC8288-9A75-4DA9-88ED-9F1F9EBE6BCF}"/>
                  </a:ext>
                </a:extLst>
              </p:cNvPr>
              <p:cNvSpPr txBox="1"/>
              <p:nvPr/>
            </p:nvSpPr>
            <p:spPr>
              <a:xfrm>
                <a:off x="6946713" y="2076033"/>
                <a:ext cx="377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AC8288-9A75-4DA9-88ED-9F1F9EBE6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13" y="2076033"/>
                <a:ext cx="377452" cy="369332"/>
              </a:xfrm>
              <a:prstGeom prst="rect">
                <a:avLst/>
              </a:prstGeom>
              <a:blipFill>
                <a:blip r:embed="rId4"/>
                <a:stretch>
                  <a:fillRect r="-9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8">
            <a:extLst>
              <a:ext uri="{FF2B5EF4-FFF2-40B4-BE49-F238E27FC236}">
                <a16:creationId xmlns:a16="http://schemas.microsoft.com/office/drawing/2014/main" id="{47C72C79-3D18-461B-98EF-D838C8CD9F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94538" y="3743325"/>
            <a:ext cx="625662" cy="1212702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0F075293-1D08-4C35-96D6-3B14471396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94538" y="3906724"/>
            <a:ext cx="2216337" cy="1049303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4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9D8C261-C345-429A-B82F-08D0327A464C}"/>
              </a:ext>
            </a:extLst>
          </p:cNvPr>
          <p:cNvSpPr/>
          <p:nvPr/>
        </p:nvSpPr>
        <p:spPr>
          <a:xfrm>
            <a:off x="8896350" y="4355837"/>
            <a:ext cx="365950" cy="292363"/>
          </a:xfrm>
          <a:custGeom>
            <a:avLst/>
            <a:gdLst>
              <a:gd name="connsiteX0" fmla="*/ 0 w 365950"/>
              <a:gd name="connsiteY0" fmla="*/ 25663 h 292363"/>
              <a:gd name="connsiteX1" fmla="*/ 323850 w 365950"/>
              <a:gd name="connsiteY1" fmla="*/ 25663 h 292363"/>
              <a:gd name="connsiteX2" fmla="*/ 361950 w 365950"/>
              <a:gd name="connsiteY2" fmla="*/ 292363 h 292363"/>
              <a:gd name="connsiteX3" fmla="*/ 361950 w 365950"/>
              <a:gd name="connsiteY3" fmla="*/ 292363 h 292363"/>
              <a:gd name="connsiteX4" fmla="*/ 361950 w 365950"/>
              <a:gd name="connsiteY4" fmla="*/ 292363 h 29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950" h="292363">
                <a:moveTo>
                  <a:pt x="0" y="25663"/>
                </a:moveTo>
                <a:cubicBezTo>
                  <a:pt x="131762" y="3438"/>
                  <a:pt x="263525" y="-18787"/>
                  <a:pt x="323850" y="25663"/>
                </a:cubicBezTo>
                <a:cubicBezTo>
                  <a:pt x="384175" y="70113"/>
                  <a:pt x="361950" y="292363"/>
                  <a:pt x="361950" y="292363"/>
                </a:cubicBezTo>
                <a:lnTo>
                  <a:pt x="361950" y="292363"/>
                </a:lnTo>
                <a:lnTo>
                  <a:pt x="361950" y="29236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1EBA0A-2BC7-48FA-BC64-F1E9DDF98C91}"/>
                  </a:ext>
                </a:extLst>
              </p:cNvPr>
              <p:cNvSpPr/>
              <p:nvPr/>
            </p:nvSpPr>
            <p:spPr>
              <a:xfrm>
                <a:off x="9160114" y="4045243"/>
                <a:ext cx="381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1EBA0A-2BC7-48FA-BC64-F1E9DDF98C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114" y="4045243"/>
                <a:ext cx="3818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F7CDFE-8840-4A61-BBB1-43CA0AC63A75}"/>
                  </a:ext>
                </a:extLst>
              </p:cNvPr>
              <p:cNvSpPr/>
              <p:nvPr/>
            </p:nvSpPr>
            <p:spPr>
              <a:xfrm>
                <a:off x="10059900" y="4165010"/>
                <a:ext cx="3754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F7CDFE-8840-4A61-BBB1-43CA0AC63A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00" y="4165010"/>
                <a:ext cx="3754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66C2B0-4536-4B9B-9A8A-0223958709DD}"/>
                  </a:ext>
                </a:extLst>
              </p:cNvPr>
              <p:cNvSpPr/>
              <p:nvPr/>
            </p:nvSpPr>
            <p:spPr>
              <a:xfrm>
                <a:off x="8552438" y="4062043"/>
                <a:ext cx="3866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66C2B0-4536-4B9B-9A8A-022395870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2438" y="4062043"/>
                <a:ext cx="38664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363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4404-B3A5-487F-A175-C3412626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b="1" dirty="0"/>
            </a:br>
            <a:r>
              <a:rPr lang="fr-FR" sz="4000" dirty="0">
                <a:latin typeface="Century" panose="02040604050505020304" pitchFamily="18" charset="0"/>
              </a:rPr>
              <a:t>Matrices</a:t>
            </a:r>
            <a:br>
              <a:rPr lang="fr-FR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1B02-E016-4ED3-BADC-E632146F6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Arial Narrow" panose="020B0606020202030204" pitchFamily="34" charset="0"/>
              </a:rPr>
              <a:t>Matrix représentation </a:t>
            </a:r>
          </a:p>
          <a:p>
            <a:r>
              <a:rPr lang="fr-FR" dirty="0">
                <a:latin typeface="Arial Narrow" panose="020B0606020202030204" pitchFamily="34" charset="0"/>
              </a:rPr>
              <a:t>Matrix Basic Operations (Addition, Substruction and Multiplication)</a:t>
            </a:r>
          </a:p>
          <a:p>
            <a:r>
              <a:rPr lang="fr-FR" dirty="0">
                <a:latin typeface="Arial Narrow" panose="020B0606020202030204" pitchFamily="34" charset="0"/>
              </a:rPr>
              <a:t>Matrix transpose </a:t>
            </a:r>
          </a:p>
          <a:p>
            <a:r>
              <a:rPr lang="fr-FR" dirty="0">
                <a:latin typeface="Arial Narrow" panose="020B0606020202030204" pitchFamily="34" charset="0"/>
              </a:rPr>
              <a:t>Identity matrix</a:t>
            </a:r>
          </a:p>
          <a:p>
            <a:r>
              <a:rPr lang="en-IN" dirty="0">
                <a:latin typeface="Arial Narrow" panose="020B0606020202030204" pitchFamily="34" charset="0"/>
              </a:rPr>
              <a:t>Matrix Inversion</a:t>
            </a:r>
            <a:endParaRPr lang="fr-FR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173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8B36-17CB-4D55-AC32-CCA75E11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Matrix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AA91AB-CADF-4245-A127-64F91EED9E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matrix</a:t>
                </a:r>
                <a:r>
                  <a:rPr lang="en-US" sz="2000" dirty="0">
                    <a:latin typeface="Arial Narrow" panose="020B0606020202030204" pitchFamily="34" charset="0"/>
                  </a:rPr>
                  <a:t> is a rectangular arrangement of numbers organized into rows and columns. It is a fundamental concept in linear algebra and serves as a powerful tool for representing and manipulating data.</a:t>
                </a:r>
              </a:p>
              <a:p>
                <a:pPr marL="0" indent="0" algn="just">
                  <a:buNone/>
                </a:pPr>
                <a:r>
                  <a:rPr lang="en-US" sz="2000" dirty="0"/>
                  <a:t>                       </a:t>
                </a:r>
              </a:p>
              <a:p>
                <a:pPr marL="0" indent="0" algn="just">
                  <a:buNone/>
                </a:pPr>
                <a:r>
                  <a:rPr lang="en-US" sz="2000" dirty="0"/>
                  <a:t>                      </a:t>
                </a:r>
                <a:r>
                  <a:rPr lang="en-US" sz="2000" dirty="0">
                    <a:latin typeface="Arial Narrow" panose="020B0606020202030204" pitchFamily="34" charset="0"/>
                  </a:rPr>
                  <a:t>For example, 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square matrix and B=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rectangular matrix </a:t>
                </a:r>
              </a:p>
              <a:p>
                <a:pPr marL="0" indent="0" algn="just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Dimension (size) of the matrix</a:t>
                </a:r>
                <a:r>
                  <a:rPr lang="en-US" sz="2000" dirty="0">
                    <a:latin typeface="Arial Narrow" panose="020B0606020202030204" pitchFamily="34" charset="0"/>
                  </a:rPr>
                  <a:t>: Denoted by [(no. of rows)x(no. of columns)]. Dimension of matrix A is 3x3 whereas dimension of matrix B is 2x3.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Matrices are widely used in machine learning, computer graphics, scientific computing, and data analysis. For example, an image is represented as the matrix of pixels.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AA91AB-CADF-4245-A127-64F91EED9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04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8B36-17CB-4D55-AC32-CCA75E11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Matrix</a:t>
            </a:r>
            <a:br>
              <a:rPr lang="en-US" sz="3600" dirty="0">
                <a:latin typeface="Century" panose="02040604050505020304" pitchFamily="18" charset="0"/>
              </a:rPr>
            </a:br>
            <a:r>
              <a:rPr lang="en-US" sz="2400" dirty="0">
                <a:latin typeface="Century" panose="02040604050505020304" pitchFamily="18" charset="0"/>
              </a:rPr>
              <a:t>Basic Operations</a:t>
            </a:r>
            <a:endParaRPr lang="en-IN" sz="24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A91AB-CADF-4245-A127-64F91EED9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29569"/>
            <a:ext cx="10963275" cy="4351338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Matrix Addition</a:t>
            </a:r>
            <a:r>
              <a:rPr lang="en-IN" sz="2000" dirty="0">
                <a:latin typeface="Arial Narrow" panose="020B0606020202030204" pitchFamily="34" charset="0"/>
              </a:rPr>
              <a:t>: Just element-wise addition. Dimensions of the two matrices must be same. </a:t>
            </a: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  <a:p>
            <a:pPr algn="just"/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Matrix Subtraction</a:t>
            </a:r>
            <a:r>
              <a:rPr lang="en-IN" sz="2000" dirty="0">
                <a:latin typeface="Arial Narrow" panose="020B0606020202030204" pitchFamily="34" charset="0"/>
              </a:rPr>
              <a:t>: Element-wise subtraction. Dimensions of the two matrices must be same.</a:t>
            </a: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  <a:p>
            <a:pPr algn="just"/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Matrix Multiplication</a:t>
            </a:r>
            <a:r>
              <a:rPr lang="en-IN" sz="2000" dirty="0">
                <a:latin typeface="Arial Narrow" panose="020B0606020202030204" pitchFamily="34" charset="0"/>
              </a:rPr>
              <a:t>: Multiply each row with each column. Column dimension of the first matrix should be same as row dimension of the second matrix. If A is of dimension [3x4] and B is [4x5], Product matrix (A.B) will be [3x5]</a:t>
            </a: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989D353A-AC21-4C5A-ABD9-B4AC2EEE87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441004"/>
              </p:ext>
            </p:extLst>
          </p:nvPr>
        </p:nvGraphicFramePr>
        <p:xfrm>
          <a:off x="1109664" y="1982392"/>
          <a:ext cx="3871912" cy="868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" name="Equation" r:id="rId3" imgW="2146300" imgH="457200" progId="Equation.3">
                  <p:embed/>
                </p:oleObj>
              </mc:Choice>
              <mc:Fallback>
                <p:oleObj name="Equation" r:id="rId3" imgW="2146300" imgH="4572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1600202E-4546-4C79-9BA7-43DD4198C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4" y="1982392"/>
                        <a:ext cx="3871912" cy="868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4DAA2840-CCD9-48E2-A45E-BB042C09F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11457"/>
              </p:ext>
            </p:extLst>
          </p:nvPr>
        </p:nvGraphicFramePr>
        <p:xfrm>
          <a:off x="1109664" y="3567744"/>
          <a:ext cx="3916950" cy="87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" name="Equation" r:id="rId5" imgW="2146300" imgH="457200" progId="Equation.3">
                  <p:embed/>
                </p:oleObj>
              </mc:Choice>
              <mc:Fallback>
                <p:oleObj name="Equation" r:id="rId5" imgW="2146300" imgH="457200" progId="Equation.3">
                  <p:embed/>
                  <p:pic>
                    <p:nvPicPr>
                      <p:cNvPr id="13317" name="Object 5">
                        <a:extLst>
                          <a:ext uri="{FF2B5EF4-FFF2-40B4-BE49-F238E27FC236}">
                            <a16:creationId xmlns:a16="http://schemas.microsoft.com/office/drawing/2014/main" id="{4A5154D9-D232-4530-8FD8-8517404D9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4" y="3567744"/>
                        <a:ext cx="3916950" cy="878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6A73DE8-6410-42B7-B931-F252A0D594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063372"/>
              </p:ext>
            </p:extLst>
          </p:nvPr>
        </p:nvGraphicFramePr>
        <p:xfrm>
          <a:off x="1109664" y="5501482"/>
          <a:ext cx="47942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" name="Equation" r:id="rId7" imgW="2286000" imgH="457200" progId="Equation.3">
                  <p:embed/>
                </p:oleObj>
              </mc:Choice>
              <mc:Fallback>
                <p:oleObj name="Equation" r:id="rId7" imgW="2286000" imgH="457200" progId="Equation.3">
                  <p:embed/>
                  <p:pic>
                    <p:nvPicPr>
                      <p:cNvPr id="13318" name="Object 6">
                        <a:extLst>
                          <a:ext uri="{FF2B5EF4-FFF2-40B4-BE49-F238E27FC236}">
                            <a16:creationId xmlns:a16="http://schemas.microsoft.com/office/drawing/2014/main" id="{1190EEC1-3969-419A-974F-329F2AF825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4" y="5501482"/>
                        <a:ext cx="47942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793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95B5-45CC-4682-9729-E4DD148B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Transpose of a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6ABE9-30C0-4878-8CE5-5609BBAE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is obtained by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interchanging its rows and columns</a:t>
                </a:r>
                <a:r>
                  <a:rPr lang="en-US" sz="2000" dirty="0">
                    <a:latin typeface="Arial Narrow" panose="020B0606020202030204" pitchFamily="34" charset="0"/>
                  </a:rPr>
                  <a:t>. In other words, every row of the original matrix becomes a column in the transposed matrix, and every column becomes a row.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If the original matrix has dimensions [</a:t>
                </a:r>
                <a:r>
                  <a:rPr lang="en-US" sz="2000" dirty="0" err="1">
                    <a:latin typeface="Arial Narrow" panose="020B0606020202030204" pitchFamily="34" charset="0"/>
                  </a:rPr>
                  <a:t>MxN</a:t>
                </a:r>
                <a:r>
                  <a:rPr lang="en-US" sz="2000" dirty="0">
                    <a:latin typeface="Arial Narrow" panose="020B0606020202030204" pitchFamily="34" charset="0"/>
                  </a:rPr>
                  <a:t>], then its transpose has dimensions </a:t>
                </a:r>
                <a:r>
                  <a:rPr lang="en-IN" sz="2000" dirty="0">
                    <a:latin typeface="Arial Narrow" panose="020B0606020202030204" pitchFamily="34" charset="0"/>
                  </a:rPr>
                  <a:t>[</a:t>
                </a:r>
                <a:r>
                  <a:rPr lang="en-IN" sz="2000" dirty="0" err="1">
                    <a:latin typeface="Arial Narrow" panose="020B0606020202030204" pitchFamily="34" charset="0"/>
                  </a:rPr>
                  <a:t>NxM</a:t>
                </a:r>
                <a:r>
                  <a:rPr lang="en-IN" sz="2000" dirty="0">
                    <a:latin typeface="Arial Narrow" panose="020B0606020202030204" pitchFamily="34" charset="0"/>
                  </a:rPr>
                  <a:t>].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When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matrix is equal to its transpose</a:t>
                </a:r>
                <a:r>
                  <a:rPr lang="en-US" sz="2000" dirty="0">
                    <a:latin typeface="Arial Narrow" panose="020B0606020202030204" pitchFamily="34" charset="0"/>
                  </a:rPr>
                  <a:t>, it is called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symmetric matrix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This means that the element in the </a:t>
                </a:r>
                <a:r>
                  <a:rPr lang="en-US" sz="2000" dirty="0" err="1">
                    <a:latin typeface="Arial Narrow" panose="020B0606020202030204" pitchFamily="34" charset="0"/>
                  </a:rPr>
                  <a:t>i-th</a:t>
                </a:r>
                <a:r>
                  <a:rPr lang="en-US" sz="2000" dirty="0">
                    <a:latin typeface="Arial Narrow" panose="020B0606020202030204" pitchFamily="34" charset="0"/>
                  </a:rPr>
                  <a:t> row and j-</a:t>
                </a:r>
                <a:r>
                  <a:rPr lang="en-US" sz="2000" dirty="0" err="1">
                    <a:latin typeface="Arial Narrow" panose="020B0606020202030204" pitchFamily="34" charset="0"/>
                  </a:rPr>
                  <a:t>th</a:t>
                </a:r>
                <a:r>
                  <a:rPr lang="en-US" sz="2000" dirty="0">
                    <a:latin typeface="Arial Narrow" panose="020B0606020202030204" pitchFamily="34" charset="0"/>
                  </a:rPr>
                  <a:t> column is equal to the element in the j-</a:t>
                </a:r>
                <a:r>
                  <a:rPr lang="en-US" sz="2000" dirty="0" err="1">
                    <a:latin typeface="Arial Narrow" panose="020B0606020202030204" pitchFamily="34" charset="0"/>
                  </a:rPr>
                  <a:t>th</a:t>
                </a:r>
                <a:r>
                  <a:rPr lang="en-US" sz="2000" dirty="0">
                    <a:latin typeface="Arial Narrow" panose="020B0606020202030204" pitchFamily="34" charset="0"/>
                  </a:rPr>
                  <a:t> row and </a:t>
                </a:r>
                <a:r>
                  <a:rPr lang="en-US" sz="2000" dirty="0" err="1">
                    <a:latin typeface="Arial Narrow" panose="020B0606020202030204" pitchFamily="34" charset="0"/>
                  </a:rPr>
                  <a:t>i-th</a:t>
                </a:r>
                <a:r>
                  <a:rPr lang="en-US" sz="2000" dirty="0">
                    <a:latin typeface="Arial Narrow" panose="020B0606020202030204" pitchFamily="34" charset="0"/>
                  </a:rPr>
                  <a:t> column: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Example: </a:t>
                </a:r>
                <a:r>
                  <a:rPr lang="en-US" sz="2000" dirty="0">
                    <a:latin typeface="Arial Narrow" panose="020B0606020202030204" pitchFamily="34" charset="0"/>
                  </a:rPr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is the symmetric matrix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6ABE9-30C0-4878-8CE5-5609BBAE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EE11818-BD42-4704-AB22-7A7130C70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795098"/>
              </p:ext>
            </p:extLst>
          </p:nvPr>
        </p:nvGraphicFramePr>
        <p:xfrm>
          <a:off x="1562100" y="2524125"/>
          <a:ext cx="149701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Equation" r:id="rId4" imgW="749300" imgH="457200" progId="Equation.3">
                  <p:embed/>
                </p:oleObj>
              </mc:Choice>
              <mc:Fallback>
                <p:oleObj name="Equation" r:id="rId4" imgW="749300" imgH="457200" progId="Equation.3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A366EB8A-D8C1-4551-B30D-2ABBC4995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2524125"/>
                        <a:ext cx="149701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A045F44-8065-474E-82A4-1969F65527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861607"/>
              </p:ext>
            </p:extLst>
          </p:nvPr>
        </p:nvGraphicFramePr>
        <p:xfrm>
          <a:off x="3543300" y="2600325"/>
          <a:ext cx="16589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Equation" r:id="rId6" imgW="838200" imgH="457200" progId="Equation.DSMT4">
                  <p:embed/>
                </p:oleObj>
              </mc:Choice>
              <mc:Fallback>
                <p:oleObj name="Equation" r:id="rId6" imgW="838200" imgH="457200" progId="Equation.DSMT4">
                  <p:embed/>
                  <p:pic>
                    <p:nvPicPr>
                      <p:cNvPr id="20485" name="Object 6">
                        <a:extLst>
                          <a:ext uri="{FF2B5EF4-FFF2-40B4-BE49-F238E27FC236}">
                            <a16:creationId xmlns:a16="http://schemas.microsoft.com/office/drawing/2014/main" id="{A0D224CE-1A63-469E-B5A9-51A83D4407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2600325"/>
                        <a:ext cx="16589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956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B102-FC1D-4AEE-9D62-071FC52F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4000" dirty="0">
                <a:latin typeface="Century" panose="02040604050505020304" pitchFamily="18" charset="0"/>
              </a:rPr>
              <a:t>Identity Matrix</a:t>
            </a:r>
            <a:br>
              <a:rPr lang="fr-FR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A3174-F7AA-4E3E-8165-2A0EC77E39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9227"/>
                <a:ext cx="10515600" cy="4710113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Identity matrix</a:t>
                </a:r>
                <a:r>
                  <a:rPr lang="en-IN" sz="2000" dirty="0">
                    <a:latin typeface="Arial Narrow" panose="020B0606020202030204" pitchFamily="34" charset="0"/>
                  </a:rPr>
                  <a:t>: </a:t>
                </a:r>
                <a:r>
                  <a:rPr lang="en-US" sz="2000" dirty="0">
                    <a:latin typeface="Arial Narrow" panose="020B0606020202030204" pitchFamily="34" charset="0"/>
                  </a:rPr>
                  <a:t>An identity matrix is a square matrix in which all the elements on the main diagonal are equal to 1, and all off-diagonal elements are equal to 0. It is usually denoted by (I).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A [3x3] identity matrix is looks like: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                                I=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Multiplying a matrix by the identity matrix leaves the matrix unchanged. That means,  AI=IA=A.</a:t>
                </a:r>
              </a:p>
              <a:p>
                <a:pPr marL="457200" lvl="1" indent="0">
                  <a:buNone/>
                </a:pPr>
                <a:endParaRPr lang="en-US" sz="16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A3174-F7AA-4E3E-8165-2A0EC77E39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9227"/>
                <a:ext cx="10515600" cy="4710113"/>
              </a:xfrm>
              <a:blipFill>
                <a:blip r:embed="rId2"/>
                <a:stretch>
                  <a:fillRect l="-522" t="-1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34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95B5-45CC-4682-9729-E4DD148B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Matrix: A Few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6ABE9-30C0-4878-8CE5-5609BBAE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Determinant of a matrix</a:t>
                </a:r>
                <a:r>
                  <a:rPr lang="en-IN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then determinant of A which is denoted by det(A) is</a:t>
                </a: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det(A)=ad-</a:t>
                </a:r>
                <a:r>
                  <a:rPr lang="en-IN" sz="2000" dirty="0" err="1">
                    <a:latin typeface="Arial Narrow" panose="020B0606020202030204" pitchFamily="34" charset="0"/>
                  </a:rPr>
                  <a:t>bc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Rank of a Matrix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rank of a matrix is 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maximum number of linearly independent rows or columns in the matrix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It indicates how much unique information the matrix contains.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In simpler terms, the rank tells us how many rows or columns are not redundant and cannot be expressed as combinations of the others.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6ABE9-30C0-4878-8CE5-5609BBAE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294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D2F3-9976-4853-B634-98E7BB78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Singular Matrix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C0E8C-3A5A-40DD-A1C3-C8B632BE9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A singular matrix is a square matrix that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does not have an inverse</a:t>
                </a:r>
                <a:r>
                  <a:rPr lang="en-US" sz="2000" dirty="0">
                    <a:latin typeface="Arial Narrow" panose="020B0606020202030204" pitchFamily="34" charset="0"/>
                  </a:rPr>
                  <a:t>. In other words, it is a matrix whose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determinant is equal to zero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singular matrix. The determinant of a det(A)=[1x4]-[2x2]=0.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Singular matrix:</a:t>
                </a:r>
              </a:p>
              <a:p>
                <a:pPr lvl="1"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It does not have an inverse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lvl="1" algn="just"/>
                <a:r>
                  <a:rPr lang="en-US" sz="2000" dirty="0">
                    <a:latin typeface="Arial Narrow" panose="020B0606020202030204" pitchFamily="34" charset="0"/>
                  </a:rPr>
                  <a:t>Its rows or columns are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linearly dependent</a:t>
                </a:r>
                <a:r>
                  <a:rPr lang="en-US" sz="2000" dirty="0">
                    <a:latin typeface="Arial Narrow" panose="020B0606020202030204" pitchFamily="34" charset="0"/>
                  </a:rPr>
                  <a:t>. That means, in our example, [2 4]=2x[1 2], i.e., row two is linearly dependent on row one.</a:t>
                </a:r>
              </a:p>
              <a:p>
                <a:pPr lvl="1" algn="just"/>
                <a:r>
                  <a:rPr lang="en-US" sz="2000" dirty="0">
                    <a:latin typeface="Arial Narrow" panose="020B0606020202030204" pitchFamily="34" charset="0"/>
                  </a:rPr>
                  <a:t>Its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rank is less than its order </a:t>
                </a:r>
                <a:r>
                  <a:rPr lang="en-US" sz="2000" dirty="0">
                    <a:latin typeface="Arial Narrow" panose="020B0606020202030204" pitchFamily="34" charset="0"/>
                  </a:rPr>
                  <a:t>(size). In our example, size of matrix A is [2x2] but its rank is 1. Because there is only one linearly independent row. The second row is dependent on first one.</a:t>
                </a:r>
              </a:p>
              <a:p>
                <a:pPr lvl="1" algn="just"/>
                <a:r>
                  <a:rPr lang="en-US" sz="2000" dirty="0">
                    <a:latin typeface="Arial Narrow" panose="020B0606020202030204" pitchFamily="34" charset="0"/>
                  </a:rPr>
                  <a:t>The system of equations represented by the matrix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does not have a unique solution</a:t>
                </a:r>
                <a:r>
                  <a:rPr lang="en-US" sz="2000" dirty="0">
                    <a:latin typeface="Arial Narrow" panose="020B0606020202030204" pitchFamily="34" charset="0"/>
                  </a:rPr>
                  <a:t>. Because, it has only one linearly independent equation but number of unknown variables is two.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C0E8C-3A5A-40DD-A1C3-C8B632BE9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1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4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3BB3-E8DF-41CA-ACB9-FCDA28F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Matrix Inversion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49919-4684-46D1-A02C-0F53384D3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An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inverse matrix </a:t>
                </a:r>
                <a:r>
                  <a:rPr lang="en-US" sz="2000" dirty="0">
                    <a:latin typeface="Arial Narrow" panose="020B0606020202030204" pitchFamily="34" charset="0"/>
                  </a:rPr>
                  <a:t>A (denoted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) is the reciprocal of the matrix A such that</a:t>
                </a: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𝐴𝐴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𝐼𝑑𝑒𝑛𝑡𝑖𝑡𝑦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𝑚𝑎𝑡𝑟𝑖𝑥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endParaRPr lang="en-IN" sz="2000" b="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To obtain the inverse of a matrix, the matrix should be</a:t>
                </a: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A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square matrix</a:t>
                </a:r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lvl="1"/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Non-Singular </a:t>
                </a:r>
                <a:r>
                  <a:rPr lang="en-IN" sz="2000" dirty="0">
                    <a:latin typeface="Arial Narrow" panose="020B0606020202030204" pitchFamily="34" charset="0"/>
                  </a:rPr>
                  <a:t>(determinant is non-zero).</a:t>
                </a:r>
              </a:p>
              <a:p>
                <a:pPr marL="457200" lvl="1" indent="0">
                  <a:buNone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For a 2x2 matrix, (let say)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                                                                                where det(A)=ad-</a:t>
                </a:r>
                <a:r>
                  <a:rPr lang="en-IN" sz="2000" dirty="0" err="1">
                    <a:latin typeface="Arial Narrow" panose="020B0606020202030204" pitchFamily="34" charset="0"/>
                  </a:rPr>
                  <a:t>bc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49919-4684-46D1-A02C-0F53384D3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902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2B4A-F235-4D20-95C2-32BE58E9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Matrix Inversion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For larger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770403-D123-47C0-957B-71D158375A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2325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sz="2000" dirty="0"/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Step1: Find determinant of A.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1600" dirty="0">
                    <a:latin typeface="Arial Narrow" panose="020B0606020202030204" pitchFamily="34" charset="0"/>
                  </a:rPr>
                  <a:t>If det(A)=0, stop, otherwise go to step 2.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Step2: Calculate the transpose of the matrix A. That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Step 3: </a:t>
                </a:r>
                <a:r>
                  <a:rPr lang="en-US" sz="2000" dirty="0">
                    <a:latin typeface="Arial Narrow" panose="020B0606020202030204" pitchFamily="34" charset="0"/>
                  </a:rPr>
                  <a:t>Find the determinant of each of the 9 minors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each of which is a 2x2 matrix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770403-D123-47C0-957B-71D158375A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2325" cy="4351338"/>
              </a:xfrm>
              <a:blipFill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45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FBA5-83F7-4DE2-8789-1C0291AA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Matrix Inversion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For larger matrices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1E83-3759-40CA-AD31-42FE926B6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Step 4: </a:t>
                </a:r>
                <a:r>
                  <a:rPr lang="en-US" sz="2000" dirty="0">
                    <a:latin typeface="Arial Narrow" panose="020B0606020202030204" pitchFamily="34" charset="0"/>
                  </a:rPr>
                  <a:t>Create the matrix of these determinants with alternating signs, namely 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𝑎𝑑𝑗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  </a:t>
                </a:r>
                <a:r>
                  <a:rPr lang="en-IN" sz="2000" dirty="0" err="1">
                    <a:latin typeface="Arial Narrow" panose="020B0606020202030204" pitchFamily="34" charset="0"/>
                  </a:rPr>
                  <a:t>adj</a:t>
                </a:r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IN" sz="2000" dirty="0">
                    <a:latin typeface="Arial Narrow" panose="020B060602020203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IN" sz="2000" dirty="0" err="1">
                    <a:solidFill>
                      <a:srgbClr val="00B0F0"/>
                    </a:solidFill>
                    <a:latin typeface="Arial Narrow" panose="020B0606020202030204" pitchFamily="34" charset="0"/>
                    <a:sym typeface="Wingdings" panose="05000000000000000000" pitchFamily="2" charset="2"/>
                  </a:rPr>
                  <a:t>adjugate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  <a:sym typeface="Wingdings" panose="05000000000000000000" pitchFamily="2" charset="2"/>
                  </a:rPr>
                  <a:t> matrix</a:t>
                </a:r>
              </a:p>
              <a:p>
                <a:endParaRPr lang="en-IN" sz="2000" dirty="0">
                  <a:latin typeface="Arial Narrow" panose="020B0606020202030204" pitchFamily="34" charset="0"/>
                  <a:sym typeface="Wingdings" panose="05000000000000000000" pitchFamily="2" charset="2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Step 5: Find the inverse of our matrix using the formula </a:t>
                </a:r>
              </a:p>
              <a:p>
                <a:pPr marL="0" indent="0">
                  <a:buNone/>
                </a:pPr>
                <a:endParaRPr lang="en-I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𝑎𝑑𝑗</m:t>
                      </m:r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1E83-3759-40CA-AD31-42FE926B6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24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8B64-28A1-4B0D-94C8-1EEE7545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C6201-1A60-4740-B94A-CE70D9157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When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matrix transforms space</a:t>
                </a:r>
                <a:r>
                  <a:rPr lang="en-US" sz="2000" dirty="0">
                    <a:latin typeface="Arial Narrow" panose="020B0606020202030204" pitchFamily="34" charset="0"/>
                  </a:rPr>
                  <a:t>, most vectors change both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length</a:t>
                </a:r>
                <a:r>
                  <a:rPr lang="en-US" sz="2000" dirty="0">
                    <a:latin typeface="Arial Narrow" panose="020B0606020202030204" pitchFamily="34" charset="0"/>
                  </a:rPr>
                  <a:t> and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direction</a:t>
                </a:r>
                <a:r>
                  <a:rPr lang="en-US" sz="2000" dirty="0">
                    <a:latin typeface="Arial Narrow" panose="020B0606020202030204" pitchFamily="34" charset="0"/>
                  </a:rPr>
                  <a:t>. However,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some special vectors keep their direction (or reverse it) </a:t>
                </a:r>
                <a:r>
                  <a:rPr lang="en-US" sz="2000" dirty="0">
                    <a:latin typeface="Arial Narrow" panose="020B0606020202030204" pitchFamily="34" charset="0"/>
                  </a:rPr>
                  <a:t>under the transformation. These are called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eigenvectors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a square matrix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an eigenvector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satisfies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                                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eigen-vector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the corresponding eigenvalue. </a:t>
                </a:r>
              </a:p>
              <a:p>
                <a:pPr marL="0" indent="0" algn="just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equation says that applying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only scales it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; its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direction remains unchanged </a:t>
                </a:r>
                <a:r>
                  <a:rPr lang="en-US" sz="2000" dirty="0">
                    <a:latin typeface="Arial Narrow" panose="020B0606020202030204" pitchFamily="34" charset="0"/>
                  </a:rPr>
                  <a:t>(except that a negative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reverses the direction).  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C6201-1A60-4740-B94A-CE70D9157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61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9C3F-A367-49DE-9383-68F99958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Eigenvalues and Eigenvectors</a:t>
            </a:r>
            <a:br>
              <a:rPr lang="en-IN" sz="24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Geometric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65A2E-AA39-42A1-BCBB-21FF035AE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Let there is a matrix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this matrix transforms (linear) the space such that most of the vectors change their direction and magnitude. 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But there are some special vectors (let say)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basically this is x-axis. If we multiply this to matrix A</a:t>
                </a:r>
              </a:p>
              <a:p>
                <a:pPr marL="0" indent="0">
                  <a:buNone/>
                </a:pPr>
                <a:endParaRPr lang="en-I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This means,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matrix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transform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such a way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does not change its direction </a:t>
                </a:r>
                <a:r>
                  <a:rPr lang="en-IN" sz="2000" dirty="0">
                    <a:latin typeface="Arial Narrow" panose="020B0606020202030204" pitchFamily="34" charset="0"/>
                  </a:rPr>
                  <a:t>but only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stretched by 3</a:t>
                </a:r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is an eigenvector of matrix A </a:t>
                </a:r>
                <a:r>
                  <a:rPr lang="en-IN" sz="2000" dirty="0">
                    <a:latin typeface="Arial Narrow" panose="020B0606020202030204" pitchFamily="34" charset="0"/>
                  </a:rPr>
                  <a:t>and the corresponding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eigenvalue =3</a:t>
                </a:r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Similarly,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for y-axis,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, it also </a:t>
                </a:r>
                <a:r>
                  <a:rPr lang="en-IN" sz="2000" dirty="0">
                    <a:latin typeface="Arial Narrow" panose="020B0606020202030204" pitchFamily="34" charset="0"/>
                  </a:rPr>
                  <a:t>does not change its direction but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only stretched by 2. 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is also an eigenvector of matrix A </a:t>
                </a:r>
                <a:r>
                  <a:rPr lang="en-IN" sz="2000" dirty="0">
                    <a:latin typeface="Arial Narrow" panose="020B0606020202030204" pitchFamily="34" charset="0"/>
                  </a:rPr>
                  <a:t>and the corresponding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eigenvalue =2.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65A2E-AA39-42A1-BCBB-21FF035AE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464" t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18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rintable 1 Inch Graph Paper – Daisy Paper">
            <a:extLst>
              <a:ext uri="{FF2B5EF4-FFF2-40B4-BE49-F238E27FC236}">
                <a16:creationId xmlns:a16="http://schemas.microsoft.com/office/drawing/2014/main" id="{A3C968E7-5AFE-4DE8-8B53-CB9F5AE40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700" y="470087"/>
            <a:ext cx="4857750" cy="628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4DB598-E918-4E6C-8E9B-2765637559FA}"/>
              </a:ext>
            </a:extLst>
          </p:cNvPr>
          <p:cNvCxnSpPr/>
          <p:nvPr/>
        </p:nvCxnSpPr>
        <p:spPr>
          <a:xfrm flipV="1">
            <a:off x="4343400" y="741488"/>
            <a:ext cx="0" cy="168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24D852-FC8B-49DD-A952-521B398F5FB8}"/>
              </a:ext>
            </a:extLst>
          </p:cNvPr>
          <p:cNvCxnSpPr>
            <a:cxnSpLocks/>
          </p:cNvCxnSpPr>
          <p:nvPr/>
        </p:nvCxnSpPr>
        <p:spPr>
          <a:xfrm>
            <a:off x="4125457" y="2181225"/>
            <a:ext cx="2734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1B415F-22DF-48B2-9070-6B0855318C45}"/>
              </a:ext>
            </a:extLst>
          </p:cNvPr>
          <p:cNvCxnSpPr>
            <a:cxnSpLocks/>
          </p:cNvCxnSpPr>
          <p:nvPr/>
        </p:nvCxnSpPr>
        <p:spPr>
          <a:xfrm>
            <a:off x="4343400" y="2181225"/>
            <a:ext cx="600075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70D287-F7D9-40A5-A715-EF2BA3EA3E40}"/>
              </a:ext>
            </a:extLst>
          </p:cNvPr>
          <p:cNvCxnSpPr>
            <a:cxnSpLocks/>
          </p:cNvCxnSpPr>
          <p:nvPr/>
        </p:nvCxnSpPr>
        <p:spPr>
          <a:xfrm flipV="1">
            <a:off x="4352925" y="1584171"/>
            <a:ext cx="0" cy="5970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B80093-AF10-4593-8DD6-4DE7246F160E}"/>
              </a:ext>
            </a:extLst>
          </p:cNvPr>
          <p:cNvCxnSpPr>
            <a:cxnSpLocks/>
          </p:cNvCxnSpPr>
          <p:nvPr/>
        </p:nvCxnSpPr>
        <p:spPr>
          <a:xfrm flipV="1">
            <a:off x="4343400" y="1584170"/>
            <a:ext cx="600075" cy="58752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574D59-F966-408D-B934-7F9228E4FA58}"/>
              </a:ext>
            </a:extLst>
          </p:cNvPr>
          <p:cNvSpPr txBox="1"/>
          <p:nvPr/>
        </p:nvSpPr>
        <p:spPr>
          <a:xfrm>
            <a:off x="4678461" y="2190752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1,0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0E7A86-8FDE-4B44-A0F7-AF09A9138D51}"/>
              </a:ext>
            </a:extLst>
          </p:cNvPr>
          <p:cNvSpPr txBox="1"/>
          <p:nvPr/>
        </p:nvSpPr>
        <p:spPr>
          <a:xfrm>
            <a:off x="3953595" y="1454304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0,1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B59EF-E5E6-44B6-AAED-92A8B0D93517}"/>
              </a:ext>
            </a:extLst>
          </p:cNvPr>
          <p:cNvSpPr txBox="1"/>
          <p:nvPr/>
        </p:nvSpPr>
        <p:spPr>
          <a:xfrm>
            <a:off x="4913783" y="1334571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1,1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2DA8819-BDDE-4361-B019-CC8E7261C42B}"/>
                  </a:ext>
                </a:extLst>
              </p:cNvPr>
              <p:cNvSpPr/>
              <p:nvPr/>
            </p:nvSpPr>
            <p:spPr>
              <a:xfrm>
                <a:off x="5319054" y="3209119"/>
                <a:ext cx="1342996" cy="55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2DA8819-BDDE-4361-B019-CC8E7261C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054" y="3209119"/>
                <a:ext cx="1342996" cy="554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74B808-41A0-4062-9889-992B14A1518A}"/>
                  </a:ext>
                </a:extLst>
              </p:cNvPr>
              <p:cNvSpPr/>
              <p:nvPr/>
            </p:nvSpPr>
            <p:spPr>
              <a:xfrm>
                <a:off x="4829462" y="655518"/>
                <a:ext cx="2900089" cy="55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>
                    <a:solidFill>
                      <a:srgbClr val="00B05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74B808-41A0-4062-9889-992B14A15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462" y="655518"/>
                <a:ext cx="2900089" cy="554254"/>
              </a:xfrm>
              <a:prstGeom prst="rect">
                <a:avLst/>
              </a:prstGeom>
              <a:blipFill>
                <a:blip r:embed="rId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0E49A9-4AC2-4583-9804-C5CEA1D2C729}"/>
              </a:ext>
            </a:extLst>
          </p:cNvPr>
          <p:cNvCxnSpPr/>
          <p:nvPr/>
        </p:nvCxnSpPr>
        <p:spPr>
          <a:xfrm>
            <a:off x="5223058" y="2754858"/>
            <a:ext cx="0" cy="14155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57B1A2-A46D-497C-97D1-6FEB3FA01B41}"/>
              </a:ext>
            </a:extLst>
          </p:cNvPr>
          <p:cNvCxnSpPr/>
          <p:nvPr/>
        </p:nvCxnSpPr>
        <p:spPr>
          <a:xfrm flipV="1">
            <a:off x="4348183" y="4170390"/>
            <a:ext cx="0" cy="168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F9619D-C7C8-4D42-B8A4-3123E5E25CC2}"/>
              </a:ext>
            </a:extLst>
          </p:cNvPr>
          <p:cNvCxnSpPr>
            <a:cxnSpLocks/>
          </p:cNvCxnSpPr>
          <p:nvPr/>
        </p:nvCxnSpPr>
        <p:spPr>
          <a:xfrm>
            <a:off x="4130240" y="5610127"/>
            <a:ext cx="2734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B26A30-E651-46E6-B667-A2FFCD178ACD}"/>
              </a:ext>
            </a:extLst>
          </p:cNvPr>
          <p:cNvCxnSpPr>
            <a:cxnSpLocks/>
          </p:cNvCxnSpPr>
          <p:nvPr/>
        </p:nvCxnSpPr>
        <p:spPr>
          <a:xfrm>
            <a:off x="4348183" y="5610127"/>
            <a:ext cx="1766867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BD16E5-A9C1-452C-9E83-7D64D487EE60}"/>
              </a:ext>
            </a:extLst>
          </p:cNvPr>
          <p:cNvCxnSpPr>
            <a:cxnSpLocks/>
          </p:cNvCxnSpPr>
          <p:nvPr/>
        </p:nvCxnSpPr>
        <p:spPr>
          <a:xfrm flipH="1" flipV="1">
            <a:off x="4352925" y="4410075"/>
            <a:ext cx="4784" cy="12000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1014096-7499-4120-827A-F964FD5EE412}"/>
              </a:ext>
            </a:extLst>
          </p:cNvPr>
          <p:cNvSpPr txBox="1"/>
          <p:nvPr/>
        </p:nvSpPr>
        <p:spPr>
          <a:xfrm>
            <a:off x="3838582" y="4331207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0,2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E876FB-D0D0-47B4-ABDD-49788ED33D7D}"/>
              </a:ext>
            </a:extLst>
          </p:cNvPr>
          <p:cNvSpPr txBox="1"/>
          <p:nvPr/>
        </p:nvSpPr>
        <p:spPr>
          <a:xfrm>
            <a:off x="5882408" y="5616008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3,0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59527AC-73AE-4C5F-9683-F99F514A2593}"/>
              </a:ext>
            </a:extLst>
          </p:cNvPr>
          <p:cNvCxnSpPr>
            <a:cxnSpLocks/>
          </p:cNvCxnSpPr>
          <p:nvPr/>
        </p:nvCxnSpPr>
        <p:spPr>
          <a:xfrm flipV="1">
            <a:off x="4362450" y="4457700"/>
            <a:ext cx="1752600" cy="11429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2D9BD4E-74F8-48E2-90B2-C572BA03289B}"/>
              </a:ext>
            </a:extLst>
          </p:cNvPr>
          <p:cNvSpPr txBox="1"/>
          <p:nvPr/>
        </p:nvSpPr>
        <p:spPr>
          <a:xfrm>
            <a:off x="6090855" y="4263507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3,2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B8CA03-E543-4A04-BE8B-8B52ED8B1428}"/>
              </a:ext>
            </a:extLst>
          </p:cNvPr>
          <p:cNvCxnSpPr>
            <a:cxnSpLocks/>
          </p:cNvCxnSpPr>
          <p:nvPr/>
        </p:nvCxnSpPr>
        <p:spPr>
          <a:xfrm flipV="1">
            <a:off x="4352925" y="4980004"/>
            <a:ext cx="598421" cy="638528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B3AC88-3386-41C2-AC9A-185CD32E67C1}"/>
              </a:ext>
            </a:extLst>
          </p:cNvPr>
          <p:cNvSpPr txBox="1"/>
          <p:nvPr/>
        </p:nvSpPr>
        <p:spPr>
          <a:xfrm>
            <a:off x="4799930" y="4640769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1,1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C2AC33-CD57-41E6-9474-FEAAFFD7D2AE}"/>
              </a:ext>
            </a:extLst>
          </p:cNvPr>
          <p:cNvSpPr txBox="1"/>
          <p:nvPr/>
        </p:nvSpPr>
        <p:spPr>
          <a:xfrm>
            <a:off x="3862777" y="4883205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0,1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1CBB1D-484F-4F57-852A-938BF818B42B}"/>
              </a:ext>
            </a:extLst>
          </p:cNvPr>
          <p:cNvSpPr txBox="1"/>
          <p:nvPr/>
        </p:nvSpPr>
        <p:spPr>
          <a:xfrm>
            <a:off x="4717273" y="5570503"/>
            <a:ext cx="51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1,0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27C5F44-43A0-4E8B-8730-4BF11EE99865}"/>
                  </a:ext>
                </a:extLst>
              </p:cNvPr>
              <p:cNvSpPr/>
              <p:nvPr/>
            </p:nvSpPr>
            <p:spPr>
              <a:xfrm>
                <a:off x="4737297" y="6048020"/>
                <a:ext cx="2932021" cy="55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I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>
                    <a:solidFill>
                      <a:srgbClr val="00B05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Sup>
                      <m:sSubSupPr>
                        <m:ctrlPr>
                          <a:rPr lang="en-I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IN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27C5F44-43A0-4E8B-8730-4BF11EE99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97" y="6048020"/>
                <a:ext cx="2932021" cy="554254"/>
              </a:xfrm>
              <a:prstGeom prst="rect">
                <a:avLst/>
              </a:prstGeom>
              <a:blipFill>
                <a:blip r:embed="rId5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itle 1">
            <a:extLst>
              <a:ext uri="{FF2B5EF4-FFF2-40B4-BE49-F238E27FC236}">
                <a16:creationId xmlns:a16="http://schemas.microsoft.com/office/drawing/2014/main" id="{E780763C-FBAF-441A-8018-73F12C53631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949399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sz="24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Geometric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51E9870-D045-49C0-BDB9-9193E9FBE4C2}"/>
                  </a:ext>
                </a:extLst>
              </p:cNvPr>
              <p:cNvSpPr/>
              <p:nvPr/>
            </p:nvSpPr>
            <p:spPr>
              <a:xfrm>
                <a:off x="8139392" y="1877934"/>
                <a:ext cx="390042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are is an eigenvector of matrix A.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The corresponding eigenvalues are </a:t>
                </a:r>
                <a:r>
                  <a:rPr lang="en-IN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3 and 2 </a:t>
                </a:r>
                <a:endParaRPr lang="en-IN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51E9870-D045-49C0-BDB9-9193E9FBE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392" y="1877934"/>
                <a:ext cx="3900427" cy="646331"/>
              </a:xfrm>
              <a:prstGeom prst="rect">
                <a:avLst/>
              </a:prstGeom>
              <a:blipFill>
                <a:blip r:embed="rId6"/>
                <a:stretch>
                  <a:fillRect l="-1250" t="-3774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0D5E7DE-47CA-4E96-8CCA-4F59D9109607}"/>
                  </a:ext>
                </a:extLst>
              </p:cNvPr>
              <p:cNvSpPr/>
              <p:nvPr/>
            </p:nvSpPr>
            <p:spPr>
              <a:xfrm>
                <a:off x="8139392" y="2819931"/>
                <a:ext cx="37169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is </a:t>
                </a:r>
                <a:r>
                  <a:rPr lang="en-IN" dirty="0">
                    <a:solidFill>
                      <a:srgbClr val="C00000"/>
                    </a:solidFill>
                    <a:latin typeface="Arial Narrow" panose="020B0606020202030204" pitchFamily="34" charset="0"/>
                  </a:rPr>
                  <a:t>NOT </a:t>
                </a:r>
                <a:r>
                  <a:rPr lang="en-IN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an eigenvector of matrix A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0D5E7DE-47CA-4E96-8CCA-4F59D91096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392" y="2819931"/>
                <a:ext cx="3716980" cy="369332"/>
              </a:xfrm>
              <a:prstGeom prst="rect">
                <a:avLst/>
              </a:prstGeom>
              <a:blipFill>
                <a:blip r:embed="rId7"/>
                <a:stretch>
                  <a:fillRect l="-1311" t="-11667" r="-492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802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43FE-1AE2-449A-90E8-D676FBAE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How to find Eigenvalues and Eigenvectors of a matrix?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16DA9-708B-4425-A3E1-2BD643644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2250"/>
                <a:ext cx="10515600" cy="5194300"/>
              </a:xfrm>
            </p:spPr>
            <p:txBody>
              <a:bodyPr/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a square matrix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an eigenvector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satisfies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                                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eigen-vector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the corresponding eigenvalue.</a:t>
                </a: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𝐼𝑣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is an identity matrix, so, we can write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𝐼𝑣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,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, since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is a Singular matrix,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b="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, this equation is called characteristic equation </a:t>
                </a: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  </a:t>
                </a:r>
                <a:r>
                  <a:rPr lang="en-IN" sz="2000" b="0" dirty="0">
                    <a:latin typeface="Arial Narrow" panose="020B060602020203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IN" sz="20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</a:t>
                </a:r>
                <a:r>
                  <a:rPr lang="en-IN" sz="2000" b="0" dirty="0">
                    <a:solidFill>
                      <a:srgbClr val="00B0F0"/>
                    </a:solidFill>
                    <a:latin typeface="Arial Narrow" panose="020B060602020203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</m:oMath>
                </a14:m>
                <a:r>
                  <a:rPr lang="en-IN" sz="2000" b="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</m:t>
                    </m:r>
                  </m:oMath>
                </a14:m>
                <a:r>
                  <a:rPr lang="en-IN" sz="2000" b="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are two eigenvalues</a:t>
                </a:r>
                <a:r>
                  <a:rPr lang="en-IN" sz="2000" b="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Now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 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let the eigenvector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so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sz="200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=0 this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an valid eigenvector for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Similarly,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=0 we can derive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an valid eigenvector for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</m:t>
                    </m:r>
                  </m:oMath>
                </a14:m>
                <a:r>
                  <a:rPr lang="en-IN" sz="2000" b="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:endParaRPr lang="en-US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16DA9-708B-4425-A3E1-2BD643644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2250"/>
                <a:ext cx="10515600" cy="5194300"/>
              </a:xfrm>
              <a:blipFill>
                <a:blip r:embed="rId2"/>
                <a:stretch>
                  <a:fillRect l="-522" t="-129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434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7871CE-1331-48E8-AEB6-484AFBCF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9888B-BF1D-4B6F-A2C6-E224426B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>
                <a:latin typeface="Arial Narrow" panose="020B0606020202030204" pitchFamily="34" charset="0"/>
              </a:rPr>
              <a:t>Vectors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Definitions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Basic Operations on Vectors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Matrices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Representations and Basic Operations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Matrix Transpose and Inverse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Eigenvalues and Eigenvectors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Definition</a:t>
            </a:r>
          </a:p>
          <a:p>
            <a:pPr lvl="2"/>
            <a:r>
              <a:rPr lang="en-IN" dirty="0">
                <a:latin typeface="Arial Narrow" panose="020B0606020202030204" pitchFamily="34" charset="0"/>
              </a:rPr>
              <a:t>Geometrical Interpretation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832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682" y="2331395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Mathematical Preliminaries –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(</a:t>
            </a:r>
            <a:r>
              <a:rPr lang="en-IN" sz="3200" dirty="0">
                <a:solidFill>
                  <a:srgbClr val="002060"/>
                </a:solidFill>
                <a:latin typeface="Arial Narrow" panose="020B0606020202030204" pitchFamily="34" charset="0"/>
              </a:rPr>
              <a:t>Basic Probability</a:t>
            </a: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)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4642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2:Part 2</a:t>
            </a:r>
          </a:p>
        </p:txBody>
      </p:sp>
    </p:spTree>
    <p:extLst>
      <p:ext uri="{BB962C8B-B14F-4D97-AF65-F5344CB8AC3E}">
        <p14:creationId xmlns:p14="http://schemas.microsoft.com/office/powerpoint/2010/main" val="1837874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71352-3AD5-43D9-BBF9-80CC0243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E832-D87F-4B4D-911D-3E271663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b="1" dirty="0"/>
              <a:t>Geometric Interpretation of Singular Matrix</a:t>
            </a:r>
          </a:p>
          <a:p>
            <a:r>
              <a:rPr lang="en-US" dirty="0"/>
              <a:t>A singular matrix collapses space into a lower dimension. For example, a transformation represented by a singular matrix may compress a two-dimensional plane into a single line. Because information is lost during this transformation, the original data cannot be uniquely recovered, which is why the matrix has no inverse.</a:t>
            </a:r>
          </a:p>
          <a:p>
            <a:r>
              <a:rPr lang="en-US" b="1" dirty="0"/>
              <a:t>Importance in Machine Learning</a:t>
            </a:r>
          </a:p>
          <a:p>
            <a:r>
              <a:rPr lang="en-US" dirty="0"/>
              <a:t>Singular matrices often appear when:</a:t>
            </a:r>
          </a:p>
          <a:p>
            <a:r>
              <a:rPr lang="en-US" dirty="0"/>
              <a:t>Features are highly correlated (multicollinearity).</a:t>
            </a:r>
          </a:p>
          <a:p>
            <a:r>
              <a:rPr lang="en-US" dirty="0"/>
              <a:t>Duplicate features exist in a dataset.</a:t>
            </a:r>
          </a:p>
          <a:p>
            <a:r>
              <a:rPr lang="en-US" dirty="0"/>
              <a:t>The number of features exceeds the number of samples.</a:t>
            </a:r>
          </a:p>
          <a:p>
            <a:r>
              <a:rPr lang="en-US" dirty="0"/>
              <a:t>Computing matrix inverses in linear regression.</a:t>
            </a:r>
          </a:p>
          <a:p>
            <a:r>
              <a:rPr lang="en-US" dirty="0"/>
              <a:t>When a matrix is singular, algorithms typically use techniques such as regularization, matrix factorization, or the Moore–Penrose pseudoinverse instead of a standard matrix inverse.</a:t>
            </a:r>
          </a:p>
          <a:p>
            <a:r>
              <a:rPr lang="en-US" dirty="0"/>
              <a:t>Understanding singular matrices is important because they help explain why some machine learning problems do not have unique solutions and why alternative numerical methods are often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584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19435</TotalTime>
  <Words>2146</Words>
  <Application>Microsoft Office PowerPoint</Application>
  <PresentationFormat>Widescreen</PresentationFormat>
  <Paragraphs>244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SimSun</vt:lpstr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Wingdings</vt:lpstr>
      <vt:lpstr>Office Theme</vt:lpstr>
      <vt:lpstr>Equation</vt:lpstr>
      <vt:lpstr>   Mathematical Preliminaries – I (Linear Algebra) </vt:lpstr>
      <vt:lpstr>Content</vt:lpstr>
      <vt:lpstr>Vectors</vt:lpstr>
      <vt:lpstr>Use of vectors</vt:lpstr>
      <vt:lpstr>Basic Operations on Vectors</vt:lpstr>
      <vt:lpstr>Basic Operations on Vectors</vt:lpstr>
      <vt:lpstr> Matrices </vt:lpstr>
      <vt:lpstr>Matrix</vt:lpstr>
      <vt:lpstr>Matrix Basic Operations</vt:lpstr>
      <vt:lpstr>Transpose of a Matrix</vt:lpstr>
      <vt:lpstr> Identity Matrix </vt:lpstr>
      <vt:lpstr>Matrix: A Few Definitions</vt:lpstr>
      <vt:lpstr>Singular Matrix</vt:lpstr>
      <vt:lpstr>Matrix Inversion</vt:lpstr>
      <vt:lpstr>Matrix Inversion For larger matrices</vt:lpstr>
      <vt:lpstr>Matrix Inversion For larger matrices</vt:lpstr>
      <vt:lpstr>Eigenvalues and Eigenvectors</vt:lpstr>
      <vt:lpstr>Eigenvalues and Eigenvectors Geometric Interpretation</vt:lpstr>
      <vt:lpstr>PowerPoint Presentation</vt:lpstr>
      <vt:lpstr>How to find Eigenvalues and Eigenvectors of a matrix?</vt:lpstr>
      <vt:lpstr>Summary</vt:lpstr>
      <vt:lpstr>Mathematical Preliminaries – II  (Basic Probability) </vt:lpstr>
      <vt:lpstr>Extra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Preliminaries - I </dc:title>
  <dc:creator>IITG</dc:creator>
  <cp:lastModifiedBy>HP</cp:lastModifiedBy>
  <cp:revision>88</cp:revision>
  <dcterms:created xsi:type="dcterms:W3CDTF">2026-06-19T05:57:22Z</dcterms:created>
  <dcterms:modified xsi:type="dcterms:W3CDTF">2026-07-07T17:31:47Z</dcterms:modified>
</cp:coreProperties>
</file>