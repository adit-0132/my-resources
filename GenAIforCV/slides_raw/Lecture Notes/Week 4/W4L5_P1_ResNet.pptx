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87" r:id="rId2"/>
    <p:sldId id="257" r:id="rId3"/>
    <p:sldId id="258" r:id="rId4"/>
    <p:sldId id="260" r:id="rId5"/>
    <p:sldId id="263" r:id="rId6"/>
    <p:sldId id="264" r:id="rId7"/>
    <p:sldId id="272" r:id="rId8"/>
    <p:sldId id="268" r:id="rId9"/>
    <p:sldId id="265" r:id="rId10"/>
    <p:sldId id="267" r:id="rId11"/>
    <p:sldId id="269" r:id="rId12"/>
    <p:sldId id="266" r:id="rId13"/>
    <p:sldId id="270" r:id="rId14"/>
    <p:sldId id="271" r:id="rId15"/>
    <p:sldId id="273" r:id="rId16"/>
    <p:sldId id="274" r:id="rId17"/>
    <p:sldId id="275" r:id="rId18"/>
    <p:sldId id="277" r:id="rId19"/>
    <p:sldId id="278" r:id="rId20"/>
    <p:sldId id="279" r:id="rId21"/>
    <p:sldId id="289" r:id="rId22"/>
    <p:sldId id="290" r:id="rId23"/>
    <p:sldId id="281" r:id="rId24"/>
    <p:sldId id="282" r:id="rId25"/>
    <p:sldId id="286" r:id="rId26"/>
    <p:sldId id="30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31" autoAdjust="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FB729-F0E1-4158-A1DB-D0CBA1AAD22C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6DFB5D-4433-4AB7-969B-E03C871A5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937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6DFB5D-4433-4AB7-969B-E03C871A5F63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799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304C-728A-4E3A-8659-AC54D215EEF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D5C1-700C-425D-9FA9-A4ABDAB52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750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304C-728A-4E3A-8659-AC54D215EEF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D5C1-700C-425D-9FA9-A4ABDAB52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619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304C-728A-4E3A-8659-AC54D215EEF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D5C1-700C-425D-9FA9-A4ABDAB52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651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304C-728A-4E3A-8659-AC54D215EEF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D5C1-700C-425D-9FA9-A4ABDAB52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052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304C-728A-4E3A-8659-AC54D215EEF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D5C1-700C-425D-9FA9-A4ABDAB52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122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304C-728A-4E3A-8659-AC54D215EEF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D5C1-700C-425D-9FA9-A4ABDAB52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88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304C-728A-4E3A-8659-AC54D215EEF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D5C1-700C-425D-9FA9-A4ABDAB52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877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304C-728A-4E3A-8659-AC54D215EEF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D5C1-700C-425D-9FA9-A4ABDAB52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55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304C-728A-4E3A-8659-AC54D215EEF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D5C1-700C-425D-9FA9-A4ABDAB52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536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304C-728A-4E3A-8659-AC54D215EEF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D5C1-700C-425D-9FA9-A4ABDAB52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861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304C-728A-4E3A-8659-AC54D215EEF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8D5C1-700C-425D-9FA9-A4ABDAB52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289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C304C-728A-4E3A-8659-AC54D215EEF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D8D5C1-700C-425D-9FA9-A4ABDAB523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04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2570220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CNN with Residual Connections 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IN" sz="4000" dirty="0" err="1">
                <a:solidFill>
                  <a:srgbClr val="002060"/>
                </a:solidFill>
                <a:latin typeface="Arial Narrow" panose="020B0606020202030204" pitchFamily="34" charset="0"/>
              </a:rPr>
              <a:t>ResNet</a:t>
            </a:r>
            <a:br>
              <a:rPr lang="en-IN" sz="4000" dirty="0"/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25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5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Introduction to </a:t>
            </a:r>
            <a:r>
              <a:rPr lang="en-US" sz="24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ResNet</a:t>
            </a:r>
            <a:endParaRPr lang="en-US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Residual (SKIP) Connection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Why SKIP connections are advantageous?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Resnet</a:t>
            </a: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 Architecture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Performance of </a:t>
            </a:r>
            <a:r>
              <a:rPr lang="en-US" sz="24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ResNet</a:t>
            </a:r>
            <a:endParaRPr lang="en-US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633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862" y="267204"/>
            <a:ext cx="7571299" cy="99315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ImageNet Large Scale Visual Recognition Challenge (ILSVRC)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843" y="1623645"/>
            <a:ext cx="7679036" cy="4545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04302" y="1340841"/>
            <a:ext cx="251485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First CNN based winner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5697944" y="1710173"/>
            <a:ext cx="1439590" cy="92375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9827" y="6280172"/>
            <a:ext cx="11748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 : 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Hu, </a:t>
            </a:r>
            <a:r>
              <a:rPr lang="en-US" sz="14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Hanqing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 &amp; </a:t>
            </a:r>
            <a:r>
              <a:rPr lang="en-US" sz="14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Lyu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, </a:t>
            </a:r>
            <a:r>
              <a:rPr lang="en-US" sz="14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Jin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 &amp; Yin, </a:t>
            </a:r>
            <a:r>
              <a:rPr lang="en-US" sz="14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Xiaolin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. (2020). Research and Prospect of Image Recognition Based on Convolutional Neural Network. Journal of Physics: Conference Series. 1574. 012161. 10.1088/1742-6596/1574/1/012161. </a:t>
            </a:r>
            <a:endParaRPr lang="en-IN" sz="1400" dirty="0">
              <a:solidFill>
                <a:srgbClr val="00B0F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903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113" y="300471"/>
            <a:ext cx="10515600" cy="826366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Challenges for Deep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345" y="1677843"/>
            <a:ext cx="10515600" cy="4351338"/>
          </a:xfrm>
        </p:spPr>
        <p:txBody>
          <a:bodyPr/>
          <a:lstStyle/>
          <a:p>
            <a:r>
              <a:rPr lang="en-IN" dirty="0">
                <a:solidFill>
                  <a:srgbClr val="0070C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Vanishing gradients</a:t>
            </a:r>
          </a:p>
          <a:p>
            <a:endParaRPr lang="en-IN" dirty="0">
              <a:latin typeface="Arial Narrow" panose="020B0606020202030204" pitchFamily="34" charset="0"/>
            </a:endParaRPr>
          </a:p>
          <a:p>
            <a:r>
              <a:rPr lang="en-IN" dirty="0">
                <a:solidFill>
                  <a:srgbClr val="0070C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Optimization problem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Additional layers make the network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harder to train</a:t>
            </a:r>
            <a:r>
              <a:rPr lang="en-US" dirty="0">
                <a:latin typeface="Arial Narrow" panose="020B0606020202030204" pitchFamily="34" charset="0"/>
              </a:rPr>
              <a:t>.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The network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fails to learn the identity mapping</a:t>
            </a:r>
            <a:r>
              <a:rPr lang="en-US" dirty="0">
                <a:latin typeface="Arial Narrow" panose="020B0606020202030204" pitchFamily="34" charset="0"/>
              </a:rPr>
              <a:t>.</a:t>
            </a:r>
          </a:p>
          <a:p>
            <a:endParaRPr lang="en-US" dirty="0">
              <a:latin typeface="Arial Narrow" panose="020B0606020202030204" pitchFamily="34" charset="0"/>
            </a:endParaRPr>
          </a:p>
          <a:p>
            <a:r>
              <a:rPr lang="en-IN" dirty="0">
                <a:solidFill>
                  <a:srgbClr val="0070C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Overfitting</a:t>
            </a:r>
          </a:p>
          <a:p>
            <a:endParaRPr lang="en-IN" dirty="0">
              <a:solidFill>
                <a:srgbClr val="0070C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0070C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Internal Covariate Shift</a:t>
            </a:r>
            <a:endParaRPr lang="en-US" dirty="0">
              <a:solidFill>
                <a:srgbClr val="0070C0"/>
              </a:solidFill>
              <a:latin typeface="Arial Narrow" panose="020B0606020202030204" pitchFamily="34" charset="0"/>
            </a:endParaRPr>
          </a:p>
          <a:p>
            <a:pPr marL="457200" lvl="1" indent="0"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453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Activation Function are not enough to handle Vanishing Gradient Problem Completely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9520"/>
            <a:ext cx="10515600" cy="5102944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20000"/>
              </a:lnSpc>
            </a:pP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Leaky </a:t>
            </a:r>
            <a:r>
              <a:rPr lang="en-US" sz="19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ReLU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 reduces but does not eliminate the vanishing gradient problem.</a:t>
            </a:r>
            <a:r>
              <a:rPr lang="en-US" sz="1900" dirty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</a:rPr>
              <a:t> </a:t>
            </a:r>
            <a:r>
              <a:rPr lang="en-US" sz="1900" dirty="0">
                <a:latin typeface="Arial Narrow" panose="020B0606020202030204" pitchFamily="34" charset="0"/>
              </a:rPr>
              <a:t>For negative inputs, its gradient is small but non-zero (typically α &lt; 1). During backpropagation through many layers, these gradients are repeatedly multiplied, causing them 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to decay exponentially</a:t>
            </a:r>
            <a:r>
              <a:rPr lang="en-US" sz="1900" dirty="0">
                <a:latin typeface="Arial Narrow" panose="020B0606020202030204" pitchFamily="34" charset="0"/>
              </a:rPr>
              <a:t>. As a result, very deep networks can still experience vanishing gradients, although the effect is 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less severe than with standard </a:t>
            </a:r>
            <a:r>
              <a:rPr lang="en-US" sz="19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ReLU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, sigmoid, or </a:t>
            </a:r>
            <a:r>
              <a:rPr lang="en-US" sz="19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tanh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en-US" sz="1900" dirty="0">
                <a:solidFill>
                  <a:srgbClr val="0070C0"/>
                </a:solidFill>
                <a:latin typeface="Arial Narrow" panose="020B0606020202030204" pitchFamily="34" charset="0"/>
              </a:rPr>
              <a:t>Why Leaky </a:t>
            </a:r>
            <a:r>
              <a:rPr lang="en-US" sz="1900" dirty="0" err="1">
                <a:solidFill>
                  <a:srgbClr val="0070C0"/>
                </a:solidFill>
                <a:latin typeface="Arial Narrow" panose="020B0606020202030204" pitchFamily="34" charset="0"/>
              </a:rPr>
              <a:t>ReLU</a:t>
            </a:r>
            <a:r>
              <a:rPr lang="en-US" sz="1900" dirty="0">
                <a:solidFill>
                  <a:srgbClr val="0070C0"/>
                </a:solidFill>
                <a:latin typeface="Arial Narrow" panose="020B0606020202030204" pitchFamily="34" charset="0"/>
              </a:rPr>
              <a:t> Does Not Completely Solve the Vanishing Gradient Problem ?</a:t>
            </a:r>
          </a:p>
          <a:p>
            <a:pPr lvl="1" algn="just">
              <a:lnSpc>
                <a:spcPct val="120000"/>
              </a:lnSpc>
            </a:pP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Small Negative Gradient: </a:t>
            </a:r>
            <a:r>
              <a:rPr lang="en-US" sz="1900" dirty="0">
                <a:latin typeface="Arial Narrow" panose="020B0606020202030204" pitchFamily="34" charset="0"/>
              </a:rPr>
              <a:t>For negative inputs, Leaky </a:t>
            </a:r>
            <a:r>
              <a:rPr lang="en-US" sz="1900" dirty="0" err="1">
                <a:latin typeface="Arial Narrow" panose="020B0606020202030204" pitchFamily="34" charset="0"/>
              </a:rPr>
              <a:t>ReLU</a:t>
            </a:r>
            <a:r>
              <a:rPr lang="en-US" sz="1900" dirty="0">
                <a:latin typeface="Arial Narrow" panose="020B0606020202030204" pitchFamily="34" charset="0"/>
              </a:rPr>
              <a:t> uses a small slope </a:t>
            </a:r>
            <a:r>
              <a:rPr lang="en-US" sz="1900" b="1" dirty="0">
                <a:latin typeface="Arial Narrow" panose="020B0606020202030204" pitchFamily="34" charset="0"/>
              </a:rPr>
              <a:t>α</a:t>
            </a:r>
            <a:r>
              <a:rPr lang="en-US" sz="1900" dirty="0">
                <a:latin typeface="Arial Narrow" panose="020B0606020202030204" pitchFamily="34" charset="0"/>
              </a:rPr>
              <a:t> (e.g., 0.01). Although the gradient is non-zero, it is still 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less than 1</a:t>
            </a:r>
            <a:r>
              <a:rPr lang="en-US" sz="1900" dirty="0">
                <a:latin typeface="Arial Narrow" panose="020B0606020202030204" pitchFamily="34" charset="0"/>
              </a:rPr>
              <a:t>, so repeated multiplication across many layers causes gradients to shrink. </a:t>
            </a:r>
          </a:p>
          <a:p>
            <a:pPr lvl="1" algn="just">
              <a:lnSpc>
                <a:spcPct val="120000"/>
              </a:lnSpc>
            </a:pP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Primarily Addresses Dying </a:t>
            </a:r>
            <a:r>
              <a:rPr lang="en-US" sz="19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ReLU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: </a:t>
            </a:r>
            <a:r>
              <a:rPr lang="en-US" sz="1900" dirty="0">
                <a:latin typeface="Arial Narrow" panose="020B0606020202030204" pitchFamily="34" charset="0"/>
              </a:rPr>
              <a:t>Leaky </a:t>
            </a:r>
            <a:r>
              <a:rPr lang="en-US" sz="1900" dirty="0" err="1">
                <a:latin typeface="Arial Narrow" panose="020B0606020202030204" pitchFamily="34" charset="0"/>
              </a:rPr>
              <a:t>ReLU</a:t>
            </a:r>
            <a:r>
              <a:rPr lang="en-US" sz="1900" dirty="0">
                <a:latin typeface="Arial Narrow" panose="020B0606020202030204" pitchFamily="34" charset="0"/>
              </a:rPr>
              <a:t> is designed to prevent neurons from becoming permanently inactive ("dying </a:t>
            </a:r>
            <a:r>
              <a:rPr lang="en-US" sz="1900" dirty="0" err="1">
                <a:latin typeface="Arial Narrow" panose="020B0606020202030204" pitchFamily="34" charset="0"/>
              </a:rPr>
              <a:t>ReLU</a:t>
            </a:r>
            <a:r>
              <a:rPr lang="en-US" sz="1900" dirty="0">
                <a:latin typeface="Arial Narrow" panose="020B0606020202030204" pitchFamily="34" charset="0"/>
              </a:rPr>
              <a:t>"), 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not </a:t>
            </a:r>
            <a:r>
              <a:rPr lang="en-US" sz="1900" dirty="0">
                <a:latin typeface="Arial Narrow" panose="020B0606020202030204" pitchFamily="34" charset="0"/>
              </a:rPr>
              <a:t>to completely eliminate vanishing gradients in very deep networks. </a:t>
            </a:r>
          </a:p>
          <a:p>
            <a:pPr lvl="1" algn="just">
              <a:lnSpc>
                <a:spcPct val="120000"/>
              </a:lnSpc>
            </a:pP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Cumulative Gradient Decay: </a:t>
            </a:r>
            <a:r>
              <a:rPr lang="en-US" sz="1900" dirty="0">
                <a:latin typeface="Arial Narrow" panose="020B0606020202030204" pitchFamily="34" charset="0"/>
              </a:rPr>
              <a:t>Even without zero gradients, repeatedly multiplying gradients smaller than 1 during backpropagation causes them to 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decay exponentially, </a:t>
            </a:r>
            <a:r>
              <a:rPr lang="en-US" sz="1900" dirty="0">
                <a:latin typeface="Arial Narrow" panose="020B0606020202030204" pitchFamily="34" charset="0"/>
              </a:rPr>
              <a:t>making training of very deep networks difficult.</a:t>
            </a:r>
            <a:endParaRPr lang="en-IN" sz="1900" dirty="0">
              <a:solidFill>
                <a:schemeClr val="accent5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sz="1900" dirty="0">
                <a:latin typeface="Arial Narrow" panose="020B0606020202030204" pitchFamily="34" charset="0"/>
              </a:rPr>
              <a:t>To effectively address the vanishing gradient problem in very deep networks, architectures such as 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Residual Networks (</a:t>
            </a:r>
            <a:r>
              <a:rPr lang="en-US" sz="19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ResNets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) </a:t>
            </a:r>
            <a:r>
              <a:rPr lang="en-US" sz="1900" dirty="0">
                <a:latin typeface="Arial Narrow" panose="020B0606020202030204" pitchFamily="34" charset="0"/>
              </a:rPr>
              <a:t>use residual (skip) connections that allow gradients to bypass one or more layers, preserving gradient flow and enabling the successful training of much deeper models.</a:t>
            </a:r>
          </a:p>
        </p:txBody>
      </p:sp>
    </p:spTree>
    <p:extLst>
      <p:ext uri="{BB962C8B-B14F-4D97-AF65-F5344CB8AC3E}">
        <p14:creationId xmlns:p14="http://schemas.microsoft.com/office/powerpoint/2010/main" val="3035325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2001"/>
            <a:ext cx="10515600" cy="1195817"/>
          </a:xfrm>
        </p:spPr>
        <p:txBody>
          <a:bodyPr>
            <a:normAutofit/>
          </a:bodyPr>
          <a:lstStyle/>
          <a:p>
            <a:r>
              <a:rPr lang="en-IN" sz="4000" dirty="0" err="1">
                <a:latin typeface="Century" panose="02040604050505020304" pitchFamily="18" charset="0"/>
              </a:rPr>
              <a:t>ResNet</a:t>
            </a:r>
            <a:r>
              <a:rPr lang="en-IN" sz="4000" dirty="0">
                <a:latin typeface="Century" panose="02040604050505020304" pitchFamily="18" charset="0"/>
              </a:rPr>
              <a:t>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4837"/>
            <a:ext cx="10515600" cy="4856165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20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ResNet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 (Residual Network) </a:t>
            </a:r>
            <a:r>
              <a:rPr lang="en-US" sz="2000" dirty="0">
                <a:latin typeface="Arial Narrow" panose="020B0606020202030204" pitchFamily="34" charset="0"/>
              </a:rPr>
              <a:t>is a deep convolutional neural network architecture that addresses the degradation problem encountered when training very deep networks. </a:t>
            </a:r>
          </a:p>
          <a:p>
            <a:pPr algn="just">
              <a:lnSpc>
                <a:spcPct val="110000"/>
              </a:lnSpc>
            </a:pPr>
            <a:r>
              <a:rPr lang="en-US" sz="2000" dirty="0">
                <a:latin typeface="Arial Narrow" panose="020B0606020202030204" pitchFamily="34" charset="0"/>
              </a:rPr>
              <a:t>It introduces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residual learning </a:t>
            </a:r>
            <a:r>
              <a:rPr lang="en-US" sz="2000" dirty="0">
                <a:latin typeface="Arial Narrow" panose="020B0606020202030204" pitchFamily="34" charset="0"/>
              </a:rPr>
              <a:t>through skip (shortcut) connections, which allow the input of a residual block to bypass one or more convolutional layers and be added directly to the block's output. </a:t>
            </a:r>
          </a:p>
          <a:p>
            <a:pPr algn="just">
              <a:lnSpc>
                <a:spcPct val="110000"/>
              </a:lnSpc>
            </a:pPr>
            <a:r>
              <a:rPr lang="en-US" sz="2000" dirty="0">
                <a:latin typeface="Arial Narrow" panose="020B0606020202030204" pitchFamily="34" charset="0"/>
              </a:rPr>
              <a:t>Instead of learning a direct mapping, the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network learns a residual function </a:t>
            </a:r>
            <a:r>
              <a:rPr lang="en-US" sz="2000" dirty="0">
                <a:latin typeface="Arial Narrow" panose="020B0606020202030204" pitchFamily="34" charset="0"/>
              </a:rPr>
              <a:t>enabling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more effective gradient propagation during backpropagation and mitigating the vanishing gradient problem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>
              <a:lnSpc>
                <a:spcPct val="110000"/>
              </a:lnSpc>
            </a:pPr>
            <a:r>
              <a:rPr lang="en-US" sz="2000" dirty="0">
                <a:latin typeface="Arial Narrow" panose="020B0606020202030204" pitchFamily="34" charset="0"/>
              </a:rPr>
              <a:t>This design allows the successful training of networks with hundreds of layers, such as ResNet-50, ResNet-101, and ResNet-152. </a:t>
            </a:r>
          </a:p>
          <a:p>
            <a:pPr algn="just">
              <a:lnSpc>
                <a:spcPct val="110000"/>
              </a:lnSpc>
            </a:pPr>
            <a:r>
              <a:rPr lang="en-US" sz="2000" dirty="0">
                <a:latin typeface="Arial Narrow" panose="020B0606020202030204" pitchFamily="34" charset="0"/>
              </a:rPr>
              <a:t>In computer vision applications, </a:t>
            </a:r>
            <a:r>
              <a:rPr lang="en-US" sz="2000" dirty="0" err="1">
                <a:latin typeface="Arial Narrow" panose="020B0606020202030204" pitchFamily="34" charset="0"/>
              </a:rPr>
              <a:t>ResNet</a:t>
            </a:r>
            <a:r>
              <a:rPr lang="en-US" sz="2000" dirty="0">
                <a:latin typeface="Arial Narrow" panose="020B0606020202030204" pitchFamily="34" charset="0"/>
              </a:rPr>
              <a:t> serves as a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powerful feature extractor </a:t>
            </a:r>
            <a:r>
              <a:rPr lang="en-US" sz="2000" dirty="0">
                <a:latin typeface="Arial Narrow" panose="020B0606020202030204" pitchFamily="34" charset="0"/>
              </a:rPr>
              <a:t>for tasks including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image classification, object detection, semantic segmentation, instance segmentation, and image retrieval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>
              <a:lnSpc>
                <a:spcPct val="110000"/>
              </a:lnSpc>
            </a:pPr>
            <a:r>
              <a:rPr lang="en-US" sz="2000" dirty="0">
                <a:latin typeface="Arial Narrow" panose="020B0606020202030204" pitchFamily="34" charset="0"/>
              </a:rPr>
              <a:t>Its robust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hierarchical feature representations</a:t>
            </a:r>
            <a:r>
              <a:rPr lang="en-US" sz="2000" dirty="0">
                <a:latin typeface="Arial Narrow" panose="020B0606020202030204" pitchFamily="34" charset="0"/>
              </a:rPr>
              <a:t>,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scalability</a:t>
            </a:r>
            <a:r>
              <a:rPr lang="en-US" sz="2000" dirty="0">
                <a:latin typeface="Arial Narrow" panose="020B0606020202030204" pitchFamily="34" charset="0"/>
              </a:rPr>
              <a:t>, and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compatibility</a:t>
            </a:r>
            <a:r>
              <a:rPr lang="en-US" sz="2000" dirty="0">
                <a:latin typeface="Arial Narrow" panose="020B0606020202030204" pitchFamily="34" charset="0"/>
              </a:rPr>
              <a:t> with transfer learning have made it a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foundational backbone </a:t>
            </a:r>
            <a:r>
              <a:rPr lang="en-US" sz="2000" dirty="0">
                <a:latin typeface="Arial Narrow" panose="020B0606020202030204" pitchFamily="34" charset="0"/>
              </a:rPr>
              <a:t>in numerous state-of-the-art computer vision systems.</a:t>
            </a:r>
            <a:endParaRPr lang="en-IN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403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36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Introducing </a:t>
            </a:r>
            <a:r>
              <a:rPr lang="en-IN" sz="3600">
                <a:latin typeface="Century" panose="02040604050505020304" pitchFamily="18" charset="0"/>
                <a:cs typeface="Times New Roman" panose="02020603050405020304" pitchFamily="18" charset="0"/>
              </a:rPr>
              <a:t>SKIP Connection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170" y="1382003"/>
            <a:ext cx="4363576" cy="4558101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Instead of learning the complete mapping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H(x)</a:t>
            </a:r>
            <a:r>
              <a:rPr lang="en-US" dirty="0">
                <a:latin typeface="Arial Narrow" panose="020B0606020202030204" pitchFamily="34" charset="0"/>
              </a:rPr>
              <a:t>, a </a:t>
            </a:r>
            <a:r>
              <a:rPr lang="en-US" dirty="0" err="1">
                <a:latin typeface="Arial Narrow" panose="020B0606020202030204" pitchFamily="34" charset="0"/>
              </a:rPr>
              <a:t>ResNet</a:t>
            </a:r>
            <a:r>
              <a:rPr lang="en-US" dirty="0">
                <a:latin typeface="Arial Narrow" panose="020B0606020202030204" pitchFamily="34" charset="0"/>
              </a:rPr>
              <a:t> learns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residual mapping: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dirty="0">
                <a:latin typeface="Arial Narrow" panose="020B0606020202030204" pitchFamily="34" charset="0"/>
              </a:rPr>
              <a:t>		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F(x)=H(x)−x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where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F(x)</a:t>
            </a:r>
            <a:r>
              <a:rPr lang="en-US" dirty="0">
                <a:latin typeface="Arial Narrow" panose="020B0606020202030204" pitchFamily="34" charset="0"/>
              </a:rPr>
              <a:t> represents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difference (residual) </a:t>
            </a:r>
            <a:r>
              <a:rPr lang="en-US" dirty="0">
                <a:latin typeface="Arial Narrow" panose="020B0606020202030204" pitchFamily="34" charset="0"/>
              </a:rPr>
              <a:t>between the input and the desired output. Learning only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what needs to change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[F(x)] </a:t>
            </a:r>
            <a:r>
              <a:rPr lang="en-US" dirty="0">
                <a:latin typeface="Arial Narrow" panose="020B0606020202030204" pitchFamily="34" charset="0"/>
              </a:rPr>
              <a:t>is often easier than learning the entire transformation from scratch [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H(x)]</a:t>
            </a:r>
            <a:r>
              <a:rPr lang="en-IN" dirty="0">
                <a:latin typeface="Arial Narrow" panose="020B0606020202030204" pitchFamily="34" charset="0"/>
              </a:rPr>
              <a:t>.	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332805" y="1700083"/>
                <a:ext cx="1729576" cy="276999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2805" y="1700083"/>
                <a:ext cx="1729576" cy="276999"/>
              </a:xfrm>
              <a:prstGeom prst="rect">
                <a:avLst/>
              </a:prstGeom>
              <a:blipFill>
                <a:blip r:embed="rId2"/>
                <a:stretch>
                  <a:fillRect l="-2817" r="-1056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0DC5DDBE-76BB-4D98-9912-CB70A207B7A4}"/>
              </a:ext>
            </a:extLst>
          </p:cNvPr>
          <p:cNvSpPr/>
          <p:nvPr/>
        </p:nvSpPr>
        <p:spPr>
          <a:xfrm>
            <a:off x="9781168" y="3482364"/>
            <a:ext cx="957532" cy="2846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96D5C-0CDF-4883-AACA-128DDBB08D55}"/>
              </a:ext>
            </a:extLst>
          </p:cNvPr>
          <p:cNvSpPr txBox="1"/>
          <p:nvPr/>
        </p:nvSpPr>
        <p:spPr>
          <a:xfrm>
            <a:off x="10296883" y="3781419"/>
            <a:ext cx="753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986255-7176-4430-9491-E4C667F6DA8C}"/>
              </a:ext>
            </a:extLst>
          </p:cNvPr>
          <p:cNvCxnSpPr>
            <a:cxnSpLocks/>
          </p:cNvCxnSpPr>
          <p:nvPr/>
        </p:nvCxnSpPr>
        <p:spPr>
          <a:xfrm flipV="1">
            <a:off x="10259934" y="3005552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D3160D-10BA-4FA7-9E25-6AC6DC4E0D73}"/>
                  </a:ext>
                </a:extLst>
              </p:cNvPr>
              <p:cNvSpPr txBox="1"/>
              <p:nvPr/>
            </p:nvSpPr>
            <p:spPr>
              <a:xfrm>
                <a:off x="10106904" y="4912917"/>
                <a:ext cx="287106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D3160D-10BA-4FA7-9E25-6AC6DC4E0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6904" y="4912917"/>
                <a:ext cx="287106" cy="3693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EA69605-6768-492B-B366-853A49422DE3}"/>
              </a:ext>
            </a:extLst>
          </p:cNvPr>
          <p:cNvSpPr txBox="1"/>
          <p:nvPr/>
        </p:nvSpPr>
        <p:spPr>
          <a:xfrm>
            <a:off x="9965405" y="3420909"/>
            <a:ext cx="63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795BC59-9925-4205-B1D4-3E73566BC2D3}"/>
              </a:ext>
            </a:extLst>
          </p:cNvPr>
          <p:cNvSpPr/>
          <p:nvPr/>
        </p:nvSpPr>
        <p:spPr>
          <a:xfrm>
            <a:off x="10123888" y="2738715"/>
            <a:ext cx="270122" cy="267008"/>
          </a:xfrm>
          <a:prstGeom prst="ellipse">
            <a:avLst/>
          </a:prstGeom>
          <a:solidFill>
            <a:schemeClr val="accent4">
              <a:lumMod val="60000"/>
              <a:lumOff val="40000"/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Plus Sign 24">
            <a:extLst>
              <a:ext uri="{FF2B5EF4-FFF2-40B4-BE49-F238E27FC236}">
                <a16:creationId xmlns:a16="http://schemas.microsoft.com/office/drawing/2014/main" id="{34F60B51-CD34-4345-B8F9-081D58E1088C}"/>
              </a:ext>
            </a:extLst>
          </p:cNvPr>
          <p:cNvSpPr/>
          <p:nvPr/>
        </p:nvSpPr>
        <p:spPr>
          <a:xfrm>
            <a:off x="10147100" y="2770108"/>
            <a:ext cx="218717" cy="203802"/>
          </a:xfrm>
          <a:prstGeom prst="mathPlus">
            <a:avLst/>
          </a:prstGeom>
          <a:solidFill>
            <a:srgbClr val="FF0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AD6D6A-D029-413A-8FC3-FA9679845E85}"/>
              </a:ext>
            </a:extLst>
          </p:cNvPr>
          <p:cNvSpPr/>
          <p:nvPr/>
        </p:nvSpPr>
        <p:spPr>
          <a:xfrm>
            <a:off x="9781168" y="4243847"/>
            <a:ext cx="957532" cy="2846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41726D-4D0C-4CFC-AC80-0AC25B906581}"/>
              </a:ext>
            </a:extLst>
          </p:cNvPr>
          <p:cNvCxnSpPr>
            <a:cxnSpLocks/>
          </p:cNvCxnSpPr>
          <p:nvPr/>
        </p:nvCxnSpPr>
        <p:spPr>
          <a:xfrm flipV="1">
            <a:off x="10259934" y="4528518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A71D684-14FF-4D11-B88B-677E325B0F2E}"/>
                  </a:ext>
                </a:extLst>
              </p:cNvPr>
              <p:cNvSpPr txBox="1"/>
              <p:nvPr/>
            </p:nvSpPr>
            <p:spPr>
              <a:xfrm>
                <a:off x="8866909" y="2693281"/>
                <a:ext cx="1264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A71D684-14FF-4D11-B88B-677E325B0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6909" y="2693281"/>
                <a:ext cx="126408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F9F5C10-9644-4848-B3D2-A6F8E7C9E916}"/>
              </a:ext>
            </a:extLst>
          </p:cNvPr>
          <p:cNvSpPr txBox="1"/>
          <p:nvPr/>
        </p:nvSpPr>
        <p:spPr>
          <a:xfrm>
            <a:off x="9991069" y="4182043"/>
            <a:ext cx="66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440034-271D-4435-B459-0A0EF87FA4CC}"/>
              </a:ext>
            </a:extLst>
          </p:cNvPr>
          <p:cNvCxnSpPr>
            <a:cxnSpLocks/>
          </p:cNvCxnSpPr>
          <p:nvPr/>
        </p:nvCxnSpPr>
        <p:spPr>
          <a:xfrm flipV="1">
            <a:off x="10262412" y="2216469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AFA1BD-884A-48E3-B1E1-DA6EC55E09FC}"/>
                  </a:ext>
                </a:extLst>
              </p:cNvPr>
              <p:cNvSpPr txBox="1"/>
              <p:nvPr/>
            </p:nvSpPr>
            <p:spPr>
              <a:xfrm>
                <a:off x="8924649" y="3828490"/>
                <a:ext cx="19003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AFA1BD-884A-48E3-B1E1-DA6EC55E0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649" y="3828490"/>
                <a:ext cx="190036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EB71B0F-4FC9-4825-985E-8C6CD5D5A853}"/>
              </a:ext>
            </a:extLst>
          </p:cNvPr>
          <p:cNvCxnSpPr>
            <a:cxnSpLocks/>
          </p:cNvCxnSpPr>
          <p:nvPr/>
        </p:nvCxnSpPr>
        <p:spPr>
          <a:xfrm flipV="1">
            <a:off x="10258948" y="3767035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CD14373-2617-4049-A946-486D9E6746DB}"/>
              </a:ext>
            </a:extLst>
          </p:cNvPr>
          <p:cNvSpPr txBox="1"/>
          <p:nvPr/>
        </p:nvSpPr>
        <p:spPr>
          <a:xfrm>
            <a:off x="8957875" y="5229029"/>
            <a:ext cx="2752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Block Learns F(x)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804E65-E31D-4B32-9DD9-A4812CCD002F}"/>
              </a:ext>
            </a:extLst>
          </p:cNvPr>
          <p:cNvSpPr txBox="1"/>
          <p:nvPr/>
        </p:nvSpPr>
        <p:spPr>
          <a:xfrm>
            <a:off x="11185143" y="3652756"/>
            <a:ext cx="1062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AA9A62-BC62-48EF-96D5-B9D876D43D17}"/>
              </a:ext>
            </a:extLst>
          </p:cNvPr>
          <p:cNvSpPr txBox="1"/>
          <p:nvPr/>
        </p:nvSpPr>
        <p:spPr>
          <a:xfrm>
            <a:off x="10316851" y="2393407"/>
            <a:ext cx="753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sz="16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889A1FD-894A-41C4-976F-EF44BA975AC7}"/>
                  </a:ext>
                </a:extLst>
              </p:cNvPr>
              <p:cNvSpPr txBox="1"/>
              <p:nvPr/>
            </p:nvSpPr>
            <p:spPr>
              <a:xfrm>
                <a:off x="11472063" y="3916277"/>
                <a:ext cx="287106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889A1FD-894A-41C4-976F-EF44BA975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2063" y="3916277"/>
                <a:ext cx="287106" cy="3693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c 25"/>
          <p:cNvSpPr/>
          <p:nvPr/>
        </p:nvSpPr>
        <p:spPr>
          <a:xfrm>
            <a:off x="9640088" y="2881746"/>
            <a:ext cx="1599304" cy="2207491"/>
          </a:xfrm>
          <a:prstGeom prst="arc">
            <a:avLst>
              <a:gd name="adj1" fmla="val 16345712"/>
              <a:gd name="adj2" fmla="val 5583087"/>
            </a:avLst>
          </a:prstGeom>
          <a:ln w="19050">
            <a:solidFill>
              <a:srgbClr val="0070C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C5DDBE-76BB-4D98-9912-CB70A207B7A4}"/>
              </a:ext>
            </a:extLst>
          </p:cNvPr>
          <p:cNvSpPr/>
          <p:nvPr/>
        </p:nvSpPr>
        <p:spPr>
          <a:xfrm>
            <a:off x="6033255" y="3279165"/>
            <a:ext cx="957532" cy="2846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D96D5C-0CDF-4883-AACA-128DDBB08D55}"/>
              </a:ext>
            </a:extLst>
          </p:cNvPr>
          <p:cNvSpPr txBox="1"/>
          <p:nvPr/>
        </p:nvSpPr>
        <p:spPr>
          <a:xfrm>
            <a:off x="5799834" y="3623844"/>
            <a:ext cx="753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9D3160D-10BA-4FA7-9E25-6AC6DC4E0D73}"/>
                  </a:ext>
                </a:extLst>
              </p:cNvPr>
              <p:cNvSpPr txBox="1"/>
              <p:nvPr/>
            </p:nvSpPr>
            <p:spPr>
              <a:xfrm>
                <a:off x="6358991" y="4709718"/>
                <a:ext cx="287106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9D3160D-10BA-4FA7-9E25-6AC6DC4E0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991" y="4709718"/>
                <a:ext cx="287106" cy="3693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BEA69605-6768-492B-B366-853A49422DE3}"/>
              </a:ext>
            </a:extLst>
          </p:cNvPr>
          <p:cNvSpPr txBox="1"/>
          <p:nvPr/>
        </p:nvSpPr>
        <p:spPr>
          <a:xfrm>
            <a:off x="6217492" y="3217710"/>
            <a:ext cx="63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BAD6D6A-D029-413A-8FC3-FA9679845E85}"/>
              </a:ext>
            </a:extLst>
          </p:cNvPr>
          <p:cNvSpPr/>
          <p:nvPr/>
        </p:nvSpPr>
        <p:spPr>
          <a:xfrm>
            <a:off x="6033255" y="4040648"/>
            <a:ext cx="957532" cy="2846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C41726D-4D0C-4CFC-AC80-0AC25B906581}"/>
              </a:ext>
            </a:extLst>
          </p:cNvPr>
          <p:cNvCxnSpPr>
            <a:cxnSpLocks/>
          </p:cNvCxnSpPr>
          <p:nvPr/>
        </p:nvCxnSpPr>
        <p:spPr>
          <a:xfrm flipV="1">
            <a:off x="6512021" y="4325319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F9F5C10-9644-4848-B3D2-A6F8E7C9E916}"/>
              </a:ext>
            </a:extLst>
          </p:cNvPr>
          <p:cNvSpPr txBox="1"/>
          <p:nvPr/>
        </p:nvSpPr>
        <p:spPr>
          <a:xfrm>
            <a:off x="6243156" y="3978844"/>
            <a:ext cx="66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EB71B0F-4FC9-4825-985E-8C6CD5D5A853}"/>
              </a:ext>
            </a:extLst>
          </p:cNvPr>
          <p:cNvCxnSpPr>
            <a:cxnSpLocks/>
          </p:cNvCxnSpPr>
          <p:nvPr/>
        </p:nvCxnSpPr>
        <p:spPr>
          <a:xfrm flipV="1">
            <a:off x="6511035" y="3563836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A986255-7176-4430-9491-E4C667F6DA8C}"/>
              </a:ext>
            </a:extLst>
          </p:cNvPr>
          <p:cNvCxnSpPr>
            <a:cxnSpLocks/>
          </p:cNvCxnSpPr>
          <p:nvPr/>
        </p:nvCxnSpPr>
        <p:spPr>
          <a:xfrm flipV="1">
            <a:off x="6513987" y="2802353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217492" y="2475841"/>
                <a:ext cx="550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I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492" y="2475841"/>
                <a:ext cx="550728" cy="276999"/>
              </a:xfrm>
              <a:prstGeom prst="rect">
                <a:avLst/>
              </a:prstGeom>
              <a:blipFill>
                <a:blip r:embed="rId8"/>
                <a:stretch>
                  <a:fillRect l="-10000" t="-2174" r="-15556" b="-326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7355647" y="3033386"/>
                <a:ext cx="1729576" cy="27699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647" y="3033386"/>
                <a:ext cx="1729576" cy="276999"/>
              </a:xfrm>
              <a:prstGeom prst="rect">
                <a:avLst/>
              </a:prstGeom>
              <a:blipFill>
                <a:blip r:embed="rId9"/>
                <a:stretch>
                  <a:fillRect l="-2827" r="-1413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>
            <a:stCxn id="7" idx="1"/>
            <a:endCxn id="36" idx="0"/>
          </p:cNvCxnSpPr>
          <p:nvPr/>
        </p:nvCxnSpPr>
        <p:spPr>
          <a:xfrm flipH="1">
            <a:off x="6492856" y="1838583"/>
            <a:ext cx="839949" cy="637258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7" idx="3"/>
            <a:endCxn id="17" idx="0"/>
          </p:cNvCxnSpPr>
          <p:nvPr/>
        </p:nvCxnSpPr>
        <p:spPr>
          <a:xfrm>
            <a:off x="9062381" y="1838583"/>
            <a:ext cx="436568" cy="854698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7" idx="2"/>
            <a:endCxn id="37" idx="0"/>
          </p:cNvCxnSpPr>
          <p:nvPr/>
        </p:nvCxnSpPr>
        <p:spPr>
          <a:xfrm>
            <a:off x="8197593" y="1977082"/>
            <a:ext cx="22842" cy="1056304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6A18329-050C-4A85-A55D-4B861B537D1B}"/>
              </a:ext>
            </a:extLst>
          </p:cNvPr>
          <p:cNvSpPr txBox="1"/>
          <p:nvPr/>
        </p:nvSpPr>
        <p:spPr>
          <a:xfrm>
            <a:off x="5313843" y="5163673"/>
            <a:ext cx="2442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 Layer Learns H(x)</a:t>
            </a:r>
          </a:p>
        </p:txBody>
      </p:sp>
    </p:spTree>
    <p:extLst>
      <p:ext uri="{BB962C8B-B14F-4D97-AF65-F5344CB8AC3E}">
        <p14:creationId xmlns:p14="http://schemas.microsoft.com/office/powerpoint/2010/main" val="3832723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935" y="18276"/>
            <a:ext cx="10515600" cy="876094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Advantages of SKIP Connections</a:t>
            </a:r>
          </a:p>
        </p:txBody>
      </p:sp>
      <p:grpSp>
        <p:nvGrpSpPr>
          <p:cNvPr id="158" name="Group 157"/>
          <p:cNvGrpSpPr/>
          <p:nvPr/>
        </p:nvGrpSpPr>
        <p:grpSpPr>
          <a:xfrm>
            <a:off x="1318541" y="4557698"/>
            <a:ext cx="8259176" cy="1005610"/>
            <a:chOff x="431407" y="2984370"/>
            <a:chExt cx="8259176" cy="1005610"/>
          </a:xfrm>
        </p:grpSpPr>
        <p:sp>
          <p:nvSpPr>
            <p:cNvPr id="4" name="Oval 3"/>
            <p:cNvSpPr/>
            <p:nvPr/>
          </p:nvSpPr>
          <p:spPr>
            <a:xfrm>
              <a:off x="1318541" y="3152882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" name="Straight Arrow Connector 6"/>
            <p:cNvCxnSpPr>
              <a:stCxn id="28" idx="3"/>
              <a:endCxn id="4" idx="2"/>
            </p:cNvCxnSpPr>
            <p:nvPr/>
          </p:nvCxnSpPr>
          <p:spPr>
            <a:xfrm>
              <a:off x="1049579" y="3377429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7"/>
            <p:cNvPicPr>
              <a:picLocks noChangeAspect="1"/>
            </p:cNvPicPr>
            <p:nvPr/>
          </p:nvPicPr>
          <p:blipFill rotWithShape="1">
            <a:blip r:embed="rId2"/>
            <a:srcRect l="12909"/>
            <a:stretch/>
          </p:blipFill>
          <p:spPr>
            <a:xfrm>
              <a:off x="431407" y="2984370"/>
              <a:ext cx="618172" cy="786118"/>
            </a:xfrm>
            <a:prstGeom prst="rect">
              <a:avLst/>
            </a:prstGeom>
          </p:spPr>
        </p:pic>
        <p:sp>
          <p:nvSpPr>
            <p:cNvPr id="56" name="Oval 55"/>
            <p:cNvSpPr/>
            <p:nvPr/>
          </p:nvSpPr>
          <p:spPr>
            <a:xfrm>
              <a:off x="7494243" y="3094489"/>
              <a:ext cx="1196340" cy="55377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B0F0"/>
                  </a:solidFill>
                </a:rPr>
                <a:t>Classifier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706574" y="3589870"/>
              <a:ext cx="1317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Plain CNN</a:t>
              </a:r>
            </a:p>
          </p:txBody>
        </p:sp>
        <p:sp>
          <p:nvSpPr>
            <p:cNvPr id="93" name="Oval 92"/>
            <p:cNvSpPr/>
            <p:nvPr/>
          </p:nvSpPr>
          <p:spPr>
            <a:xfrm>
              <a:off x="1837818" y="3150461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4" name="Straight Arrow Connector 93"/>
            <p:cNvCxnSpPr>
              <a:stCxn id="4" idx="6"/>
              <a:endCxn id="93" idx="2"/>
            </p:cNvCxnSpPr>
            <p:nvPr/>
          </p:nvCxnSpPr>
          <p:spPr>
            <a:xfrm flipV="1">
              <a:off x="1568856" y="3377429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Oval 94"/>
            <p:cNvSpPr/>
            <p:nvPr/>
          </p:nvSpPr>
          <p:spPr>
            <a:xfrm>
              <a:off x="2356078" y="3148040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6" name="Straight Arrow Connector 95"/>
            <p:cNvCxnSpPr>
              <a:endCxn id="95" idx="2"/>
            </p:cNvCxnSpPr>
            <p:nvPr/>
          </p:nvCxnSpPr>
          <p:spPr>
            <a:xfrm>
              <a:off x="2087116" y="3372587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Oval 96"/>
            <p:cNvSpPr/>
            <p:nvPr/>
          </p:nvSpPr>
          <p:spPr>
            <a:xfrm>
              <a:off x="2850595" y="3148040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8" name="Straight Arrow Connector 97"/>
            <p:cNvCxnSpPr>
              <a:endCxn id="97" idx="2"/>
            </p:cNvCxnSpPr>
            <p:nvPr/>
          </p:nvCxnSpPr>
          <p:spPr>
            <a:xfrm>
              <a:off x="2581633" y="3372587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Oval 98"/>
            <p:cNvSpPr/>
            <p:nvPr/>
          </p:nvSpPr>
          <p:spPr>
            <a:xfrm>
              <a:off x="3369872" y="3145619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00" name="Straight Arrow Connector 99"/>
            <p:cNvCxnSpPr>
              <a:endCxn id="99" idx="2"/>
            </p:cNvCxnSpPr>
            <p:nvPr/>
          </p:nvCxnSpPr>
          <p:spPr>
            <a:xfrm>
              <a:off x="3100910" y="3370166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Oval 100"/>
            <p:cNvSpPr/>
            <p:nvPr/>
          </p:nvSpPr>
          <p:spPr>
            <a:xfrm>
              <a:off x="3888132" y="3143198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02" name="Straight Arrow Connector 101"/>
            <p:cNvCxnSpPr>
              <a:endCxn id="101" idx="2"/>
            </p:cNvCxnSpPr>
            <p:nvPr/>
          </p:nvCxnSpPr>
          <p:spPr>
            <a:xfrm>
              <a:off x="3619170" y="3367745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Oval 103"/>
            <p:cNvSpPr/>
            <p:nvPr/>
          </p:nvSpPr>
          <p:spPr>
            <a:xfrm>
              <a:off x="4406392" y="3157724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05" name="Straight Arrow Connector 104"/>
            <p:cNvCxnSpPr>
              <a:endCxn id="104" idx="2"/>
            </p:cNvCxnSpPr>
            <p:nvPr/>
          </p:nvCxnSpPr>
          <p:spPr>
            <a:xfrm>
              <a:off x="4137430" y="3382271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Oval 105"/>
            <p:cNvSpPr/>
            <p:nvPr/>
          </p:nvSpPr>
          <p:spPr>
            <a:xfrm>
              <a:off x="4925669" y="3155303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07" name="Straight Arrow Connector 106"/>
            <p:cNvCxnSpPr>
              <a:stCxn id="104" idx="6"/>
              <a:endCxn id="106" idx="2"/>
            </p:cNvCxnSpPr>
            <p:nvPr/>
          </p:nvCxnSpPr>
          <p:spPr>
            <a:xfrm flipV="1">
              <a:off x="4656707" y="3382271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Oval 107"/>
            <p:cNvSpPr/>
            <p:nvPr/>
          </p:nvSpPr>
          <p:spPr>
            <a:xfrm>
              <a:off x="5443929" y="3152882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09" name="Straight Arrow Connector 108"/>
            <p:cNvCxnSpPr>
              <a:endCxn id="108" idx="2"/>
            </p:cNvCxnSpPr>
            <p:nvPr/>
          </p:nvCxnSpPr>
          <p:spPr>
            <a:xfrm>
              <a:off x="5174967" y="3377429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Oval 109"/>
            <p:cNvSpPr/>
            <p:nvPr/>
          </p:nvSpPr>
          <p:spPr>
            <a:xfrm>
              <a:off x="5938446" y="3152882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11" name="Straight Arrow Connector 110"/>
            <p:cNvCxnSpPr>
              <a:endCxn id="110" idx="2"/>
            </p:cNvCxnSpPr>
            <p:nvPr/>
          </p:nvCxnSpPr>
          <p:spPr>
            <a:xfrm>
              <a:off x="5669484" y="3377429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Oval 111"/>
            <p:cNvSpPr/>
            <p:nvPr/>
          </p:nvSpPr>
          <p:spPr>
            <a:xfrm>
              <a:off x="6457723" y="3150461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13" name="Straight Arrow Connector 112"/>
            <p:cNvCxnSpPr>
              <a:endCxn id="112" idx="2"/>
            </p:cNvCxnSpPr>
            <p:nvPr/>
          </p:nvCxnSpPr>
          <p:spPr>
            <a:xfrm>
              <a:off x="6188761" y="3375008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Oval 113"/>
            <p:cNvSpPr/>
            <p:nvPr/>
          </p:nvSpPr>
          <p:spPr>
            <a:xfrm>
              <a:off x="6975983" y="3148040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15" name="Straight Arrow Connector 114"/>
            <p:cNvCxnSpPr>
              <a:endCxn id="114" idx="2"/>
            </p:cNvCxnSpPr>
            <p:nvPr/>
          </p:nvCxnSpPr>
          <p:spPr>
            <a:xfrm>
              <a:off x="6707021" y="3372587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/>
            <p:cNvCxnSpPr>
              <a:stCxn id="114" idx="6"/>
              <a:endCxn id="56" idx="2"/>
            </p:cNvCxnSpPr>
            <p:nvPr/>
          </p:nvCxnSpPr>
          <p:spPr>
            <a:xfrm flipV="1">
              <a:off x="7226298" y="3371376"/>
              <a:ext cx="267945" cy="3632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Group 156"/>
          <p:cNvGrpSpPr/>
          <p:nvPr/>
        </p:nvGrpSpPr>
        <p:grpSpPr>
          <a:xfrm>
            <a:off x="1318541" y="5692166"/>
            <a:ext cx="8259176" cy="1012873"/>
            <a:chOff x="1318541" y="5692166"/>
            <a:chExt cx="8259176" cy="1012873"/>
          </a:xfrm>
        </p:grpSpPr>
        <p:sp>
          <p:nvSpPr>
            <p:cNvPr id="59" name="TextBox 58"/>
            <p:cNvSpPr txBox="1"/>
            <p:nvPr/>
          </p:nvSpPr>
          <p:spPr>
            <a:xfrm>
              <a:off x="3909144" y="6304929"/>
              <a:ext cx="30251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CNN with skip connections</a:t>
              </a:r>
            </a:p>
          </p:txBody>
        </p:sp>
        <p:grpSp>
          <p:nvGrpSpPr>
            <p:cNvPr id="156" name="Group 155"/>
            <p:cNvGrpSpPr/>
            <p:nvPr/>
          </p:nvGrpSpPr>
          <p:grpSpPr>
            <a:xfrm>
              <a:off x="1318541" y="5692166"/>
              <a:ext cx="8259176" cy="786118"/>
              <a:chOff x="408041" y="4105710"/>
              <a:chExt cx="8259176" cy="786118"/>
            </a:xfrm>
          </p:grpSpPr>
          <p:cxnSp>
            <p:nvCxnSpPr>
              <p:cNvPr id="60" name="Elbow Connector 59"/>
              <p:cNvCxnSpPr>
                <a:endCxn id="126" idx="0"/>
              </p:cNvCxnSpPr>
              <p:nvPr/>
            </p:nvCxnSpPr>
            <p:spPr>
              <a:xfrm flipV="1">
                <a:off x="1136650" y="4269380"/>
                <a:ext cx="1321220" cy="232770"/>
              </a:xfrm>
              <a:prstGeom prst="bentConnector4">
                <a:avLst>
                  <a:gd name="adj1" fmla="val 386"/>
                  <a:gd name="adj2" fmla="val 198209"/>
                </a:avLst>
              </a:prstGeom>
              <a:ln w="158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Oval 119"/>
              <p:cNvSpPr/>
              <p:nvPr/>
            </p:nvSpPr>
            <p:spPr>
              <a:xfrm>
                <a:off x="1295175" y="4274222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21" name="Straight Arrow Connector 120"/>
              <p:cNvCxnSpPr>
                <a:stCxn id="122" idx="3"/>
                <a:endCxn id="120" idx="2"/>
              </p:cNvCxnSpPr>
              <p:nvPr/>
            </p:nvCxnSpPr>
            <p:spPr>
              <a:xfrm>
                <a:off x="1026213" y="4498769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2" name="Picture 121"/>
              <p:cNvPicPr>
                <a:picLocks noChangeAspect="1"/>
              </p:cNvPicPr>
              <p:nvPr/>
            </p:nvPicPr>
            <p:blipFill rotWithShape="1">
              <a:blip r:embed="rId2"/>
              <a:srcRect l="12909"/>
              <a:stretch/>
            </p:blipFill>
            <p:spPr>
              <a:xfrm>
                <a:off x="408041" y="4105710"/>
                <a:ext cx="618172" cy="786118"/>
              </a:xfrm>
              <a:prstGeom prst="rect">
                <a:avLst/>
              </a:prstGeom>
            </p:spPr>
          </p:pic>
          <p:sp>
            <p:nvSpPr>
              <p:cNvPr id="123" name="Oval 122"/>
              <p:cNvSpPr/>
              <p:nvPr/>
            </p:nvSpPr>
            <p:spPr>
              <a:xfrm>
                <a:off x="7470877" y="4215829"/>
                <a:ext cx="1196340" cy="55377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rgbClr val="00B0F0"/>
                    </a:solidFill>
                  </a:rPr>
                  <a:t>Classifier</a:t>
                </a:r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1814452" y="4271801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25" name="Straight Arrow Connector 124"/>
              <p:cNvCxnSpPr>
                <a:stCxn id="120" idx="6"/>
                <a:endCxn id="124" idx="2"/>
              </p:cNvCxnSpPr>
              <p:nvPr/>
            </p:nvCxnSpPr>
            <p:spPr>
              <a:xfrm flipV="1">
                <a:off x="1545490" y="4498769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Oval 125"/>
              <p:cNvSpPr/>
              <p:nvPr/>
            </p:nvSpPr>
            <p:spPr>
              <a:xfrm>
                <a:off x="2332712" y="4269380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27" name="Straight Arrow Connector 126"/>
              <p:cNvCxnSpPr>
                <a:endCxn id="126" idx="2"/>
              </p:cNvCxnSpPr>
              <p:nvPr/>
            </p:nvCxnSpPr>
            <p:spPr>
              <a:xfrm>
                <a:off x="2063750" y="4493927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Oval 127"/>
              <p:cNvSpPr/>
              <p:nvPr/>
            </p:nvSpPr>
            <p:spPr>
              <a:xfrm>
                <a:off x="2827229" y="4269380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29" name="Straight Arrow Connector 128"/>
              <p:cNvCxnSpPr>
                <a:endCxn id="128" idx="2"/>
              </p:cNvCxnSpPr>
              <p:nvPr/>
            </p:nvCxnSpPr>
            <p:spPr>
              <a:xfrm>
                <a:off x="2558267" y="4493927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Oval 129"/>
              <p:cNvSpPr/>
              <p:nvPr/>
            </p:nvSpPr>
            <p:spPr>
              <a:xfrm>
                <a:off x="3346506" y="4266959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31" name="Straight Arrow Connector 130"/>
              <p:cNvCxnSpPr>
                <a:endCxn id="130" idx="2"/>
              </p:cNvCxnSpPr>
              <p:nvPr/>
            </p:nvCxnSpPr>
            <p:spPr>
              <a:xfrm>
                <a:off x="3077544" y="4491506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Oval 131"/>
              <p:cNvSpPr/>
              <p:nvPr/>
            </p:nvSpPr>
            <p:spPr>
              <a:xfrm>
                <a:off x="3864766" y="4264538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33" name="Straight Arrow Connector 132"/>
              <p:cNvCxnSpPr>
                <a:endCxn id="132" idx="2"/>
              </p:cNvCxnSpPr>
              <p:nvPr/>
            </p:nvCxnSpPr>
            <p:spPr>
              <a:xfrm>
                <a:off x="3595804" y="4489085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Oval 133"/>
              <p:cNvSpPr/>
              <p:nvPr/>
            </p:nvSpPr>
            <p:spPr>
              <a:xfrm>
                <a:off x="4383026" y="4279064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35" name="Straight Arrow Connector 134"/>
              <p:cNvCxnSpPr>
                <a:endCxn id="134" idx="2"/>
              </p:cNvCxnSpPr>
              <p:nvPr/>
            </p:nvCxnSpPr>
            <p:spPr>
              <a:xfrm>
                <a:off x="4114064" y="4503611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/>
              <p:cNvSpPr/>
              <p:nvPr/>
            </p:nvSpPr>
            <p:spPr>
              <a:xfrm>
                <a:off x="4902303" y="4276643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37" name="Straight Arrow Connector 136"/>
              <p:cNvCxnSpPr>
                <a:stCxn id="134" idx="6"/>
                <a:endCxn id="136" idx="2"/>
              </p:cNvCxnSpPr>
              <p:nvPr/>
            </p:nvCxnSpPr>
            <p:spPr>
              <a:xfrm flipV="1">
                <a:off x="4633341" y="4503611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Oval 137"/>
              <p:cNvSpPr/>
              <p:nvPr/>
            </p:nvSpPr>
            <p:spPr>
              <a:xfrm>
                <a:off x="5420563" y="4274222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39" name="Straight Arrow Connector 138"/>
              <p:cNvCxnSpPr>
                <a:endCxn id="138" idx="2"/>
              </p:cNvCxnSpPr>
              <p:nvPr/>
            </p:nvCxnSpPr>
            <p:spPr>
              <a:xfrm>
                <a:off x="5151601" y="4498769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Oval 139"/>
              <p:cNvSpPr/>
              <p:nvPr/>
            </p:nvSpPr>
            <p:spPr>
              <a:xfrm>
                <a:off x="5915080" y="4274222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41" name="Straight Arrow Connector 140"/>
              <p:cNvCxnSpPr>
                <a:endCxn id="140" idx="2"/>
              </p:cNvCxnSpPr>
              <p:nvPr/>
            </p:nvCxnSpPr>
            <p:spPr>
              <a:xfrm>
                <a:off x="5646118" y="4498769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Oval 141"/>
              <p:cNvSpPr/>
              <p:nvPr/>
            </p:nvSpPr>
            <p:spPr>
              <a:xfrm>
                <a:off x="6434357" y="4271801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43" name="Straight Arrow Connector 142"/>
              <p:cNvCxnSpPr>
                <a:endCxn id="142" idx="2"/>
              </p:cNvCxnSpPr>
              <p:nvPr/>
            </p:nvCxnSpPr>
            <p:spPr>
              <a:xfrm>
                <a:off x="6165395" y="4496348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4" name="Oval 143"/>
              <p:cNvSpPr/>
              <p:nvPr/>
            </p:nvSpPr>
            <p:spPr>
              <a:xfrm>
                <a:off x="6952617" y="4269380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45" name="Straight Arrow Connector 144"/>
              <p:cNvCxnSpPr>
                <a:endCxn id="144" idx="2"/>
              </p:cNvCxnSpPr>
              <p:nvPr/>
            </p:nvCxnSpPr>
            <p:spPr>
              <a:xfrm>
                <a:off x="6683655" y="4493927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/>
              <p:cNvCxnSpPr>
                <a:stCxn id="144" idx="6"/>
                <a:endCxn id="123" idx="2"/>
              </p:cNvCxnSpPr>
              <p:nvPr/>
            </p:nvCxnSpPr>
            <p:spPr>
              <a:xfrm flipV="1">
                <a:off x="7202932" y="4492716"/>
                <a:ext cx="267945" cy="3632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Elbow Connector 152"/>
              <p:cNvCxnSpPr/>
              <p:nvPr/>
            </p:nvCxnSpPr>
            <p:spPr>
              <a:xfrm flipV="1">
                <a:off x="2664827" y="4267209"/>
                <a:ext cx="1321220" cy="232770"/>
              </a:xfrm>
              <a:prstGeom prst="bentConnector4">
                <a:avLst>
                  <a:gd name="adj1" fmla="val 386"/>
                  <a:gd name="adj2" fmla="val 198209"/>
                </a:avLst>
              </a:prstGeom>
              <a:ln w="158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Elbow Connector 153"/>
              <p:cNvCxnSpPr/>
              <p:nvPr/>
            </p:nvCxnSpPr>
            <p:spPr>
              <a:xfrm flipV="1">
                <a:off x="4223592" y="4262365"/>
                <a:ext cx="1321220" cy="232770"/>
              </a:xfrm>
              <a:prstGeom prst="bentConnector4">
                <a:avLst>
                  <a:gd name="adj1" fmla="val 386"/>
                  <a:gd name="adj2" fmla="val 198209"/>
                </a:avLst>
              </a:prstGeom>
              <a:ln w="158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Elbow Connector 154"/>
              <p:cNvCxnSpPr/>
              <p:nvPr/>
            </p:nvCxnSpPr>
            <p:spPr>
              <a:xfrm flipV="1">
                <a:off x="5738855" y="4253989"/>
                <a:ext cx="1321220" cy="232770"/>
              </a:xfrm>
              <a:prstGeom prst="bentConnector4">
                <a:avLst>
                  <a:gd name="adj1" fmla="val 386"/>
                  <a:gd name="adj2" fmla="val 198209"/>
                </a:avLst>
              </a:prstGeom>
              <a:ln w="158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9" name="Content Placeholder 2"/>
          <p:cNvSpPr>
            <a:spLocks noGrp="1"/>
          </p:cNvSpPr>
          <p:nvPr>
            <p:ph idx="1"/>
          </p:nvPr>
        </p:nvSpPr>
        <p:spPr>
          <a:xfrm>
            <a:off x="295477" y="1108975"/>
            <a:ext cx="9593241" cy="3255957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10000"/>
              </a:lnSpc>
            </a:pPr>
            <a:r>
              <a:rPr lang="en-US" sz="2600" dirty="0">
                <a:latin typeface="Arial Narrow" panose="020B0606020202030204" pitchFamily="34" charset="0"/>
              </a:rPr>
              <a:t>By providing </a:t>
            </a:r>
            <a:r>
              <a:rPr lang="en-US" sz="2600" dirty="0">
                <a:solidFill>
                  <a:srgbClr val="00B0F0"/>
                </a:solidFill>
                <a:latin typeface="Arial Narrow" panose="020B0606020202030204" pitchFamily="34" charset="0"/>
              </a:rPr>
              <a:t>a direct pathway for information and gradients to flow across layers</a:t>
            </a:r>
            <a:r>
              <a:rPr lang="en-US" sz="2600" dirty="0">
                <a:latin typeface="Arial Narrow" panose="020B0606020202030204" pitchFamily="34" charset="0"/>
              </a:rPr>
              <a:t>, SKIP connections </a:t>
            </a:r>
            <a:r>
              <a:rPr lang="en-US" sz="2600" dirty="0">
                <a:solidFill>
                  <a:srgbClr val="00B0F0"/>
                </a:solidFill>
                <a:latin typeface="Arial Narrow" panose="020B0606020202030204" pitchFamily="34" charset="0"/>
              </a:rPr>
              <a:t>effectively mitigate the vanishing gradient problem</a:t>
            </a:r>
            <a:r>
              <a:rPr lang="en-US" sz="2600" dirty="0">
                <a:latin typeface="Arial Narrow" panose="020B0606020202030204" pitchFamily="34" charset="0"/>
              </a:rPr>
              <a:t>, allowing stable training of very deep networks. </a:t>
            </a:r>
          </a:p>
          <a:p>
            <a:pPr algn="just">
              <a:lnSpc>
                <a:spcPct val="110000"/>
              </a:lnSpc>
            </a:pPr>
            <a:r>
              <a:rPr lang="en-US" sz="2600" dirty="0">
                <a:latin typeface="Arial Narrow" panose="020B0606020202030204" pitchFamily="34" charset="0"/>
              </a:rPr>
              <a:t>Skip connections enable the network to learn </a:t>
            </a:r>
            <a:r>
              <a:rPr lang="en-US" sz="2600" dirty="0">
                <a:solidFill>
                  <a:srgbClr val="00B0F0"/>
                </a:solidFill>
                <a:latin typeface="Arial Narrow" panose="020B0606020202030204" pitchFamily="34" charset="0"/>
              </a:rPr>
              <a:t>identity mappings </a:t>
            </a:r>
            <a:r>
              <a:rPr lang="en-US" sz="2600" dirty="0">
                <a:latin typeface="Arial Narrow" panose="020B0606020202030204" pitchFamily="34" charset="0"/>
              </a:rPr>
              <a:t>when additional layers are unnecessary, simplifying the optimization process and preventing performance degradation as network depth increases. </a:t>
            </a:r>
          </a:p>
          <a:p>
            <a:pPr algn="just">
              <a:lnSpc>
                <a:spcPct val="110000"/>
              </a:lnSpc>
            </a:pPr>
            <a:r>
              <a:rPr lang="en-US" sz="2600" dirty="0">
                <a:latin typeface="Arial Narrow" panose="020B0606020202030204" pitchFamily="34" charset="0"/>
              </a:rPr>
              <a:t>They also </a:t>
            </a:r>
            <a:r>
              <a:rPr lang="en-US" sz="2600" dirty="0">
                <a:solidFill>
                  <a:srgbClr val="00B0F0"/>
                </a:solidFill>
                <a:latin typeface="Arial Narrow" panose="020B0606020202030204" pitchFamily="34" charset="0"/>
              </a:rPr>
              <a:t>accelerate training convergence </a:t>
            </a:r>
            <a:r>
              <a:rPr lang="en-US" sz="2600" dirty="0">
                <a:latin typeface="Arial Narrow" panose="020B0606020202030204" pitchFamily="34" charset="0"/>
              </a:rPr>
              <a:t>by facilitating </a:t>
            </a:r>
            <a:r>
              <a:rPr lang="en-US" sz="2600" dirty="0">
                <a:solidFill>
                  <a:srgbClr val="00B0F0"/>
                </a:solidFill>
                <a:latin typeface="Arial Narrow" panose="020B0606020202030204" pitchFamily="34" charset="0"/>
              </a:rPr>
              <a:t>faster gradient propagation </a:t>
            </a:r>
            <a:r>
              <a:rPr lang="en-US" sz="2600" dirty="0">
                <a:latin typeface="Arial Narrow" panose="020B0606020202030204" pitchFamily="34" charset="0"/>
              </a:rPr>
              <a:t>during backpropagation.</a:t>
            </a:r>
          </a:p>
          <a:p>
            <a:pPr algn="just">
              <a:lnSpc>
                <a:spcPct val="110000"/>
              </a:lnSpc>
            </a:pPr>
            <a:r>
              <a:rPr lang="en-US" sz="2600" dirty="0">
                <a:latin typeface="Arial Narrow" panose="020B0606020202030204" pitchFamily="34" charset="0"/>
              </a:rPr>
              <a:t>Furthermore, skip connections promote </a:t>
            </a:r>
            <a:r>
              <a:rPr lang="en-US" sz="2600" dirty="0">
                <a:solidFill>
                  <a:srgbClr val="00B0F0"/>
                </a:solidFill>
                <a:latin typeface="Arial Narrow" panose="020B0606020202030204" pitchFamily="34" charset="0"/>
              </a:rPr>
              <a:t>feature reuse </a:t>
            </a:r>
            <a:r>
              <a:rPr lang="en-US" sz="2600" dirty="0">
                <a:latin typeface="Arial Narrow" panose="020B0606020202030204" pitchFamily="34" charset="0"/>
              </a:rPr>
              <a:t>by preserving useful </a:t>
            </a:r>
            <a:r>
              <a:rPr lang="en-US" sz="2600" dirty="0">
                <a:solidFill>
                  <a:srgbClr val="00B0F0"/>
                </a:solidFill>
                <a:latin typeface="Arial Narrow" panose="020B0606020202030204" pitchFamily="34" charset="0"/>
              </a:rPr>
              <a:t>low-level</a:t>
            </a:r>
            <a:r>
              <a:rPr lang="en-US" sz="2600" dirty="0">
                <a:latin typeface="Arial Narrow" panose="020B0606020202030204" pitchFamily="34" charset="0"/>
              </a:rPr>
              <a:t> and </a:t>
            </a:r>
            <a:r>
              <a:rPr lang="en-US" sz="2600" dirty="0">
                <a:solidFill>
                  <a:srgbClr val="00B0F0"/>
                </a:solidFill>
                <a:latin typeface="Arial Narrow" panose="020B0606020202030204" pitchFamily="34" charset="0"/>
              </a:rPr>
              <a:t>intermediate representations </a:t>
            </a:r>
            <a:r>
              <a:rPr lang="en-US" sz="2600" dirty="0">
                <a:latin typeface="Arial Narrow" panose="020B0606020202030204" pitchFamily="34" charset="0"/>
              </a:rPr>
              <a:t>throughout the network, leading to </a:t>
            </a:r>
            <a:r>
              <a:rPr lang="en-US" sz="2600" dirty="0">
                <a:solidFill>
                  <a:srgbClr val="00B0F0"/>
                </a:solidFill>
                <a:latin typeface="Arial Narrow" panose="020B0606020202030204" pitchFamily="34" charset="0"/>
              </a:rPr>
              <a:t>richer feature extraction</a:t>
            </a:r>
            <a:r>
              <a:rPr lang="en-US" sz="2600" dirty="0">
                <a:latin typeface="Arial Narrow" panose="020B0606020202030204" pitchFamily="34" charset="0"/>
              </a:rPr>
              <a:t>. </a:t>
            </a:r>
          </a:p>
          <a:p>
            <a:pPr algn="just">
              <a:lnSpc>
                <a:spcPct val="110000"/>
              </a:lnSpc>
            </a:pPr>
            <a:r>
              <a:rPr lang="en-US" sz="2600" dirty="0">
                <a:latin typeface="Arial Narrow" panose="020B0606020202030204" pitchFamily="34" charset="0"/>
              </a:rPr>
              <a:t>Their architecture provides </a:t>
            </a:r>
            <a:r>
              <a:rPr lang="en-US" sz="2600" dirty="0">
                <a:solidFill>
                  <a:srgbClr val="00B0F0"/>
                </a:solidFill>
                <a:latin typeface="Arial Narrow" panose="020B0606020202030204" pitchFamily="34" charset="0"/>
              </a:rPr>
              <a:t>implicit regularization</a:t>
            </a:r>
            <a:r>
              <a:rPr lang="en-US" sz="2600" dirty="0">
                <a:latin typeface="Arial Narrow" panose="020B0606020202030204" pitchFamily="34" charset="0"/>
              </a:rPr>
              <a:t>, which can </a:t>
            </a:r>
            <a:r>
              <a:rPr lang="en-US" sz="2600" dirty="0">
                <a:solidFill>
                  <a:srgbClr val="00B0F0"/>
                </a:solidFill>
                <a:latin typeface="Arial Narrow" panose="020B0606020202030204" pitchFamily="34" charset="0"/>
              </a:rPr>
              <a:t>reduce overfitting and improve generalization</a:t>
            </a:r>
            <a:r>
              <a:rPr lang="en-US" sz="2600" dirty="0">
                <a:latin typeface="Arial Narrow" panose="020B0606020202030204" pitchFamily="34" charset="0"/>
              </a:rPr>
              <a:t>. Collectively, these advantages make skip connections essential for training deeper, more accurate, and more robust neural networks for a wide range of computer vision applications.</a:t>
            </a:r>
          </a:p>
          <a:p>
            <a:pPr algn="just">
              <a:lnSpc>
                <a:spcPct val="110000"/>
              </a:lnSpc>
            </a:pPr>
            <a:endParaRPr lang="en-IN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893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1366981" y="4179457"/>
            <a:ext cx="2900218" cy="748145"/>
          </a:xfrm>
          <a:prstGeom prst="roundRect">
            <a:avLst/>
          </a:prstGeom>
          <a:solidFill>
            <a:schemeClr val="accent2">
              <a:lumMod val="75000"/>
              <a:alpha val="18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1366981" y="2272148"/>
            <a:ext cx="2900218" cy="748145"/>
          </a:xfrm>
          <a:prstGeom prst="roundRect">
            <a:avLst/>
          </a:prstGeom>
          <a:solidFill>
            <a:schemeClr val="accent4">
              <a:lumMod val="40000"/>
              <a:lumOff val="60000"/>
              <a:alpha val="18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9630"/>
            <a:ext cx="10515600" cy="84483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Normal CNN Nodes</a:t>
            </a:r>
          </a:p>
        </p:txBody>
      </p:sp>
      <p:sp>
        <p:nvSpPr>
          <p:cNvPr id="4" name="Oval 3"/>
          <p:cNvSpPr/>
          <p:nvPr/>
        </p:nvSpPr>
        <p:spPr>
          <a:xfrm>
            <a:off x="1487053" y="2419929"/>
            <a:ext cx="452582" cy="45258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22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2239816" y="2419929"/>
            <a:ext cx="452582" cy="452582"/>
          </a:xfrm>
          <a:prstGeom prst="ellipse">
            <a:avLst/>
          </a:prstGeom>
          <a:solidFill>
            <a:schemeClr val="accent4">
              <a:lumMod val="40000"/>
              <a:lumOff val="60000"/>
              <a:alpha val="65000"/>
            </a:schemeClr>
          </a:solidFill>
          <a:ln w="22225">
            <a:solidFill>
              <a:schemeClr val="accent4">
                <a:lumMod val="75000"/>
                <a:alpha val="5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2992579" y="2401457"/>
            <a:ext cx="452582" cy="45258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22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3745342" y="2401457"/>
            <a:ext cx="452582" cy="452582"/>
          </a:xfrm>
          <a:prstGeom prst="ellipse">
            <a:avLst/>
          </a:prstGeom>
          <a:solidFill>
            <a:schemeClr val="accent4">
              <a:lumMod val="40000"/>
              <a:lumOff val="60000"/>
              <a:alpha val="65000"/>
            </a:schemeClr>
          </a:solidFill>
          <a:ln w="22225">
            <a:solidFill>
              <a:schemeClr val="accent4">
                <a:lumMod val="75000"/>
                <a:alpha val="5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/>
          <p:cNvSpPr/>
          <p:nvPr/>
        </p:nvSpPr>
        <p:spPr>
          <a:xfrm>
            <a:off x="1487053" y="4327238"/>
            <a:ext cx="452582" cy="452582"/>
          </a:xfrm>
          <a:prstGeom prst="ellipse">
            <a:avLst/>
          </a:prstGeom>
          <a:solidFill>
            <a:schemeClr val="accent2">
              <a:lumMod val="75000"/>
              <a:alpha val="34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2239816" y="4327238"/>
            <a:ext cx="452582" cy="452582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2992579" y="4308766"/>
            <a:ext cx="452582" cy="452582"/>
          </a:xfrm>
          <a:prstGeom prst="ellipse">
            <a:avLst/>
          </a:prstGeom>
          <a:solidFill>
            <a:schemeClr val="accent2">
              <a:lumMod val="75000"/>
              <a:alpha val="34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/>
          <p:cNvSpPr/>
          <p:nvPr/>
        </p:nvSpPr>
        <p:spPr>
          <a:xfrm>
            <a:off x="3745342" y="4308766"/>
            <a:ext cx="452582" cy="452582"/>
          </a:xfrm>
          <a:prstGeom prst="ellipse">
            <a:avLst/>
          </a:prstGeom>
          <a:solidFill>
            <a:schemeClr val="accent2">
              <a:lumMod val="75000"/>
              <a:alpha val="34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Down Arrow 13"/>
          <p:cNvSpPr/>
          <p:nvPr/>
        </p:nvSpPr>
        <p:spPr>
          <a:xfrm>
            <a:off x="2599549" y="3015917"/>
            <a:ext cx="277090" cy="1159164"/>
          </a:xfrm>
          <a:prstGeom prst="downArrow">
            <a:avLst>
              <a:gd name="adj1" fmla="val 50000"/>
              <a:gd name="adj2" fmla="val 89802"/>
            </a:avLst>
          </a:prstGeom>
          <a:solidFill>
            <a:srgbClr val="00B0F0">
              <a:alpha val="74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Down Arrow 16"/>
          <p:cNvSpPr/>
          <p:nvPr/>
        </p:nvSpPr>
        <p:spPr>
          <a:xfrm>
            <a:off x="2599550" y="4927600"/>
            <a:ext cx="277089" cy="521995"/>
          </a:xfrm>
          <a:prstGeom prst="downArrow">
            <a:avLst>
              <a:gd name="adj1" fmla="val 50000"/>
              <a:gd name="adj2" fmla="val 63207"/>
            </a:avLst>
          </a:prstGeom>
          <a:solidFill>
            <a:srgbClr val="00B0F0">
              <a:alpha val="74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857302" y="1663484"/>
                <a:ext cx="504049" cy="385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302" y="1663484"/>
                <a:ext cx="504049" cy="385105"/>
              </a:xfrm>
              <a:prstGeom prst="rect">
                <a:avLst/>
              </a:prstGeom>
              <a:blipFill>
                <a:blip r:embed="rId2"/>
                <a:stretch>
                  <a:fillRect l="-8537" t="-4762" r="-121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857302" y="3357037"/>
                <a:ext cx="797398" cy="385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302" y="3357037"/>
                <a:ext cx="797398" cy="385105"/>
              </a:xfrm>
              <a:prstGeom prst="rect">
                <a:avLst/>
              </a:prstGeom>
              <a:blipFill>
                <a:blip r:embed="rId3"/>
                <a:stretch>
                  <a:fillRect l="-5344" t="-4762" r="-6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174235" y="5188598"/>
                <a:ext cx="797398" cy="385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235" y="5188598"/>
                <a:ext cx="797398" cy="385105"/>
              </a:xfrm>
              <a:prstGeom prst="rect">
                <a:avLst/>
              </a:prstGeom>
              <a:blipFill>
                <a:blip r:embed="rId4"/>
                <a:stretch>
                  <a:fillRect l="-5344" t="-4762" r="-6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Down Arrow 20"/>
          <p:cNvSpPr/>
          <p:nvPr/>
        </p:nvSpPr>
        <p:spPr>
          <a:xfrm>
            <a:off x="2599549" y="1706080"/>
            <a:ext cx="277089" cy="521995"/>
          </a:xfrm>
          <a:prstGeom prst="downArrow">
            <a:avLst>
              <a:gd name="adj1" fmla="val 50000"/>
              <a:gd name="adj2" fmla="val 63207"/>
            </a:avLst>
          </a:prstGeom>
          <a:solidFill>
            <a:srgbClr val="00B0F0">
              <a:alpha val="74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317996" y="4342504"/>
                <a:ext cx="782457" cy="385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996" y="4342504"/>
                <a:ext cx="782457" cy="385105"/>
              </a:xfrm>
              <a:prstGeom prst="rect">
                <a:avLst/>
              </a:prstGeom>
              <a:blipFill>
                <a:blip r:embed="rId5"/>
                <a:stretch>
                  <a:fillRect l="-4651" t="-4688" r="-77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317996" y="2418135"/>
                <a:ext cx="782457" cy="385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996" y="2418135"/>
                <a:ext cx="782457" cy="385105"/>
              </a:xfrm>
              <a:prstGeom prst="rect">
                <a:avLst/>
              </a:prstGeom>
              <a:blipFill>
                <a:blip r:embed="rId6"/>
                <a:stretch>
                  <a:fillRect l="-4651" t="-4762" r="-77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76790BE-66BF-4A19-B4B1-8089D6757ABD}"/>
                  </a:ext>
                </a:extLst>
              </p:cNvPr>
              <p:cNvSpPr/>
              <p:nvPr/>
            </p:nvSpPr>
            <p:spPr>
              <a:xfrm>
                <a:off x="5382737" y="2228075"/>
                <a:ext cx="3238066" cy="4133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51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charset="0"/>
                            </a:rPr>
                            <m:t>𝑧</m:t>
                          </m:r>
                        </m:e>
                        <m:sup>
                          <m:r>
                            <a:rPr lang="en-US" sz="2000" i="1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+1]</m:t>
                          </m:r>
                        </m:sup>
                      </m:sSup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𝑊</m:t>
                          </m:r>
                        </m:e>
                        <m:sup>
                          <m:r>
                            <a:rPr lang="en-US" sz="2000" i="1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+1]</m:t>
                          </m:r>
                        </m:sup>
                      </m:sSup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i="1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]</m:t>
                          </m:r>
                        </m:sup>
                      </m:sSup>
                      <m:r>
                        <a:rPr lang="en-US" sz="2000" i="1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charset="0"/>
                            </a:rPr>
                            <m:t>𝑏</m:t>
                          </m:r>
                        </m:e>
                        <m:sup>
                          <m:r>
                            <a:rPr lang="en-US" sz="2000" i="1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+1]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76790BE-66BF-4A19-B4B1-8089D6757A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737" y="2228075"/>
                <a:ext cx="3238066" cy="4133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490E879-9029-428D-BD26-74B066B88B19}"/>
                  </a:ext>
                </a:extLst>
              </p:cNvPr>
              <p:cNvSpPr/>
              <p:nvPr/>
            </p:nvSpPr>
            <p:spPr>
              <a:xfrm>
                <a:off x="5892797" y="2741037"/>
                <a:ext cx="2154116" cy="41331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51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i="1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+1]</m:t>
                          </m:r>
                        </m:sup>
                      </m:sSup>
                      <m:r>
                        <a:rPr lang="en-US" sz="2000" i="1">
                          <a:latin typeface="Cambria Math" charset="0"/>
                        </a:rPr>
                        <m:t>=</m:t>
                      </m:r>
                      <m:r>
                        <a:rPr lang="en-US" sz="2000" i="1">
                          <a:latin typeface="Cambria Math" charset="0"/>
                        </a:rPr>
                        <m:t>𝑔</m:t>
                      </m:r>
                      <m:r>
                        <a:rPr lang="en-US" sz="2000" i="1">
                          <a:latin typeface="Cambria Math" charset="0"/>
                        </a:rPr>
                        <m:t>(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charset="0"/>
                            </a:rPr>
                            <m:t>𝑧</m:t>
                          </m:r>
                        </m:e>
                        <m:sup>
                          <m:r>
                            <a:rPr lang="en-US" sz="2000" i="1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+1]</m:t>
                          </m:r>
                        </m:sup>
                      </m:sSup>
                      <m:r>
                        <a:rPr lang="en-US" sz="2000" i="1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490E879-9029-428D-BD26-74B066B88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797" y="2741037"/>
                <a:ext cx="2154116" cy="413318"/>
              </a:xfrm>
              <a:prstGeom prst="rect">
                <a:avLst/>
              </a:prstGeom>
              <a:blipFill>
                <a:blip r:embed="rId8"/>
                <a:stretch>
                  <a:fillRect b="-164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81A7C02-8108-4BD6-BB7A-034B5B40DF7F}"/>
                  </a:ext>
                </a:extLst>
              </p:cNvPr>
              <p:cNvSpPr/>
              <p:nvPr/>
            </p:nvSpPr>
            <p:spPr>
              <a:xfrm>
                <a:off x="5382737" y="4266886"/>
                <a:ext cx="3468194" cy="41331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46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charset="0"/>
                            </a:rPr>
                            <m:t>𝑧</m:t>
                          </m:r>
                        </m:e>
                        <m:sup>
                          <m:r>
                            <a:rPr lang="en-US" sz="2000" i="1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+2]</m:t>
                          </m:r>
                        </m:sup>
                      </m:sSup>
                      <m:r>
                        <a:rPr lang="en-US" sz="2000" i="1">
                          <a:latin typeface="Cambria Math" charset="0"/>
                        </a:rPr>
                        <m:t>=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charset="0"/>
                            </a:rPr>
                            <m:t>𝑊</m:t>
                          </m:r>
                        </m:e>
                        <m:sup>
                          <m:r>
                            <a:rPr lang="en-US" sz="2000" i="1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+2]</m:t>
                          </m:r>
                        </m:sup>
                      </m:sSup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i="1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+1]</m:t>
                          </m:r>
                        </m:sup>
                      </m:sSup>
                      <m:r>
                        <a:rPr lang="en-US" sz="2000" i="1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charset="0"/>
                            </a:rPr>
                            <m:t>𝑏</m:t>
                          </m:r>
                        </m:e>
                        <m:sup>
                          <m:r>
                            <a:rPr lang="en-US" sz="2000" i="1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+2]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81A7C02-8108-4BD6-BB7A-034B5B40DF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737" y="4266886"/>
                <a:ext cx="3468194" cy="41331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CB77551-F2D1-48FE-A218-90BA423AB6D1}"/>
                  </a:ext>
                </a:extLst>
              </p:cNvPr>
              <p:cNvSpPr/>
              <p:nvPr/>
            </p:nvSpPr>
            <p:spPr>
              <a:xfrm>
                <a:off x="5915479" y="4799622"/>
                <a:ext cx="2172582" cy="44608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46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i="1">
                              <a:latin typeface="Cambria Math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+2]</m:t>
                          </m:r>
                        </m:sup>
                      </m:sSup>
                      <m:r>
                        <a:rPr lang="en-US" sz="2000" i="1">
                          <a:latin typeface="Cambria Math" charset="0"/>
                        </a:rPr>
                        <m:t>=</m:t>
                      </m:r>
                      <m:r>
                        <a:rPr lang="en-US" sz="2000" i="1">
                          <a:latin typeface="Cambria Math" charset="0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charset="0"/>
                                </a:rPr>
                                <m:t>𝑧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charset="0"/>
                                    </a:rPr>
                                    <m:t>𝑙</m:t>
                                  </m:r>
                                  <m:r>
                                    <a:rPr lang="en-US" sz="2000" i="1">
                                      <a:latin typeface="Cambria Math" charset="0"/>
                                    </a:rPr>
                                    <m:t>+2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CB77551-F2D1-48FE-A218-90BA423AB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479" y="4799622"/>
                <a:ext cx="2172582" cy="446084"/>
              </a:xfrm>
              <a:prstGeom prst="rect">
                <a:avLst/>
              </a:prstGeom>
              <a:blipFill>
                <a:blip r:embed="rId10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8249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4879765" y="2962783"/>
            <a:ext cx="2539402" cy="618029"/>
          </a:xfrm>
          <a:prstGeom prst="roundRect">
            <a:avLst/>
          </a:prstGeom>
          <a:solidFill>
            <a:schemeClr val="accent2">
              <a:lumMod val="75000"/>
              <a:alpha val="18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4868062" y="1655870"/>
            <a:ext cx="2539402" cy="613653"/>
          </a:xfrm>
          <a:prstGeom prst="roundRect">
            <a:avLst/>
          </a:prstGeom>
          <a:solidFill>
            <a:schemeClr val="accent4">
              <a:lumMod val="40000"/>
              <a:lumOff val="60000"/>
              <a:alpha val="18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349" y="-32719"/>
            <a:ext cx="10515600" cy="84483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Normal CNN Nodes</a:t>
            </a:r>
          </a:p>
        </p:txBody>
      </p:sp>
      <p:sp>
        <p:nvSpPr>
          <p:cNvPr id="4" name="Oval 3"/>
          <p:cNvSpPr/>
          <p:nvPr/>
        </p:nvSpPr>
        <p:spPr>
          <a:xfrm>
            <a:off x="4979176" y="1784018"/>
            <a:ext cx="354530" cy="36472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22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/>
          <p:cNvSpPr/>
          <p:nvPr/>
        </p:nvSpPr>
        <p:spPr>
          <a:xfrm>
            <a:off x="4998797" y="3110715"/>
            <a:ext cx="383313" cy="354723"/>
          </a:xfrm>
          <a:prstGeom prst="ellipse">
            <a:avLst/>
          </a:prstGeom>
          <a:solidFill>
            <a:schemeClr val="accent2">
              <a:lumMod val="75000"/>
              <a:alpha val="34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5631491" y="3110715"/>
            <a:ext cx="383313" cy="354723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6266280" y="3115004"/>
            <a:ext cx="383313" cy="354723"/>
          </a:xfrm>
          <a:prstGeom prst="ellipse">
            <a:avLst/>
          </a:prstGeom>
          <a:solidFill>
            <a:schemeClr val="accent2">
              <a:lumMod val="75000"/>
              <a:alpha val="34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/>
          <p:cNvSpPr/>
          <p:nvPr/>
        </p:nvSpPr>
        <p:spPr>
          <a:xfrm>
            <a:off x="6898763" y="3092243"/>
            <a:ext cx="383313" cy="354723"/>
          </a:xfrm>
          <a:prstGeom prst="ellipse">
            <a:avLst/>
          </a:prstGeom>
          <a:solidFill>
            <a:schemeClr val="accent2">
              <a:lumMod val="75000"/>
              <a:alpha val="34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Down Arrow 13"/>
          <p:cNvSpPr/>
          <p:nvPr/>
        </p:nvSpPr>
        <p:spPr>
          <a:xfrm>
            <a:off x="5977487" y="2265330"/>
            <a:ext cx="277090" cy="699260"/>
          </a:xfrm>
          <a:prstGeom prst="downArrow">
            <a:avLst>
              <a:gd name="adj1" fmla="val 50000"/>
              <a:gd name="adj2" fmla="val 89802"/>
            </a:avLst>
          </a:prstGeom>
          <a:solidFill>
            <a:srgbClr val="00B0F0">
              <a:alpha val="74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Down Arrow 16"/>
          <p:cNvSpPr/>
          <p:nvPr/>
        </p:nvSpPr>
        <p:spPr>
          <a:xfrm>
            <a:off x="5977860" y="3593147"/>
            <a:ext cx="277089" cy="521995"/>
          </a:xfrm>
          <a:prstGeom prst="downArrow">
            <a:avLst>
              <a:gd name="adj1" fmla="val 50000"/>
              <a:gd name="adj2" fmla="val 63207"/>
            </a:avLst>
          </a:prstGeom>
          <a:solidFill>
            <a:srgbClr val="00B0F0">
              <a:alpha val="74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6276307" y="1147273"/>
                <a:ext cx="420884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307" y="1147273"/>
                <a:ext cx="420884" cy="320985"/>
              </a:xfrm>
              <a:prstGeom prst="rect">
                <a:avLst/>
              </a:prstGeom>
              <a:blipFill>
                <a:blip r:embed="rId2"/>
                <a:stretch>
                  <a:fillRect l="-8696" t="-5660" r="-13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6300935" y="2372258"/>
                <a:ext cx="666144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935" y="2372258"/>
                <a:ext cx="666144" cy="320985"/>
              </a:xfrm>
              <a:prstGeom prst="rect">
                <a:avLst/>
              </a:prstGeom>
              <a:blipFill>
                <a:blip r:embed="rId3"/>
                <a:stretch>
                  <a:fillRect l="-5505" t="-5660" r="-82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6457936" y="3703177"/>
                <a:ext cx="666144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936" y="3703177"/>
                <a:ext cx="666144" cy="320985"/>
              </a:xfrm>
              <a:prstGeom prst="rect">
                <a:avLst/>
              </a:prstGeom>
              <a:blipFill>
                <a:blip r:embed="rId4"/>
                <a:stretch>
                  <a:fillRect l="-4545" t="-3774" r="-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Down Arrow 20"/>
          <p:cNvSpPr/>
          <p:nvPr/>
        </p:nvSpPr>
        <p:spPr>
          <a:xfrm>
            <a:off x="5950634" y="1129636"/>
            <a:ext cx="277089" cy="521995"/>
          </a:xfrm>
          <a:prstGeom prst="downArrow">
            <a:avLst>
              <a:gd name="adj1" fmla="val 50000"/>
              <a:gd name="adj2" fmla="val 63207"/>
            </a:avLst>
          </a:prstGeom>
          <a:solidFill>
            <a:srgbClr val="00B0F0">
              <a:alpha val="74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7603763" y="3123694"/>
                <a:ext cx="653128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763" y="3123694"/>
                <a:ext cx="653128" cy="320985"/>
              </a:xfrm>
              <a:prstGeom prst="rect">
                <a:avLst/>
              </a:prstGeom>
              <a:blipFill>
                <a:blip r:embed="rId5"/>
                <a:stretch>
                  <a:fillRect l="-4673" t="-3774" r="-84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7550255" y="1790993"/>
                <a:ext cx="653128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255" y="1790993"/>
                <a:ext cx="653128" cy="320985"/>
              </a:xfrm>
              <a:prstGeom prst="rect">
                <a:avLst/>
              </a:prstGeom>
              <a:blipFill>
                <a:blip r:embed="rId6"/>
                <a:stretch>
                  <a:fillRect l="-5607" t="-5769" r="-84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76790BE-66BF-4A19-B4B1-8089D6757ABD}"/>
                  </a:ext>
                </a:extLst>
              </p:cNvPr>
              <p:cNvSpPr/>
              <p:nvPr/>
            </p:nvSpPr>
            <p:spPr>
              <a:xfrm>
                <a:off x="8614996" y="1600933"/>
                <a:ext cx="2934393" cy="38113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51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𝑧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[</m:t>
                          </m:r>
                          <m:r>
                            <a:rPr lang="en-US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charset="0"/>
                            </a:rPr>
                            <m:t>+1]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=</m:t>
                          </m:r>
                          <m:r>
                            <a:rPr lang="en-US" i="1">
                              <a:latin typeface="Cambria Math" charset="0"/>
                            </a:rPr>
                            <m:t>𝑊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[</m:t>
                          </m:r>
                          <m:r>
                            <a:rPr lang="en-US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charset="0"/>
                            </a:rPr>
                            <m:t>+1]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[</m:t>
                          </m:r>
                          <m:r>
                            <a:rPr lang="en-US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charset="0"/>
                            </a:rPr>
                            <m:t>]</m:t>
                          </m:r>
                        </m:sup>
                      </m:sSup>
                      <m:r>
                        <a:rPr lang="en-US" i="1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𝑏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[</m:t>
                          </m:r>
                          <m:r>
                            <a:rPr lang="en-US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charset="0"/>
                            </a:rPr>
                            <m:t>+1]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76790BE-66BF-4A19-B4B1-8089D6757A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996" y="1600933"/>
                <a:ext cx="2934393" cy="3811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490E879-9029-428D-BD26-74B066B88B19}"/>
                  </a:ext>
                </a:extLst>
              </p:cNvPr>
              <p:cNvSpPr/>
              <p:nvPr/>
            </p:nvSpPr>
            <p:spPr>
              <a:xfrm>
                <a:off x="9125056" y="2113895"/>
                <a:ext cx="1959446" cy="38113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51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[</m:t>
                          </m:r>
                          <m:r>
                            <a:rPr lang="en-US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charset="0"/>
                            </a:rPr>
                            <m:t>+1]</m:t>
                          </m:r>
                        </m:sup>
                      </m:sSup>
                      <m:r>
                        <a:rPr lang="en-US" i="1">
                          <a:latin typeface="Cambria Math" charset="0"/>
                        </a:rPr>
                        <m:t>=</m:t>
                      </m:r>
                      <m:r>
                        <a:rPr lang="en-US" i="1">
                          <a:latin typeface="Cambria Math" charset="0"/>
                        </a:rPr>
                        <m:t>𝑔</m:t>
                      </m:r>
                      <m:r>
                        <a:rPr lang="en-US" i="1">
                          <a:latin typeface="Cambria Math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𝑧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[</m:t>
                          </m:r>
                          <m:r>
                            <a:rPr lang="en-US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charset="0"/>
                            </a:rPr>
                            <m:t>+1]</m:t>
                          </m:r>
                        </m:sup>
                      </m:sSup>
                      <m:r>
                        <a:rPr lang="en-US" i="1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490E879-9029-428D-BD26-74B066B88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5056" y="2113895"/>
                <a:ext cx="1959446" cy="381130"/>
              </a:xfrm>
              <a:prstGeom prst="rect">
                <a:avLst/>
              </a:prstGeom>
              <a:blipFill>
                <a:blip r:embed="rId8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81A7C02-8108-4BD6-BB7A-034B5B40DF7F}"/>
                  </a:ext>
                </a:extLst>
              </p:cNvPr>
              <p:cNvSpPr/>
              <p:nvPr/>
            </p:nvSpPr>
            <p:spPr>
              <a:xfrm>
                <a:off x="8445757" y="2939637"/>
                <a:ext cx="3141181" cy="38113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46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𝑧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[</m:t>
                          </m:r>
                          <m:r>
                            <a:rPr lang="en-US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charset="0"/>
                            </a:rPr>
                            <m:t>+2]</m:t>
                          </m:r>
                        </m:sup>
                      </m:sSup>
                      <m:r>
                        <a:rPr lang="en-US" i="1">
                          <a:latin typeface="Cambria Math" charset="0"/>
                        </a:rPr>
                        <m:t>=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𝑊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[</m:t>
                          </m:r>
                          <m:r>
                            <a:rPr lang="en-US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charset="0"/>
                            </a:rPr>
                            <m:t>+2]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[</m:t>
                          </m:r>
                          <m:r>
                            <a:rPr lang="en-US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charset="0"/>
                            </a:rPr>
                            <m:t>+1]</m:t>
                          </m:r>
                        </m:sup>
                      </m:sSup>
                      <m:r>
                        <a:rPr lang="en-US" i="1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𝑏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[</m:t>
                          </m:r>
                          <m:r>
                            <a:rPr lang="en-US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charset="0"/>
                            </a:rPr>
                            <m:t>+2]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81A7C02-8108-4BD6-BB7A-034B5B40DF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5757" y="2939637"/>
                <a:ext cx="3141181" cy="3811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CB77551-F2D1-48FE-A218-90BA423AB6D1}"/>
                  </a:ext>
                </a:extLst>
              </p:cNvPr>
              <p:cNvSpPr/>
              <p:nvPr/>
            </p:nvSpPr>
            <p:spPr>
              <a:xfrm>
                <a:off x="8978499" y="3472373"/>
                <a:ext cx="2576666" cy="410562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46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i="1">
                              <a:latin typeface="Cambria Math" charset="0"/>
                            </a:rPr>
                            <m:t>[</m:t>
                          </m:r>
                          <m:r>
                            <a:rPr lang="en-US" i="1">
                              <a:latin typeface="Cambria Math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charset="0"/>
                            </a:rPr>
                            <m:t>+2]</m:t>
                          </m:r>
                        </m:sup>
                      </m:sSup>
                      <m:r>
                        <a:rPr lang="en-US" i="1">
                          <a:latin typeface="Cambria Math" charset="0"/>
                        </a:rPr>
                        <m:t>=</m:t>
                      </m:r>
                      <m:r>
                        <a:rPr lang="en-US" i="1">
                          <a:latin typeface="Cambria Math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charset="0"/>
                                </a:rPr>
                                <m:t>𝑧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charset="0"/>
                                    </a:rPr>
                                    <m:t>𝑙</m:t>
                                  </m:r>
                                  <m:r>
                                    <a:rPr lang="en-US" i="1">
                                      <a:latin typeface="Cambria Math" charset="0"/>
                                    </a:rPr>
                                    <m:t>+2</m:t>
                                  </m:r>
                                </m:e>
                              </m:d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IN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IN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IN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CB77551-F2D1-48FE-A218-90BA423AB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8499" y="3472373"/>
                <a:ext cx="2576666" cy="410562"/>
              </a:xfrm>
              <a:prstGeom prst="rect">
                <a:avLst/>
              </a:prstGeom>
              <a:blipFill>
                <a:blip r:embed="rId10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/>
          <p:cNvSpPr/>
          <p:nvPr/>
        </p:nvSpPr>
        <p:spPr>
          <a:xfrm>
            <a:off x="5602739" y="1776188"/>
            <a:ext cx="354530" cy="364725"/>
          </a:xfrm>
          <a:prstGeom prst="ellipse">
            <a:avLst/>
          </a:prstGeom>
          <a:solidFill>
            <a:schemeClr val="accent4">
              <a:lumMod val="40000"/>
              <a:lumOff val="60000"/>
              <a:alpha val="65000"/>
            </a:schemeClr>
          </a:solidFill>
          <a:ln w="22225">
            <a:solidFill>
              <a:schemeClr val="accent4">
                <a:lumMod val="75000"/>
                <a:alpha val="5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/>
          <p:cNvSpPr/>
          <p:nvPr/>
        </p:nvSpPr>
        <p:spPr>
          <a:xfrm>
            <a:off x="6227723" y="1778237"/>
            <a:ext cx="354530" cy="36472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22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/>
          <p:cNvSpPr/>
          <p:nvPr/>
        </p:nvSpPr>
        <p:spPr>
          <a:xfrm>
            <a:off x="6888989" y="1749170"/>
            <a:ext cx="354530" cy="364725"/>
          </a:xfrm>
          <a:prstGeom prst="ellipse">
            <a:avLst/>
          </a:prstGeom>
          <a:solidFill>
            <a:schemeClr val="accent4">
              <a:lumMod val="40000"/>
              <a:lumOff val="60000"/>
              <a:alpha val="65000"/>
            </a:schemeClr>
          </a:solidFill>
          <a:ln w="22225">
            <a:solidFill>
              <a:schemeClr val="accent4">
                <a:lumMod val="75000"/>
                <a:alpha val="5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Arc 44"/>
          <p:cNvSpPr/>
          <p:nvPr/>
        </p:nvSpPr>
        <p:spPr>
          <a:xfrm rot="15712354">
            <a:off x="3729256" y="1591912"/>
            <a:ext cx="2806394" cy="2100126"/>
          </a:xfrm>
          <a:custGeom>
            <a:avLst/>
            <a:gdLst>
              <a:gd name="connsiteX0" fmla="*/ 7068 w 3040766"/>
              <a:gd name="connsiteY0" fmla="*/ 1653623 h 3016692"/>
              <a:gd name="connsiteX1" fmla="*/ 857907 w 3040766"/>
              <a:gd name="connsiteY1" fmla="*/ 150718 h 3016692"/>
              <a:gd name="connsiteX2" fmla="*/ 2561827 w 3040766"/>
              <a:gd name="connsiteY2" fmla="*/ 409435 h 3016692"/>
              <a:gd name="connsiteX3" fmla="*/ 2918876 w 3040766"/>
              <a:gd name="connsiteY3" fmla="*/ 2100095 h 3016692"/>
              <a:gd name="connsiteX4" fmla="*/ 1520383 w 3040766"/>
              <a:gd name="connsiteY4" fmla="*/ 1508346 h 3016692"/>
              <a:gd name="connsiteX5" fmla="*/ 7068 w 3040766"/>
              <a:gd name="connsiteY5" fmla="*/ 1653623 h 3016692"/>
              <a:gd name="connsiteX0" fmla="*/ 7068 w 3040766"/>
              <a:gd name="connsiteY0" fmla="*/ 1653623 h 3016692"/>
              <a:gd name="connsiteX1" fmla="*/ 857907 w 3040766"/>
              <a:gd name="connsiteY1" fmla="*/ 150718 h 3016692"/>
              <a:gd name="connsiteX2" fmla="*/ 2561827 w 3040766"/>
              <a:gd name="connsiteY2" fmla="*/ 409435 h 3016692"/>
              <a:gd name="connsiteX3" fmla="*/ 2918876 w 3040766"/>
              <a:gd name="connsiteY3" fmla="*/ 2100095 h 3016692"/>
              <a:gd name="connsiteX0" fmla="*/ 7103 w 3040855"/>
              <a:gd name="connsiteY0" fmla="*/ 1653654 h 2100126"/>
              <a:gd name="connsiteX1" fmla="*/ 857942 w 3040855"/>
              <a:gd name="connsiteY1" fmla="*/ 150749 h 2100126"/>
              <a:gd name="connsiteX2" fmla="*/ 2561862 w 3040855"/>
              <a:gd name="connsiteY2" fmla="*/ 409466 h 2100126"/>
              <a:gd name="connsiteX3" fmla="*/ 2918911 w 3040855"/>
              <a:gd name="connsiteY3" fmla="*/ 2100126 h 2100126"/>
              <a:gd name="connsiteX4" fmla="*/ 1574282 w 3040855"/>
              <a:gd name="connsiteY4" fmla="*/ 1185085 h 2100126"/>
              <a:gd name="connsiteX5" fmla="*/ 7103 w 3040855"/>
              <a:gd name="connsiteY5" fmla="*/ 1653654 h 2100126"/>
              <a:gd name="connsiteX0" fmla="*/ 7103 w 3040855"/>
              <a:gd name="connsiteY0" fmla="*/ 1653654 h 2100126"/>
              <a:gd name="connsiteX1" fmla="*/ 857942 w 3040855"/>
              <a:gd name="connsiteY1" fmla="*/ 150749 h 2100126"/>
              <a:gd name="connsiteX2" fmla="*/ 2561862 w 3040855"/>
              <a:gd name="connsiteY2" fmla="*/ 409466 h 2100126"/>
              <a:gd name="connsiteX3" fmla="*/ 2918911 w 3040855"/>
              <a:gd name="connsiteY3" fmla="*/ 2100126 h 210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0855" h="2100126" stroke="0" extrusionOk="0">
                <a:moveTo>
                  <a:pt x="7103" y="1653654"/>
                </a:moveTo>
                <a:cubicBezTo>
                  <a:pt x="-54173" y="1025420"/>
                  <a:pt x="285308" y="425767"/>
                  <a:pt x="857942" y="150749"/>
                </a:cubicBezTo>
                <a:cubicBezTo>
                  <a:pt x="1425080" y="-121630"/>
                  <a:pt x="2102801" y="-18727"/>
                  <a:pt x="2561862" y="409466"/>
                </a:cubicBezTo>
                <a:cubicBezTo>
                  <a:pt x="3026566" y="842923"/>
                  <a:pt x="3169148" y="1518063"/>
                  <a:pt x="2918911" y="2100126"/>
                </a:cubicBezTo>
                <a:lnTo>
                  <a:pt x="1574282" y="1185085"/>
                </a:lnTo>
                <a:cubicBezTo>
                  <a:pt x="1069844" y="1233511"/>
                  <a:pt x="511541" y="1605228"/>
                  <a:pt x="7103" y="1653654"/>
                </a:cubicBezTo>
                <a:close/>
              </a:path>
              <a:path w="3040855" h="2100126" fill="none">
                <a:moveTo>
                  <a:pt x="7103" y="1653654"/>
                </a:moveTo>
                <a:cubicBezTo>
                  <a:pt x="-54173" y="1025420"/>
                  <a:pt x="285308" y="425767"/>
                  <a:pt x="857942" y="150749"/>
                </a:cubicBezTo>
                <a:cubicBezTo>
                  <a:pt x="1425080" y="-121630"/>
                  <a:pt x="2102801" y="-18727"/>
                  <a:pt x="2561862" y="409466"/>
                </a:cubicBezTo>
                <a:cubicBezTo>
                  <a:pt x="3026566" y="842923"/>
                  <a:pt x="3169148" y="1518063"/>
                  <a:pt x="2918911" y="2100126"/>
                </a:cubicBezTo>
              </a:path>
            </a:pathLst>
          </a:custGeom>
          <a:ln w="15875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6" name="TextBox 45"/>
          <p:cNvSpPr txBox="1"/>
          <p:nvPr/>
        </p:nvSpPr>
        <p:spPr>
          <a:xfrm rot="16200000">
            <a:off x="3116933" y="2478650"/>
            <a:ext cx="1566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Skip Connection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93F3AE7-0C14-409A-8349-E44D81C76BCE}"/>
              </a:ext>
            </a:extLst>
          </p:cNvPr>
          <p:cNvSpPr txBox="1"/>
          <p:nvPr/>
        </p:nvSpPr>
        <p:spPr>
          <a:xfrm>
            <a:off x="10165977" y="6492875"/>
            <a:ext cx="1792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Andrew Ng</a:t>
            </a:r>
          </a:p>
        </p:txBody>
      </p:sp>
      <p:grpSp>
        <p:nvGrpSpPr>
          <p:cNvPr id="146" name="Group 145"/>
          <p:cNvGrpSpPr/>
          <p:nvPr/>
        </p:nvGrpSpPr>
        <p:grpSpPr>
          <a:xfrm>
            <a:off x="1252522" y="4322480"/>
            <a:ext cx="8259176" cy="1005610"/>
            <a:chOff x="431407" y="2984370"/>
            <a:chExt cx="8259176" cy="1005610"/>
          </a:xfrm>
        </p:grpSpPr>
        <p:sp>
          <p:nvSpPr>
            <p:cNvPr id="147" name="Oval 146"/>
            <p:cNvSpPr/>
            <p:nvPr/>
          </p:nvSpPr>
          <p:spPr>
            <a:xfrm>
              <a:off x="1318541" y="3152882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48" name="Straight Arrow Connector 147"/>
            <p:cNvCxnSpPr>
              <a:stCxn id="149" idx="3"/>
              <a:endCxn id="147" idx="2"/>
            </p:cNvCxnSpPr>
            <p:nvPr/>
          </p:nvCxnSpPr>
          <p:spPr>
            <a:xfrm>
              <a:off x="1049579" y="3377429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9" name="Picture 148"/>
            <p:cNvPicPr>
              <a:picLocks noChangeAspect="1"/>
            </p:cNvPicPr>
            <p:nvPr/>
          </p:nvPicPr>
          <p:blipFill rotWithShape="1">
            <a:blip r:embed="rId11"/>
            <a:srcRect l="12909"/>
            <a:stretch/>
          </p:blipFill>
          <p:spPr>
            <a:xfrm>
              <a:off x="431407" y="2984370"/>
              <a:ext cx="618172" cy="786118"/>
            </a:xfrm>
            <a:prstGeom prst="rect">
              <a:avLst/>
            </a:prstGeom>
          </p:spPr>
        </p:pic>
        <p:sp>
          <p:nvSpPr>
            <p:cNvPr id="150" name="Oval 149"/>
            <p:cNvSpPr/>
            <p:nvPr/>
          </p:nvSpPr>
          <p:spPr>
            <a:xfrm>
              <a:off x="7494243" y="3094489"/>
              <a:ext cx="1196340" cy="55377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B0F0"/>
                  </a:solidFill>
                </a:rPr>
                <a:t>Classifier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3706574" y="3589870"/>
              <a:ext cx="1317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Plain CNN</a:t>
              </a:r>
            </a:p>
          </p:txBody>
        </p:sp>
        <p:sp>
          <p:nvSpPr>
            <p:cNvPr id="152" name="Oval 151"/>
            <p:cNvSpPr/>
            <p:nvPr/>
          </p:nvSpPr>
          <p:spPr>
            <a:xfrm>
              <a:off x="1837818" y="3150461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53" name="Straight Arrow Connector 152"/>
            <p:cNvCxnSpPr>
              <a:stCxn id="147" idx="6"/>
              <a:endCxn id="152" idx="2"/>
            </p:cNvCxnSpPr>
            <p:nvPr/>
          </p:nvCxnSpPr>
          <p:spPr>
            <a:xfrm flipV="1">
              <a:off x="1568856" y="3377429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Oval 153"/>
            <p:cNvSpPr/>
            <p:nvPr/>
          </p:nvSpPr>
          <p:spPr>
            <a:xfrm>
              <a:off x="2356078" y="3148040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55" name="Straight Arrow Connector 154"/>
            <p:cNvCxnSpPr>
              <a:endCxn id="154" idx="2"/>
            </p:cNvCxnSpPr>
            <p:nvPr/>
          </p:nvCxnSpPr>
          <p:spPr>
            <a:xfrm>
              <a:off x="2087116" y="3372587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Oval 155"/>
            <p:cNvSpPr/>
            <p:nvPr/>
          </p:nvSpPr>
          <p:spPr>
            <a:xfrm>
              <a:off x="2850595" y="3148040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57" name="Straight Arrow Connector 156"/>
            <p:cNvCxnSpPr>
              <a:endCxn id="156" idx="2"/>
            </p:cNvCxnSpPr>
            <p:nvPr/>
          </p:nvCxnSpPr>
          <p:spPr>
            <a:xfrm>
              <a:off x="2581633" y="3372587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Oval 157"/>
            <p:cNvSpPr/>
            <p:nvPr/>
          </p:nvSpPr>
          <p:spPr>
            <a:xfrm>
              <a:off x="3369872" y="3145619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59" name="Straight Arrow Connector 158"/>
            <p:cNvCxnSpPr>
              <a:endCxn id="158" idx="2"/>
            </p:cNvCxnSpPr>
            <p:nvPr/>
          </p:nvCxnSpPr>
          <p:spPr>
            <a:xfrm>
              <a:off x="3100910" y="3370166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Oval 159"/>
            <p:cNvSpPr/>
            <p:nvPr/>
          </p:nvSpPr>
          <p:spPr>
            <a:xfrm>
              <a:off x="3888132" y="3143198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1" name="Straight Arrow Connector 160"/>
            <p:cNvCxnSpPr>
              <a:endCxn id="160" idx="2"/>
            </p:cNvCxnSpPr>
            <p:nvPr/>
          </p:nvCxnSpPr>
          <p:spPr>
            <a:xfrm>
              <a:off x="3619170" y="3367745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Oval 161"/>
            <p:cNvSpPr/>
            <p:nvPr/>
          </p:nvSpPr>
          <p:spPr>
            <a:xfrm>
              <a:off x="4406392" y="3157724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3" name="Straight Arrow Connector 162"/>
            <p:cNvCxnSpPr>
              <a:endCxn id="162" idx="2"/>
            </p:cNvCxnSpPr>
            <p:nvPr/>
          </p:nvCxnSpPr>
          <p:spPr>
            <a:xfrm>
              <a:off x="4137430" y="3382271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Oval 163"/>
            <p:cNvSpPr/>
            <p:nvPr/>
          </p:nvSpPr>
          <p:spPr>
            <a:xfrm>
              <a:off x="4925669" y="3155303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5" name="Straight Arrow Connector 164"/>
            <p:cNvCxnSpPr>
              <a:stCxn id="162" idx="6"/>
              <a:endCxn id="164" idx="2"/>
            </p:cNvCxnSpPr>
            <p:nvPr/>
          </p:nvCxnSpPr>
          <p:spPr>
            <a:xfrm flipV="1">
              <a:off x="4656707" y="3382271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Oval 165"/>
            <p:cNvSpPr/>
            <p:nvPr/>
          </p:nvSpPr>
          <p:spPr>
            <a:xfrm>
              <a:off x="5443929" y="3152882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7" name="Straight Arrow Connector 166"/>
            <p:cNvCxnSpPr>
              <a:endCxn id="166" idx="2"/>
            </p:cNvCxnSpPr>
            <p:nvPr/>
          </p:nvCxnSpPr>
          <p:spPr>
            <a:xfrm>
              <a:off x="5174967" y="3377429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Oval 167"/>
            <p:cNvSpPr/>
            <p:nvPr/>
          </p:nvSpPr>
          <p:spPr>
            <a:xfrm>
              <a:off x="5938446" y="3152882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9" name="Straight Arrow Connector 168"/>
            <p:cNvCxnSpPr>
              <a:endCxn id="168" idx="2"/>
            </p:cNvCxnSpPr>
            <p:nvPr/>
          </p:nvCxnSpPr>
          <p:spPr>
            <a:xfrm>
              <a:off x="5669484" y="3377429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Oval 169"/>
            <p:cNvSpPr/>
            <p:nvPr/>
          </p:nvSpPr>
          <p:spPr>
            <a:xfrm>
              <a:off x="6457723" y="3150461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71" name="Straight Arrow Connector 170"/>
            <p:cNvCxnSpPr>
              <a:endCxn id="170" idx="2"/>
            </p:cNvCxnSpPr>
            <p:nvPr/>
          </p:nvCxnSpPr>
          <p:spPr>
            <a:xfrm>
              <a:off x="6188761" y="3375008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Oval 171"/>
            <p:cNvSpPr/>
            <p:nvPr/>
          </p:nvSpPr>
          <p:spPr>
            <a:xfrm>
              <a:off x="6975983" y="3148040"/>
              <a:ext cx="250315" cy="453935"/>
            </a:xfrm>
            <a:prstGeom prst="ellipse">
              <a:avLst/>
            </a:prstGeom>
            <a:solidFill>
              <a:schemeClr val="accent3">
                <a:lumMod val="75000"/>
                <a:alpha val="5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73" name="Straight Arrow Connector 172"/>
            <p:cNvCxnSpPr>
              <a:endCxn id="172" idx="2"/>
            </p:cNvCxnSpPr>
            <p:nvPr/>
          </p:nvCxnSpPr>
          <p:spPr>
            <a:xfrm>
              <a:off x="6707021" y="3372587"/>
              <a:ext cx="268962" cy="2421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Arrow Connector 173"/>
            <p:cNvCxnSpPr>
              <a:stCxn id="172" idx="6"/>
              <a:endCxn id="150" idx="2"/>
            </p:cNvCxnSpPr>
            <p:nvPr/>
          </p:nvCxnSpPr>
          <p:spPr>
            <a:xfrm flipV="1">
              <a:off x="7226298" y="3371376"/>
              <a:ext cx="267945" cy="3632"/>
            </a:xfrm>
            <a:prstGeom prst="straightConnector1">
              <a:avLst/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/>
        </p:nvGrpSpPr>
        <p:grpSpPr>
          <a:xfrm>
            <a:off x="1252522" y="5666849"/>
            <a:ext cx="8259176" cy="1012873"/>
            <a:chOff x="1318541" y="5692166"/>
            <a:chExt cx="8259176" cy="1012873"/>
          </a:xfrm>
        </p:grpSpPr>
        <p:sp>
          <p:nvSpPr>
            <p:cNvPr id="176" name="TextBox 175"/>
            <p:cNvSpPr txBox="1"/>
            <p:nvPr/>
          </p:nvSpPr>
          <p:spPr>
            <a:xfrm>
              <a:off x="3909144" y="6304929"/>
              <a:ext cx="30251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CNN with skip connections</a:t>
              </a:r>
            </a:p>
          </p:txBody>
        </p:sp>
        <p:grpSp>
          <p:nvGrpSpPr>
            <p:cNvPr id="177" name="Group 176"/>
            <p:cNvGrpSpPr/>
            <p:nvPr/>
          </p:nvGrpSpPr>
          <p:grpSpPr>
            <a:xfrm>
              <a:off x="1318541" y="5692166"/>
              <a:ext cx="8259176" cy="786118"/>
              <a:chOff x="408041" y="4105710"/>
              <a:chExt cx="8259176" cy="786118"/>
            </a:xfrm>
          </p:grpSpPr>
          <p:cxnSp>
            <p:nvCxnSpPr>
              <p:cNvPr id="178" name="Elbow Connector 177"/>
              <p:cNvCxnSpPr>
                <a:endCxn id="185" idx="0"/>
              </p:cNvCxnSpPr>
              <p:nvPr/>
            </p:nvCxnSpPr>
            <p:spPr>
              <a:xfrm flipV="1">
                <a:off x="1136650" y="4269380"/>
                <a:ext cx="1321220" cy="232770"/>
              </a:xfrm>
              <a:prstGeom prst="bentConnector4">
                <a:avLst>
                  <a:gd name="adj1" fmla="val 386"/>
                  <a:gd name="adj2" fmla="val 198209"/>
                </a:avLst>
              </a:prstGeom>
              <a:ln w="158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9" name="Oval 178"/>
              <p:cNvSpPr/>
              <p:nvPr/>
            </p:nvSpPr>
            <p:spPr>
              <a:xfrm>
                <a:off x="1295175" y="4274222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80" name="Straight Arrow Connector 179"/>
              <p:cNvCxnSpPr>
                <a:stCxn id="181" idx="3"/>
                <a:endCxn id="179" idx="2"/>
              </p:cNvCxnSpPr>
              <p:nvPr/>
            </p:nvCxnSpPr>
            <p:spPr>
              <a:xfrm>
                <a:off x="1026213" y="4498769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81" name="Picture 180"/>
              <p:cNvPicPr>
                <a:picLocks noChangeAspect="1"/>
              </p:cNvPicPr>
              <p:nvPr/>
            </p:nvPicPr>
            <p:blipFill rotWithShape="1">
              <a:blip r:embed="rId11"/>
              <a:srcRect l="12909"/>
              <a:stretch/>
            </p:blipFill>
            <p:spPr>
              <a:xfrm>
                <a:off x="408041" y="4105710"/>
                <a:ext cx="618172" cy="786118"/>
              </a:xfrm>
              <a:prstGeom prst="rect">
                <a:avLst/>
              </a:prstGeom>
            </p:spPr>
          </p:pic>
          <p:sp>
            <p:nvSpPr>
              <p:cNvPr id="182" name="Oval 181"/>
              <p:cNvSpPr/>
              <p:nvPr/>
            </p:nvSpPr>
            <p:spPr>
              <a:xfrm>
                <a:off x="7470877" y="4215829"/>
                <a:ext cx="1196340" cy="55377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dirty="0">
                    <a:solidFill>
                      <a:srgbClr val="00B0F0"/>
                    </a:solidFill>
                  </a:rPr>
                  <a:t>Classifier</a:t>
                </a:r>
              </a:p>
            </p:txBody>
          </p:sp>
          <p:sp>
            <p:nvSpPr>
              <p:cNvPr id="183" name="Oval 182"/>
              <p:cNvSpPr/>
              <p:nvPr/>
            </p:nvSpPr>
            <p:spPr>
              <a:xfrm>
                <a:off x="1814452" y="4271801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84" name="Straight Arrow Connector 183"/>
              <p:cNvCxnSpPr>
                <a:stCxn id="179" idx="6"/>
                <a:endCxn id="183" idx="2"/>
              </p:cNvCxnSpPr>
              <p:nvPr/>
            </p:nvCxnSpPr>
            <p:spPr>
              <a:xfrm flipV="1">
                <a:off x="1545490" y="4498769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" name="Oval 184"/>
              <p:cNvSpPr/>
              <p:nvPr/>
            </p:nvSpPr>
            <p:spPr>
              <a:xfrm>
                <a:off x="2332712" y="4269380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86" name="Straight Arrow Connector 185"/>
              <p:cNvCxnSpPr>
                <a:endCxn id="185" idx="2"/>
              </p:cNvCxnSpPr>
              <p:nvPr/>
            </p:nvCxnSpPr>
            <p:spPr>
              <a:xfrm>
                <a:off x="2063750" y="4493927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7" name="Oval 186"/>
              <p:cNvSpPr/>
              <p:nvPr/>
            </p:nvSpPr>
            <p:spPr>
              <a:xfrm>
                <a:off x="2827229" y="4269380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88" name="Straight Arrow Connector 187"/>
              <p:cNvCxnSpPr>
                <a:endCxn id="187" idx="2"/>
              </p:cNvCxnSpPr>
              <p:nvPr/>
            </p:nvCxnSpPr>
            <p:spPr>
              <a:xfrm>
                <a:off x="2558267" y="4493927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9" name="Oval 188"/>
              <p:cNvSpPr/>
              <p:nvPr/>
            </p:nvSpPr>
            <p:spPr>
              <a:xfrm>
                <a:off x="3346506" y="4266959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90" name="Straight Arrow Connector 189"/>
              <p:cNvCxnSpPr>
                <a:endCxn id="189" idx="2"/>
              </p:cNvCxnSpPr>
              <p:nvPr/>
            </p:nvCxnSpPr>
            <p:spPr>
              <a:xfrm>
                <a:off x="3077544" y="4491506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1" name="Oval 190"/>
              <p:cNvSpPr/>
              <p:nvPr/>
            </p:nvSpPr>
            <p:spPr>
              <a:xfrm>
                <a:off x="3864766" y="4264538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92" name="Straight Arrow Connector 191"/>
              <p:cNvCxnSpPr>
                <a:endCxn id="191" idx="2"/>
              </p:cNvCxnSpPr>
              <p:nvPr/>
            </p:nvCxnSpPr>
            <p:spPr>
              <a:xfrm>
                <a:off x="3595804" y="4489085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" name="Oval 192"/>
              <p:cNvSpPr/>
              <p:nvPr/>
            </p:nvSpPr>
            <p:spPr>
              <a:xfrm>
                <a:off x="4383026" y="4279064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94" name="Straight Arrow Connector 193"/>
              <p:cNvCxnSpPr>
                <a:endCxn id="193" idx="2"/>
              </p:cNvCxnSpPr>
              <p:nvPr/>
            </p:nvCxnSpPr>
            <p:spPr>
              <a:xfrm>
                <a:off x="4114064" y="4503611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" name="Oval 194"/>
              <p:cNvSpPr/>
              <p:nvPr/>
            </p:nvSpPr>
            <p:spPr>
              <a:xfrm>
                <a:off x="4902303" y="4276643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96" name="Straight Arrow Connector 195"/>
              <p:cNvCxnSpPr>
                <a:stCxn id="193" idx="6"/>
                <a:endCxn id="195" idx="2"/>
              </p:cNvCxnSpPr>
              <p:nvPr/>
            </p:nvCxnSpPr>
            <p:spPr>
              <a:xfrm flipV="1">
                <a:off x="4633341" y="4503611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" name="Oval 196"/>
              <p:cNvSpPr/>
              <p:nvPr/>
            </p:nvSpPr>
            <p:spPr>
              <a:xfrm>
                <a:off x="5420563" y="4274222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98" name="Straight Arrow Connector 197"/>
              <p:cNvCxnSpPr>
                <a:endCxn id="197" idx="2"/>
              </p:cNvCxnSpPr>
              <p:nvPr/>
            </p:nvCxnSpPr>
            <p:spPr>
              <a:xfrm>
                <a:off x="5151601" y="4498769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9" name="Oval 198"/>
              <p:cNvSpPr/>
              <p:nvPr/>
            </p:nvSpPr>
            <p:spPr>
              <a:xfrm>
                <a:off x="5915080" y="4274222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200" name="Straight Arrow Connector 199"/>
              <p:cNvCxnSpPr>
                <a:endCxn id="199" idx="2"/>
              </p:cNvCxnSpPr>
              <p:nvPr/>
            </p:nvCxnSpPr>
            <p:spPr>
              <a:xfrm>
                <a:off x="5646118" y="4498769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1" name="Oval 200"/>
              <p:cNvSpPr/>
              <p:nvPr/>
            </p:nvSpPr>
            <p:spPr>
              <a:xfrm>
                <a:off x="6434357" y="4271801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202" name="Straight Arrow Connector 201"/>
              <p:cNvCxnSpPr>
                <a:endCxn id="201" idx="2"/>
              </p:cNvCxnSpPr>
              <p:nvPr/>
            </p:nvCxnSpPr>
            <p:spPr>
              <a:xfrm>
                <a:off x="6165395" y="4496348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3" name="Oval 202"/>
              <p:cNvSpPr/>
              <p:nvPr/>
            </p:nvSpPr>
            <p:spPr>
              <a:xfrm>
                <a:off x="6952617" y="4269380"/>
                <a:ext cx="250315" cy="453935"/>
              </a:xfrm>
              <a:prstGeom prst="ellipse">
                <a:avLst/>
              </a:prstGeom>
              <a:solidFill>
                <a:schemeClr val="accent3">
                  <a:lumMod val="75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204" name="Straight Arrow Connector 203"/>
              <p:cNvCxnSpPr>
                <a:endCxn id="203" idx="2"/>
              </p:cNvCxnSpPr>
              <p:nvPr/>
            </p:nvCxnSpPr>
            <p:spPr>
              <a:xfrm>
                <a:off x="6683655" y="4493927"/>
                <a:ext cx="268962" cy="2421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Arrow Connector 204"/>
              <p:cNvCxnSpPr>
                <a:stCxn id="203" idx="6"/>
                <a:endCxn id="182" idx="2"/>
              </p:cNvCxnSpPr>
              <p:nvPr/>
            </p:nvCxnSpPr>
            <p:spPr>
              <a:xfrm flipV="1">
                <a:off x="7202932" y="4492716"/>
                <a:ext cx="267945" cy="3632"/>
              </a:xfrm>
              <a:prstGeom prst="straightConnector1">
                <a:avLst/>
              </a:prstGeom>
              <a:ln w="15875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Elbow Connector 205"/>
              <p:cNvCxnSpPr/>
              <p:nvPr/>
            </p:nvCxnSpPr>
            <p:spPr>
              <a:xfrm flipV="1">
                <a:off x="2664827" y="4267209"/>
                <a:ext cx="1321220" cy="232770"/>
              </a:xfrm>
              <a:prstGeom prst="bentConnector4">
                <a:avLst>
                  <a:gd name="adj1" fmla="val 386"/>
                  <a:gd name="adj2" fmla="val 198209"/>
                </a:avLst>
              </a:prstGeom>
              <a:ln w="158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Elbow Connector 206"/>
              <p:cNvCxnSpPr/>
              <p:nvPr/>
            </p:nvCxnSpPr>
            <p:spPr>
              <a:xfrm flipV="1">
                <a:off x="4223592" y="4262365"/>
                <a:ext cx="1321220" cy="232770"/>
              </a:xfrm>
              <a:prstGeom prst="bentConnector4">
                <a:avLst>
                  <a:gd name="adj1" fmla="val 386"/>
                  <a:gd name="adj2" fmla="val 198209"/>
                </a:avLst>
              </a:prstGeom>
              <a:ln w="158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Elbow Connector 207"/>
              <p:cNvCxnSpPr/>
              <p:nvPr/>
            </p:nvCxnSpPr>
            <p:spPr>
              <a:xfrm flipV="1">
                <a:off x="5738855" y="4253989"/>
                <a:ext cx="1321220" cy="232770"/>
              </a:xfrm>
              <a:prstGeom prst="bentConnector4">
                <a:avLst>
                  <a:gd name="adj1" fmla="val 386"/>
                  <a:gd name="adj2" fmla="val 198209"/>
                </a:avLst>
              </a:prstGeom>
              <a:ln w="158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73869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wn Arrow 3"/>
          <p:cNvSpPr/>
          <p:nvPr/>
        </p:nvSpPr>
        <p:spPr>
          <a:xfrm>
            <a:off x="9058658" y="3037974"/>
            <a:ext cx="175261" cy="485293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32293" y="251398"/>
            <a:ext cx="6561904" cy="83563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Vanishing Gradient 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2975" y="4595645"/>
            <a:ext cx="2400300" cy="455253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952974" y="3536053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7929303" y="1663072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7929303" y="2572392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/>
          <p:cNvSpPr/>
          <p:nvPr/>
        </p:nvSpPr>
        <p:spPr>
          <a:xfrm>
            <a:off x="8051108" y="1719315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Oval 10"/>
          <p:cNvSpPr/>
          <p:nvPr/>
        </p:nvSpPr>
        <p:spPr>
          <a:xfrm>
            <a:off x="8967817" y="171296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9852776" y="171296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8590001" y="188290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ounded Rectangle 13"/>
          <p:cNvSpPr/>
          <p:nvPr/>
        </p:nvSpPr>
        <p:spPr>
          <a:xfrm>
            <a:off x="8756337" y="188290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ounded Rectangle 14"/>
          <p:cNvSpPr/>
          <p:nvPr/>
        </p:nvSpPr>
        <p:spPr>
          <a:xfrm>
            <a:off x="9491471" y="187020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ounded Rectangle 15"/>
          <p:cNvSpPr/>
          <p:nvPr/>
        </p:nvSpPr>
        <p:spPr>
          <a:xfrm>
            <a:off x="9657807" y="187020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/>
          <p:cNvSpPr/>
          <p:nvPr/>
        </p:nvSpPr>
        <p:spPr>
          <a:xfrm>
            <a:off x="8051108" y="2628635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/>
          <p:cNvSpPr/>
          <p:nvPr/>
        </p:nvSpPr>
        <p:spPr>
          <a:xfrm>
            <a:off x="8967817" y="262228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/>
          <p:cNvSpPr/>
          <p:nvPr/>
        </p:nvSpPr>
        <p:spPr>
          <a:xfrm>
            <a:off x="9852776" y="262228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ounded Rectangle 19"/>
          <p:cNvSpPr/>
          <p:nvPr/>
        </p:nvSpPr>
        <p:spPr>
          <a:xfrm>
            <a:off x="8590001" y="279222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ounded Rectangle 20"/>
          <p:cNvSpPr/>
          <p:nvPr/>
        </p:nvSpPr>
        <p:spPr>
          <a:xfrm>
            <a:off x="8756337" y="279222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ounded Rectangle 21"/>
          <p:cNvSpPr/>
          <p:nvPr/>
        </p:nvSpPr>
        <p:spPr>
          <a:xfrm>
            <a:off x="9491471" y="277952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ounded Rectangle 22"/>
          <p:cNvSpPr/>
          <p:nvPr/>
        </p:nvSpPr>
        <p:spPr>
          <a:xfrm>
            <a:off x="9657807" y="277952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Down Arrow 23"/>
          <p:cNvSpPr/>
          <p:nvPr/>
        </p:nvSpPr>
        <p:spPr>
          <a:xfrm>
            <a:off x="9041822" y="2125806"/>
            <a:ext cx="175261" cy="446585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/>
          <p:cNvSpPr/>
          <p:nvPr/>
        </p:nvSpPr>
        <p:spPr>
          <a:xfrm>
            <a:off x="8011649" y="3592296"/>
            <a:ext cx="486654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ounded Rectangle 25"/>
          <p:cNvSpPr/>
          <p:nvPr/>
        </p:nvSpPr>
        <p:spPr>
          <a:xfrm>
            <a:off x="8613672" y="375588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ounded Rectangle 26"/>
          <p:cNvSpPr/>
          <p:nvPr/>
        </p:nvSpPr>
        <p:spPr>
          <a:xfrm>
            <a:off x="8780008" y="375588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ounded Rectangle 27"/>
          <p:cNvSpPr/>
          <p:nvPr/>
        </p:nvSpPr>
        <p:spPr>
          <a:xfrm>
            <a:off x="9515142" y="374318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ounded Rectangle 28"/>
          <p:cNvSpPr/>
          <p:nvPr/>
        </p:nvSpPr>
        <p:spPr>
          <a:xfrm>
            <a:off x="9681478" y="374318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/>
          <p:cNvSpPr/>
          <p:nvPr/>
        </p:nvSpPr>
        <p:spPr>
          <a:xfrm>
            <a:off x="8106790" y="4651888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9023499" y="4645536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9908458" y="4645536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645683" y="481547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ounded Rectangle 33"/>
          <p:cNvSpPr/>
          <p:nvPr/>
        </p:nvSpPr>
        <p:spPr>
          <a:xfrm>
            <a:off x="8812019" y="481547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ounded Rectangle 34"/>
          <p:cNvSpPr/>
          <p:nvPr/>
        </p:nvSpPr>
        <p:spPr>
          <a:xfrm>
            <a:off x="9547153" y="480277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ounded Rectangle 35"/>
          <p:cNvSpPr/>
          <p:nvPr/>
        </p:nvSpPr>
        <p:spPr>
          <a:xfrm>
            <a:off x="9713489" y="480277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Down Arrow 36"/>
          <p:cNvSpPr/>
          <p:nvPr/>
        </p:nvSpPr>
        <p:spPr>
          <a:xfrm>
            <a:off x="9038757" y="4002423"/>
            <a:ext cx="215064" cy="593222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Down Arrow 37"/>
          <p:cNvSpPr/>
          <p:nvPr/>
        </p:nvSpPr>
        <p:spPr>
          <a:xfrm>
            <a:off x="9038757" y="1250506"/>
            <a:ext cx="175261" cy="393898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/>
              <p:nvPr/>
            </p:nvSpPr>
            <p:spPr>
              <a:xfrm>
                <a:off x="10297328" y="5574942"/>
                <a:ext cx="600870" cy="537198"/>
              </a:xfrm>
              <a:prstGeom prst="rect">
                <a:avLst/>
              </a:prstGeom>
              <a:solidFill>
                <a:srgbClr val="002060">
                  <a:alpha val="30000"/>
                </a:srgb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328" y="5574942"/>
                <a:ext cx="600870" cy="5371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91">
                <a:extLst>
                  <a:ext uri="{FF2B5EF4-FFF2-40B4-BE49-F238E27FC236}">
                    <a16:creationId xmlns:a16="http://schemas.microsoft.com/office/drawing/2014/main" id="{17140076-35EE-FC9C-9B3E-EDFDB8FD6B2F}"/>
                  </a:ext>
                </a:extLst>
              </p:cNvPr>
              <p:cNvSpPr txBox="1"/>
              <p:nvPr/>
            </p:nvSpPr>
            <p:spPr>
              <a:xfrm>
                <a:off x="8291934" y="5536983"/>
                <a:ext cx="184416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40" name="TextBox 91">
                <a:extLst>
                  <a:ext uri="{FF2B5EF4-FFF2-40B4-BE49-F238E27FC236}">
                    <a16:creationId xmlns:a16="http://schemas.microsoft.com/office/drawing/2014/main" id="{17140076-35EE-FC9C-9B3E-EDFDB8FD6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934" y="5536983"/>
                <a:ext cx="1844168" cy="5761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8053448" y="1730739"/>
                <a:ext cx="380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448" y="1730739"/>
                <a:ext cx="380938" cy="276999"/>
              </a:xfrm>
              <a:prstGeom prst="rect">
                <a:avLst/>
              </a:prstGeom>
              <a:blipFill>
                <a:blip r:embed="rId4"/>
                <a:stretch>
                  <a:fillRect l="-15873" r="-4762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8981286" y="1725001"/>
                <a:ext cx="3482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1286" y="1725001"/>
                <a:ext cx="348237" cy="276999"/>
              </a:xfrm>
              <a:prstGeom prst="rect">
                <a:avLst/>
              </a:prstGeom>
              <a:blipFill>
                <a:blip r:embed="rId5"/>
                <a:stretch>
                  <a:fillRect l="-15789" r="-8772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9844773" y="1734903"/>
                <a:ext cx="3950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4773" y="1734903"/>
                <a:ext cx="395045" cy="276999"/>
              </a:xfrm>
              <a:prstGeom prst="rect">
                <a:avLst/>
              </a:prstGeom>
              <a:blipFill>
                <a:blip r:embed="rId6"/>
                <a:stretch>
                  <a:fillRect l="-13846" r="-4615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8051978" y="2637487"/>
                <a:ext cx="3862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978" y="2637487"/>
                <a:ext cx="386260" cy="276999"/>
              </a:xfrm>
              <a:prstGeom prst="rect">
                <a:avLst/>
              </a:prstGeom>
              <a:blipFill>
                <a:blip r:embed="rId7"/>
                <a:stretch>
                  <a:fillRect l="-14286" r="-6349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8960672" y="2653046"/>
                <a:ext cx="3535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0672" y="2653046"/>
                <a:ext cx="353558" cy="276999"/>
              </a:xfrm>
              <a:prstGeom prst="rect">
                <a:avLst/>
              </a:prstGeom>
              <a:blipFill>
                <a:blip r:embed="rId8"/>
                <a:stretch>
                  <a:fillRect l="-17241" r="-5172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9837180" y="2633934"/>
                <a:ext cx="400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7180" y="2633934"/>
                <a:ext cx="400366" cy="276999"/>
              </a:xfrm>
              <a:prstGeom prst="rect">
                <a:avLst/>
              </a:prstGeom>
              <a:blipFill>
                <a:blip r:embed="rId9"/>
                <a:stretch>
                  <a:fillRect l="-13846" r="-615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556293" y="173073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293" y="1730739"/>
                <a:ext cx="283154" cy="276999"/>
              </a:xfrm>
              <a:prstGeom prst="rect">
                <a:avLst/>
              </a:prstGeom>
              <a:blipFill>
                <a:blip r:embed="rId10"/>
                <a:stretch>
                  <a:fillRect l="-21739" r="-6522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579242" y="2641020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242" y="2641020"/>
                <a:ext cx="288477" cy="276999"/>
              </a:xfrm>
              <a:prstGeom prst="rect">
                <a:avLst/>
              </a:prstGeom>
              <a:blipFill>
                <a:blip r:embed="rId11"/>
                <a:stretch>
                  <a:fillRect l="-20833" r="-6250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7555673" y="3617381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673" y="3617381"/>
                <a:ext cx="288477" cy="276999"/>
              </a:xfrm>
              <a:prstGeom prst="rect">
                <a:avLst/>
              </a:prstGeom>
              <a:blipFill>
                <a:blip r:embed="rId12"/>
                <a:stretch>
                  <a:fillRect l="-20833" r="-6250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/>
          <p:cNvSpPr/>
          <p:nvPr/>
        </p:nvSpPr>
        <p:spPr>
          <a:xfrm>
            <a:off x="9816157" y="3597066"/>
            <a:ext cx="468203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Oval 50"/>
          <p:cNvSpPr/>
          <p:nvPr/>
        </p:nvSpPr>
        <p:spPr>
          <a:xfrm>
            <a:off x="8916536" y="3592296"/>
            <a:ext cx="482866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8074669" y="3624247"/>
                <a:ext cx="3862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4669" y="3624247"/>
                <a:ext cx="386260" cy="276999"/>
              </a:xfrm>
              <a:prstGeom prst="rect">
                <a:avLst/>
              </a:prstGeom>
              <a:blipFill>
                <a:blip r:embed="rId13"/>
                <a:stretch>
                  <a:fillRect l="-14286" r="-6349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8967817" y="3623820"/>
                <a:ext cx="3535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7817" y="3623820"/>
                <a:ext cx="353558" cy="276999"/>
              </a:xfrm>
              <a:prstGeom prst="rect">
                <a:avLst/>
              </a:prstGeom>
              <a:blipFill>
                <a:blip r:embed="rId14"/>
                <a:stretch>
                  <a:fillRect l="-17241" r="-6897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9852776" y="3623819"/>
                <a:ext cx="400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776" y="3623819"/>
                <a:ext cx="400366" cy="276999"/>
              </a:xfrm>
              <a:prstGeom prst="rect">
                <a:avLst/>
              </a:prstGeom>
              <a:blipFill>
                <a:blip r:embed="rId15"/>
                <a:stretch>
                  <a:fillRect l="-13636" r="-6061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8166125" y="4671752"/>
                <a:ext cx="2564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125" y="4671752"/>
                <a:ext cx="256480" cy="276999"/>
              </a:xfrm>
              <a:prstGeom prst="rect">
                <a:avLst/>
              </a:prstGeom>
              <a:blipFill>
                <a:blip r:embed="rId16"/>
                <a:stretch>
                  <a:fillRect l="-23810" r="-7143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9969767" y="4651888"/>
                <a:ext cx="271869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9767" y="4651888"/>
                <a:ext cx="271869" cy="298415"/>
              </a:xfrm>
              <a:prstGeom prst="rect">
                <a:avLst/>
              </a:prstGeom>
              <a:blipFill>
                <a:blip r:embed="rId17"/>
                <a:stretch>
                  <a:fillRect l="-20000" r="-8889" b="-204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9078890" y="4677202"/>
                <a:ext cx="261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8890" y="4677202"/>
                <a:ext cx="261802" cy="276999"/>
              </a:xfrm>
              <a:prstGeom prst="rect">
                <a:avLst/>
              </a:prstGeom>
              <a:blipFill>
                <a:blip r:embed="rId18"/>
                <a:stretch>
                  <a:fillRect l="-20930" r="-9302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9330730" y="1266273"/>
                <a:ext cx="444352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730" y="1266273"/>
                <a:ext cx="444352" cy="300788"/>
              </a:xfrm>
              <a:prstGeom prst="rect">
                <a:avLst/>
              </a:prstGeom>
              <a:blipFill>
                <a:blip r:embed="rId19"/>
                <a:stretch>
                  <a:fillRect l="-1232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9324977" y="2156977"/>
                <a:ext cx="444352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4977" y="2156977"/>
                <a:ext cx="444352" cy="300788"/>
              </a:xfrm>
              <a:prstGeom prst="rect">
                <a:avLst/>
              </a:prstGeom>
              <a:blipFill>
                <a:blip r:embed="rId20"/>
                <a:stretch>
                  <a:fillRect l="-1232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9334421" y="3089303"/>
                <a:ext cx="444352" cy="302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421" y="3089303"/>
                <a:ext cx="444352" cy="302070"/>
              </a:xfrm>
              <a:prstGeom prst="rect">
                <a:avLst/>
              </a:prstGeom>
              <a:blipFill>
                <a:blip r:embed="rId21"/>
                <a:stretch>
                  <a:fillRect l="-1095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9358604" y="4246603"/>
                <a:ext cx="3609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8604" y="4246603"/>
                <a:ext cx="360933" cy="276999"/>
              </a:xfrm>
              <a:prstGeom prst="rect">
                <a:avLst/>
              </a:prstGeom>
              <a:blipFill>
                <a:blip r:embed="rId22"/>
                <a:stretch>
                  <a:fillRect l="-13559" r="-6780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Down Arrow 61"/>
          <p:cNvSpPr/>
          <p:nvPr/>
        </p:nvSpPr>
        <p:spPr>
          <a:xfrm>
            <a:off x="9024007" y="5050898"/>
            <a:ext cx="215064" cy="479733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Oval 62"/>
          <p:cNvSpPr/>
          <p:nvPr/>
        </p:nvSpPr>
        <p:spPr>
          <a:xfrm>
            <a:off x="7983706" y="5501818"/>
            <a:ext cx="2190367" cy="820886"/>
          </a:xfrm>
          <a:prstGeom prst="ellipse">
            <a:avLst/>
          </a:prstGeom>
          <a:solidFill>
            <a:srgbClr val="7030A0">
              <a:alpha val="14000"/>
            </a:srgbClr>
          </a:solidFill>
          <a:ln w="22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Up Arrow 63"/>
          <p:cNvSpPr/>
          <p:nvPr/>
        </p:nvSpPr>
        <p:spPr>
          <a:xfrm>
            <a:off x="8947901" y="5057250"/>
            <a:ext cx="367416" cy="426986"/>
          </a:xfrm>
          <a:prstGeom prst="upArrow">
            <a:avLst/>
          </a:prstGeom>
          <a:solidFill>
            <a:srgbClr val="7030A0">
              <a:alpha val="2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/>
              <p:nvPr/>
            </p:nvSpPr>
            <p:spPr>
              <a:xfrm>
                <a:off x="2613891" y="4851473"/>
                <a:ext cx="4745943" cy="576721"/>
              </a:xfrm>
              <a:prstGeom prst="rect">
                <a:avLst/>
              </a:prstGeom>
              <a:solidFill>
                <a:srgbClr val="0070C0">
                  <a:alpha val="51000"/>
                </a:srgbClr>
              </a:solidFill>
            </p:spPr>
            <p:txBody>
              <a:bodyPr wrap="square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I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IN" sz="1400" dirty="0"/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             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891" y="4851473"/>
                <a:ext cx="4745943" cy="57672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Content Placeholder 2"/>
          <p:cNvSpPr>
            <a:spLocks noGrp="1"/>
          </p:cNvSpPr>
          <p:nvPr>
            <p:ph idx="1"/>
          </p:nvPr>
        </p:nvSpPr>
        <p:spPr>
          <a:xfrm>
            <a:off x="382598" y="1628912"/>
            <a:ext cx="5951527" cy="1289107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10000"/>
              </a:lnSpc>
            </a:pPr>
            <a:r>
              <a:rPr lang="en-IN" sz="3100" dirty="0">
                <a:solidFill>
                  <a:srgbClr val="7030A0"/>
                </a:solidFill>
                <a:latin typeface="Arial Narrow" panose="020B0606020202030204" pitchFamily="34" charset="0"/>
              </a:rPr>
              <a:t>Vanishing Gradient Problem</a:t>
            </a:r>
          </a:p>
          <a:p>
            <a:pPr marL="457200" lvl="1" indent="0" algn="just">
              <a:lnSpc>
                <a:spcPct val="110000"/>
              </a:lnSpc>
              <a:buNone/>
            </a:pPr>
            <a:r>
              <a:rPr lang="en-US" dirty="0">
                <a:latin typeface="Arial Narrow" panose="020B0606020202030204" pitchFamily="34" charset="0"/>
              </a:rPr>
              <a:t>When these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derivatives are small</a:t>
            </a:r>
            <a:r>
              <a:rPr lang="en-US" dirty="0">
                <a:latin typeface="Arial Narrow" panose="020B0606020202030204" pitchFamily="34" charset="0"/>
              </a:rPr>
              <a:t>, the gradient signal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progressively diminishes </a:t>
            </a:r>
            <a:r>
              <a:rPr lang="en-US" dirty="0">
                <a:latin typeface="Arial Narrow" panose="020B0606020202030204" pitchFamily="34" charset="0"/>
              </a:rPr>
              <a:t>as it is back-propagated through the network. 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929225" y="3355770"/>
            <a:ext cx="4230262" cy="400110"/>
          </a:xfrm>
          <a:prstGeom prst="rect">
            <a:avLst/>
          </a:prstGeom>
          <a:noFill/>
          <a:ln w="22225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 rtlCol="0">
            <a:normAutofit/>
          </a:bodyPr>
          <a:lstStyle/>
          <a:p>
            <a:pPr algn="ctr"/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What happens if the derivatives are small?</a:t>
            </a:r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3516174" y="4810251"/>
            <a:ext cx="733425" cy="696481"/>
          </a:xfrm>
          <a:prstGeom prst="ellipse">
            <a:avLst/>
          </a:prstGeom>
          <a:solidFill>
            <a:schemeClr val="accent4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Oval 69"/>
          <p:cNvSpPr/>
          <p:nvPr/>
        </p:nvSpPr>
        <p:spPr>
          <a:xfrm>
            <a:off x="4530460" y="4747281"/>
            <a:ext cx="843502" cy="783350"/>
          </a:xfrm>
          <a:prstGeom prst="ellipse">
            <a:avLst/>
          </a:prstGeom>
          <a:solidFill>
            <a:schemeClr val="accent4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Oval 70"/>
          <p:cNvSpPr/>
          <p:nvPr/>
        </p:nvSpPr>
        <p:spPr>
          <a:xfrm>
            <a:off x="5836111" y="4773252"/>
            <a:ext cx="745513" cy="710984"/>
          </a:xfrm>
          <a:prstGeom prst="ellipse">
            <a:avLst/>
          </a:prstGeom>
          <a:solidFill>
            <a:schemeClr val="accent4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3" name="Straight Arrow Connector 72"/>
          <p:cNvCxnSpPr>
            <a:stCxn id="68" idx="2"/>
            <a:endCxn id="69" idx="0"/>
          </p:cNvCxnSpPr>
          <p:nvPr/>
        </p:nvCxnSpPr>
        <p:spPr>
          <a:xfrm flipH="1">
            <a:off x="3882887" y="3755880"/>
            <a:ext cx="1161469" cy="1054371"/>
          </a:xfrm>
          <a:prstGeom prst="straightConnector1">
            <a:avLst/>
          </a:prstGeom>
          <a:ln w="15875">
            <a:solidFill>
              <a:srgbClr val="FF0000">
                <a:alpha val="54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68" idx="2"/>
            <a:endCxn id="70" idx="0"/>
          </p:cNvCxnSpPr>
          <p:nvPr/>
        </p:nvCxnSpPr>
        <p:spPr>
          <a:xfrm flipH="1">
            <a:off x="4952211" y="3755880"/>
            <a:ext cx="92145" cy="991401"/>
          </a:xfrm>
          <a:prstGeom prst="straightConnector1">
            <a:avLst/>
          </a:prstGeom>
          <a:ln w="15875">
            <a:solidFill>
              <a:srgbClr val="FF0000">
                <a:alpha val="54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8" idx="2"/>
            <a:endCxn id="71" idx="0"/>
          </p:cNvCxnSpPr>
          <p:nvPr/>
        </p:nvCxnSpPr>
        <p:spPr>
          <a:xfrm>
            <a:off x="5044356" y="3755880"/>
            <a:ext cx="1164512" cy="1017372"/>
          </a:xfrm>
          <a:prstGeom prst="straightConnector1">
            <a:avLst/>
          </a:prstGeom>
          <a:ln w="15875">
            <a:solidFill>
              <a:srgbClr val="FF0000">
                <a:alpha val="54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Up Arrow 95"/>
          <p:cNvSpPr/>
          <p:nvPr/>
        </p:nvSpPr>
        <p:spPr>
          <a:xfrm>
            <a:off x="8960593" y="3974187"/>
            <a:ext cx="367416" cy="621458"/>
          </a:xfrm>
          <a:prstGeom prst="upArrow">
            <a:avLst/>
          </a:prstGeom>
          <a:solidFill>
            <a:srgbClr val="7030A0">
              <a:alpha val="2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Up Arrow 96"/>
          <p:cNvSpPr/>
          <p:nvPr/>
        </p:nvSpPr>
        <p:spPr>
          <a:xfrm>
            <a:off x="8966999" y="2991873"/>
            <a:ext cx="367416" cy="559194"/>
          </a:xfrm>
          <a:prstGeom prst="upArrow">
            <a:avLst/>
          </a:prstGeom>
          <a:solidFill>
            <a:srgbClr val="7030A0">
              <a:alpha val="2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Up Arrow 97"/>
          <p:cNvSpPr/>
          <p:nvPr/>
        </p:nvSpPr>
        <p:spPr>
          <a:xfrm>
            <a:off x="8942679" y="2101290"/>
            <a:ext cx="367416" cy="464733"/>
          </a:xfrm>
          <a:prstGeom prst="upArrow">
            <a:avLst/>
          </a:prstGeom>
          <a:solidFill>
            <a:srgbClr val="7030A0">
              <a:alpha val="2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485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965" y="403435"/>
            <a:ext cx="10818091" cy="567748"/>
          </a:xfrm>
        </p:spPr>
        <p:txBody>
          <a:bodyPr>
            <a:noAutofit/>
          </a:bodyPr>
          <a:lstStyle/>
          <a:p>
            <a:r>
              <a:rPr lang="en-IN" sz="3000" dirty="0">
                <a:latin typeface="Century" panose="02040604050505020304" pitchFamily="18" charset="0"/>
              </a:rPr>
              <a:t>How SKIP Connection helps Vanishing </a:t>
            </a:r>
            <a:br>
              <a:rPr lang="en-IN" sz="3000" dirty="0">
                <a:latin typeface="Century" panose="02040604050505020304" pitchFamily="18" charset="0"/>
              </a:rPr>
            </a:br>
            <a:r>
              <a:rPr lang="en-IN" sz="3000" dirty="0">
                <a:latin typeface="Century" panose="02040604050505020304" pitchFamily="18" charset="0"/>
              </a:rPr>
              <a:t>Gradient Problem 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56572" y="1225218"/>
                <a:ext cx="7327323" cy="536373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A residual block computes:</a:t>
                </a:r>
                <a:endParaRPr lang="en-IN" sz="2400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40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sz="240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                           where x= Input and F(x)= a few conv layers</a:t>
                </a:r>
              </a:p>
              <a:p>
                <a:pPr marL="0" indent="0">
                  <a:buNone/>
                </a:pPr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Now, the Gradient flow with a skip connection:</a:t>
                </a:r>
              </a:p>
              <a:p>
                <a:pPr marL="0" indent="0">
                  <a:buNone/>
                </a:pPr>
                <a:endParaRPr lang="en-US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IN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den>
                      </m:f>
                      <m:r>
                        <a:rPr lang="en-IN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IN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den>
                      </m:f>
                      <m:r>
                        <a:rPr lang="en-IN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IN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den>
                      </m:f>
                      <m:r>
                        <a:rPr lang="en-IN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.(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I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IN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+1</m:t>
                      </m:r>
                      <m:r>
                        <a:rPr lang="en-IN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2400" dirty="0">
                  <a:solidFill>
                    <a:srgbClr val="00B0F0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400" dirty="0">
                    <a:solidFill>
                      <a:srgbClr val="00B0F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This +1 is very important</a:t>
                </a:r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. Even if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IN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  <m:r>
                          <a:rPr lang="en-IN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den>
                    </m:f>
                    <m:r>
                      <a:rPr lang="en-IN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≈0</m:t>
                    </m:r>
                  </m:oMath>
                </a14:m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the gradient has a direct path i.e.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𝑑𝑦</m:t>
                        </m:r>
                      </m:den>
                    </m:f>
                  </m:oMath>
                </a14:m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So the gradient </a:t>
                </a:r>
                <a:r>
                  <a:rPr lang="en-US" sz="2400" dirty="0">
                    <a:solidFill>
                      <a:srgbClr val="00B0F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does NOT vanish.</a:t>
                </a:r>
                <a:endParaRPr lang="en-IN" sz="2400" dirty="0">
                  <a:solidFill>
                    <a:srgbClr val="00B0F0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6572" y="1225218"/>
                <a:ext cx="7327323" cy="5363730"/>
              </a:xfrm>
              <a:blipFill>
                <a:blip r:embed="rId2"/>
                <a:stretch>
                  <a:fillRect l="-1082" t="-1932" r="-1331" b="-1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0DC5DDBE-76BB-4D98-9912-CB70A207B7A4}"/>
              </a:ext>
            </a:extLst>
          </p:cNvPr>
          <p:cNvSpPr/>
          <p:nvPr/>
        </p:nvSpPr>
        <p:spPr>
          <a:xfrm>
            <a:off x="1733859" y="2918945"/>
            <a:ext cx="957532" cy="2846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D96D5C-0CDF-4883-AACA-128DDBB08D55}"/>
              </a:ext>
            </a:extLst>
          </p:cNvPr>
          <p:cNvSpPr txBox="1"/>
          <p:nvPr/>
        </p:nvSpPr>
        <p:spPr>
          <a:xfrm>
            <a:off x="1500438" y="3263624"/>
            <a:ext cx="753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A986255-7176-4430-9491-E4C667F6DA8C}"/>
              </a:ext>
            </a:extLst>
          </p:cNvPr>
          <p:cNvCxnSpPr>
            <a:cxnSpLocks/>
          </p:cNvCxnSpPr>
          <p:nvPr/>
        </p:nvCxnSpPr>
        <p:spPr>
          <a:xfrm flipV="1">
            <a:off x="2212625" y="2442133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9D3160D-10BA-4FA7-9E25-6AC6DC4E0D73}"/>
                  </a:ext>
                </a:extLst>
              </p:cNvPr>
              <p:cNvSpPr txBox="1"/>
              <p:nvPr/>
            </p:nvSpPr>
            <p:spPr>
              <a:xfrm>
                <a:off x="2059595" y="4349498"/>
                <a:ext cx="287106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9D3160D-10BA-4FA7-9E25-6AC6DC4E0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595" y="4349498"/>
                <a:ext cx="287106" cy="3693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BEA69605-6768-492B-B366-853A49422DE3}"/>
              </a:ext>
            </a:extLst>
          </p:cNvPr>
          <p:cNvSpPr txBox="1"/>
          <p:nvPr/>
        </p:nvSpPr>
        <p:spPr>
          <a:xfrm>
            <a:off x="1918096" y="2857490"/>
            <a:ext cx="63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795BC59-9925-4205-B1D4-3E73566BC2D3}"/>
              </a:ext>
            </a:extLst>
          </p:cNvPr>
          <p:cNvSpPr/>
          <p:nvPr/>
        </p:nvSpPr>
        <p:spPr>
          <a:xfrm>
            <a:off x="2076579" y="2175296"/>
            <a:ext cx="270122" cy="267008"/>
          </a:xfrm>
          <a:prstGeom prst="ellipse">
            <a:avLst/>
          </a:prstGeom>
          <a:solidFill>
            <a:schemeClr val="accent4">
              <a:lumMod val="60000"/>
              <a:lumOff val="40000"/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Plus Sign 24">
            <a:extLst>
              <a:ext uri="{FF2B5EF4-FFF2-40B4-BE49-F238E27FC236}">
                <a16:creationId xmlns:a16="http://schemas.microsoft.com/office/drawing/2014/main" id="{34F60B51-CD34-4345-B8F9-081D58E1088C}"/>
              </a:ext>
            </a:extLst>
          </p:cNvPr>
          <p:cNvSpPr/>
          <p:nvPr/>
        </p:nvSpPr>
        <p:spPr>
          <a:xfrm>
            <a:off x="2099791" y="2206689"/>
            <a:ext cx="218717" cy="203802"/>
          </a:xfrm>
          <a:prstGeom prst="mathPlus">
            <a:avLst/>
          </a:prstGeom>
          <a:solidFill>
            <a:srgbClr val="FF0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BAD6D6A-D029-413A-8FC3-FA9679845E85}"/>
              </a:ext>
            </a:extLst>
          </p:cNvPr>
          <p:cNvSpPr/>
          <p:nvPr/>
        </p:nvSpPr>
        <p:spPr>
          <a:xfrm>
            <a:off x="1733859" y="3680428"/>
            <a:ext cx="957532" cy="2846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C41726D-4D0C-4CFC-AC80-0AC25B906581}"/>
              </a:ext>
            </a:extLst>
          </p:cNvPr>
          <p:cNvCxnSpPr>
            <a:cxnSpLocks/>
          </p:cNvCxnSpPr>
          <p:nvPr/>
        </p:nvCxnSpPr>
        <p:spPr>
          <a:xfrm flipV="1">
            <a:off x="2212625" y="3965099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A71D684-14FF-4D11-B88B-677E325B0F2E}"/>
                  </a:ext>
                </a:extLst>
              </p:cNvPr>
              <p:cNvSpPr txBox="1"/>
              <p:nvPr/>
            </p:nvSpPr>
            <p:spPr>
              <a:xfrm>
                <a:off x="542636" y="2129862"/>
                <a:ext cx="1541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A71D684-14FF-4D11-B88B-677E325B0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36" y="2129862"/>
                <a:ext cx="1541044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7F9F5C10-9644-4848-B3D2-A6F8E7C9E916}"/>
              </a:ext>
            </a:extLst>
          </p:cNvPr>
          <p:cNvSpPr txBox="1"/>
          <p:nvPr/>
        </p:nvSpPr>
        <p:spPr>
          <a:xfrm>
            <a:off x="1943760" y="3618624"/>
            <a:ext cx="66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E440034-271D-4435-B459-0A0EF87FA4CC}"/>
              </a:ext>
            </a:extLst>
          </p:cNvPr>
          <p:cNvCxnSpPr>
            <a:cxnSpLocks/>
          </p:cNvCxnSpPr>
          <p:nvPr/>
        </p:nvCxnSpPr>
        <p:spPr>
          <a:xfrm flipV="1">
            <a:off x="2215103" y="1653050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6AFA1BD-884A-48E3-B1E1-DA6EC55E09FC}"/>
                  </a:ext>
                </a:extLst>
              </p:cNvPr>
              <p:cNvSpPr txBox="1"/>
              <p:nvPr/>
            </p:nvSpPr>
            <p:spPr>
              <a:xfrm>
                <a:off x="1811405" y="3274003"/>
                <a:ext cx="19883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6AFA1BD-884A-48E3-B1E1-DA6EC55E0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405" y="3274003"/>
                <a:ext cx="198838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EB71B0F-4FC9-4825-985E-8C6CD5D5A853}"/>
              </a:ext>
            </a:extLst>
          </p:cNvPr>
          <p:cNvCxnSpPr>
            <a:cxnSpLocks/>
          </p:cNvCxnSpPr>
          <p:nvPr/>
        </p:nvCxnSpPr>
        <p:spPr>
          <a:xfrm flipV="1">
            <a:off x="2211639" y="3203616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CD14373-2617-4049-A946-486D9E6746DB}"/>
              </a:ext>
            </a:extLst>
          </p:cNvPr>
          <p:cNvSpPr txBox="1"/>
          <p:nvPr/>
        </p:nvSpPr>
        <p:spPr>
          <a:xfrm>
            <a:off x="1683800" y="4793575"/>
            <a:ext cx="1715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Block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804E65-E31D-4B32-9DD9-A4812CCD002F}"/>
              </a:ext>
            </a:extLst>
          </p:cNvPr>
          <p:cNvSpPr txBox="1"/>
          <p:nvPr/>
        </p:nvSpPr>
        <p:spPr>
          <a:xfrm>
            <a:off x="3512874" y="2754333"/>
            <a:ext cx="1062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Identity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AA9A62-BC62-48EF-96D5-B9D876D43D17}"/>
              </a:ext>
            </a:extLst>
          </p:cNvPr>
          <p:cNvSpPr txBox="1"/>
          <p:nvPr/>
        </p:nvSpPr>
        <p:spPr>
          <a:xfrm>
            <a:off x="2269542" y="1829988"/>
            <a:ext cx="753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sz="16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889A1FD-894A-41C4-976F-EF44BA975AC7}"/>
                  </a:ext>
                </a:extLst>
              </p:cNvPr>
              <p:cNvSpPr txBox="1"/>
              <p:nvPr/>
            </p:nvSpPr>
            <p:spPr>
              <a:xfrm>
                <a:off x="3799794" y="3017854"/>
                <a:ext cx="287106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889A1FD-894A-41C4-976F-EF44BA975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794" y="3017854"/>
                <a:ext cx="287106" cy="3693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Arc 49"/>
          <p:cNvSpPr/>
          <p:nvPr/>
        </p:nvSpPr>
        <p:spPr>
          <a:xfrm>
            <a:off x="1592779" y="2318327"/>
            <a:ext cx="1599304" cy="2207491"/>
          </a:xfrm>
          <a:prstGeom prst="arc">
            <a:avLst>
              <a:gd name="adj1" fmla="val 16345712"/>
              <a:gd name="adj2" fmla="val 5583087"/>
            </a:avLst>
          </a:prstGeom>
          <a:ln w="19050">
            <a:solidFill>
              <a:srgbClr val="0070C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4B7BA1-FB65-447E-8AA5-67E204B83977}"/>
              </a:ext>
            </a:extLst>
          </p:cNvPr>
          <p:cNvSpPr txBox="1"/>
          <p:nvPr/>
        </p:nvSpPr>
        <p:spPr>
          <a:xfrm>
            <a:off x="9342039" y="6432654"/>
            <a:ext cx="2453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Credit: Fei  Li et. al. </a:t>
            </a:r>
          </a:p>
        </p:txBody>
      </p:sp>
    </p:spTree>
    <p:extLst>
      <p:ext uri="{BB962C8B-B14F-4D97-AF65-F5344CB8AC3E}">
        <p14:creationId xmlns:p14="http://schemas.microsoft.com/office/powerpoint/2010/main" val="4041381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1579418" y="2443942"/>
            <a:ext cx="1856510" cy="3114971"/>
          </a:xfrm>
          <a:prstGeom prst="rect">
            <a:avLst/>
          </a:prstGeom>
          <a:solidFill>
            <a:schemeClr val="accent5">
              <a:lumMod val="40000"/>
              <a:lumOff val="60000"/>
              <a:alpha val="8000"/>
            </a:schemeClr>
          </a:solidFill>
          <a:ln w="158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1690256" y="2600960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4979"/>
            <a:ext cx="10515600" cy="90949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Identity Mapping with SKIP Connections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237" y="1197553"/>
            <a:ext cx="8355764" cy="52041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If additional layers are unnecessary, the network can easily learn an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identity mapping.</a:t>
            </a:r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Diamond 5"/>
          <p:cNvSpPr/>
          <p:nvPr/>
        </p:nvSpPr>
        <p:spPr>
          <a:xfrm>
            <a:off x="1810328" y="26563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Diamond 8"/>
          <p:cNvSpPr/>
          <p:nvPr/>
        </p:nvSpPr>
        <p:spPr>
          <a:xfrm>
            <a:off x="2115128" y="26563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iamond 9"/>
          <p:cNvSpPr/>
          <p:nvPr/>
        </p:nvSpPr>
        <p:spPr>
          <a:xfrm>
            <a:off x="2419928" y="26563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iamond 10"/>
          <p:cNvSpPr/>
          <p:nvPr/>
        </p:nvSpPr>
        <p:spPr>
          <a:xfrm>
            <a:off x="2724728" y="26563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Diamond 11"/>
          <p:cNvSpPr/>
          <p:nvPr/>
        </p:nvSpPr>
        <p:spPr>
          <a:xfrm>
            <a:off x="3029528" y="26563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ounded Rectangle 13"/>
          <p:cNvSpPr/>
          <p:nvPr/>
        </p:nvSpPr>
        <p:spPr>
          <a:xfrm>
            <a:off x="1690256" y="3219795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Diamond 14"/>
          <p:cNvSpPr/>
          <p:nvPr/>
        </p:nvSpPr>
        <p:spPr>
          <a:xfrm>
            <a:off x="1810328" y="327521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Diamond 15"/>
          <p:cNvSpPr/>
          <p:nvPr/>
        </p:nvSpPr>
        <p:spPr>
          <a:xfrm>
            <a:off x="2115128" y="327521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Diamond 16"/>
          <p:cNvSpPr/>
          <p:nvPr/>
        </p:nvSpPr>
        <p:spPr>
          <a:xfrm>
            <a:off x="2419928" y="327521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Diamond 17"/>
          <p:cNvSpPr/>
          <p:nvPr/>
        </p:nvSpPr>
        <p:spPr>
          <a:xfrm>
            <a:off x="2724728" y="327521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Diamond 18"/>
          <p:cNvSpPr/>
          <p:nvPr/>
        </p:nvSpPr>
        <p:spPr>
          <a:xfrm>
            <a:off x="3029528" y="327521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ounded Rectangle 19"/>
          <p:cNvSpPr/>
          <p:nvPr/>
        </p:nvSpPr>
        <p:spPr>
          <a:xfrm>
            <a:off x="1690256" y="3972560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Diamond 20"/>
          <p:cNvSpPr/>
          <p:nvPr/>
        </p:nvSpPr>
        <p:spPr>
          <a:xfrm>
            <a:off x="1810328" y="40279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Diamond 21"/>
          <p:cNvSpPr/>
          <p:nvPr/>
        </p:nvSpPr>
        <p:spPr>
          <a:xfrm>
            <a:off x="2115128" y="40279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Diamond 22"/>
          <p:cNvSpPr/>
          <p:nvPr/>
        </p:nvSpPr>
        <p:spPr>
          <a:xfrm>
            <a:off x="2419928" y="40279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Diamond 23"/>
          <p:cNvSpPr/>
          <p:nvPr/>
        </p:nvSpPr>
        <p:spPr>
          <a:xfrm>
            <a:off x="2724728" y="40279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Diamond 24"/>
          <p:cNvSpPr/>
          <p:nvPr/>
        </p:nvSpPr>
        <p:spPr>
          <a:xfrm>
            <a:off x="3029528" y="40279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ounded Rectangle 25"/>
          <p:cNvSpPr/>
          <p:nvPr/>
        </p:nvSpPr>
        <p:spPr>
          <a:xfrm>
            <a:off x="1690256" y="5175101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Diamond 26"/>
          <p:cNvSpPr/>
          <p:nvPr/>
        </p:nvSpPr>
        <p:spPr>
          <a:xfrm>
            <a:off x="1810328" y="5230519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Diamond 27"/>
          <p:cNvSpPr/>
          <p:nvPr/>
        </p:nvSpPr>
        <p:spPr>
          <a:xfrm>
            <a:off x="2115128" y="5230519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Diamond 28"/>
          <p:cNvSpPr/>
          <p:nvPr/>
        </p:nvSpPr>
        <p:spPr>
          <a:xfrm>
            <a:off x="2419928" y="5230519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Diamond 29"/>
          <p:cNvSpPr/>
          <p:nvPr/>
        </p:nvSpPr>
        <p:spPr>
          <a:xfrm>
            <a:off x="2724728" y="5230519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Diamond 30"/>
          <p:cNvSpPr/>
          <p:nvPr/>
        </p:nvSpPr>
        <p:spPr>
          <a:xfrm>
            <a:off x="3029528" y="5230519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Arrow Connector 32"/>
          <p:cNvCxnSpPr>
            <a:stCxn id="13" idx="2"/>
            <a:endCxn id="14" idx="0"/>
          </p:cNvCxnSpPr>
          <p:nvPr/>
        </p:nvCxnSpPr>
        <p:spPr>
          <a:xfrm>
            <a:off x="2501324" y="2924810"/>
            <a:ext cx="0" cy="294985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4" idx="2"/>
            <a:endCxn id="20" idx="0"/>
          </p:cNvCxnSpPr>
          <p:nvPr/>
        </p:nvCxnSpPr>
        <p:spPr>
          <a:xfrm>
            <a:off x="2501324" y="3543645"/>
            <a:ext cx="0" cy="428915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0" idx="2"/>
          </p:cNvCxnSpPr>
          <p:nvPr/>
        </p:nvCxnSpPr>
        <p:spPr>
          <a:xfrm>
            <a:off x="2501324" y="4296410"/>
            <a:ext cx="0" cy="294985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2472748" y="4591972"/>
            <a:ext cx="57149" cy="65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/>
          <p:cNvSpPr/>
          <p:nvPr/>
        </p:nvSpPr>
        <p:spPr>
          <a:xfrm>
            <a:off x="2472747" y="4696750"/>
            <a:ext cx="57149" cy="65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40"/>
          <p:cNvSpPr/>
          <p:nvPr/>
        </p:nvSpPr>
        <p:spPr>
          <a:xfrm>
            <a:off x="2472747" y="4804703"/>
            <a:ext cx="57149" cy="65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2" name="Straight Arrow Connector 41"/>
          <p:cNvCxnSpPr>
            <a:stCxn id="41" idx="4"/>
            <a:endCxn id="26" idx="0"/>
          </p:cNvCxnSpPr>
          <p:nvPr/>
        </p:nvCxnSpPr>
        <p:spPr>
          <a:xfrm>
            <a:off x="2501322" y="4869935"/>
            <a:ext cx="2" cy="305166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46" idx="0"/>
          </p:cNvCxnSpPr>
          <p:nvPr/>
        </p:nvCxnSpPr>
        <p:spPr>
          <a:xfrm>
            <a:off x="2501324" y="2165985"/>
            <a:ext cx="6349" cy="277957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6" idx="2"/>
          </p:cNvCxnSpPr>
          <p:nvPr/>
        </p:nvCxnSpPr>
        <p:spPr>
          <a:xfrm>
            <a:off x="2507673" y="5558913"/>
            <a:ext cx="0" cy="428915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4305962" y="2107852"/>
            <a:ext cx="1856510" cy="2890058"/>
          </a:xfrm>
          <a:prstGeom prst="rect">
            <a:avLst/>
          </a:prstGeom>
          <a:solidFill>
            <a:schemeClr val="accent5">
              <a:lumMod val="40000"/>
              <a:lumOff val="60000"/>
              <a:alpha val="8000"/>
            </a:schemeClr>
          </a:solidFill>
          <a:ln w="158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ounded Rectangle 56"/>
          <p:cNvSpPr/>
          <p:nvPr/>
        </p:nvSpPr>
        <p:spPr>
          <a:xfrm>
            <a:off x="4407276" y="2264870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Diamond 57"/>
          <p:cNvSpPr/>
          <p:nvPr/>
        </p:nvSpPr>
        <p:spPr>
          <a:xfrm>
            <a:off x="4527348" y="23202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Diamond 58"/>
          <p:cNvSpPr/>
          <p:nvPr/>
        </p:nvSpPr>
        <p:spPr>
          <a:xfrm>
            <a:off x="4832148" y="23202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Diamond 59"/>
          <p:cNvSpPr/>
          <p:nvPr/>
        </p:nvSpPr>
        <p:spPr>
          <a:xfrm>
            <a:off x="5136948" y="23202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Diamond 60"/>
          <p:cNvSpPr/>
          <p:nvPr/>
        </p:nvSpPr>
        <p:spPr>
          <a:xfrm>
            <a:off x="5441748" y="23202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Diamond 61"/>
          <p:cNvSpPr/>
          <p:nvPr/>
        </p:nvSpPr>
        <p:spPr>
          <a:xfrm>
            <a:off x="5746548" y="23202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ounded Rectangle 62"/>
          <p:cNvSpPr/>
          <p:nvPr/>
        </p:nvSpPr>
        <p:spPr>
          <a:xfrm>
            <a:off x="4407276" y="2883705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Diamond 63"/>
          <p:cNvSpPr/>
          <p:nvPr/>
        </p:nvSpPr>
        <p:spPr>
          <a:xfrm>
            <a:off x="4527348" y="293912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Diamond 64"/>
          <p:cNvSpPr/>
          <p:nvPr/>
        </p:nvSpPr>
        <p:spPr>
          <a:xfrm>
            <a:off x="4832148" y="293912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Diamond 65"/>
          <p:cNvSpPr/>
          <p:nvPr/>
        </p:nvSpPr>
        <p:spPr>
          <a:xfrm>
            <a:off x="5136948" y="293912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Diamond 66"/>
          <p:cNvSpPr/>
          <p:nvPr/>
        </p:nvSpPr>
        <p:spPr>
          <a:xfrm>
            <a:off x="5441748" y="293912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Diamond 67"/>
          <p:cNvSpPr/>
          <p:nvPr/>
        </p:nvSpPr>
        <p:spPr>
          <a:xfrm>
            <a:off x="5746548" y="293912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ounded Rectangle 68"/>
          <p:cNvSpPr/>
          <p:nvPr/>
        </p:nvSpPr>
        <p:spPr>
          <a:xfrm>
            <a:off x="4407276" y="3636470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Diamond 69"/>
          <p:cNvSpPr/>
          <p:nvPr/>
        </p:nvSpPr>
        <p:spPr>
          <a:xfrm>
            <a:off x="4527348" y="36918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Diamond 70"/>
          <p:cNvSpPr/>
          <p:nvPr/>
        </p:nvSpPr>
        <p:spPr>
          <a:xfrm>
            <a:off x="4832148" y="36918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Diamond 71"/>
          <p:cNvSpPr/>
          <p:nvPr/>
        </p:nvSpPr>
        <p:spPr>
          <a:xfrm>
            <a:off x="5136948" y="36918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Diamond 72"/>
          <p:cNvSpPr/>
          <p:nvPr/>
        </p:nvSpPr>
        <p:spPr>
          <a:xfrm>
            <a:off x="5441748" y="36918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Diamond 73"/>
          <p:cNvSpPr/>
          <p:nvPr/>
        </p:nvSpPr>
        <p:spPr>
          <a:xfrm>
            <a:off x="5746548" y="36918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ounded Rectangle 74"/>
          <p:cNvSpPr/>
          <p:nvPr/>
        </p:nvSpPr>
        <p:spPr>
          <a:xfrm>
            <a:off x="4413626" y="4609498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Diamond 75"/>
          <p:cNvSpPr/>
          <p:nvPr/>
        </p:nvSpPr>
        <p:spPr>
          <a:xfrm>
            <a:off x="4533698" y="4664916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Diamond 76"/>
          <p:cNvSpPr/>
          <p:nvPr/>
        </p:nvSpPr>
        <p:spPr>
          <a:xfrm>
            <a:off x="4838498" y="4664916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Diamond 77"/>
          <p:cNvSpPr/>
          <p:nvPr/>
        </p:nvSpPr>
        <p:spPr>
          <a:xfrm>
            <a:off x="5143298" y="4664916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Diamond 78"/>
          <p:cNvSpPr/>
          <p:nvPr/>
        </p:nvSpPr>
        <p:spPr>
          <a:xfrm>
            <a:off x="5448098" y="4664916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Diamond 79"/>
          <p:cNvSpPr/>
          <p:nvPr/>
        </p:nvSpPr>
        <p:spPr>
          <a:xfrm>
            <a:off x="5752898" y="4664916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1" name="Straight Arrow Connector 80"/>
          <p:cNvCxnSpPr>
            <a:stCxn id="57" idx="2"/>
            <a:endCxn id="63" idx="0"/>
          </p:cNvCxnSpPr>
          <p:nvPr/>
        </p:nvCxnSpPr>
        <p:spPr>
          <a:xfrm>
            <a:off x="5218344" y="2588720"/>
            <a:ext cx="0" cy="294985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63" idx="2"/>
            <a:endCxn id="69" idx="0"/>
          </p:cNvCxnSpPr>
          <p:nvPr/>
        </p:nvCxnSpPr>
        <p:spPr>
          <a:xfrm>
            <a:off x="5218344" y="3207555"/>
            <a:ext cx="0" cy="428915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69" idx="2"/>
            <a:endCxn id="84" idx="0"/>
          </p:cNvCxnSpPr>
          <p:nvPr/>
        </p:nvCxnSpPr>
        <p:spPr>
          <a:xfrm>
            <a:off x="5218344" y="3960320"/>
            <a:ext cx="3388" cy="202809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5193157" y="4163129"/>
            <a:ext cx="57149" cy="65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Oval 84"/>
          <p:cNvSpPr/>
          <p:nvPr/>
        </p:nvSpPr>
        <p:spPr>
          <a:xfrm>
            <a:off x="5196117" y="4266464"/>
            <a:ext cx="57149" cy="65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Oval 85"/>
          <p:cNvSpPr/>
          <p:nvPr/>
        </p:nvSpPr>
        <p:spPr>
          <a:xfrm>
            <a:off x="5196118" y="4371047"/>
            <a:ext cx="57149" cy="65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7" name="Straight Arrow Connector 86"/>
          <p:cNvCxnSpPr>
            <a:stCxn id="86" idx="4"/>
            <a:endCxn id="75" idx="0"/>
          </p:cNvCxnSpPr>
          <p:nvPr/>
        </p:nvCxnSpPr>
        <p:spPr>
          <a:xfrm>
            <a:off x="5224693" y="4436279"/>
            <a:ext cx="1" cy="173219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endCxn id="56" idx="0"/>
          </p:cNvCxnSpPr>
          <p:nvPr/>
        </p:nvCxnSpPr>
        <p:spPr>
          <a:xfrm>
            <a:off x="5224694" y="1741294"/>
            <a:ext cx="9523" cy="366558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56" idx="2"/>
          </p:cNvCxnSpPr>
          <p:nvPr/>
        </p:nvCxnSpPr>
        <p:spPr>
          <a:xfrm>
            <a:off x="5234217" y="4997910"/>
            <a:ext cx="0" cy="302419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4566AB0A-7C84-4BA2-B15E-C5EE4BDCC93D}"/>
              </a:ext>
            </a:extLst>
          </p:cNvPr>
          <p:cNvSpPr txBox="1"/>
          <p:nvPr/>
        </p:nvSpPr>
        <p:spPr>
          <a:xfrm rot="16200000">
            <a:off x="482654" y="3927825"/>
            <a:ext cx="149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Network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566AB0A-7C84-4BA2-B15E-C5EE4BDCC93D}"/>
              </a:ext>
            </a:extLst>
          </p:cNvPr>
          <p:cNvSpPr txBox="1"/>
          <p:nvPr/>
        </p:nvSpPr>
        <p:spPr>
          <a:xfrm rot="16200000">
            <a:off x="3324464" y="3302983"/>
            <a:ext cx="149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Network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1F12D70-344B-453B-A183-1CB027A5B2E1}"/>
              </a:ext>
            </a:extLst>
          </p:cNvPr>
          <p:cNvSpPr txBox="1"/>
          <p:nvPr/>
        </p:nvSpPr>
        <p:spPr>
          <a:xfrm>
            <a:off x="2595173" y="1863028"/>
            <a:ext cx="361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1608780-F88E-4717-9B96-0816C2384788}"/>
                  </a:ext>
                </a:extLst>
              </p:cNvPr>
              <p:cNvSpPr txBox="1"/>
              <p:nvPr/>
            </p:nvSpPr>
            <p:spPr>
              <a:xfrm>
                <a:off x="2657431" y="5616532"/>
                <a:ext cx="420884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1608780-F88E-4717-9B96-0816C2384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431" y="5616532"/>
                <a:ext cx="420884" cy="320985"/>
              </a:xfrm>
              <a:prstGeom prst="rect">
                <a:avLst/>
              </a:prstGeom>
              <a:blipFill>
                <a:blip r:embed="rId2"/>
                <a:stretch>
                  <a:fillRect l="-8696" t="-3774" r="-13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Box 109">
            <a:extLst>
              <a:ext uri="{FF2B5EF4-FFF2-40B4-BE49-F238E27FC236}">
                <a16:creationId xmlns:a16="http://schemas.microsoft.com/office/drawing/2014/main" id="{31F12D70-344B-453B-A183-1CB027A5B2E1}"/>
              </a:ext>
            </a:extLst>
          </p:cNvPr>
          <p:cNvSpPr txBox="1"/>
          <p:nvPr/>
        </p:nvSpPr>
        <p:spPr>
          <a:xfrm>
            <a:off x="5301032" y="1754683"/>
            <a:ext cx="361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1608780-F88E-4717-9B96-0816C2384788}"/>
                  </a:ext>
                </a:extLst>
              </p:cNvPr>
              <p:cNvSpPr txBox="1"/>
              <p:nvPr/>
            </p:nvSpPr>
            <p:spPr>
              <a:xfrm>
                <a:off x="4579058" y="4995398"/>
                <a:ext cx="420884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1608780-F88E-4717-9B96-0816C2384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058" y="4995398"/>
                <a:ext cx="420884" cy="320985"/>
              </a:xfrm>
              <a:prstGeom prst="rect">
                <a:avLst/>
              </a:prstGeom>
              <a:blipFill>
                <a:blip r:embed="rId3"/>
                <a:stretch>
                  <a:fillRect l="-7246" t="-3774" r="-13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Rounded Rectangle 111"/>
          <p:cNvSpPr/>
          <p:nvPr/>
        </p:nvSpPr>
        <p:spPr>
          <a:xfrm>
            <a:off x="4407276" y="5310594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Diamond 112"/>
          <p:cNvSpPr/>
          <p:nvPr/>
        </p:nvSpPr>
        <p:spPr>
          <a:xfrm>
            <a:off x="4527348" y="5366012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Diamond 113"/>
          <p:cNvSpPr/>
          <p:nvPr/>
        </p:nvSpPr>
        <p:spPr>
          <a:xfrm>
            <a:off x="4832148" y="5366012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Diamond 114"/>
          <p:cNvSpPr/>
          <p:nvPr/>
        </p:nvSpPr>
        <p:spPr>
          <a:xfrm>
            <a:off x="5136948" y="5366012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Diamond 115"/>
          <p:cNvSpPr/>
          <p:nvPr/>
        </p:nvSpPr>
        <p:spPr>
          <a:xfrm>
            <a:off x="5441748" y="5366012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Diamond 116"/>
          <p:cNvSpPr/>
          <p:nvPr/>
        </p:nvSpPr>
        <p:spPr>
          <a:xfrm>
            <a:off x="5746548" y="5366012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8" name="Straight Arrow Connector 117"/>
          <p:cNvCxnSpPr/>
          <p:nvPr/>
        </p:nvCxnSpPr>
        <p:spPr>
          <a:xfrm>
            <a:off x="5240567" y="5640794"/>
            <a:ext cx="0" cy="302419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4413626" y="5947763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Diamond 119"/>
          <p:cNvSpPr/>
          <p:nvPr/>
        </p:nvSpPr>
        <p:spPr>
          <a:xfrm>
            <a:off x="4533698" y="6003181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Diamond 120"/>
          <p:cNvSpPr/>
          <p:nvPr/>
        </p:nvSpPr>
        <p:spPr>
          <a:xfrm>
            <a:off x="4838498" y="6003181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2" name="Diamond 121"/>
          <p:cNvSpPr/>
          <p:nvPr/>
        </p:nvSpPr>
        <p:spPr>
          <a:xfrm>
            <a:off x="5143298" y="6003181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3" name="Diamond 122"/>
          <p:cNvSpPr/>
          <p:nvPr/>
        </p:nvSpPr>
        <p:spPr>
          <a:xfrm>
            <a:off x="5448098" y="6003181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Diamond 123"/>
          <p:cNvSpPr/>
          <p:nvPr/>
        </p:nvSpPr>
        <p:spPr>
          <a:xfrm>
            <a:off x="5752898" y="6003181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5" name="Straight Arrow Connector 124"/>
          <p:cNvCxnSpPr/>
          <p:nvPr/>
        </p:nvCxnSpPr>
        <p:spPr>
          <a:xfrm>
            <a:off x="5234217" y="6276058"/>
            <a:ext cx="0" cy="302419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Elbow Connector 128"/>
          <p:cNvCxnSpPr>
            <a:endCxn id="119" idx="3"/>
          </p:cNvCxnSpPr>
          <p:nvPr/>
        </p:nvCxnSpPr>
        <p:spPr>
          <a:xfrm rot="16200000" flipH="1">
            <a:off x="5166134" y="5240061"/>
            <a:ext cx="953798" cy="785455"/>
          </a:xfrm>
          <a:prstGeom prst="bentConnector4">
            <a:avLst>
              <a:gd name="adj1" fmla="val 235"/>
              <a:gd name="adj2" fmla="val 129104"/>
            </a:avLst>
          </a:prstGeom>
          <a:ln w="15875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51608780-F88E-4717-9B96-0816C2384788}"/>
                  </a:ext>
                </a:extLst>
              </p:cNvPr>
              <p:cNvSpPr txBox="1"/>
              <p:nvPr/>
            </p:nvSpPr>
            <p:spPr>
              <a:xfrm>
                <a:off x="4402454" y="6417984"/>
                <a:ext cx="666144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51608780-F88E-4717-9B96-0816C2384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454" y="6417984"/>
                <a:ext cx="666144" cy="320985"/>
              </a:xfrm>
              <a:prstGeom prst="rect">
                <a:avLst/>
              </a:prstGeom>
              <a:blipFill>
                <a:blip r:embed="rId4"/>
                <a:stretch>
                  <a:fillRect l="-4587" t="-5769" r="-82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TextBox 132">
            <a:extLst>
              <a:ext uri="{FF2B5EF4-FFF2-40B4-BE49-F238E27FC236}">
                <a16:creationId xmlns:a16="http://schemas.microsoft.com/office/drawing/2014/main" id="{A2B5774C-31E2-4C58-BAAD-86F57DE6021C}"/>
              </a:ext>
            </a:extLst>
          </p:cNvPr>
          <p:cNvSpPr txBox="1"/>
          <p:nvPr/>
        </p:nvSpPr>
        <p:spPr>
          <a:xfrm>
            <a:off x="6286124" y="5181451"/>
            <a:ext cx="15026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 Layers with Skip Connections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9A726DB-8ED6-4572-A820-402EAD2FCC87}"/>
              </a:ext>
            </a:extLst>
          </p:cNvPr>
          <p:cNvSpPr/>
          <p:nvPr/>
        </p:nvSpPr>
        <p:spPr>
          <a:xfrm>
            <a:off x="7194159" y="3207555"/>
            <a:ext cx="4470786" cy="836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ts val="1000"/>
              </a:spcAft>
            </a:pP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a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[l+2]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=g(z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[l+2]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+a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[l]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)</a:t>
            </a:r>
          </a:p>
          <a:p>
            <a:pPr lvl="0" fontAlgn="base">
              <a:spcBef>
                <a:spcPct val="0"/>
              </a:spcBef>
              <a:spcAft>
                <a:spcPts val="1000"/>
              </a:spcAft>
            </a:pP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      =g(w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[l+2]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a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[l+1]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+b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[l+2] 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+a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[l]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)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0E614AA-C0E6-42F2-9AD2-C8BADE3BC77A}"/>
              </a:ext>
            </a:extLst>
          </p:cNvPr>
          <p:cNvSpPr/>
          <p:nvPr/>
        </p:nvSpPr>
        <p:spPr>
          <a:xfrm>
            <a:off x="7194159" y="2799295"/>
            <a:ext cx="36462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z</a:t>
            </a:r>
            <a:r>
              <a:rPr lang="en-IN" sz="24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[l+2] </a:t>
            </a:r>
            <a:r>
              <a:rPr lang="en-IN" sz="24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= w</a:t>
            </a:r>
            <a:r>
              <a:rPr lang="en-IN" sz="24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[l+2]</a:t>
            </a:r>
            <a:r>
              <a:rPr lang="en-IN" sz="24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a</a:t>
            </a:r>
            <a:r>
              <a:rPr lang="en-IN" sz="24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[l+1]</a:t>
            </a:r>
            <a:r>
              <a:rPr lang="en-IN" sz="24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+b</a:t>
            </a:r>
            <a:r>
              <a:rPr lang="en-IN" sz="24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[l+2] </a:t>
            </a:r>
            <a:endParaRPr lang="en-IN" sz="2400" dirty="0">
              <a:solidFill>
                <a:srgbClr val="7030A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CB992AB-A457-4B50-8A9A-ED2B6528DE72}"/>
              </a:ext>
            </a:extLst>
          </p:cNvPr>
          <p:cNvSpPr txBox="1"/>
          <p:nvPr/>
        </p:nvSpPr>
        <p:spPr>
          <a:xfrm>
            <a:off x="10165977" y="6492875"/>
            <a:ext cx="1792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Andrew Ng</a:t>
            </a:r>
          </a:p>
        </p:txBody>
      </p:sp>
    </p:spTree>
    <p:extLst>
      <p:ext uri="{BB962C8B-B14F-4D97-AF65-F5344CB8AC3E}">
        <p14:creationId xmlns:p14="http://schemas.microsoft.com/office/powerpoint/2010/main" val="4247573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1579418" y="2443942"/>
            <a:ext cx="1856510" cy="3114971"/>
          </a:xfrm>
          <a:prstGeom prst="rect">
            <a:avLst/>
          </a:prstGeom>
          <a:solidFill>
            <a:schemeClr val="accent5">
              <a:lumMod val="40000"/>
              <a:lumOff val="60000"/>
              <a:alpha val="8000"/>
            </a:schemeClr>
          </a:solidFill>
          <a:ln w="158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1690256" y="2600960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4979"/>
            <a:ext cx="10515600" cy="90949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Identity Mapping with SKIP Connections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237" y="1197553"/>
            <a:ext cx="8395202" cy="52041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If additional layers are unnecessary, the network can easily learn an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identity mapping.</a:t>
            </a:r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Diamond 5"/>
          <p:cNvSpPr/>
          <p:nvPr/>
        </p:nvSpPr>
        <p:spPr>
          <a:xfrm>
            <a:off x="1810328" y="26563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Diamond 8"/>
          <p:cNvSpPr/>
          <p:nvPr/>
        </p:nvSpPr>
        <p:spPr>
          <a:xfrm>
            <a:off x="2115128" y="26563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iamond 9"/>
          <p:cNvSpPr/>
          <p:nvPr/>
        </p:nvSpPr>
        <p:spPr>
          <a:xfrm>
            <a:off x="2419928" y="26563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iamond 10"/>
          <p:cNvSpPr/>
          <p:nvPr/>
        </p:nvSpPr>
        <p:spPr>
          <a:xfrm>
            <a:off x="2724728" y="26563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Diamond 11"/>
          <p:cNvSpPr/>
          <p:nvPr/>
        </p:nvSpPr>
        <p:spPr>
          <a:xfrm>
            <a:off x="3029528" y="26563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ounded Rectangle 13"/>
          <p:cNvSpPr/>
          <p:nvPr/>
        </p:nvSpPr>
        <p:spPr>
          <a:xfrm>
            <a:off x="1690256" y="3219795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Diamond 14"/>
          <p:cNvSpPr/>
          <p:nvPr/>
        </p:nvSpPr>
        <p:spPr>
          <a:xfrm>
            <a:off x="1810328" y="327521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Diamond 15"/>
          <p:cNvSpPr/>
          <p:nvPr/>
        </p:nvSpPr>
        <p:spPr>
          <a:xfrm>
            <a:off x="2115128" y="327521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Diamond 16"/>
          <p:cNvSpPr/>
          <p:nvPr/>
        </p:nvSpPr>
        <p:spPr>
          <a:xfrm>
            <a:off x="2419928" y="327521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Diamond 17"/>
          <p:cNvSpPr/>
          <p:nvPr/>
        </p:nvSpPr>
        <p:spPr>
          <a:xfrm>
            <a:off x="2724728" y="327521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Diamond 18"/>
          <p:cNvSpPr/>
          <p:nvPr/>
        </p:nvSpPr>
        <p:spPr>
          <a:xfrm>
            <a:off x="3029528" y="327521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ounded Rectangle 19"/>
          <p:cNvSpPr/>
          <p:nvPr/>
        </p:nvSpPr>
        <p:spPr>
          <a:xfrm>
            <a:off x="1690256" y="3972560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Diamond 20"/>
          <p:cNvSpPr/>
          <p:nvPr/>
        </p:nvSpPr>
        <p:spPr>
          <a:xfrm>
            <a:off x="1810328" y="40279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Diamond 21"/>
          <p:cNvSpPr/>
          <p:nvPr/>
        </p:nvSpPr>
        <p:spPr>
          <a:xfrm>
            <a:off x="2115128" y="40279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Diamond 22"/>
          <p:cNvSpPr/>
          <p:nvPr/>
        </p:nvSpPr>
        <p:spPr>
          <a:xfrm>
            <a:off x="2419928" y="40279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Diamond 23"/>
          <p:cNvSpPr/>
          <p:nvPr/>
        </p:nvSpPr>
        <p:spPr>
          <a:xfrm>
            <a:off x="2724728" y="40279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Diamond 24"/>
          <p:cNvSpPr/>
          <p:nvPr/>
        </p:nvSpPr>
        <p:spPr>
          <a:xfrm>
            <a:off x="3029528" y="402797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ounded Rectangle 25"/>
          <p:cNvSpPr/>
          <p:nvPr/>
        </p:nvSpPr>
        <p:spPr>
          <a:xfrm>
            <a:off x="1690256" y="5175101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Diamond 26"/>
          <p:cNvSpPr/>
          <p:nvPr/>
        </p:nvSpPr>
        <p:spPr>
          <a:xfrm>
            <a:off x="1810328" y="5230519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Diamond 27"/>
          <p:cNvSpPr/>
          <p:nvPr/>
        </p:nvSpPr>
        <p:spPr>
          <a:xfrm>
            <a:off x="2115128" y="5230519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Diamond 28"/>
          <p:cNvSpPr/>
          <p:nvPr/>
        </p:nvSpPr>
        <p:spPr>
          <a:xfrm>
            <a:off x="2419928" y="5230519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Diamond 29"/>
          <p:cNvSpPr/>
          <p:nvPr/>
        </p:nvSpPr>
        <p:spPr>
          <a:xfrm>
            <a:off x="2724728" y="5230519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Diamond 30"/>
          <p:cNvSpPr/>
          <p:nvPr/>
        </p:nvSpPr>
        <p:spPr>
          <a:xfrm>
            <a:off x="3029528" y="5230519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Arrow Connector 32"/>
          <p:cNvCxnSpPr>
            <a:stCxn id="13" idx="2"/>
            <a:endCxn id="14" idx="0"/>
          </p:cNvCxnSpPr>
          <p:nvPr/>
        </p:nvCxnSpPr>
        <p:spPr>
          <a:xfrm>
            <a:off x="2501324" y="2924810"/>
            <a:ext cx="0" cy="294985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4" idx="2"/>
            <a:endCxn id="20" idx="0"/>
          </p:cNvCxnSpPr>
          <p:nvPr/>
        </p:nvCxnSpPr>
        <p:spPr>
          <a:xfrm>
            <a:off x="2501324" y="3543645"/>
            <a:ext cx="0" cy="428915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0" idx="2"/>
          </p:cNvCxnSpPr>
          <p:nvPr/>
        </p:nvCxnSpPr>
        <p:spPr>
          <a:xfrm>
            <a:off x="2501324" y="4296410"/>
            <a:ext cx="0" cy="294985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2472748" y="4591972"/>
            <a:ext cx="57149" cy="65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/>
          <p:cNvSpPr/>
          <p:nvPr/>
        </p:nvSpPr>
        <p:spPr>
          <a:xfrm>
            <a:off x="2472747" y="4696750"/>
            <a:ext cx="57149" cy="65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40"/>
          <p:cNvSpPr/>
          <p:nvPr/>
        </p:nvSpPr>
        <p:spPr>
          <a:xfrm>
            <a:off x="2472747" y="4804703"/>
            <a:ext cx="57149" cy="65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2" name="Straight Arrow Connector 41"/>
          <p:cNvCxnSpPr>
            <a:stCxn id="41" idx="4"/>
            <a:endCxn id="26" idx="0"/>
          </p:cNvCxnSpPr>
          <p:nvPr/>
        </p:nvCxnSpPr>
        <p:spPr>
          <a:xfrm>
            <a:off x="2501322" y="4869935"/>
            <a:ext cx="2" cy="305166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46" idx="0"/>
          </p:cNvCxnSpPr>
          <p:nvPr/>
        </p:nvCxnSpPr>
        <p:spPr>
          <a:xfrm>
            <a:off x="2501324" y="2165985"/>
            <a:ext cx="6349" cy="277957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6" idx="2"/>
          </p:cNvCxnSpPr>
          <p:nvPr/>
        </p:nvCxnSpPr>
        <p:spPr>
          <a:xfrm>
            <a:off x="2507673" y="5558913"/>
            <a:ext cx="0" cy="428915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4305962" y="2107852"/>
            <a:ext cx="1856510" cy="2890058"/>
          </a:xfrm>
          <a:prstGeom prst="rect">
            <a:avLst/>
          </a:prstGeom>
          <a:solidFill>
            <a:schemeClr val="accent5">
              <a:lumMod val="40000"/>
              <a:lumOff val="60000"/>
              <a:alpha val="8000"/>
            </a:schemeClr>
          </a:solidFill>
          <a:ln w="158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ounded Rectangle 56"/>
          <p:cNvSpPr/>
          <p:nvPr/>
        </p:nvSpPr>
        <p:spPr>
          <a:xfrm>
            <a:off x="4407276" y="2264870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Diamond 57"/>
          <p:cNvSpPr/>
          <p:nvPr/>
        </p:nvSpPr>
        <p:spPr>
          <a:xfrm>
            <a:off x="4527348" y="23202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Diamond 58"/>
          <p:cNvSpPr/>
          <p:nvPr/>
        </p:nvSpPr>
        <p:spPr>
          <a:xfrm>
            <a:off x="4832148" y="23202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Diamond 59"/>
          <p:cNvSpPr/>
          <p:nvPr/>
        </p:nvSpPr>
        <p:spPr>
          <a:xfrm>
            <a:off x="5136948" y="23202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Diamond 60"/>
          <p:cNvSpPr/>
          <p:nvPr/>
        </p:nvSpPr>
        <p:spPr>
          <a:xfrm>
            <a:off x="5441748" y="23202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Diamond 61"/>
          <p:cNvSpPr/>
          <p:nvPr/>
        </p:nvSpPr>
        <p:spPr>
          <a:xfrm>
            <a:off x="5746548" y="23202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ounded Rectangle 62"/>
          <p:cNvSpPr/>
          <p:nvPr/>
        </p:nvSpPr>
        <p:spPr>
          <a:xfrm>
            <a:off x="4407276" y="2883705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Diamond 63"/>
          <p:cNvSpPr/>
          <p:nvPr/>
        </p:nvSpPr>
        <p:spPr>
          <a:xfrm>
            <a:off x="4527348" y="293912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Diamond 64"/>
          <p:cNvSpPr/>
          <p:nvPr/>
        </p:nvSpPr>
        <p:spPr>
          <a:xfrm>
            <a:off x="4832148" y="293912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Diamond 65"/>
          <p:cNvSpPr/>
          <p:nvPr/>
        </p:nvSpPr>
        <p:spPr>
          <a:xfrm>
            <a:off x="5136948" y="293912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Diamond 66"/>
          <p:cNvSpPr/>
          <p:nvPr/>
        </p:nvSpPr>
        <p:spPr>
          <a:xfrm>
            <a:off x="5441748" y="293912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Diamond 67"/>
          <p:cNvSpPr/>
          <p:nvPr/>
        </p:nvSpPr>
        <p:spPr>
          <a:xfrm>
            <a:off x="5746548" y="2939123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ounded Rectangle 68"/>
          <p:cNvSpPr/>
          <p:nvPr/>
        </p:nvSpPr>
        <p:spPr>
          <a:xfrm>
            <a:off x="4407276" y="3636470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Diamond 69"/>
          <p:cNvSpPr/>
          <p:nvPr/>
        </p:nvSpPr>
        <p:spPr>
          <a:xfrm>
            <a:off x="4527348" y="36918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Diamond 70"/>
          <p:cNvSpPr/>
          <p:nvPr/>
        </p:nvSpPr>
        <p:spPr>
          <a:xfrm>
            <a:off x="4832148" y="36918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Diamond 71"/>
          <p:cNvSpPr/>
          <p:nvPr/>
        </p:nvSpPr>
        <p:spPr>
          <a:xfrm>
            <a:off x="5136948" y="36918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Diamond 72"/>
          <p:cNvSpPr/>
          <p:nvPr/>
        </p:nvSpPr>
        <p:spPr>
          <a:xfrm>
            <a:off x="5441748" y="36918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Diamond 73"/>
          <p:cNvSpPr/>
          <p:nvPr/>
        </p:nvSpPr>
        <p:spPr>
          <a:xfrm>
            <a:off x="5746548" y="3691888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ounded Rectangle 74"/>
          <p:cNvSpPr/>
          <p:nvPr/>
        </p:nvSpPr>
        <p:spPr>
          <a:xfrm>
            <a:off x="4413626" y="4609498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Diamond 75"/>
          <p:cNvSpPr/>
          <p:nvPr/>
        </p:nvSpPr>
        <p:spPr>
          <a:xfrm>
            <a:off x="4533698" y="4664916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Diamond 76"/>
          <p:cNvSpPr/>
          <p:nvPr/>
        </p:nvSpPr>
        <p:spPr>
          <a:xfrm>
            <a:off x="4838498" y="4664916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Diamond 77"/>
          <p:cNvSpPr/>
          <p:nvPr/>
        </p:nvSpPr>
        <p:spPr>
          <a:xfrm>
            <a:off x="5143298" y="4664916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Diamond 78"/>
          <p:cNvSpPr/>
          <p:nvPr/>
        </p:nvSpPr>
        <p:spPr>
          <a:xfrm>
            <a:off x="5448098" y="4664916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Diamond 79"/>
          <p:cNvSpPr/>
          <p:nvPr/>
        </p:nvSpPr>
        <p:spPr>
          <a:xfrm>
            <a:off x="5752898" y="4664916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1" name="Straight Arrow Connector 80"/>
          <p:cNvCxnSpPr>
            <a:stCxn id="57" idx="2"/>
            <a:endCxn id="63" idx="0"/>
          </p:cNvCxnSpPr>
          <p:nvPr/>
        </p:nvCxnSpPr>
        <p:spPr>
          <a:xfrm>
            <a:off x="5218344" y="2588720"/>
            <a:ext cx="0" cy="294985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63" idx="2"/>
            <a:endCxn id="69" idx="0"/>
          </p:cNvCxnSpPr>
          <p:nvPr/>
        </p:nvCxnSpPr>
        <p:spPr>
          <a:xfrm>
            <a:off x="5218344" y="3207555"/>
            <a:ext cx="0" cy="428915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69" idx="2"/>
            <a:endCxn id="84" idx="0"/>
          </p:cNvCxnSpPr>
          <p:nvPr/>
        </p:nvCxnSpPr>
        <p:spPr>
          <a:xfrm>
            <a:off x="5218344" y="3960320"/>
            <a:ext cx="3388" cy="202809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5193157" y="4163129"/>
            <a:ext cx="57149" cy="65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Oval 84"/>
          <p:cNvSpPr/>
          <p:nvPr/>
        </p:nvSpPr>
        <p:spPr>
          <a:xfrm>
            <a:off x="5196117" y="4266464"/>
            <a:ext cx="57149" cy="65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Oval 85"/>
          <p:cNvSpPr/>
          <p:nvPr/>
        </p:nvSpPr>
        <p:spPr>
          <a:xfrm>
            <a:off x="5196118" y="4371047"/>
            <a:ext cx="57149" cy="65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7" name="Straight Arrow Connector 86"/>
          <p:cNvCxnSpPr>
            <a:stCxn id="86" idx="4"/>
            <a:endCxn id="75" idx="0"/>
          </p:cNvCxnSpPr>
          <p:nvPr/>
        </p:nvCxnSpPr>
        <p:spPr>
          <a:xfrm>
            <a:off x="5224693" y="4436279"/>
            <a:ext cx="1" cy="173219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endCxn id="56" idx="0"/>
          </p:cNvCxnSpPr>
          <p:nvPr/>
        </p:nvCxnSpPr>
        <p:spPr>
          <a:xfrm>
            <a:off x="5224694" y="1741294"/>
            <a:ext cx="9523" cy="366558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56" idx="2"/>
          </p:cNvCxnSpPr>
          <p:nvPr/>
        </p:nvCxnSpPr>
        <p:spPr>
          <a:xfrm>
            <a:off x="5234217" y="4997910"/>
            <a:ext cx="0" cy="302419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4566AB0A-7C84-4BA2-B15E-C5EE4BDCC93D}"/>
              </a:ext>
            </a:extLst>
          </p:cNvPr>
          <p:cNvSpPr txBox="1"/>
          <p:nvPr/>
        </p:nvSpPr>
        <p:spPr>
          <a:xfrm rot="16200000">
            <a:off x="482654" y="3927825"/>
            <a:ext cx="149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Network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566AB0A-7C84-4BA2-B15E-C5EE4BDCC93D}"/>
              </a:ext>
            </a:extLst>
          </p:cNvPr>
          <p:cNvSpPr txBox="1"/>
          <p:nvPr/>
        </p:nvSpPr>
        <p:spPr>
          <a:xfrm rot="16200000">
            <a:off x="3324464" y="3302983"/>
            <a:ext cx="149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Network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1F12D70-344B-453B-A183-1CB027A5B2E1}"/>
              </a:ext>
            </a:extLst>
          </p:cNvPr>
          <p:cNvSpPr txBox="1"/>
          <p:nvPr/>
        </p:nvSpPr>
        <p:spPr>
          <a:xfrm>
            <a:off x="2595173" y="1863028"/>
            <a:ext cx="361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1608780-F88E-4717-9B96-0816C2384788}"/>
                  </a:ext>
                </a:extLst>
              </p:cNvPr>
              <p:cNvSpPr txBox="1"/>
              <p:nvPr/>
            </p:nvSpPr>
            <p:spPr>
              <a:xfrm>
                <a:off x="2657431" y="5616532"/>
                <a:ext cx="420884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1608780-F88E-4717-9B96-0816C2384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431" y="5616532"/>
                <a:ext cx="420884" cy="320985"/>
              </a:xfrm>
              <a:prstGeom prst="rect">
                <a:avLst/>
              </a:prstGeom>
              <a:blipFill>
                <a:blip r:embed="rId2"/>
                <a:stretch>
                  <a:fillRect l="-8696" t="-3774" r="-13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Box 109">
            <a:extLst>
              <a:ext uri="{FF2B5EF4-FFF2-40B4-BE49-F238E27FC236}">
                <a16:creationId xmlns:a16="http://schemas.microsoft.com/office/drawing/2014/main" id="{31F12D70-344B-453B-A183-1CB027A5B2E1}"/>
              </a:ext>
            </a:extLst>
          </p:cNvPr>
          <p:cNvSpPr txBox="1"/>
          <p:nvPr/>
        </p:nvSpPr>
        <p:spPr>
          <a:xfrm>
            <a:off x="5301032" y="1754683"/>
            <a:ext cx="361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1608780-F88E-4717-9B96-0816C2384788}"/>
                  </a:ext>
                </a:extLst>
              </p:cNvPr>
              <p:cNvSpPr txBox="1"/>
              <p:nvPr/>
            </p:nvSpPr>
            <p:spPr>
              <a:xfrm>
                <a:off x="4579058" y="4995398"/>
                <a:ext cx="420884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1608780-F88E-4717-9B96-0816C2384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058" y="4995398"/>
                <a:ext cx="420884" cy="320985"/>
              </a:xfrm>
              <a:prstGeom prst="rect">
                <a:avLst/>
              </a:prstGeom>
              <a:blipFill>
                <a:blip r:embed="rId3"/>
                <a:stretch>
                  <a:fillRect l="-7246" t="-3774" r="-13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Rounded Rectangle 111"/>
          <p:cNvSpPr/>
          <p:nvPr/>
        </p:nvSpPr>
        <p:spPr>
          <a:xfrm>
            <a:off x="4407276" y="5310594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Diamond 112"/>
          <p:cNvSpPr/>
          <p:nvPr/>
        </p:nvSpPr>
        <p:spPr>
          <a:xfrm>
            <a:off x="4527348" y="5366012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Diamond 113"/>
          <p:cNvSpPr/>
          <p:nvPr/>
        </p:nvSpPr>
        <p:spPr>
          <a:xfrm>
            <a:off x="4832148" y="5366012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Diamond 114"/>
          <p:cNvSpPr/>
          <p:nvPr/>
        </p:nvSpPr>
        <p:spPr>
          <a:xfrm>
            <a:off x="5136948" y="5366012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Diamond 115"/>
          <p:cNvSpPr/>
          <p:nvPr/>
        </p:nvSpPr>
        <p:spPr>
          <a:xfrm>
            <a:off x="5441748" y="5366012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Diamond 116"/>
          <p:cNvSpPr/>
          <p:nvPr/>
        </p:nvSpPr>
        <p:spPr>
          <a:xfrm>
            <a:off x="5746548" y="5366012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8" name="Straight Arrow Connector 117"/>
          <p:cNvCxnSpPr/>
          <p:nvPr/>
        </p:nvCxnSpPr>
        <p:spPr>
          <a:xfrm>
            <a:off x="5240567" y="5640794"/>
            <a:ext cx="0" cy="302419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4413626" y="5947763"/>
            <a:ext cx="1622135" cy="323850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Diamond 119"/>
          <p:cNvSpPr/>
          <p:nvPr/>
        </p:nvSpPr>
        <p:spPr>
          <a:xfrm>
            <a:off x="4533698" y="6003181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Diamond 120"/>
          <p:cNvSpPr/>
          <p:nvPr/>
        </p:nvSpPr>
        <p:spPr>
          <a:xfrm>
            <a:off x="4838498" y="6003181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2" name="Diamond 121"/>
          <p:cNvSpPr/>
          <p:nvPr/>
        </p:nvSpPr>
        <p:spPr>
          <a:xfrm>
            <a:off x="5143298" y="6003181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3" name="Diamond 122"/>
          <p:cNvSpPr/>
          <p:nvPr/>
        </p:nvSpPr>
        <p:spPr>
          <a:xfrm>
            <a:off x="5448098" y="6003181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Diamond 123"/>
          <p:cNvSpPr/>
          <p:nvPr/>
        </p:nvSpPr>
        <p:spPr>
          <a:xfrm>
            <a:off x="5752898" y="6003181"/>
            <a:ext cx="184728" cy="203200"/>
          </a:xfrm>
          <a:prstGeom prst="diamond">
            <a:avLst/>
          </a:prstGeom>
          <a:solidFill>
            <a:schemeClr val="bg1"/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5" name="Straight Arrow Connector 124"/>
          <p:cNvCxnSpPr/>
          <p:nvPr/>
        </p:nvCxnSpPr>
        <p:spPr>
          <a:xfrm>
            <a:off x="5234217" y="6276058"/>
            <a:ext cx="0" cy="302419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Elbow Connector 128"/>
          <p:cNvCxnSpPr>
            <a:endCxn id="119" idx="3"/>
          </p:cNvCxnSpPr>
          <p:nvPr/>
        </p:nvCxnSpPr>
        <p:spPr>
          <a:xfrm rot="16200000" flipH="1">
            <a:off x="5166134" y="5240061"/>
            <a:ext cx="953798" cy="785455"/>
          </a:xfrm>
          <a:prstGeom prst="bentConnector4">
            <a:avLst>
              <a:gd name="adj1" fmla="val 235"/>
              <a:gd name="adj2" fmla="val 129104"/>
            </a:avLst>
          </a:prstGeom>
          <a:ln w="15875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51608780-F88E-4717-9B96-0816C2384788}"/>
                  </a:ext>
                </a:extLst>
              </p:cNvPr>
              <p:cNvSpPr txBox="1"/>
              <p:nvPr/>
            </p:nvSpPr>
            <p:spPr>
              <a:xfrm>
                <a:off x="4402454" y="6417984"/>
                <a:ext cx="666144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51608780-F88E-4717-9B96-0816C2384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454" y="6417984"/>
                <a:ext cx="666144" cy="320985"/>
              </a:xfrm>
              <a:prstGeom prst="rect">
                <a:avLst/>
              </a:prstGeom>
              <a:blipFill>
                <a:blip r:embed="rId4"/>
                <a:stretch>
                  <a:fillRect l="-4587" t="-5769" r="-82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TextBox 132">
            <a:extLst>
              <a:ext uri="{FF2B5EF4-FFF2-40B4-BE49-F238E27FC236}">
                <a16:creationId xmlns:a16="http://schemas.microsoft.com/office/drawing/2014/main" id="{A2B5774C-31E2-4C58-BAAD-86F57DE6021C}"/>
              </a:ext>
            </a:extLst>
          </p:cNvPr>
          <p:cNvSpPr txBox="1"/>
          <p:nvPr/>
        </p:nvSpPr>
        <p:spPr>
          <a:xfrm>
            <a:off x="6286124" y="5181451"/>
            <a:ext cx="15026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 Layers with Skip Connections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0E614AA-C0E6-42F2-9AD2-C8BADE3BC77A}"/>
              </a:ext>
            </a:extLst>
          </p:cNvPr>
          <p:cNvSpPr/>
          <p:nvPr/>
        </p:nvSpPr>
        <p:spPr>
          <a:xfrm>
            <a:off x="7194159" y="2799295"/>
            <a:ext cx="36462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z</a:t>
            </a:r>
            <a:r>
              <a:rPr lang="en-IN" sz="24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[l+2] </a:t>
            </a:r>
            <a:r>
              <a:rPr lang="en-IN" sz="24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= w</a:t>
            </a:r>
            <a:r>
              <a:rPr lang="en-IN" sz="24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[l+2]</a:t>
            </a:r>
            <a:r>
              <a:rPr lang="en-IN" sz="24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a</a:t>
            </a:r>
            <a:r>
              <a:rPr lang="en-IN" sz="24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[l+1]</a:t>
            </a:r>
            <a:r>
              <a:rPr lang="en-IN" sz="24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+b</a:t>
            </a:r>
            <a:r>
              <a:rPr lang="en-IN" sz="24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[l+2] </a:t>
            </a:r>
            <a:endParaRPr lang="en-IN" sz="2400" dirty="0">
              <a:solidFill>
                <a:srgbClr val="7030A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CB992AB-A457-4B50-8A9A-ED2B6528DE72}"/>
              </a:ext>
            </a:extLst>
          </p:cNvPr>
          <p:cNvSpPr txBox="1"/>
          <p:nvPr/>
        </p:nvSpPr>
        <p:spPr>
          <a:xfrm>
            <a:off x="10165977" y="6492875"/>
            <a:ext cx="1792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Andrew Ng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9A726DB-8ED6-4572-A820-402EAD2FCC87}"/>
              </a:ext>
            </a:extLst>
          </p:cNvPr>
          <p:cNvSpPr/>
          <p:nvPr/>
        </p:nvSpPr>
        <p:spPr>
          <a:xfrm>
            <a:off x="7092559" y="3160964"/>
            <a:ext cx="4470786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ts val="1000"/>
              </a:spcAft>
            </a:pP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a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[l+2]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=g(z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[l+2]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+a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[l]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)</a:t>
            </a:r>
          </a:p>
          <a:p>
            <a:pPr lvl="0" fontAlgn="base">
              <a:spcBef>
                <a:spcPct val="0"/>
              </a:spcBef>
              <a:spcAft>
                <a:spcPts val="1000"/>
              </a:spcAft>
            </a:pP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      =g(w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[l+2]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a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[l+1]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+b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[l+2] 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+a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[l]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)</a:t>
            </a:r>
          </a:p>
          <a:p>
            <a:pPr lvl="0" fontAlgn="base">
              <a:spcBef>
                <a:spcPct val="0"/>
              </a:spcBef>
              <a:spcAft>
                <a:spcPts val="1000"/>
              </a:spcAft>
            </a:pP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               if w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[l+2]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=0 and b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[l+2] 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=0</a:t>
            </a:r>
          </a:p>
          <a:p>
            <a:pPr lvl="0" fontAlgn="base">
              <a:spcBef>
                <a:spcPct val="0"/>
              </a:spcBef>
              <a:spcAft>
                <a:spcPts val="1000"/>
              </a:spcAft>
            </a:pP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      =g(w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[l+2]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 a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[l+1]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+b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[l+2] 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+a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[l]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)=g(a</a:t>
            </a:r>
            <a:r>
              <a:rPr lang="en-IN" sz="2000" baseline="30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[l]</a:t>
            </a:r>
            <a:r>
              <a:rPr lang="en-IN" sz="20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itchFamily="34" charset="0"/>
              </a:rPr>
              <a:t>)</a:t>
            </a:r>
            <a:endParaRPr lang="en-US" sz="2000" dirty="0">
              <a:solidFill>
                <a:srgbClr val="7030A0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149051" y="4443902"/>
            <a:ext cx="1918585" cy="486265"/>
          </a:xfrm>
          <a:prstGeom prst="line">
            <a:avLst/>
          </a:prstGeom>
          <a:ln w="2222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8026400" y="4436279"/>
            <a:ext cx="2139577" cy="425377"/>
          </a:xfrm>
          <a:prstGeom prst="line">
            <a:avLst/>
          </a:prstGeom>
          <a:ln w="2222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393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201"/>
            <a:ext cx="10515600" cy="88264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Advantages of SKIP Connections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949" y="1425574"/>
            <a:ext cx="8943975" cy="467042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Faster convergence </a:t>
            </a:r>
          </a:p>
          <a:p>
            <a:pPr lvl="1" algn="just">
              <a:lnSpc>
                <a:spcPct val="100000"/>
              </a:lnSpc>
            </a:pPr>
            <a:r>
              <a:rPr lang="en-US" sz="2800" dirty="0">
                <a:latin typeface="Arial Narrow" panose="020B0606020202030204" pitchFamily="34" charset="0"/>
              </a:rPr>
              <a:t>Better gradient flow = faster </a:t>
            </a:r>
            <a:r>
              <a:rPr lang="en-US" sz="2800" dirty="0" err="1">
                <a:latin typeface="Arial Narrow" panose="020B0606020202030204" pitchFamily="34" charset="0"/>
              </a:rPr>
              <a:t>trainig</a:t>
            </a:r>
            <a:endParaRPr lang="en-US" sz="2800" dirty="0">
              <a:latin typeface="Arial Narrow" panose="020B0606020202030204" pitchFamily="34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dirty="0">
                <a:latin typeface="Arial Narrow" panose="020B0606020202030204" pitchFamily="34" charset="0"/>
              </a:rPr>
              <a:t>Less sensitive to initialization </a:t>
            </a:r>
          </a:p>
          <a:p>
            <a:pPr lvl="1" algn="just">
              <a:lnSpc>
                <a:spcPct val="100000"/>
              </a:lnSpc>
            </a:pPr>
            <a:r>
              <a:rPr lang="en-US" sz="2800" dirty="0">
                <a:latin typeface="Arial Narrow" panose="020B0606020202030204" pitchFamily="34" charset="0"/>
              </a:rPr>
              <a:t>More stable training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>
              <a:latin typeface="Arial Narrow" panose="020B060602020203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Better feature reuse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 Narrow" panose="020B0606020202030204" pitchFamily="34" charset="0"/>
              </a:rPr>
              <a:t>Reuses low-level features (edges, textures)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 Narrow" panose="020B0606020202030204" pitchFamily="34" charset="0"/>
              </a:rPr>
              <a:t>Preserves spatial information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 Narrow" panose="020B0606020202030204" pitchFamily="34" charset="0"/>
              </a:rPr>
              <a:t>Improves performance in vision tasks </a:t>
            </a:r>
          </a:p>
          <a:p>
            <a:pPr algn="just">
              <a:lnSpc>
                <a:spcPct val="100000"/>
              </a:lnSpc>
            </a:pPr>
            <a:endParaRPr lang="en-IN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67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0" y="1368425"/>
            <a:ext cx="10515600" cy="435133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Regularization effect :</a:t>
            </a:r>
          </a:p>
          <a:p>
            <a:pPr lvl="1" algn="just">
              <a:lnSpc>
                <a:spcPct val="100000"/>
              </a:lnSpc>
            </a:pPr>
            <a:r>
              <a:rPr lang="en-US" dirty="0">
                <a:latin typeface="Arial Narrow" panose="020B0606020202030204" pitchFamily="34" charset="0"/>
              </a:rPr>
              <a:t>Skip connections make the network behave like many shallower networks.</a:t>
            </a:r>
          </a:p>
          <a:p>
            <a:pPr lvl="1" algn="just">
              <a:lnSpc>
                <a:spcPct val="100000"/>
              </a:lnSpc>
            </a:pPr>
            <a:r>
              <a:rPr lang="en-US" dirty="0">
                <a:latin typeface="Arial Narrow" panose="020B0606020202030204" pitchFamily="34" charset="0"/>
              </a:rPr>
              <a:t>This improves generalization to unseen data.</a:t>
            </a:r>
          </a:p>
          <a:p>
            <a:pPr lvl="1" algn="just">
              <a:lnSpc>
                <a:spcPct val="100000"/>
              </a:lnSpc>
            </a:pPr>
            <a:r>
              <a:rPr lang="en-US" dirty="0">
                <a:latin typeface="Arial Narrow" panose="020B0606020202030204" pitchFamily="34" charset="0"/>
              </a:rPr>
              <a:t>As a result, it helps reduce overfitting.</a:t>
            </a:r>
          </a:p>
          <a:p>
            <a:pPr algn="just">
              <a:lnSpc>
                <a:spcPct val="10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Robustness to Network Depth : </a:t>
            </a:r>
          </a:p>
          <a:p>
            <a:pPr lvl="1" algn="just">
              <a:lnSpc>
                <a:spcPct val="100000"/>
              </a:lnSpc>
            </a:pPr>
            <a:r>
              <a:rPr lang="en-US" dirty="0">
                <a:latin typeface="Arial Narrow" panose="020B0606020202030204" pitchFamily="34" charset="0"/>
              </a:rPr>
              <a:t>Skip connections allow additional layers without causing optimization difficulties. </a:t>
            </a:r>
          </a:p>
          <a:p>
            <a:pPr lvl="1" algn="just">
              <a:lnSpc>
                <a:spcPct val="100000"/>
              </a:lnSpc>
            </a:pPr>
            <a:r>
              <a:rPr lang="en-US" dirty="0">
                <a:latin typeface="Arial Narrow" panose="020B0606020202030204" pitchFamily="34" charset="0"/>
              </a:rPr>
              <a:t>Reduces the risk of vanishing gradients and makes deep networks easier to optimize. </a:t>
            </a:r>
          </a:p>
          <a:p>
            <a:pPr lvl="1" algn="just">
              <a:lnSpc>
                <a:spcPct val="100000"/>
              </a:lnSpc>
            </a:pPr>
            <a:r>
              <a:rPr lang="en-US" dirty="0">
                <a:latin typeface="Arial Narrow" panose="020B0606020202030204" pitchFamily="34" charset="0"/>
              </a:rPr>
              <a:t>Facilitates the design and training of very deep architectures. </a:t>
            </a:r>
          </a:p>
          <a:p>
            <a:pPr lvl="1" algn="just">
              <a:lnSpc>
                <a:spcPct val="100000"/>
              </a:lnSpc>
            </a:pPr>
            <a:r>
              <a:rPr lang="en-US" dirty="0">
                <a:latin typeface="Arial Narrow" panose="020B0606020202030204" pitchFamily="34" charset="0"/>
              </a:rPr>
              <a:t>Adds no trainable parameters or complexity.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47700" y="136525"/>
            <a:ext cx="10515600" cy="98742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Advantages of SKIP Connections</a:t>
            </a:r>
          </a:p>
        </p:txBody>
      </p:sp>
    </p:spTree>
    <p:extLst>
      <p:ext uri="{BB962C8B-B14F-4D97-AF65-F5344CB8AC3E}">
        <p14:creationId xmlns:p14="http://schemas.microsoft.com/office/powerpoint/2010/main" val="2194475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155" y="1151840"/>
            <a:ext cx="4933950" cy="19558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IN" sz="2400" spc="13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Full </a:t>
            </a:r>
            <a:r>
              <a:rPr lang="en-IN" sz="2400" spc="13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ResNet</a:t>
            </a:r>
            <a:r>
              <a:rPr lang="en-IN" sz="2400" spc="13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architecture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2000" dirty="0" err="1">
                <a:latin typeface="Arial Narrow" panose="020B0606020202030204" pitchFamily="34" charset="0"/>
              </a:rPr>
              <a:t>ResNet</a:t>
            </a:r>
            <a:r>
              <a:rPr lang="en-US" sz="2000" dirty="0">
                <a:latin typeface="Arial Narrow" panose="020B0606020202030204" pitchFamily="34" charset="0"/>
              </a:rPr>
              <a:t> architecture design facilitates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efficient gradient propagation, mitigates the vanishing gradient problem</a:t>
            </a:r>
            <a:r>
              <a:rPr lang="en-US" sz="2000" dirty="0">
                <a:latin typeface="Arial Narrow" panose="020B0606020202030204" pitchFamily="34" charset="0"/>
              </a:rPr>
              <a:t>, and enables the successful training of networks with depths of 50, 101, 152, or even more layers.</a:t>
            </a:r>
            <a:endParaRPr lang="en-US" altLang="en-US" sz="2000" dirty="0">
              <a:latin typeface="Arial Narrow" panose="020B060602020203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182223" y="1783477"/>
            <a:ext cx="1023936" cy="1125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Softmax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82221" y="1960865"/>
            <a:ext cx="1023936" cy="9939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FC 1000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82219" y="2130779"/>
            <a:ext cx="1023937" cy="9227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POOL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82220" y="2527946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82219" y="2422160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82220" y="2832836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82219" y="2727050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82220" y="3133216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512, /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82219" y="3027430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82219" y="3799966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82218" y="3694180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82219" y="4118737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82218" y="4012951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82219" y="4430208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128, /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82218" y="4324422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82219" y="4810671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82218" y="4704885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82218" y="5121139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82217" y="5015353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82217" y="5432610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64, /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82216" y="5326824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82220" y="5825868"/>
            <a:ext cx="1023936" cy="112598"/>
          </a:xfrm>
          <a:prstGeom prst="roundRect">
            <a:avLst/>
          </a:prstGeom>
          <a:solidFill>
            <a:srgbClr val="FFC0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POOL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82218" y="6003256"/>
            <a:ext cx="1023936" cy="99393"/>
          </a:xfrm>
          <a:prstGeom prst="roundRect">
            <a:avLst/>
          </a:prstGeom>
          <a:solidFill>
            <a:schemeClr val="accent2">
              <a:alpha val="44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7 x 7 </a:t>
            </a:r>
            <a:r>
              <a:rPr lang="en-IN" sz="9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 / 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82216" y="6173170"/>
            <a:ext cx="1023937" cy="92277"/>
          </a:xfrm>
          <a:prstGeom prst="roundRect">
            <a:avLst/>
          </a:prstGeom>
          <a:solidFill>
            <a:srgbClr val="FF0000">
              <a:alpha val="22000"/>
            </a:srgb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INPUT</a:t>
            </a:r>
          </a:p>
        </p:txBody>
      </p:sp>
      <p:cxnSp>
        <p:nvCxnSpPr>
          <p:cNvPr id="37" name="Straight Connector 36"/>
          <p:cNvCxnSpPr>
            <a:stCxn id="7" idx="2"/>
            <a:endCxn id="12" idx="0"/>
          </p:cNvCxnSpPr>
          <p:nvPr/>
        </p:nvCxnSpPr>
        <p:spPr>
          <a:xfrm>
            <a:off x="10694188" y="2223056"/>
            <a:ext cx="0" cy="199104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15" idx="2"/>
          </p:cNvCxnSpPr>
          <p:nvPr/>
        </p:nvCxnSpPr>
        <p:spPr>
          <a:xfrm flipH="1">
            <a:off x="10694184" y="3218075"/>
            <a:ext cx="5" cy="98713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10" idx="2"/>
            <a:endCxn id="14" idx="0"/>
          </p:cNvCxnSpPr>
          <p:nvPr/>
        </p:nvCxnSpPr>
        <p:spPr>
          <a:xfrm flipH="1">
            <a:off x="10694188" y="2612805"/>
            <a:ext cx="1" cy="114245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13" idx="2"/>
            <a:endCxn id="16" idx="0"/>
          </p:cNvCxnSpPr>
          <p:nvPr/>
        </p:nvCxnSpPr>
        <p:spPr>
          <a:xfrm flipH="1">
            <a:off x="10694188" y="2917695"/>
            <a:ext cx="1" cy="109735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19" idx="2"/>
            <a:endCxn id="22" idx="0"/>
          </p:cNvCxnSpPr>
          <p:nvPr/>
        </p:nvCxnSpPr>
        <p:spPr>
          <a:xfrm flipH="1">
            <a:off x="10694187" y="3884825"/>
            <a:ext cx="1" cy="128126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1" idx="2"/>
            <a:endCxn id="24" idx="0"/>
          </p:cNvCxnSpPr>
          <p:nvPr/>
        </p:nvCxnSpPr>
        <p:spPr>
          <a:xfrm flipH="1">
            <a:off x="10694187" y="4203596"/>
            <a:ext cx="1" cy="120826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3" idx="2"/>
            <a:endCxn id="26" idx="0"/>
          </p:cNvCxnSpPr>
          <p:nvPr/>
        </p:nvCxnSpPr>
        <p:spPr>
          <a:xfrm flipH="1">
            <a:off x="10694187" y="4515067"/>
            <a:ext cx="1" cy="189818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5" idx="2"/>
            <a:endCxn id="30" idx="0"/>
          </p:cNvCxnSpPr>
          <p:nvPr/>
        </p:nvCxnSpPr>
        <p:spPr>
          <a:xfrm flipH="1">
            <a:off x="10694186" y="4895530"/>
            <a:ext cx="2" cy="119823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29" idx="2"/>
            <a:endCxn id="32" idx="0"/>
          </p:cNvCxnSpPr>
          <p:nvPr/>
        </p:nvCxnSpPr>
        <p:spPr>
          <a:xfrm flipH="1">
            <a:off x="10694185" y="5205998"/>
            <a:ext cx="2" cy="120826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31" idx="2"/>
            <a:endCxn id="33" idx="0"/>
          </p:cNvCxnSpPr>
          <p:nvPr/>
        </p:nvCxnSpPr>
        <p:spPr>
          <a:xfrm>
            <a:off x="10694186" y="5517469"/>
            <a:ext cx="2" cy="308399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endCxn id="20" idx="0"/>
          </p:cNvCxnSpPr>
          <p:nvPr/>
        </p:nvCxnSpPr>
        <p:spPr>
          <a:xfrm flipH="1">
            <a:off x="10694187" y="3556831"/>
            <a:ext cx="2" cy="137349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  <a:head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>
            <a:off x="10694182" y="3368334"/>
            <a:ext cx="2" cy="137349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  <a:head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Hexagon 108"/>
          <p:cNvSpPr/>
          <p:nvPr/>
        </p:nvSpPr>
        <p:spPr>
          <a:xfrm>
            <a:off x="10668941" y="2306879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Hexagon 109"/>
          <p:cNvSpPr/>
          <p:nvPr/>
        </p:nvSpPr>
        <p:spPr>
          <a:xfrm>
            <a:off x="10668941" y="2650952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2" name="Elbow Connector 111"/>
          <p:cNvCxnSpPr>
            <a:stCxn id="109" idx="0"/>
            <a:endCxn id="110" idx="0"/>
          </p:cNvCxnSpPr>
          <p:nvPr/>
        </p:nvCxnSpPr>
        <p:spPr>
          <a:xfrm>
            <a:off x="10714660" y="2329739"/>
            <a:ext cx="12700" cy="344073"/>
          </a:xfrm>
          <a:prstGeom prst="bentConnector3">
            <a:avLst>
              <a:gd name="adj1" fmla="val 4743748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Hexagon 113"/>
          <p:cNvSpPr/>
          <p:nvPr/>
        </p:nvSpPr>
        <p:spPr>
          <a:xfrm>
            <a:off x="10674496" y="2942398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Hexagon 114"/>
          <p:cNvSpPr/>
          <p:nvPr/>
        </p:nvSpPr>
        <p:spPr>
          <a:xfrm>
            <a:off x="10674496" y="3286471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6" name="Elbow Connector 115"/>
          <p:cNvCxnSpPr>
            <a:stCxn id="114" idx="0"/>
            <a:endCxn id="115" idx="0"/>
          </p:cNvCxnSpPr>
          <p:nvPr/>
        </p:nvCxnSpPr>
        <p:spPr>
          <a:xfrm>
            <a:off x="10720215" y="2965258"/>
            <a:ext cx="12700" cy="344073"/>
          </a:xfrm>
          <a:prstGeom prst="bentConnector3">
            <a:avLst>
              <a:gd name="adj1" fmla="val 470625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116"/>
          <p:cNvCxnSpPr>
            <a:stCxn id="110" idx="0"/>
            <a:endCxn id="114" idx="0"/>
          </p:cNvCxnSpPr>
          <p:nvPr/>
        </p:nvCxnSpPr>
        <p:spPr>
          <a:xfrm>
            <a:off x="10714660" y="2673812"/>
            <a:ext cx="5555" cy="291446"/>
          </a:xfrm>
          <a:prstGeom prst="bentConnector3">
            <a:avLst>
              <a:gd name="adj1" fmla="val 10845275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Hexagon 128"/>
          <p:cNvSpPr/>
          <p:nvPr/>
        </p:nvSpPr>
        <p:spPr>
          <a:xfrm>
            <a:off x="10676086" y="3611769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0" name="Hexagon 129"/>
          <p:cNvSpPr/>
          <p:nvPr/>
        </p:nvSpPr>
        <p:spPr>
          <a:xfrm>
            <a:off x="10676086" y="3955842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1" name="Elbow Connector 130"/>
          <p:cNvCxnSpPr>
            <a:stCxn id="129" idx="0"/>
            <a:endCxn id="130" idx="0"/>
          </p:cNvCxnSpPr>
          <p:nvPr/>
        </p:nvCxnSpPr>
        <p:spPr>
          <a:xfrm>
            <a:off x="10721805" y="3634629"/>
            <a:ext cx="12700" cy="344073"/>
          </a:xfrm>
          <a:prstGeom prst="bentConnector3">
            <a:avLst>
              <a:gd name="adj1" fmla="val 4743748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Hexagon 131"/>
          <p:cNvSpPr/>
          <p:nvPr/>
        </p:nvSpPr>
        <p:spPr>
          <a:xfrm>
            <a:off x="10681641" y="4247288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3" name="Hexagon 132"/>
          <p:cNvSpPr/>
          <p:nvPr/>
        </p:nvSpPr>
        <p:spPr>
          <a:xfrm>
            <a:off x="10681641" y="4591361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4" name="Elbow Connector 133"/>
          <p:cNvCxnSpPr/>
          <p:nvPr/>
        </p:nvCxnSpPr>
        <p:spPr>
          <a:xfrm>
            <a:off x="10722597" y="4270148"/>
            <a:ext cx="12700" cy="344073"/>
          </a:xfrm>
          <a:prstGeom prst="bentConnector3">
            <a:avLst>
              <a:gd name="adj1" fmla="val 470625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Elbow Connector 134"/>
          <p:cNvCxnSpPr>
            <a:stCxn id="130" idx="0"/>
            <a:endCxn id="132" idx="0"/>
          </p:cNvCxnSpPr>
          <p:nvPr/>
        </p:nvCxnSpPr>
        <p:spPr>
          <a:xfrm>
            <a:off x="10721805" y="3978702"/>
            <a:ext cx="5555" cy="291446"/>
          </a:xfrm>
          <a:prstGeom prst="bentConnector3">
            <a:avLst>
              <a:gd name="adj1" fmla="val 10845275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Hexagon 143"/>
          <p:cNvSpPr/>
          <p:nvPr/>
        </p:nvSpPr>
        <p:spPr>
          <a:xfrm>
            <a:off x="10675291" y="4936721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5" name="Elbow Connector 144"/>
          <p:cNvCxnSpPr>
            <a:endCxn id="144" idx="0"/>
          </p:cNvCxnSpPr>
          <p:nvPr/>
        </p:nvCxnSpPr>
        <p:spPr>
          <a:xfrm>
            <a:off x="10721010" y="4615508"/>
            <a:ext cx="12700" cy="344073"/>
          </a:xfrm>
          <a:prstGeom prst="bentConnector3">
            <a:avLst>
              <a:gd name="adj1" fmla="val 4743748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Hexagon 145"/>
          <p:cNvSpPr/>
          <p:nvPr/>
        </p:nvSpPr>
        <p:spPr>
          <a:xfrm>
            <a:off x="10680846" y="5228167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7" name="Hexagon 146"/>
          <p:cNvSpPr/>
          <p:nvPr/>
        </p:nvSpPr>
        <p:spPr>
          <a:xfrm>
            <a:off x="10680846" y="5572240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8" name="Elbow Connector 147"/>
          <p:cNvCxnSpPr>
            <a:stCxn id="146" idx="0"/>
            <a:endCxn id="147" idx="0"/>
          </p:cNvCxnSpPr>
          <p:nvPr/>
        </p:nvCxnSpPr>
        <p:spPr>
          <a:xfrm>
            <a:off x="10726565" y="5251027"/>
            <a:ext cx="12700" cy="344073"/>
          </a:xfrm>
          <a:prstGeom prst="bentConnector3">
            <a:avLst>
              <a:gd name="adj1" fmla="val 470625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lbow Connector 148"/>
          <p:cNvCxnSpPr>
            <a:stCxn id="144" idx="0"/>
            <a:endCxn id="146" idx="0"/>
          </p:cNvCxnSpPr>
          <p:nvPr/>
        </p:nvCxnSpPr>
        <p:spPr>
          <a:xfrm>
            <a:off x="10721010" y="4959581"/>
            <a:ext cx="5555" cy="291446"/>
          </a:xfrm>
          <a:prstGeom prst="bentConnector3">
            <a:avLst>
              <a:gd name="adj1" fmla="val 10845275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ounded Rectangle 152"/>
          <p:cNvSpPr/>
          <p:nvPr/>
        </p:nvSpPr>
        <p:spPr>
          <a:xfrm>
            <a:off x="9941329" y="3935661"/>
            <a:ext cx="1470660" cy="31356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DC5DDBE-76BB-4D98-9912-CB70A207B7A4}"/>
              </a:ext>
            </a:extLst>
          </p:cNvPr>
          <p:cNvSpPr/>
          <p:nvPr/>
        </p:nvSpPr>
        <p:spPr>
          <a:xfrm>
            <a:off x="6860914" y="3817396"/>
            <a:ext cx="957532" cy="2846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BD96D5C-0CDF-4883-AACA-128DDBB08D55}"/>
              </a:ext>
            </a:extLst>
          </p:cNvPr>
          <p:cNvSpPr txBox="1"/>
          <p:nvPr/>
        </p:nvSpPr>
        <p:spPr>
          <a:xfrm>
            <a:off x="6627493" y="4162075"/>
            <a:ext cx="753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9A986255-7176-4430-9491-E4C667F6DA8C}"/>
              </a:ext>
            </a:extLst>
          </p:cNvPr>
          <p:cNvCxnSpPr>
            <a:cxnSpLocks/>
          </p:cNvCxnSpPr>
          <p:nvPr/>
        </p:nvCxnSpPr>
        <p:spPr>
          <a:xfrm flipV="1">
            <a:off x="7339680" y="3340584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F9D3160D-10BA-4FA7-9E25-6AC6DC4E0D73}"/>
                  </a:ext>
                </a:extLst>
              </p:cNvPr>
              <p:cNvSpPr txBox="1"/>
              <p:nvPr/>
            </p:nvSpPr>
            <p:spPr>
              <a:xfrm>
                <a:off x="7186650" y="5247949"/>
                <a:ext cx="287106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F9D3160D-10BA-4FA7-9E25-6AC6DC4E0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650" y="5247949"/>
                <a:ext cx="287106" cy="3693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TextBox 159">
            <a:extLst>
              <a:ext uri="{FF2B5EF4-FFF2-40B4-BE49-F238E27FC236}">
                <a16:creationId xmlns:a16="http://schemas.microsoft.com/office/drawing/2014/main" id="{BEA69605-6768-492B-B366-853A49422DE3}"/>
              </a:ext>
            </a:extLst>
          </p:cNvPr>
          <p:cNvSpPr txBox="1"/>
          <p:nvPr/>
        </p:nvSpPr>
        <p:spPr>
          <a:xfrm>
            <a:off x="7045151" y="3755941"/>
            <a:ext cx="63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6795BC59-9925-4205-B1D4-3E73566BC2D3}"/>
              </a:ext>
            </a:extLst>
          </p:cNvPr>
          <p:cNvSpPr/>
          <p:nvPr/>
        </p:nvSpPr>
        <p:spPr>
          <a:xfrm>
            <a:off x="7203634" y="3073747"/>
            <a:ext cx="270122" cy="267008"/>
          </a:xfrm>
          <a:prstGeom prst="ellipse">
            <a:avLst/>
          </a:prstGeom>
          <a:solidFill>
            <a:schemeClr val="accent4">
              <a:lumMod val="60000"/>
              <a:lumOff val="40000"/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2" name="Plus Sign 24">
            <a:extLst>
              <a:ext uri="{FF2B5EF4-FFF2-40B4-BE49-F238E27FC236}">
                <a16:creationId xmlns:a16="http://schemas.microsoft.com/office/drawing/2014/main" id="{34F60B51-CD34-4345-B8F9-081D58E1088C}"/>
              </a:ext>
            </a:extLst>
          </p:cNvPr>
          <p:cNvSpPr/>
          <p:nvPr/>
        </p:nvSpPr>
        <p:spPr>
          <a:xfrm>
            <a:off x="7226846" y="3105140"/>
            <a:ext cx="218717" cy="203802"/>
          </a:xfrm>
          <a:prstGeom prst="mathPlus">
            <a:avLst/>
          </a:prstGeom>
          <a:solidFill>
            <a:srgbClr val="FF0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BBAD6D6A-D029-413A-8FC3-FA9679845E85}"/>
              </a:ext>
            </a:extLst>
          </p:cNvPr>
          <p:cNvSpPr/>
          <p:nvPr/>
        </p:nvSpPr>
        <p:spPr>
          <a:xfrm>
            <a:off x="6860914" y="4578879"/>
            <a:ext cx="957532" cy="2846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FC41726D-4D0C-4CFC-AC80-0AC25B906581}"/>
              </a:ext>
            </a:extLst>
          </p:cNvPr>
          <p:cNvCxnSpPr>
            <a:cxnSpLocks/>
          </p:cNvCxnSpPr>
          <p:nvPr/>
        </p:nvCxnSpPr>
        <p:spPr>
          <a:xfrm flipV="1">
            <a:off x="7339680" y="4863550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DA71D684-14FF-4D11-B88B-677E325B0F2E}"/>
                  </a:ext>
                </a:extLst>
              </p:cNvPr>
              <p:cNvSpPr txBox="1"/>
              <p:nvPr/>
            </p:nvSpPr>
            <p:spPr>
              <a:xfrm>
                <a:off x="5669691" y="3028313"/>
                <a:ext cx="1541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DA71D684-14FF-4D11-B88B-677E325B0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691" y="3028313"/>
                <a:ext cx="1541044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TextBox 165">
            <a:extLst>
              <a:ext uri="{FF2B5EF4-FFF2-40B4-BE49-F238E27FC236}">
                <a16:creationId xmlns:a16="http://schemas.microsoft.com/office/drawing/2014/main" id="{7F9F5C10-9644-4848-B3D2-A6F8E7C9E916}"/>
              </a:ext>
            </a:extLst>
          </p:cNvPr>
          <p:cNvSpPr txBox="1"/>
          <p:nvPr/>
        </p:nvSpPr>
        <p:spPr>
          <a:xfrm>
            <a:off x="7070815" y="4517075"/>
            <a:ext cx="66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6E440034-271D-4435-B459-0A0EF87FA4CC}"/>
              </a:ext>
            </a:extLst>
          </p:cNvPr>
          <p:cNvCxnSpPr>
            <a:cxnSpLocks/>
          </p:cNvCxnSpPr>
          <p:nvPr/>
        </p:nvCxnSpPr>
        <p:spPr>
          <a:xfrm flipV="1">
            <a:off x="7342158" y="2551501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C6AFA1BD-884A-48E3-B1E1-DA6EC55E09FC}"/>
                  </a:ext>
                </a:extLst>
              </p:cNvPr>
              <p:cNvSpPr txBox="1"/>
              <p:nvPr/>
            </p:nvSpPr>
            <p:spPr>
              <a:xfrm>
                <a:off x="6938460" y="4172454"/>
                <a:ext cx="19883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C6AFA1BD-884A-48E3-B1E1-DA6EC55E0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460" y="4172454"/>
                <a:ext cx="198838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2EB71B0F-4FC9-4825-985E-8C6CD5D5A853}"/>
              </a:ext>
            </a:extLst>
          </p:cNvPr>
          <p:cNvCxnSpPr>
            <a:cxnSpLocks/>
          </p:cNvCxnSpPr>
          <p:nvPr/>
        </p:nvCxnSpPr>
        <p:spPr>
          <a:xfrm flipV="1">
            <a:off x="7338694" y="4102067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5CD14373-2617-4049-A946-486D9E6746DB}"/>
              </a:ext>
            </a:extLst>
          </p:cNvPr>
          <p:cNvSpPr txBox="1"/>
          <p:nvPr/>
        </p:nvSpPr>
        <p:spPr>
          <a:xfrm>
            <a:off x="6810855" y="5692026"/>
            <a:ext cx="1715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Block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5804E65-E31D-4B32-9DD9-A4812CCD002F}"/>
              </a:ext>
            </a:extLst>
          </p:cNvPr>
          <p:cNvSpPr txBox="1"/>
          <p:nvPr/>
        </p:nvSpPr>
        <p:spPr>
          <a:xfrm>
            <a:off x="8306703" y="3718137"/>
            <a:ext cx="971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Identity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9FAA9A62-BC62-48EF-96D5-B9D876D43D17}"/>
              </a:ext>
            </a:extLst>
          </p:cNvPr>
          <p:cNvSpPr txBox="1"/>
          <p:nvPr/>
        </p:nvSpPr>
        <p:spPr>
          <a:xfrm>
            <a:off x="7396597" y="2728439"/>
            <a:ext cx="753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sz="16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7889A1FD-894A-41C4-976F-EF44BA975AC7}"/>
                  </a:ext>
                </a:extLst>
              </p:cNvPr>
              <p:cNvSpPr txBox="1"/>
              <p:nvPr/>
            </p:nvSpPr>
            <p:spPr>
              <a:xfrm>
                <a:off x="8593622" y="3981658"/>
                <a:ext cx="287106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7889A1FD-894A-41C4-976F-EF44BA975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3622" y="3981658"/>
                <a:ext cx="287106" cy="3693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Arc 173"/>
          <p:cNvSpPr/>
          <p:nvPr/>
        </p:nvSpPr>
        <p:spPr>
          <a:xfrm>
            <a:off x="6719834" y="3216778"/>
            <a:ext cx="1599304" cy="2207491"/>
          </a:xfrm>
          <a:prstGeom prst="arc">
            <a:avLst>
              <a:gd name="adj1" fmla="val 16345712"/>
              <a:gd name="adj2" fmla="val 5583087"/>
            </a:avLst>
          </a:prstGeom>
          <a:ln w="19050">
            <a:solidFill>
              <a:srgbClr val="0070C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Rounded Rectangle 175"/>
          <p:cNvSpPr/>
          <p:nvPr/>
        </p:nvSpPr>
        <p:spPr>
          <a:xfrm>
            <a:off x="5772150" y="2341858"/>
            <a:ext cx="3457670" cy="3810859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8" name="Straight Arrow Connector 177"/>
          <p:cNvCxnSpPr>
            <a:stCxn id="153" idx="1"/>
          </p:cNvCxnSpPr>
          <p:nvPr/>
        </p:nvCxnSpPr>
        <p:spPr>
          <a:xfrm flipH="1">
            <a:off x="9256700" y="4092441"/>
            <a:ext cx="684629" cy="5369"/>
          </a:xfrm>
          <a:prstGeom prst="straightConnector1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CFFFBB3-8C8D-49B3-BA55-D2428DCBBCDD}"/>
              </a:ext>
            </a:extLst>
          </p:cNvPr>
          <p:cNvSpPr/>
          <p:nvPr/>
        </p:nvSpPr>
        <p:spPr>
          <a:xfrm>
            <a:off x="0" y="6475550"/>
            <a:ext cx="82766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Kaiming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He,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Xiangyu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Zhang,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Shaoqing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Ren, Jian Sun,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Residual Learning for Image Recognition, </a:t>
            </a:r>
            <a:endParaRPr lang="en-IN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D656220D-981A-4C09-95CB-86E6A1D81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50"/>
            <a:ext cx="5838825" cy="892175"/>
          </a:xfrm>
        </p:spPr>
        <p:txBody>
          <a:bodyPr>
            <a:normAutofit/>
          </a:bodyPr>
          <a:lstStyle/>
          <a:p>
            <a:r>
              <a:rPr lang="en-IN" sz="3600" dirty="0" err="1">
                <a:latin typeface="Century" panose="02040604050505020304" pitchFamily="18" charset="0"/>
              </a:rPr>
              <a:t>ResNet</a:t>
            </a:r>
            <a:r>
              <a:rPr lang="en-IN" sz="3600" dirty="0">
                <a:latin typeface="Century" panose="02040604050505020304" pitchFamily="18" charset="0"/>
              </a:rPr>
              <a:t>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44938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835" y="1197984"/>
            <a:ext cx="4686227" cy="426913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IN" sz="2400" spc="13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Full </a:t>
            </a:r>
            <a:r>
              <a:rPr lang="en-IN" sz="2400" spc="13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ResNet</a:t>
            </a:r>
            <a:r>
              <a:rPr lang="en-IN" sz="2400" spc="13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architecture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2000" dirty="0" err="1">
                <a:latin typeface="Arial Narrow" panose="020B0606020202030204" pitchFamily="34" charset="0"/>
              </a:rPr>
              <a:t>ResNet</a:t>
            </a:r>
            <a:r>
              <a:rPr lang="en-US" sz="2000" dirty="0">
                <a:latin typeface="Arial Narrow" panose="020B0606020202030204" pitchFamily="34" charset="0"/>
              </a:rPr>
              <a:t> architecture design facilitates efficient gradient propagation, mitigates the vanishing gradient problem, and enables the successful training of networks with depths of 50, 101, 152, or even more layers.</a:t>
            </a:r>
            <a:endParaRPr lang="en-US" altLang="en-US" sz="2000" dirty="0">
              <a:latin typeface="Arial Narrow" panose="020B0606020202030204" pitchFamily="34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endParaRPr lang="en-US" altLang="en-US" sz="2000" dirty="0">
              <a:latin typeface="Arial Narrow" panose="020B0606020202030204" pitchFamily="34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2000" dirty="0">
                <a:latin typeface="Arial Narrow" panose="020B0606020202030204" pitchFamily="34" charset="0"/>
              </a:rPr>
              <a:t>A typical </a:t>
            </a:r>
            <a:r>
              <a:rPr lang="en-US" sz="2000" dirty="0" err="1">
                <a:latin typeface="Arial Narrow" panose="020B0606020202030204" pitchFamily="34" charset="0"/>
              </a:rPr>
              <a:t>ResNet</a:t>
            </a:r>
            <a:r>
              <a:rPr lang="en-US" sz="2000" dirty="0">
                <a:latin typeface="Arial Narrow" panose="020B0606020202030204" pitchFamily="34" charset="0"/>
              </a:rPr>
              <a:t> architecture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 begins with a 7 × 7 convolution layer (64 filters, stride 2), followed by batch normalization, </a:t>
            </a:r>
            <a:r>
              <a:rPr lang="en-US" sz="20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ReLU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 activation, and a 3 × 3 max-pooling layer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US" altLang="en-US" sz="2000" dirty="0">
              <a:latin typeface="Arial Narrow" panose="020B060602020203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646517" y="1840029"/>
            <a:ext cx="1023936" cy="1125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Softmax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515" y="2017417"/>
            <a:ext cx="1023936" cy="9939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FC 1000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513" y="2187331"/>
            <a:ext cx="1023937" cy="9227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POOL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514" y="2584498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513" y="2478712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514" y="2889388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513" y="2783602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514" y="3189768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512, /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513" y="3083982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513" y="3856518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512" y="3750732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513" y="4175289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512" y="4069503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513" y="4486760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128, /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512" y="4380974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513" y="4867223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512" y="4761437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512" y="5177691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511" y="5071905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511" y="5489162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64, /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46510" y="5383376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46514" y="5882420"/>
            <a:ext cx="1023936" cy="112598"/>
          </a:xfrm>
          <a:prstGeom prst="roundRect">
            <a:avLst/>
          </a:prstGeom>
          <a:solidFill>
            <a:srgbClr val="FFC0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POOL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46512" y="6059808"/>
            <a:ext cx="1023936" cy="99393"/>
          </a:xfrm>
          <a:prstGeom prst="roundRect">
            <a:avLst/>
          </a:prstGeom>
          <a:solidFill>
            <a:schemeClr val="accent2">
              <a:alpha val="44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7 x 7 </a:t>
            </a:r>
            <a:r>
              <a:rPr lang="en-IN" sz="9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 / 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46510" y="6229722"/>
            <a:ext cx="1023937" cy="92277"/>
          </a:xfrm>
          <a:prstGeom prst="roundRect">
            <a:avLst/>
          </a:prstGeom>
          <a:solidFill>
            <a:srgbClr val="FF0000">
              <a:alpha val="22000"/>
            </a:srgb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INPUT</a:t>
            </a:r>
          </a:p>
        </p:txBody>
      </p:sp>
      <p:cxnSp>
        <p:nvCxnSpPr>
          <p:cNvPr id="37" name="Straight Connector 36"/>
          <p:cNvCxnSpPr>
            <a:stCxn id="7" idx="2"/>
            <a:endCxn id="12" idx="0"/>
          </p:cNvCxnSpPr>
          <p:nvPr/>
        </p:nvCxnSpPr>
        <p:spPr>
          <a:xfrm>
            <a:off x="10158482" y="2279608"/>
            <a:ext cx="0" cy="199104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15" idx="2"/>
          </p:cNvCxnSpPr>
          <p:nvPr/>
        </p:nvCxnSpPr>
        <p:spPr>
          <a:xfrm flipH="1">
            <a:off x="10158478" y="3274627"/>
            <a:ext cx="5" cy="98713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10" idx="2"/>
            <a:endCxn id="14" idx="0"/>
          </p:cNvCxnSpPr>
          <p:nvPr/>
        </p:nvCxnSpPr>
        <p:spPr>
          <a:xfrm flipH="1">
            <a:off x="10158482" y="2669357"/>
            <a:ext cx="1" cy="114245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13" idx="2"/>
            <a:endCxn id="16" idx="0"/>
          </p:cNvCxnSpPr>
          <p:nvPr/>
        </p:nvCxnSpPr>
        <p:spPr>
          <a:xfrm flipH="1">
            <a:off x="10158482" y="2974247"/>
            <a:ext cx="1" cy="109735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19" idx="2"/>
            <a:endCxn id="22" idx="0"/>
          </p:cNvCxnSpPr>
          <p:nvPr/>
        </p:nvCxnSpPr>
        <p:spPr>
          <a:xfrm flipH="1">
            <a:off x="10158481" y="3941377"/>
            <a:ext cx="1" cy="128126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1" idx="2"/>
            <a:endCxn id="24" idx="0"/>
          </p:cNvCxnSpPr>
          <p:nvPr/>
        </p:nvCxnSpPr>
        <p:spPr>
          <a:xfrm flipH="1">
            <a:off x="10158481" y="4260148"/>
            <a:ext cx="1" cy="120826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3" idx="2"/>
            <a:endCxn id="26" idx="0"/>
          </p:cNvCxnSpPr>
          <p:nvPr/>
        </p:nvCxnSpPr>
        <p:spPr>
          <a:xfrm flipH="1">
            <a:off x="10158481" y="4571619"/>
            <a:ext cx="1" cy="189818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5" idx="2"/>
            <a:endCxn id="30" idx="0"/>
          </p:cNvCxnSpPr>
          <p:nvPr/>
        </p:nvCxnSpPr>
        <p:spPr>
          <a:xfrm flipH="1">
            <a:off x="10158480" y="4952082"/>
            <a:ext cx="2" cy="119823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29" idx="2"/>
            <a:endCxn id="32" idx="0"/>
          </p:cNvCxnSpPr>
          <p:nvPr/>
        </p:nvCxnSpPr>
        <p:spPr>
          <a:xfrm flipH="1">
            <a:off x="10158479" y="5262550"/>
            <a:ext cx="2" cy="120826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31" idx="2"/>
            <a:endCxn id="33" idx="0"/>
          </p:cNvCxnSpPr>
          <p:nvPr/>
        </p:nvCxnSpPr>
        <p:spPr>
          <a:xfrm>
            <a:off x="10158480" y="5574021"/>
            <a:ext cx="2" cy="308399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endCxn id="20" idx="0"/>
          </p:cNvCxnSpPr>
          <p:nvPr/>
        </p:nvCxnSpPr>
        <p:spPr>
          <a:xfrm flipH="1">
            <a:off x="10158481" y="3613383"/>
            <a:ext cx="2" cy="137349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  <a:head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>
            <a:off x="10158476" y="3424886"/>
            <a:ext cx="2" cy="137349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  <a:head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Hexagon 108"/>
          <p:cNvSpPr/>
          <p:nvPr/>
        </p:nvSpPr>
        <p:spPr>
          <a:xfrm>
            <a:off x="10133235" y="2363431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Hexagon 109"/>
          <p:cNvSpPr/>
          <p:nvPr/>
        </p:nvSpPr>
        <p:spPr>
          <a:xfrm>
            <a:off x="10133235" y="2707504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2" name="Elbow Connector 111"/>
          <p:cNvCxnSpPr>
            <a:stCxn id="109" idx="0"/>
            <a:endCxn id="110" idx="0"/>
          </p:cNvCxnSpPr>
          <p:nvPr/>
        </p:nvCxnSpPr>
        <p:spPr>
          <a:xfrm>
            <a:off x="10178954" y="2386291"/>
            <a:ext cx="12700" cy="344073"/>
          </a:xfrm>
          <a:prstGeom prst="bentConnector3">
            <a:avLst>
              <a:gd name="adj1" fmla="val 4743748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Hexagon 113"/>
          <p:cNvSpPr/>
          <p:nvPr/>
        </p:nvSpPr>
        <p:spPr>
          <a:xfrm>
            <a:off x="10138790" y="2998950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Hexagon 114"/>
          <p:cNvSpPr/>
          <p:nvPr/>
        </p:nvSpPr>
        <p:spPr>
          <a:xfrm>
            <a:off x="10138790" y="3343023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6" name="Elbow Connector 115"/>
          <p:cNvCxnSpPr>
            <a:stCxn id="114" idx="0"/>
            <a:endCxn id="115" idx="0"/>
          </p:cNvCxnSpPr>
          <p:nvPr/>
        </p:nvCxnSpPr>
        <p:spPr>
          <a:xfrm>
            <a:off x="10184509" y="3021810"/>
            <a:ext cx="12700" cy="344073"/>
          </a:xfrm>
          <a:prstGeom prst="bentConnector3">
            <a:avLst>
              <a:gd name="adj1" fmla="val 470625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116"/>
          <p:cNvCxnSpPr>
            <a:stCxn id="110" idx="0"/>
            <a:endCxn id="114" idx="0"/>
          </p:cNvCxnSpPr>
          <p:nvPr/>
        </p:nvCxnSpPr>
        <p:spPr>
          <a:xfrm>
            <a:off x="10178954" y="2730364"/>
            <a:ext cx="5555" cy="291446"/>
          </a:xfrm>
          <a:prstGeom prst="bentConnector3">
            <a:avLst>
              <a:gd name="adj1" fmla="val 10845275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Hexagon 128"/>
          <p:cNvSpPr/>
          <p:nvPr/>
        </p:nvSpPr>
        <p:spPr>
          <a:xfrm>
            <a:off x="10140380" y="3668321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0" name="Hexagon 129"/>
          <p:cNvSpPr/>
          <p:nvPr/>
        </p:nvSpPr>
        <p:spPr>
          <a:xfrm>
            <a:off x="10140380" y="4012394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1" name="Elbow Connector 130"/>
          <p:cNvCxnSpPr>
            <a:stCxn id="129" idx="0"/>
            <a:endCxn id="130" idx="0"/>
          </p:cNvCxnSpPr>
          <p:nvPr/>
        </p:nvCxnSpPr>
        <p:spPr>
          <a:xfrm>
            <a:off x="10186099" y="3691181"/>
            <a:ext cx="12700" cy="344073"/>
          </a:xfrm>
          <a:prstGeom prst="bentConnector3">
            <a:avLst>
              <a:gd name="adj1" fmla="val 4743748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Hexagon 131"/>
          <p:cNvSpPr/>
          <p:nvPr/>
        </p:nvSpPr>
        <p:spPr>
          <a:xfrm>
            <a:off x="10145935" y="4303840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3" name="Hexagon 132"/>
          <p:cNvSpPr/>
          <p:nvPr/>
        </p:nvSpPr>
        <p:spPr>
          <a:xfrm>
            <a:off x="10145935" y="4647913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4" name="Elbow Connector 133"/>
          <p:cNvCxnSpPr/>
          <p:nvPr/>
        </p:nvCxnSpPr>
        <p:spPr>
          <a:xfrm>
            <a:off x="10186891" y="4326700"/>
            <a:ext cx="12700" cy="344073"/>
          </a:xfrm>
          <a:prstGeom prst="bentConnector3">
            <a:avLst>
              <a:gd name="adj1" fmla="val 470625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Elbow Connector 134"/>
          <p:cNvCxnSpPr>
            <a:stCxn id="130" idx="0"/>
            <a:endCxn id="132" idx="0"/>
          </p:cNvCxnSpPr>
          <p:nvPr/>
        </p:nvCxnSpPr>
        <p:spPr>
          <a:xfrm>
            <a:off x="10186099" y="4035254"/>
            <a:ext cx="5555" cy="291446"/>
          </a:xfrm>
          <a:prstGeom prst="bentConnector3">
            <a:avLst>
              <a:gd name="adj1" fmla="val 10845275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Hexagon 143"/>
          <p:cNvSpPr/>
          <p:nvPr/>
        </p:nvSpPr>
        <p:spPr>
          <a:xfrm>
            <a:off x="10139585" y="4993273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5" name="Elbow Connector 144"/>
          <p:cNvCxnSpPr>
            <a:endCxn id="144" idx="0"/>
          </p:cNvCxnSpPr>
          <p:nvPr/>
        </p:nvCxnSpPr>
        <p:spPr>
          <a:xfrm>
            <a:off x="10185304" y="4672060"/>
            <a:ext cx="12700" cy="344073"/>
          </a:xfrm>
          <a:prstGeom prst="bentConnector3">
            <a:avLst>
              <a:gd name="adj1" fmla="val 4743748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Hexagon 145"/>
          <p:cNvSpPr/>
          <p:nvPr/>
        </p:nvSpPr>
        <p:spPr>
          <a:xfrm>
            <a:off x="10145140" y="5284719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7" name="Hexagon 146"/>
          <p:cNvSpPr/>
          <p:nvPr/>
        </p:nvSpPr>
        <p:spPr>
          <a:xfrm>
            <a:off x="10145140" y="5628792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8" name="Elbow Connector 147"/>
          <p:cNvCxnSpPr>
            <a:stCxn id="146" idx="0"/>
            <a:endCxn id="147" idx="0"/>
          </p:cNvCxnSpPr>
          <p:nvPr/>
        </p:nvCxnSpPr>
        <p:spPr>
          <a:xfrm>
            <a:off x="10190859" y="5307579"/>
            <a:ext cx="12700" cy="344073"/>
          </a:xfrm>
          <a:prstGeom prst="bentConnector3">
            <a:avLst>
              <a:gd name="adj1" fmla="val 470625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lbow Connector 148"/>
          <p:cNvCxnSpPr>
            <a:stCxn id="144" idx="0"/>
            <a:endCxn id="146" idx="0"/>
          </p:cNvCxnSpPr>
          <p:nvPr/>
        </p:nvCxnSpPr>
        <p:spPr>
          <a:xfrm>
            <a:off x="10185304" y="5016133"/>
            <a:ext cx="5555" cy="291446"/>
          </a:xfrm>
          <a:prstGeom prst="bentConnector3">
            <a:avLst>
              <a:gd name="adj1" fmla="val 10845275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ounded Rectangle 152"/>
          <p:cNvSpPr/>
          <p:nvPr/>
        </p:nvSpPr>
        <p:spPr>
          <a:xfrm>
            <a:off x="9405623" y="3992213"/>
            <a:ext cx="1470660" cy="31356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DC5DDBE-76BB-4D98-9912-CB70A207B7A4}"/>
              </a:ext>
            </a:extLst>
          </p:cNvPr>
          <p:cNvSpPr/>
          <p:nvPr/>
        </p:nvSpPr>
        <p:spPr>
          <a:xfrm>
            <a:off x="6630006" y="3873948"/>
            <a:ext cx="957532" cy="2846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BD96D5C-0CDF-4883-AACA-128DDBB08D55}"/>
              </a:ext>
            </a:extLst>
          </p:cNvPr>
          <p:cNvSpPr txBox="1"/>
          <p:nvPr/>
        </p:nvSpPr>
        <p:spPr>
          <a:xfrm>
            <a:off x="6396585" y="4218627"/>
            <a:ext cx="753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9A986255-7176-4430-9491-E4C667F6DA8C}"/>
              </a:ext>
            </a:extLst>
          </p:cNvPr>
          <p:cNvCxnSpPr>
            <a:cxnSpLocks/>
          </p:cNvCxnSpPr>
          <p:nvPr/>
        </p:nvCxnSpPr>
        <p:spPr>
          <a:xfrm flipV="1">
            <a:off x="7108772" y="3397136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F9D3160D-10BA-4FA7-9E25-6AC6DC4E0D73}"/>
                  </a:ext>
                </a:extLst>
              </p:cNvPr>
              <p:cNvSpPr txBox="1"/>
              <p:nvPr/>
            </p:nvSpPr>
            <p:spPr>
              <a:xfrm>
                <a:off x="6955742" y="5304501"/>
                <a:ext cx="287106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F9D3160D-10BA-4FA7-9E25-6AC6DC4E0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742" y="5304501"/>
                <a:ext cx="287106" cy="3693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TextBox 159">
            <a:extLst>
              <a:ext uri="{FF2B5EF4-FFF2-40B4-BE49-F238E27FC236}">
                <a16:creationId xmlns:a16="http://schemas.microsoft.com/office/drawing/2014/main" id="{BEA69605-6768-492B-B366-853A49422DE3}"/>
              </a:ext>
            </a:extLst>
          </p:cNvPr>
          <p:cNvSpPr txBox="1"/>
          <p:nvPr/>
        </p:nvSpPr>
        <p:spPr>
          <a:xfrm>
            <a:off x="6814243" y="3812493"/>
            <a:ext cx="63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6795BC59-9925-4205-B1D4-3E73566BC2D3}"/>
              </a:ext>
            </a:extLst>
          </p:cNvPr>
          <p:cNvSpPr/>
          <p:nvPr/>
        </p:nvSpPr>
        <p:spPr>
          <a:xfrm>
            <a:off x="6972726" y="3130299"/>
            <a:ext cx="270122" cy="267008"/>
          </a:xfrm>
          <a:prstGeom prst="ellipse">
            <a:avLst/>
          </a:prstGeom>
          <a:solidFill>
            <a:schemeClr val="accent4">
              <a:lumMod val="60000"/>
              <a:lumOff val="40000"/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2" name="Plus Sign 24">
            <a:extLst>
              <a:ext uri="{FF2B5EF4-FFF2-40B4-BE49-F238E27FC236}">
                <a16:creationId xmlns:a16="http://schemas.microsoft.com/office/drawing/2014/main" id="{34F60B51-CD34-4345-B8F9-081D58E1088C}"/>
              </a:ext>
            </a:extLst>
          </p:cNvPr>
          <p:cNvSpPr/>
          <p:nvPr/>
        </p:nvSpPr>
        <p:spPr>
          <a:xfrm>
            <a:off x="6995938" y="3161692"/>
            <a:ext cx="218717" cy="203802"/>
          </a:xfrm>
          <a:prstGeom prst="mathPlus">
            <a:avLst/>
          </a:prstGeom>
          <a:solidFill>
            <a:srgbClr val="FF0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BBAD6D6A-D029-413A-8FC3-FA9679845E85}"/>
              </a:ext>
            </a:extLst>
          </p:cNvPr>
          <p:cNvSpPr/>
          <p:nvPr/>
        </p:nvSpPr>
        <p:spPr>
          <a:xfrm>
            <a:off x="6630006" y="4635431"/>
            <a:ext cx="957532" cy="2846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FC41726D-4D0C-4CFC-AC80-0AC25B906581}"/>
              </a:ext>
            </a:extLst>
          </p:cNvPr>
          <p:cNvCxnSpPr>
            <a:cxnSpLocks/>
          </p:cNvCxnSpPr>
          <p:nvPr/>
        </p:nvCxnSpPr>
        <p:spPr>
          <a:xfrm flipV="1">
            <a:off x="7108772" y="4920102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DA71D684-14FF-4D11-B88B-677E325B0F2E}"/>
                  </a:ext>
                </a:extLst>
              </p:cNvPr>
              <p:cNvSpPr txBox="1"/>
              <p:nvPr/>
            </p:nvSpPr>
            <p:spPr>
              <a:xfrm>
                <a:off x="5438783" y="3084865"/>
                <a:ext cx="1541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DA71D684-14FF-4D11-B88B-677E325B0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783" y="3084865"/>
                <a:ext cx="1541044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TextBox 165">
            <a:extLst>
              <a:ext uri="{FF2B5EF4-FFF2-40B4-BE49-F238E27FC236}">
                <a16:creationId xmlns:a16="http://schemas.microsoft.com/office/drawing/2014/main" id="{7F9F5C10-9644-4848-B3D2-A6F8E7C9E916}"/>
              </a:ext>
            </a:extLst>
          </p:cNvPr>
          <p:cNvSpPr txBox="1"/>
          <p:nvPr/>
        </p:nvSpPr>
        <p:spPr>
          <a:xfrm>
            <a:off x="6839907" y="4573627"/>
            <a:ext cx="66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6E440034-271D-4435-B459-0A0EF87FA4CC}"/>
              </a:ext>
            </a:extLst>
          </p:cNvPr>
          <p:cNvCxnSpPr>
            <a:cxnSpLocks/>
          </p:cNvCxnSpPr>
          <p:nvPr/>
        </p:nvCxnSpPr>
        <p:spPr>
          <a:xfrm flipV="1">
            <a:off x="7111250" y="2608053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C6AFA1BD-884A-48E3-B1E1-DA6EC55E09FC}"/>
                  </a:ext>
                </a:extLst>
              </p:cNvPr>
              <p:cNvSpPr txBox="1"/>
              <p:nvPr/>
            </p:nvSpPr>
            <p:spPr>
              <a:xfrm>
                <a:off x="6707552" y="4229006"/>
                <a:ext cx="19883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C6AFA1BD-884A-48E3-B1E1-DA6EC55E0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552" y="4229006"/>
                <a:ext cx="198838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2EB71B0F-4FC9-4825-985E-8C6CD5D5A853}"/>
              </a:ext>
            </a:extLst>
          </p:cNvPr>
          <p:cNvCxnSpPr>
            <a:cxnSpLocks/>
          </p:cNvCxnSpPr>
          <p:nvPr/>
        </p:nvCxnSpPr>
        <p:spPr>
          <a:xfrm flipV="1">
            <a:off x="7107786" y="4158619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5CD14373-2617-4049-A946-486D9E6746DB}"/>
              </a:ext>
            </a:extLst>
          </p:cNvPr>
          <p:cNvSpPr txBox="1"/>
          <p:nvPr/>
        </p:nvSpPr>
        <p:spPr>
          <a:xfrm>
            <a:off x="6579947" y="5748578"/>
            <a:ext cx="1715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Block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5804E65-E31D-4B32-9DD9-A4812CCD002F}"/>
              </a:ext>
            </a:extLst>
          </p:cNvPr>
          <p:cNvSpPr txBox="1"/>
          <p:nvPr/>
        </p:nvSpPr>
        <p:spPr>
          <a:xfrm>
            <a:off x="8075795" y="3774689"/>
            <a:ext cx="971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Identity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9FAA9A62-BC62-48EF-96D5-B9D876D43D17}"/>
              </a:ext>
            </a:extLst>
          </p:cNvPr>
          <p:cNvSpPr txBox="1"/>
          <p:nvPr/>
        </p:nvSpPr>
        <p:spPr>
          <a:xfrm>
            <a:off x="7165689" y="2784991"/>
            <a:ext cx="753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sz="16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7889A1FD-894A-41C4-976F-EF44BA975AC7}"/>
                  </a:ext>
                </a:extLst>
              </p:cNvPr>
              <p:cNvSpPr txBox="1"/>
              <p:nvPr/>
            </p:nvSpPr>
            <p:spPr>
              <a:xfrm>
                <a:off x="8362714" y="4038210"/>
                <a:ext cx="287106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7889A1FD-894A-41C4-976F-EF44BA975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714" y="4038210"/>
                <a:ext cx="287106" cy="3693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Arc 173"/>
          <p:cNvSpPr/>
          <p:nvPr/>
        </p:nvSpPr>
        <p:spPr>
          <a:xfrm>
            <a:off x="6488926" y="3273330"/>
            <a:ext cx="1599304" cy="2207491"/>
          </a:xfrm>
          <a:prstGeom prst="arc">
            <a:avLst>
              <a:gd name="adj1" fmla="val 16345712"/>
              <a:gd name="adj2" fmla="val 5583087"/>
            </a:avLst>
          </a:prstGeom>
          <a:ln w="19050">
            <a:solidFill>
              <a:srgbClr val="0070C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Rounded Rectangle 175"/>
          <p:cNvSpPr/>
          <p:nvPr/>
        </p:nvSpPr>
        <p:spPr>
          <a:xfrm>
            <a:off x="5504298" y="2398410"/>
            <a:ext cx="3457670" cy="3810859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8" name="Straight Arrow Connector 177"/>
          <p:cNvCxnSpPr>
            <a:stCxn id="153" idx="1"/>
          </p:cNvCxnSpPr>
          <p:nvPr/>
        </p:nvCxnSpPr>
        <p:spPr>
          <a:xfrm flipH="1" flipV="1">
            <a:off x="8972588" y="4144021"/>
            <a:ext cx="433035" cy="4972"/>
          </a:xfrm>
          <a:prstGeom prst="straightConnector1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CFFFBB3-8C8D-49B3-BA55-D2428DCBBCDD}"/>
              </a:ext>
            </a:extLst>
          </p:cNvPr>
          <p:cNvSpPr/>
          <p:nvPr/>
        </p:nvSpPr>
        <p:spPr>
          <a:xfrm>
            <a:off x="0" y="6475550"/>
            <a:ext cx="82766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Kaiming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He,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Xiangyu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Zhang,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Shaoqing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Ren, Jian Sun,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Residual Learning for Image Recognition, </a:t>
            </a:r>
            <a:endParaRPr lang="en-IN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8480" y="4131678"/>
            <a:ext cx="1213520" cy="600164"/>
          </a:xfrm>
          <a:prstGeom prst="rect">
            <a:avLst/>
          </a:prstGeom>
          <a:solidFill>
            <a:schemeClr val="accent4">
              <a:lumMod val="40000"/>
              <a:lumOff val="60000"/>
              <a:alpha val="4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7030A0"/>
                </a:solidFill>
                <a:latin typeface="Arial Narrow" panose="020B0606020202030204" pitchFamily="34" charset="0"/>
              </a:rPr>
              <a:t>3 x 3 </a:t>
            </a:r>
            <a:r>
              <a:rPr lang="en-IN" sz="11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conv</a:t>
            </a:r>
            <a:r>
              <a:rPr lang="en-IN" sz="1100" dirty="0">
                <a:solidFill>
                  <a:srgbClr val="7030A0"/>
                </a:solidFill>
                <a:latin typeface="Arial Narrow" panose="020B0606020202030204" pitchFamily="34" charset="0"/>
              </a:rPr>
              <a:t> , 128</a:t>
            </a:r>
          </a:p>
          <a:p>
            <a:r>
              <a:rPr lang="en-IN" sz="1100" dirty="0">
                <a:solidFill>
                  <a:srgbClr val="7030A0"/>
                </a:solidFill>
                <a:latin typeface="Arial Narrow" panose="020B0606020202030204" pitchFamily="34" charset="0"/>
              </a:rPr>
              <a:t>Filters, /2 spatially </a:t>
            </a:r>
          </a:p>
          <a:p>
            <a:r>
              <a:rPr lang="en-IN" sz="1100" dirty="0">
                <a:solidFill>
                  <a:srgbClr val="7030A0"/>
                </a:solidFill>
                <a:latin typeface="Arial Narrow" panose="020B0606020202030204" pitchFamily="34" charset="0"/>
              </a:rPr>
              <a:t>With Stride 2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0774814" y="4418235"/>
            <a:ext cx="203666" cy="0"/>
          </a:xfrm>
          <a:prstGeom prst="straightConnector1">
            <a:avLst/>
          </a:prstGeom>
          <a:ln w="254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1022930" y="4955369"/>
            <a:ext cx="934871" cy="430887"/>
          </a:xfrm>
          <a:prstGeom prst="rect">
            <a:avLst/>
          </a:prstGeom>
          <a:solidFill>
            <a:schemeClr val="accent4">
              <a:lumMod val="40000"/>
              <a:lumOff val="60000"/>
              <a:alpha val="4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7030A0"/>
                </a:solidFill>
                <a:latin typeface="Arial Narrow" panose="020B0606020202030204" pitchFamily="34" charset="0"/>
              </a:rPr>
              <a:t>3 x 3 </a:t>
            </a:r>
            <a:r>
              <a:rPr lang="en-IN" sz="11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conv</a:t>
            </a:r>
            <a:r>
              <a:rPr lang="en-IN" sz="1100" dirty="0">
                <a:solidFill>
                  <a:srgbClr val="7030A0"/>
                </a:solidFill>
                <a:latin typeface="Arial Narrow" panose="020B0606020202030204" pitchFamily="34" charset="0"/>
              </a:rPr>
              <a:t> , 64</a:t>
            </a:r>
          </a:p>
          <a:p>
            <a:r>
              <a:rPr lang="en-IN" sz="1100" dirty="0">
                <a:solidFill>
                  <a:srgbClr val="7030A0"/>
                </a:solidFill>
                <a:latin typeface="Arial Narrow" panose="020B0606020202030204" pitchFamily="34" charset="0"/>
              </a:rPr>
              <a:t>Filters</a:t>
            </a:r>
          </a:p>
        </p:txBody>
      </p:sp>
      <p:cxnSp>
        <p:nvCxnSpPr>
          <p:cNvPr id="90" name="Straight Arrow Connector 89"/>
          <p:cNvCxnSpPr>
            <a:stCxn id="89" idx="1"/>
          </p:cNvCxnSpPr>
          <p:nvPr/>
        </p:nvCxnSpPr>
        <p:spPr>
          <a:xfrm flipH="1" flipV="1">
            <a:off x="10774814" y="4844096"/>
            <a:ext cx="248116" cy="326717"/>
          </a:xfrm>
          <a:prstGeom prst="straightConnector1">
            <a:avLst/>
          </a:prstGeom>
          <a:ln w="254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itle 1">
            <a:extLst>
              <a:ext uri="{FF2B5EF4-FFF2-40B4-BE49-F238E27FC236}">
                <a16:creationId xmlns:a16="http://schemas.microsoft.com/office/drawing/2014/main" id="{C67B77C8-33F1-48E2-BC3C-2C52AA8CE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50"/>
            <a:ext cx="5838825" cy="892175"/>
          </a:xfrm>
        </p:spPr>
        <p:txBody>
          <a:bodyPr>
            <a:normAutofit/>
          </a:bodyPr>
          <a:lstStyle/>
          <a:p>
            <a:r>
              <a:rPr lang="en-IN" sz="3600" dirty="0" err="1">
                <a:latin typeface="Century" panose="02040604050505020304" pitchFamily="18" charset="0"/>
              </a:rPr>
              <a:t>ResNet</a:t>
            </a:r>
            <a:r>
              <a:rPr lang="en-IN" sz="3600" dirty="0">
                <a:latin typeface="Century" panose="02040604050505020304" pitchFamily="18" charset="0"/>
              </a:rPr>
              <a:t> Architecture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A6DBD1D-80C2-450D-BE02-3050C5627DE2}"/>
              </a:ext>
            </a:extLst>
          </p:cNvPr>
          <p:cNvSpPr txBox="1"/>
          <p:nvPr/>
        </p:nvSpPr>
        <p:spPr>
          <a:xfrm>
            <a:off x="11198419" y="5882240"/>
            <a:ext cx="862737" cy="461665"/>
          </a:xfrm>
          <a:prstGeom prst="rect">
            <a:avLst/>
          </a:prstGeom>
          <a:solidFill>
            <a:schemeClr val="accent4">
              <a:lumMod val="40000"/>
              <a:lumOff val="60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7030A0"/>
                </a:solidFill>
                <a:latin typeface="Arial Narrow" panose="020B0606020202030204" pitchFamily="34" charset="0"/>
              </a:rPr>
              <a:t>Beginning </a:t>
            </a:r>
            <a:r>
              <a:rPr lang="en-IN" sz="1200" b="1" dirty="0">
                <a:solidFill>
                  <a:srgbClr val="7030A0"/>
                </a:solidFill>
                <a:latin typeface="Arial Narrow" panose="020B0606020202030204" pitchFamily="34" charset="0"/>
              </a:rPr>
              <a:t>CONV </a:t>
            </a:r>
            <a:r>
              <a:rPr lang="en-IN" sz="1200" dirty="0">
                <a:solidFill>
                  <a:srgbClr val="7030A0"/>
                </a:solidFill>
                <a:latin typeface="Arial Narrow" panose="020B0606020202030204" pitchFamily="34" charset="0"/>
              </a:rPr>
              <a:t>layer</a:t>
            </a:r>
            <a:endParaRPr lang="en-IN" sz="1200" b="1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4F65A23-BA07-429E-BBA7-D8A0B753D3C9}"/>
              </a:ext>
            </a:extLst>
          </p:cNvPr>
          <p:cNvCxnSpPr>
            <a:stCxn id="92" idx="1"/>
          </p:cNvCxnSpPr>
          <p:nvPr/>
        </p:nvCxnSpPr>
        <p:spPr>
          <a:xfrm flipH="1" flipV="1">
            <a:off x="10670448" y="6109505"/>
            <a:ext cx="527971" cy="3568"/>
          </a:xfrm>
          <a:prstGeom prst="straightConnector1">
            <a:avLst/>
          </a:prstGeom>
          <a:ln w="254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50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4150"/>
            <a:ext cx="5838825" cy="892175"/>
          </a:xfrm>
        </p:spPr>
        <p:txBody>
          <a:bodyPr>
            <a:normAutofit/>
          </a:bodyPr>
          <a:lstStyle/>
          <a:p>
            <a:r>
              <a:rPr lang="en-IN" sz="3600" dirty="0" err="1">
                <a:latin typeface="Century" panose="02040604050505020304" pitchFamily="18" charset="0"/>
              </a:rPr>
              <a:t>ResNet</a:t>
            </a:r>
            <a:r>
              <a:rPr lang="en-IN" sz="3600" dirty="0">
                <a:latin typeface="Century" panose="02040604050505020304" pitchFamily="18" charset="0"/>
              </a:rPr>
              <a:t>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835" y="1197983"/>
            <a:ext cx="4954086" cy="493085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IN" sz="2400" spc="13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Full </a:t>
            </a:r>
            <a:r>
              <a:rPr lang="en-IN" sz="2400" spc="13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ResNet</a:t>
            </a:r>
            <a:r>
              <a:rPr lang="en-IN" sz="2400" spc="13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architecture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2000" dirty="0" err="1">
                <a:latin typeface="Arial Narrow" panose="020B0606020202030204" pitchFamily="34" charset="0"/>
              </a:rPr>
              <a:t>ResNet</a:t>
            </a:r>
            <a:r>
              <a:rPr lang="en-US" sz="2000" dirty="0">
                <a:latin typeface="Arial Narrow" panose="020B0606020202030204" pitchFamily="34" charset="0"/>
              </a:rPr>
              <a:t> architecture design facilitates efficient gradient propagation, mitigates the vanishing gradient problem, and enables the successful training of networks with depths of 50, 101, 152, or even more layers.</a:t>
            </a:r>
            <a:endParaRPr lang="en-US" altLang="en-US" sz="2000" dirty="0">
              <a:latin typeface="Arial Narrow" panose="020B0606020202030204" pitchFamily="34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endParaRPr lang="en-US" altLang="en-US" sz="2000" dirty="0">
              <a:latin typeface="Arial Narrow" panose="020B0606020202030204" pitchFamily="34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2000" dirty="0">
                <a:latin typeface="Arial Narrow" panose="020B0606020202030204" pitchFamily="34" charset="0"/>
              </a:rPr>
              <a:t>A typical </a:t>
            </a:r>
            <a:r>
              <a:rPr lang="en-US" sz="2000" dirty="0" err="1">
                <a:latin typeface="Arial Narrow" panose="020B0606020202030204" pitchFamily="34" charset="0"/>
              </a:rPr>
              <a:t>ResNet</a:t>
            </a:r>
            <a:r>
              <a:rPr lang="en-US" sz="2000" dirty="0">
                <a:latin typeface="Arial Narrow" panose="020B0606020202030204" pitchFamily="34" charset="0"/>
              </a:rPr>
              <a:t> architecture begins with a 7 × 7 convolution layer (64 filters, stride 2), followed by batch normalization, </a:t>
            </a:r>
            <a:r>
              <a:rPr lang="en-US" sz="2000" dirty="0" err="1">
                <a:latin typeface="Arial Narrow" panose="020B0606020202030204" pitchFamily="34" charset="0"/>
              </a:rPr>
              <a:t>ReLU</a:t>
            </a:r>
            <a:r>
              <a:rPr lang="en-US" sz="2000" dirty="0">
                <a:latin typeface="Arial Narrow" panose="020B0606020202030204" pitchFamily="34" charset="0"/>
              </a:rPr>
              <a:t> activation, and a 3 × 3 max-pooling layer.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endParaRPr lang="en-US" sz="2000" dirty="0">
              <a:latin typeface="Arial Narrow" panose="020B0606020202030204" pitchFamily="34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2000" dirty="0">
                <a:latin typeface="Arial Narrow" panose="020B0606020202030204" pitchFamily="34" charset="0"/>
              </a:rPr>
              <a:t>The network is then organized into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four sequential stages of residual blocks</a:t>
            </a:r>
            <a:r>
              <a:rPr lang="en-US" sz="2000" dirty="0">
                <a:latin typeface="Arial Narrow" panose="020B0606020202030204" pitchFamily="34" charset="0"/>
              </a:rPr>
              <a:t>, where each stage extracts increasingly complex features while progressively reducing the spatial dimensions through </a:t>
            </a:r>
            <a:r>
              <a:rPr lang="en-US" sz="20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strided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 convolutions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US" altLang="en-US" sz="2000" dirty="0">
              <a:latin typeface="Arial Narrow" panose="020B0606020202030204" pitchFamily="34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endParaRPr lang="en-IN" sz="2000" spc="13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endParaRPr lang="en-IN" sz="2000" spc="13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endParaRPr lang="en-US" altLang="en-US" sz="2000" dirty="0">
              <a:latin typeface="Arial Narrow" panose="020B060602020203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646517" y="1689200"/>
            <a:ext cx="1023936" cy="1125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Softmax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515" y="1866588"/>
            <a:ext cx="1023936" cy="9939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FC 1000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513" y="2036502"/>
            <a:ext cx="1023937" cy="9227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POOL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514" y="2433669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513" y="2327883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514" y="2738559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513" y="2632773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514" y="3038939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512, /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513" y="2933153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513" y="3705689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512" y="3599903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513" y="4024460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512" y="3918674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513" y="4335931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128, /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512" y="4230145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513" y="4716394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512" y="4610608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512" y="5026862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511" y="4921076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511" y="5338333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64, /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46510" y="5232547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46514" y="5731591"/>
            <a:ext cx="1023936" cy="112598"/>
          </a:xfrm>
          <a:prstGeom prst="roundRect">
            <a:avLst/>
          </a:prstGeom>
          <a:solidFill>
            <a:srgbClr val="FFC0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POOL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46512" y="5908979"/>
            <a:ext cx="1023936" cy="99393"/>
          </a:xfrm>
          <a:prstGeom prst="roundRect">
            <a:avLst/>
          </a:prstGeom>
          <a:solidFill>
            <a:schemeClr val="accent2">
              <a:alpha val="44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7 x 7 </a:t>
            </a:r>
            <a:r>
              <a:rPr lang="en-IN" sz="9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 / 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46510" y="6078893"/>
            <a:ext cx="1023937" cy="92277"/>
          </a:xfrm>
          <a:prstGeom prst="roundRect">
            <a:avLst/>
          </a:prstGeom>
          <a:solidFill>
            <a:srgbClr val="FF0000">
              <a:alpha val="22000"/>
            </a:srgb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INPUT</a:t>
            </a:r>
          </a:p>
        </p:txBody>
      </p:sp>
      <p:cxnSp>
        <p:nvCxnSpPr>
          <p:cNvPr id="37" name="Straight Connector 36"/>
          <p:cNvCxnSpPr>
            <a:stCxn id="7" idx="2"/>
            <a:endCxn id="12" idx="0"/>
          </p:cNvCxnSpPr>
          <p:nvPr/>
        </p:nvCxnSpPr>
        <p:spPr>
          <a:xfrm>
            <a:off x="10158482" y="2128779"/>
            <a:ext cx="0" cy="199104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15" idx="2"/>
          </p:cNvCxnSpPr>
          <p:nvPr/>
        </p:nvCxnSpPr>
        <p:spPr>
          <a:xfrm flipH="1">
            <a:off x="10158478" y="3123798"/>
            <a:ext cx="5" cy="98713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10" idx="2"/>
            <a:endCxn id="14" idx="0"/>
          </p:cNvCxnSpPr>
          <p:nvPr/>
        </p:nvCxnSpPr>
        <p:spPr>
          <a:xfrm flipH="1">
            <a:off x="10158482" y="2518528"/>
            <a:ext cx="1" cy="114245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13" idx="2"/>
            <a:endCxn id="16" idx="0"/>
          </p:cNvCxnSpPr>
          <p:nvPr/>
        </p:nvCxnSpPr>
        <p:spPr>
          <a:xfrm flipH="1">
            <a:off x="10158482" y="2823418"/>
            <a:ext cx="1" cy="109735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19" idx="2"/>
            <a:endCxn id="22" idx="0"/>
          </p:cNvCxnSpPr>
          <p:nvPr/>
        </p:nvCxnSpPr>
        <p:spPr>
          <a:xfrm flipH="1">
            <a:off x="10158481" y="3790548"/>
            <a:ext cx="1" cy="128126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1" idx="2"/>
            <a:endCxn id="24" idx="0"/>
          </p:cNvCxnSpPr>
          <p:nvPr/>
        </p:nvCxnSpPr>
        <p:spPr>
          <a:xfrm flipH="1">
            <a:off x="10158481" y="4109319"/>
            <a:ext cx="1" cy="120826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3" idx="2"/>
            <a:endCxn id="26" idx="0"/>
          </p:cNvCxnSpPr>
          <p:nvPr/>
        </p:nvCxnSpPr>
        <p:spPr>
          <a:xfrm flipH="1">
            <a:off x="10158481" y="4420790"/>
            <a:ext cx="1" cy="189818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5" idx="2"/>
            <a:endCxn id="30" idx="0"/>
          </p:cNvCxnSpPr>
          <p:nvPr/>
        </p:nvCxnSpPr>
        <p:spPr>
          <a:xfrm flipH="1">
            <a:off x="10158480" y="4801253"/>
            <a:ext cx="2" cy="119823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29" idx="2"/>
            <a:endCxn id="32" idx="0"/>
          </p:cNvCxnSpPr>
          <p:nvPr/>
        </p:nvCxnSpPr>
        <p:spPr>
          <a:xfrm flipH="1">
            <a:off x="10158479" y="5111721"/>
            <a:ext cx="2" cy="120826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31" idx="2"/>
            <a:endCxn id="33" idx="0"/>
          </p:cNvCxnSpPr>
          <p:nvPr/>
        </p:nvCxnSpPr>
        <p:spPr>
          <a:xfrm>
            <a:off x="10158480" y="5423192"/>
            <a:ext cx="2" cy="308399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endCxn id="20" idx="0"/>
          </p:cNvCxnSpPr>
          <p:nvPr/>
        </p:nvCxnSpPr>
        <p:spPr>
          <a:xfrm flipH="1">
            <a:off x="10158481" y="3462554"/>
            <a:ext cx="2" cy="137349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  <a:head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>
            <a:off x="10158476" y="3274057"/>
            <a:ext cx="2" cy="137349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  <a:head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Hexagon 108"/>
          <p:cNvSpPr/>
          <p:nvPr/>
        </p:nvSpPr>
        <p:spPr>
          <a:xfrm>
            <a:off x="10133235" y="2212602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Hexagon 109"/>
          <p:cNvSpPr/>
          <p:nvPr/>
        </p:nvSpPr>
        <p:spPr>
          <a:xfrm>
            <a:off x="10133235" y="2556675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2" name="Elbow Connector 111"/>
          <p:cNvCxnSpPr>
            <a:stCxn id="109" idx="0"/>
            <a:endCxn id="110" idx="0"/>
          </p:cNvCxnSpPr>
          <p:nvPr/>
        </p:nvCxnSpPr>
        <p:spPr>
          <a:xfrm>
            <a:off x="10178954" y="2235462"/>
            <a:ext cx="12700" cy="344073"/>
          </a:xfrm>
          <a:prstGeom prst="bentConnector3">
            <a:avLst>
              <a:gd name="adj1" fmla="val 4743748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Hexagon 113"/>
          <p:cNvSpPr/>
          <p:nvPr/>
        </p:nvSpPr>
        <p:spPr>
          <a:xfrm>
            <a:off x="10138790" y="2848121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Hexagon 114"/>
          <p:cNvSpPr/>
          <p:nvPr/>
        </p:nvSpPr>
        <p:spPr>
          <a:xfrm>
            <a:off x="10138790" y="3192194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6" name="Elbow Connector 115"/>
          <p:cNvCxnSpPr>
            <a:stCxn id="114" idx="0"/>
            <a:endCxn id="115" idx="0"/>
          </p:cNvCxnSpPr>
          <p:nvPr/>
        </p:nvCxnSpPr>
        <p:spPr>
          <a:xfrm>
            <a:off x="10184509" y="2870981"/>
            <a:ext cx="12700" cy="344073"/>
          </a:xfrm>
          <a:prstGeom prst="bentConnector3">
            <a:avLst>
              <a:gd name="adj1" fmla="val 470625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116"/>
          <p:cNvCxnSpPr>
            <a:stCxn id="110" idx="0"/>
            <a:endCxn id="114" idx="0"/>
          </p:cNvCxnSpPr>
          <p:nvPr/>
        </p:nvCxnSpPr>
        <p:spPr>
          <a:xfrm>
            <a:off x="10178954" y="2579535"/>
            <a:ext cx="5555" cy="291446"/>
          </a:xfrm>
          <a:prstGeom prst="bentConnector3">
            <a:avLst>
              <a:gd name="adj1" fmla="val 10845275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Hexagon 128"/>
          <p:cNvSpPr/>
          <p:nvPr/>
        </p:nvSpPr>
        <p:spPr>
          <a:xfrm>
            <a:off x="10140380" y="3517492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0" name="Hexagon 129"/>
          <p:cNvSpPr/>
          <p:nvPr/>
        </p:nvSpPr>
        <p:spPr>
          <a:xfrm>
            <a:off x="10140380" y="3861565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1" name="Elbow Connector 130"/>
          <p:cNvCxnSpPr>
            <a:stCxn id="129" idx="0"/>
            <a:endCxn id="130" idx="0"/>
          </p:cNvCxnSpPr>
          <p:nvPr/>
        </p:nvCxnSpPr>
        <p:spPr>
          <a:xfrm>
            <a:off x="10186099" y="3540352"/>
            <a:ext cx="12700" cy="344073"/>
          </a:xfrm>
          <a:prstGeom prst="bentConnector3">
            <a:avLst>
              <a:gd name="adj1" fmla="val 4743748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Hexagon 131"/>
          <p:cNvSpPr/>
          <p:nvPr/>
        </p:nvSpPr>
        <p:spPr>
          <a:xfrm>
            <a:off x="10145935" y="4153011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3" name="Hexagon 132"/>
          <p:cNvSpPr/>
          <p:nvPr/>
        </p:nvSpPr>
        <p:spPr>
          <a:xfrm>
            <a:off x="10145935" y="4497084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4" name="Elbow Connector 133"/>
          <p:cNvCxnSpPr/>
          <p:nvPr/>
        </p:nvCxnSpPr>
        <p:spPr>
          <a:xfrm>
            <a:off x="10186891" y="4175871"/>
            <a:ext cx="12700" cy="344073"/>
          </a:xfrm>
          <a:prstGeom prst="bentConnector3">
            <a:avLst>
              <a:gd name="adj1" fmla="val 470625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Elbow Connector 134"/>
          <p:cNvCxnSpPr>
            <a:stCxn id="130" idx="0"/>
            <a:endCxn id="132" idx="0"/>
          </p:cNvCxnSpPr>
          <p:nvPr/>
        </p:nvCxnSpPr>
        <p:spPr>
          <a:xfrm>
            <a:off x="10186099" y="3884425"/>
            <a:ext cx="5555" cy="291446"/>
          </a:xfrm>
          <a:prstGeom prst="bentConnector3">
            <a:avLst>
              <a:gd name="adj1" fmla="val 10845275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Hexagon 143"/>
          <p:cNvSpPr/>
          <p:nvPr/>
        </p:nvSpPr>
        <p:spPr>
          <a:xfrm>
            <a:off x="10139585" y="4842444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5" name="Elbow Connector 144"/>
          <p:cNvCxnSpPr>
            <a:endCxn id="144" idx="0"/>
          </p:cNvCxnSpPr>
          <p:nvPr/>
        </p:nvCxnSpPr>
        <p:spPr>
          <a:xfrm>
            <a:off x="10185304" y="4521231"/>
            <a:ext cx="12700" cy="344073"/>
          </a:xfrm>
          <a:prstGeom prst="bentConnector3">
            <a:avLst>
              <a:gd name="adj1" fmla="val 4743748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Hexagon 145"/>
          <p:cNvSpPr/>
          <p:nvPr/>
        </p:nvSpPr>
        <p:spPr>
          <a:xfrm>
            <a:off x="10145140" y="5133890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7" name="Hexagon 146"/>
          <p:cNvSpPr/>
          <p:nvPr/>
        </p:nvSpPr>
        <p:spPr>
          <a:xfrm>
            <a:off x="10145140" y="5477963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8" name="Elbow Connector 147"/>
          <p:cNvCxnSpPr>
            <a:stCxn id="146" idx="0"/>
            <a:endCxn id="147" idx="0"/>
          </p:cNvCxnSpPr>
          <p:nvPr/>
        </p:nvCxnSpPr>
        <p:spPr>
          <a:xfrm>
            <a:off x="10190859" y="5156750"/>
            <a:ext cx="12700" cy="344073"/>
          </a:xfrm>
          <a:prstGeom prst="bentConnector3">
            <a:avLst>
              <a:gd name="adj1" fmla="val 470625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lbow Connector 148"/>
          <p:cNvCxnSpPr>
            <a:stCxn id="144" idx="0"/>
            <a:endCxn id="146" idx="0"/>
          </p:cNvCxnSpPr>
          <p:nvPr/>
        </p:nvCxnSpPr>
        <p:spPr>
          <a:xfrm>
            <a:off x="10185304" y="4865304"/>
            <a:ext cx="5555" cy="291446"/>
          </a:xfrm>
          <a:prstGeom prst="bentConnector3">
            <a:avLst>
              <a:gd name="adj1" fmla="val 10845275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ounded Rectangle 152"/>
          <p:cNvSpPr/>
          <p:nvPr/>
        </p:nvSpPr>
        <p:spPr>
          <a:xfrm>
            <a:off x="9405623" y="3841384"/>
            <a:ext cx="1470660" cy="31356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DC5DDBE-76BB-4D98-9912-CB70A207B7A4}"/>
              </a:ext>
            </a:extLst>
          </p:cNvPr>
          <p:cNvSpPr/>
          <p:nvPr/>
        </p:nvSpPr>
        <p:spPr>
          <a:xfrm>
            <a:off x="6630006" y="3723119"/>
            <a:ext cx="957532" cy="2846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BD96D5C-0CDF-4883-AACA-128DDBB08D55}"/>
              </a:ext>
            </a:extLst>
          </p:cNvPr>
          <p:cNvSpPr txBox="1"/>
          <p:nvPr/>
        </p:nvSpPr>
        <p:spPr>
          <a:xfrm>
            <a:off x="6396585" y="4067798"/>
            <a:ext cx="753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9A986255-7176-4430-9491-E4C667F6DA8C}"/>
              </a:ext>
            </a:extLst>
          </p:cNvPr>
          <p:cNvCxnSpPr>
            <a:cxnSpLocks/>
          </p:cNvCxnSpPr>
          <p:nvPr/>
        </p:nvCxnSpPr>
        <p:spPr>
          <a:xfrm flipV="1">
            <a:off x="7108772" y="3246307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F9D3160D-10BA-4FA7-9E25-6AC6DC4E0D73}"/>
                  </a:ext>
                </a:extLst>
              </p:cNvPr>
              <p:cNvSpPr txBox="1"/>
              <p:nvPr/>
            </p:nvSpPr>
            <p:spPr>
              <a:xfrm>
                <a:off x="6955742" y="5153672"/>
                <a:ext cx="287106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F9D3160D-10BA-4FA7-9E25-6AC6DC4E0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742" y="5153672"/>
                <a:ext cx="287106" cy="3693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TextBox 159">
            <a:extLst>
              <a:ext uri="{FF2B5EF4-FFF2-40B4-BE49-F238E27FC236}">
                <a16:creationId xmlns:a16="http://schemas.microsoft.com/office/drawing/2014/main" id="{BEA69605-6768-492B-B366-853A49422DE3}"/>
              </a:ext>
            </a:extLst>
          </p:cNvPr>
          <p:cNvSpPr txBox="1"/>
          <p:nvPr/>
        </p:nvSpPr>
        <p:spPr>
          <a:xfrm>
            <a:off x="6814243" y="3661664"/>
            <a:ext cx="63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6795BC59-9925-4205-B1D4-3E73566BC2D3}"/>
              </a:ext>
            </a:extLst>
          </p:cNvPr>
          <p:cNvSpPr/>
          <p:nvPr/>
        </p:nvSpPr>
        <p:spPr>
          <a:xfrm>
            <a:off x="6972726" y="2979470"/>
            <a:ext cx="270122" cy="267008"/>
          </a:xfrm>
          <a:prstGeom prst="ellipse">
            <a:avLst/>
          </a:prstGeom>
          <a:solidFill>
            <a:schemeClr val="accent4">
              <a:lumMod val="60000"/>
              <a:lumOff val="40000"/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2" name="Plus Sign 24">
            <a:extLst>
              <a:ext uri="{FF2B5EF4-FFF2-40B4-BE49-F238E27FC236}">
                <a16:creationId xmlns:a16="http://schemas.microsoft.com/office/drawing/2014/main" id="{34F60B51-CD34-4345-B8F9-081D58E1088C}"/>
              </a:ext>
            </a:extLst>
          </p:cNvPr>
          <p:cNvSpPr/>
          <p:nvPr/>
        </p:nvSpPr>
        <p:spPr>
          <a:xfrm>
            <a:off x="6995938" y="3010863"/>
            <a:ext cx="218717" cy="203802"/>
          </a:xfrm>
          <a:prstGeom prst="mathPlus">
            <a:avLst/>
          </a:prstGeom>
          <a:solidFill>
            <a:srgbClr val="FF0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BBAD6D6A-D029-413A-8FC3-FA9679845E85}"/>
              </a:ext>
            </a:extLst>
          </p:cNvPr>
          <p:cNvSpPr/>
          <p:nvPr/>
        </p:nvSpPr>
        <p:spPr>
          <a:xfrm>
            <a:off x="6630006" y="4484602"/>
            <a:ext cx="957532" cy="2846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FC41726D-4D0C-4CFC-AC80-0AC25B906581}"/>
              </a:ext>
            </a:extLst>
          </p:cNvPr>
          <p:cNvCxnSpPr>
            <a:cxnSpLocks/>
          </p:cNvCxnSpPr>
          <p:nvPr/>
        </p:nvCxnSpPr>
        <p:spPr>
          <a:xfrm flipV="1">
            <a:off x="7108772" y="4769273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DA71D684-14FF-4D11-B88B-677E325B0F2E}"/>
                  </a:ext>
                </a:extLst>
              </p:cNvPr>
              <p:cNvSpPr txBox="1"/>
              <p:nvPr/>
            </p:nvSpPr>
            <p:spPr>
              <a:xfrm>
                <a:off x="5438783" y="2934036"/>
                <a:ext cx="1541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DA71D684-14FF-4D11-B88B-677E325B0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783" y="2934036"/>
                <a:ext cx="1541044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TextBox 165">
            <a:extLst>
              <a:ext uri="{FF2B5EF4-FFF2-40B4-BE49-F238E27FC236}">
                <a16:creationId xmlns:a16="http://schemas.microsoft.com/office/drawing/2014/main" id="{7F9F5C10-9644-4848-B3D2-A6F8E7C9E916}"/>
              </a:ext>
            </a:extLst>
          </p:cNvPr>
          <p:cNvSpPr txBox="1"/>
          <p:nvPr/>
        </p:nvSpPr>
        <p:spPr>
          <a:xfrm>
            <a:off x="6839907" y="4422798"/>
            <a:ext cx="66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6E440034-271D-4435-B459-0A0EF87FA4CC}"/>
              </a:ext>
            </a:extLst>
          </p:cNvPr>
          <p:cNvCxnSpPr>
            <a:cxnSpLocks/>
          </p:cNvCxnSpPr>
          <p:nvPr/>
        </p:nvCxnSpPr>
        <p:spPr>
          <a:xfrm flipV="1">
            <a:off x="7111250" y="2457224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C6AFA1BD-884A-48E3-B1E1-DA6EC55E09FC}"/>
                  </a:ext>
                </a:extLst>
              </p:cNvPr>
              <p:cNvSpPr txBox="1"/>
              <p:nvPr/>
            </p:nvSpPr>
            <p:spPr>
              <a:xfrm>
                <a:off x="6707552" y="4078177"/>
                <a:ext cx="19883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C6AFA1BD-884A-48E3-B1E1-DA6EC55E0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552" y="4078177"/>
                <a:ext cx="198838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2EB71B0F-4FC9-4825-985E-8C6CD5D5A853}"/>
              </a:ext>
            </a:extLst>
          </p:cNvPr>
          <p:cNvCxnSpPr>
            <a:cxnSpLocks/>
          </p:cNvCxnSpPr>
          <p:nvPr/>
        </p:nvCxnSpPr>
        <p:spPr>
          <a:xfrm flipV="1">
            <a:off x="7107786" y="4007790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5CD14373-2617-4049-A946-486D9E6746DB}"/>
              </a:ext>
            </a:extLst>
          </p:cNvPr>
          <p:cNvSpPr txBox="1"/>
          <p:nvPr/>
        </p:nvSpPr>
        <p:spPr>
          <a:xfrm>
            <a:off x="6579947" y="5597749"/>
            <a:ext cx="1715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Block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5804E65-E31D-4B32-9DD9-A4812CCD002F}"/>
              </a:ext>
            </a:extLst>
          </p:cNvPr>
          <p:cNvSpPr txBox="1"/>
          <p:nvPr/>
        </p:nvSpPr>
        <p:spPr>
          <a:xfrm>
            <a:off x="8075795" y="3623860"/>
            <a:ext cx="971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Identity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9FAA9A62-BC62-48EF-96D5-B9D876D43D17}"/>
              </a:ext>
            </a:extLst>
          </p:cNvPr>
          <p:cNvSpPr txBox="1"/>
          <p:nvPr/>
        </p:nvSpPr>
        <p:spPr>
          <a:xfrm>
            <a:off x="7165689" y="2634162"/>
            <a:ext cx="753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sz="16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7889A1FD-894A-41C4-976F-EF44BA975AC7}"/>
                  </a:ext>
                </a:extLst>
              </p:cNvPr>
              <p:cNvSpPr txBox="1"/>
              <p:nvPr/>
            </p:nvSpPr>
            <p:spPr>
              <a:xfrm>
                <a:off x="8362714" y="3887381"/>
                <a:ext cx="287106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7889A1FD-894A-41C4-976F-EF44BA975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714" y="3887381"/>
                <a:ext cx="287106" cy="3693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Arc 173"/>
          <p:cNvSpPr/>
          <p:nvPr/>
        </p:nvSpPr>
        <p:spPr>
          <a:xfrm>
            <a:off x="6488926" y="3122501"/>
            <a:ext cx="1599304" cy="2207491"/>
          </a:xfrm>
          <a:prstGeom prst="arc">
            <a:avLst>
              <a:gd name="adj1" fmla="val 16345712"/>
              <a:gd name="adj2" fmla="val 5583087"/>
            </a:avLst>
          </a:prstGeom>
          <a:ln w="19050">
            <a:solidFill>
              <a:srgbClr val="0070C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Rounded Rectangle 175"/>
          <p:cNvSpPr/>
          <p:nvPr/>
        </p:nvSpPr>
        <p:spPr>
          <a:xfrm>
            <a:off x="5504298" y="2247581"/>
            <a:ext cx="3457670" cy="3810859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8" name="Straight Arrow Connector 177"/>
          <p:cNvCxnSpPr>
            <a:stCxn id="153" idx="1"/>
          </p:cNvCxnSpPr>
          <p:nvPr/>
        </p:nvCxnSpPr>
        <p:spPr>
          <a:xfrm flipH="1" flipV="1">
            <a:off x="8972588" y="3993192"/>
            <a:ext cx="433035" cy="4972"/>
          </a:xfrm>
          <a:prstGeom prst="straightConnector1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CFFFBB3-8C8D-49B3-BA55-D2428DCBBCDD}"/>
              </a:ext>
            </a:extLst>
          </p:cNvPr>
          <p:cNvSpPr/>
          <p:nvPr/>
        </p:nvSpPr>
        <p:spPr>
          <a:xfrm>
            <a:off x="0" y="6475550"/>
            <a:ext cx="82766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Kaiming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He,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Xiangyu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Zhang,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Shaoqing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Ren, Jian Sun,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Residual Learning for Image Recognition, </a:t>
            </a:r>
            <a:endParaRPr lang="en-IN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136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835" y="1197984"/>
            <a:ext cx="4686227" cy="4805652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IN" sz="2400" spc="13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Full </a:t>
            </a:r>
            <a:r>
              <a:rPr lang="en-IN" sz="2400" spc="13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ResNet</a:t>
            </a:r>
            <a:r>
              <a:rPr lang="en-IN" sz="2400" spc="13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architecture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2200" dirty="0">
                <a:latin typeface="Arial Narrow" panose="020B0606020202030204" pitchFamily="34" charset="0"/>
              </a:rPr>
              <a:t>After the final residual stage,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global average pooling </a:t>
            </a:r>
            <a:r>
              <a:rPr lang="en-US" sz="2200" dirty="0">
                <a:latin typeface="Arial Narrow" panose="020B0606020202030204" pitchFamily="34" charset="0"/>
              </a:rPr>
              <a:t>aggregates the feature maps into a single feature vector, which is passed to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a single fully connected layer</a:t>
            </a:r>
            <a:r>
              <a:rPr lang="en-US" sz="2200" dirty="0">
                <a:latin typeface="Arial Narrow" panose="020B0606020202030204" pitchFamily="34" charset="0"/>
              </a:rPr>
              <a:t> followed by a </a:t>
            </a:r>
            <a:r>
              <a:rPr lang="en-US" sz="2200" dirty="0" err="1">
                <a:latin typeface="Arial Narrow" panose="020B0606020202030204" pitchFamily="34" charset="0"/>
              </a:rPr>
              <a:t>softmax</a:t>
            </a:r>
            <a:r>
              <a:rPr lang="en-US" sz="2200" dirty="0">
                <a:latin typeface="Arial Narrow" panose="020B0606020202030204" pitchFamily="34" charset="0"/>
              </a:rPr>
              <a:t> classifier for prediction.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endParaRPr lang="en-US" sz="2200" dirty="0">
              <a:latin typeface="Arial Narrow" panose="020B0606020202030204" pitchFamily="34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endParaRPr lang="en-IN" sz="2400" spc="13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endParaRPr lang="en-US" altLang="en-US" sz="2000" dirty="0">
              <a:latin typeface="Arial Narrow" panose="020B060602020203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646517" y="1868309"/>
            <a:ext cx="1023936" cy="1125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Softmax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515" y="2045697"/>
            <a:ext cx="1023936" cy="9939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FC 1000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513" y="2215611"/>
            <a:ext cx="1023937" cy="9227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POOL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514" y="2612778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513" y="2506992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514" y="2917668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513" y="2811882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514" y="3218048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512, /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513" y="3112262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513" y="3884798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512" y="3779012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513" y="4203569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512" y="4097783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513" y="4515040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128, /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512" y="4409254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513" y="4895503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512" y="4789717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512" y="5205971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511" y="5100185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511" y="5517442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64, /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46510" y="5411656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46514" y="5910700"/>
            <a:ext cx="1023936" cy="112598"/>
          </a:xfrm>
          <a:prstGeom prst="roundRect">
            <a:avLst/>
          </a:prstGeom>
          <a:solidFill>
            <a:srgbClr val="FFC0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POOL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46512" y="6088088"/>
            <a:ext cx="1023936" cy="99393"/>
          </a:xfrm>
          <a:prstGeom prst="roundRect">
            <a:avLst/>
          </a:prstGeom>
          <a:solidFill>
            <a:schemeClr val="accent2">
              <a:alpha val="44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7 x 7 </a:t>
            </a:r>
            <a:r>
              <a:rPr lang="en-IN" sz="9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 / 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46510" y="6258002"/>
            <a:ext cx="1023937" cy="92277"/>
          </a:xfrm>
          <a:prstGeom prst="roundRect">
            <a:avLst/>
          </a:prstGeom>
          <a:solidFill>
            <a:srgbClr val="FF0000">
              <a:alpha val="22000"/>
            </a:srgb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INPUT</a:t>
            </a:r>
          </a:p>
        </p:txBody>
      </p:sp>
      <p:cxnSp>
        <p:nvCxnSpPr>
          <p:cNvPr id="37" name="Straight Connector 36"/>
          <p:cNvCxnSpPr>
            <a:stCxn id="7" idx="2"/>
            <a:endCxn id="12" idx="0"/>
          </p:cNvCxnSpPr>
          <p:nvPr/>
        </p:nvCxnSpPr>
        <p:spPr>
          <a:xfrm>
            <a:off x="10158482" y="2307888"/>
            <a:ext cx="0" cy="199104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15" idx="2"/>
          </p:cNvCxnSpPr>
          <p:nvPr/>
        </p:nvCxnSpPr>
        <p:spPr>
          <a:xfrm flipH="1">
            <a:off x="10158478" y="3302907"/>
            <a:ext cx="5" cy="98713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10" idx="2"/>
            <a:endCxn id="14" idx="0"/>
          </p:cNvCxnSpPr>
          <p:nvPr/>
        </p:nvCxnSpPr>
        <p:spPr>
          <a:xfrm flipH="1">
            <a:off x="10158482" y="2697637"/>
            <a:ext cx="1" cy="114245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13" idx="2"/>
            <a:endCxn id="16" idx="0"/>
          </p:cNvCxnSpPr>
          <p:nvPr/>
        </p:nvCxnSpPr>
        <p:spPr>
          <a:xfrm flipH="1">
            <a:off x="10158482" y="3002527"/>
            <a:ext cx="1" cy="109735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19" idx="2"/>
            <a:endCxn id="22" idx="0"/>
          </p:cNvCxnSpPr>
          <p:nvPr/>
        </p:nvCxnSpPr>
        <p:spPr>
          <a:xfrm flipH="1">
            <a:off x="10158481" y="3969657"/>
            <a:ext cx="1" cy="128126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1" idx="2"/>
            <a:endCxn id="24" idx="0"/>
          </p:cNvCxnSpPr>
          <p:nvPr/>
        </p:nvCxnSpPr>
        <p:spPr>
          <a:xfrm flipH="1">
            <a:off x="10158481" y="4288428"/>
            <a:ext cx="1" cy="120826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3" idx="2"/>
            <a:endCxn id="26" idx="0"/>
          </p:cNvCxnSpPr>
          <p:nvPr/>
        </p:nvCxnSpPr>
        <p:spPr>
          <a:xfrm flipH="1">
            <a:off x="10158481" y="4599899"/>
            <a:ext cx="1" cy="189818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5" idx="2"/>
            <a:endCxn id="30" idx="0"/>
          </p:cNvCxnSpPr>
          <p:nvPr/>
        </p:nvCxnSpPr>
        <p:spPr>
          <a:xfrm flipH="1">
            <a:off x="10158480" y="4980362"/>
            <a:ext cx="2" cy="119823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29" idx="2"/>
            <a:endCxn id="32" idx="0"/>
          </p:cNvCxnSpPr>
          <p:nvPr/>
        </p:nvCxnSpPr>
        <p:spPr>
          <a:xfrm flipH="1">
            <a:off x="10158479" y="5290830"/>
            <a:ext cx="2" cy="120826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31" idx="2"/>
            <a:endCxn id="33" idx="0"/>
          </p:cNvCxnSpPr>
          <p:nvPr/>
        </p:nvCxnSpPr>
        <p:spPr>
          <a:xfrm>
            <a:off x="10158480" y="5602301"/>
            <a:ext cx="2" cy="308399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endCxn id="20" idx="0"/>
          </p:cNvCxnSpPr>
          <p:nvPr/>
        </p:nvCxnSpPr>
        <p:spPr>
          <a:xfrm flipH="1">
            <a:off x="10158481" y="3641663"/>
            <a:ext cx="2" cy="137349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  <a:head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>
            <a:off x="10158476" y="3453166"/>
            <a:ext cx="2" cy="137349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  <a:head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Hexagon 108"/>
          <p:cNvSpPr/>
          <p:nvPr/>
        </p:nvSpPr>
        <p:spPr>
          <a:xfrm>
            <a:off x="10133235" y="2391711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Hexagon 109"/>
          <p:cNvSpPr/>
          <p:nvPr/>
        </p:nvSpPr>
        <p:spPr>
          <a:xfrm>
            <a:off x="10133235" y="2735784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2" name="Elbow Connector 111"/>
          <p:cNvCxnSpPr>
            <a:stCxn id="109" idx="0"/>
            <a:endCxn id="110" idx="0"/>
          </p:cNvCxnSpPr>
          <p:nvPr/>
        </p:nvCxnSpPr>
        <p:spPr>
          <a:xfrm>
            <a:off x="10178954" y="2414571"/>
            <a:ext cx="12700" cy="344073"/>
          </a:xfrm>
          <a:prstGeom prst="bentConnector3">
            <a:avLst>
              <a:gd name="adj1" fmla="val 4743748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Hexagon 113"/>
          <p:cNvSpPr/>
          <p:nvPr/>
        </p:nvSpPr>
        <p:spPr>
          <a:xfrm>
            <a:off x="10138790" y="3027230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Hexagon 114"/>
          <p:cNvSpPr/>
          <p:nvPr/>
        </p:nvSpPr>
        <p:spPr>
          <a:xfrm>
            <a:off x="10138790" y="3371303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6" name="Elbow Connector 115"/>
          <p:cNvCxnSpPr>
            <a:stCxn id="114" idx="0"/>
            <a:endCxn id="115" idx="0"/>
          </p:cNvCxnSpPr>
          <p:nvPr/>
        </p:nvCxnSpPr>
        <p:spPr>
          <a:xfrm>
            <a:off x="10184509" y="3050090"/>
            <a:ext cx="12700" cy="344073"/>
          </a:xfrm>
          <a:prstGeom prst="bentConnector3">
            <a:avLst>
              <a:gd name="adj1" fmla="val 470625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116"/>
          <p:cNvCxnSpPr>
            <a:stCxn id="110" idx="0"/>
            <a:endCxn id="114" idx="0"/>
          </p:cNvCxnSpPr>
          <p:nvPr/>
        </p:nvCxnSpPr>
        <p:spPr>
          <a:xfrm>
            <a:off x="10178954" y="2758644"/>
            <a:ext cx="5555" cy="291446"/>
          </a:xfrm>
          <a:prstGeom prst="bentConnector3">
            <a:avLst>
              <a:gd name="adj1" fmla="val 10845275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Hexagon 128"/>
          <p:cNvSpPr/>
          <p:nvPr/>
        </p:nvSpPr>
        <p:spPr>
          <a:xfrm>
            <a:off x="10140380" y="3696601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0" name="Hexagon 129"/>
          <p:cNvSpPr/>
          <p:nvPr/>
        </p:nvSpPr>
        <p:spPr>
          <a:xfrm>
            <a:off x="10140380" y="4040674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1" name="Elbow Connector 130"/>
          <p:cNvCxnSpPr>
            <a:stCxn id="129" idx="0"/>
            <a:endCxn id="130" idx="0"/>
          </p:cNvCxnSpPr>
          <p:nvPr/>
        </p:nvCxnSpPr>
        <p:spPr>
          <a:xfrm>
            <a:off x="10186099" y="3719461"/>
            <a:ext cx="12700" cy="344073"/>
          </a:xfrm>
          <a:prstGeom prst="bentConnector3">
            <a:avLst>
              <a:gd name="adj1" fmla="val 4743748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Hexagon 131"/>
          <p:cNvSpPr/>
          <p:nvPr/>
        </p:nvSpPr>
        <p:spPr>
          <a:xfrm>
            <a:off x="10145935" y="4332120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3" name="Hexagon 132"/>
          <p:cNvSpPr/>
          <p:nvPr/>
        </p:nvSpPr>
        <p:spPr>
          <a:xfrm>
            <a:off x="10145935" y="4676193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4" name="Elbow Connector 133"/>
          <p:cNvCxnSpPr/>
          <p:nvPr/>
        </p:nvCxnSpPr>
        <p:spPr>
          <a:xfrm>
            <a:off x="10186891" y="4354980"/>
            <a:ext cx="12700" cy="344073"/>
          </a:xfrm>
          <a:prstGeom prst="bentConnector3">
            <a:avLst>
              <a:gd name="adj1" fmla="val 470625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Elbow Connector 134"/>
          <p:cNvCxnSpPr>
            <a:stCxn id="130" idx="0"/>
            <a:endCxn id="132" idx="0"/>
          </p:cNvCxnSpPr>
          <p:nvPr/>
        </p:nvCxnSpPr>
        <p:spPr>
          <a:xfrm>
            <a:off x="10186099" y="4063534"/>
            <a:ext cx="5555" cy="291446"/>
          </a:xfrm>
          <a:prstGeom prst="bentConnector3">
            <a:avLst>
              <a:gd name="adj1" fmla="val 10845275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Hexagon 143"/>
          <p:cNvSpPr/>
          <p:nvPr/>
        </p:nvSpPr>
        <p:spPr>
          <a:xfrm>
            <a:off x="10139585" y="5021553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5" name="Elbow Connector 144"/>
          <p:cNvCxnSpPr>
            <a:endCxn id="144" idx="0"/>
          </p:cNvCxnSpPr>
          <p:nvPr/>
        </p:nvCxnSpPr>
        <p:spPr>
          <a:xfrm>
            <a:off x="10185304" y="4700340"/>
            <a:ext cx="12700" cy="344073"/>
          </a:xfrm>
          <a:prstGeom prst="bentConnector3">
            <a:avLst>
              <a:gd name="adj1" fmla="val 4743748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Hexagon 145"/>
          <p:cNvSpPr/>
          <p:nvPr/>
        </p:nvSpPr>
        <p:spPr>
          <a:xfrm>
            <a:off x="10145140" y="5312999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7" name="Hexagon 146"/>
          <p:cNvSpPr/>
          <p:nvPr/>
        </p:nvSpPr>
        <p:spPr>
          <a:xfrm>
            <a:off x="10145140" y="5657072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8" name="Elbow Connector 147"/>
          <p:cNvCxnSpPr>
            <a:stCxn id="146" idx="0"/>
            <a:endCxn id="147" idx="0"/>
          </p:cNvCxnSpPr>
          <p:nvPr/>
        </p:nvCxnSpPr>
        <p:spPr>
          <a:xfrm>
            <a:off x="10190859" y="5335859"/>
            <a:ext cx="12700" cy="344073"/>
          </a:xfrm>
          <a:prstGeom prst="bentConnector3">
            <a:avLst>
              <a:gd name="adj1" fmla="val 470625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lbow Connector 148"/>
          <p:cNvCxnSpPr>
            <a:stCxn id="144" idx="0"/>
            <a:endCxn id="146" idx="0"/>
          </p:cNvCxnSpPr>
          <p:nvPr/>
        </p:nvCxnSpPr>
        <p:spPr>
          <a:xfrm>
            <a:off x="10185304" y="5044413"/>
            <a:ext cx="5555" cy="291446"/>
          </a:xfrm>
          <a:prstGeom prst="bentConnector3">
            <a:avLst>
              <a:gd name="adj1" fmla="val 10845275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ounded Rectangle 152"/>
          <p:cNvSpPr/>
          <p:nvPr/>
        </p:nvSpPr>
        <p:spPr>
          <a:xfrm>
            <a:off x="9405623" y="4020493"/>
            <a:ext cx="1470660" cy="31356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DC5DDBE-76BB-4D98-9912-CB70A207B7A4}"/>
              </a:ext>
            </a:extLst>
          </p:cNvPr>
          <p:cNvSpPr/>
          <p:nvPr/>
        </p:nvSpPr>
        <p:spPr>
          <a:xfrm>
            <a:off x="6630006" y="3902228"/>
            <a:ext cx="957532" cy="2846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BD96D5C-0CDF-4883-AACA-128DDBB08D55}"/>
              </a:ext>
            </a:extLst>
          </p:cNvPr>
          <p:cNvSpPr txBox="1"/>
          <p:nvPr/>
        </p:nvSpPr>
        <p:spPr>
          <a:xfrm>
            <a:off x="6396585" y="4246907"/>
            <a:ext cx="753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9A986255-7176-4430-9491-E4C667F6DA8C}"/>
              </a:ext>
            </a:extLst>
          </p:cNvPr>
          <p:cNvCxnSpPr>
            <a:cxnSpLocks/>
          </p:cNvCxnSpPr>
          <p:nvPr/>
        </p:nvCxnSpPr>
        <p:spPr>
          <a:xfrm flipV="1">
            <a:off x="7108772" y="3425416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F9D3160D-10BA-4FA7-9E25-6AC6DC4E0D73}"/>
                  </a:ext>
                </a:extLst>
              </p:cNvPr>
              <p:cNvSpPr txBox="1"/>
              <p:nvPr/>
            </p:nvSpPr>
            <p:spPr>
              <a:xfrm>
                <a:off x="6955742" y="5332781"/>
                <a:ext cx="287106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F9D3160D-10BA-4FA7-9E25-6AC6DC4E0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742" y="5332781"/>
                <a:ext cx="287106" cy="3693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TextBox 159">
            <a:extLst>
              <a:ext uri="{FF2B5EF4-FFF2-40B4-BE49-F238E27FC236}">
                <a16:creationId xmlns:a16="http://schemas.microsoft.com/office/drawing/2014/main" id="{BEA69605-6768-492B-B366-853A49422DE3}"/>
              </a:ext>
            </a:extLst>
          </p:cNvPr>
          <p:cNvSpPr txBox="1"/>
          <p:nvPr/>
        </p:nvSpPr>
        <p:spPr>
          <a:xfrm>
            <a:off x="6814243" y="3840773"/>
            <a:ext cx="631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6795BC59-9925-4205-B1D4-3E73566BC2D3}"/>
              </a:ext>
            </a:extLst>
          </p:cNvPr>
          <p:cNvSpPr/>
          <p:nvPr/>
        </p:nvSpPr>
        <p:spPr>
          <a:xfrm>
            <a:off x="6972726" y="3158579"/>
            <a:ext cx="270122" cy="267008"/>
          </a:xfrm>
          <a:prstGeom prst="ellipse">
            <a:avLst/>
          </a:prstGeom>
          <a:solidFill>
            <a:schemeClr val="accent4">
              <a:lumMod val="60000"/>
              <a:lumOff val="40000"/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2" name="Plus Sign 24">
            <a:extLst>
              <a:ext uri="{FF2B5EF4-FFF2-40B4-BE49-F238E27FC236}">
                <a16:creationId xmlns:a16="http://schemas.microsoft.com/office/drawing/2014/main" id="{34F60B51-CD34-4345-B8F9-081D58E1088C}"/>
              </a:ext>
            </a:extLst>
          </p:cNvPr>
          <p:cNvSpPr/>
          <p:nvPr/>
        </p:nvSpPr>
        <p:spPr>
          <a:xfrm>
            <a:off x="6995938" y="3189972"/>
            <a:ext cx="218717" cy="203802"/>
          </a:xfrm>
          <a:prstGeom prst="mathPlus">
            <a:avLst/>
          </a:prstGeom>
          <a:solidFill>
            <a:srgbClr val="FF0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BBAD6D6A-D029-413A-8FC3-FA9679845E85}"/>
              </a:ext>
            </a:extLst>
          </p:cNvPr>
          <p:cNvSpPr/>
          <p:nvPr/>
        </p:nvSpPr>
        <p:spPr>
          <a:xfrm>
            <a:off x="6630006" y="4663711"/>
            <a:ext cx="957532" cy="2846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FC41726D-4D0C-4CFC-AC80-0AC25B906581}"/>
              </a:ext>
            </a:extLst>
          </p:cNvPr>
          <p:cNvCxnSpPr>
            <a:cxnSpLocks/>
          </p:cNvCxnSpPr>
          <p:nvPr/>
        </p:nvCxnSpPr>
        <p:spPr>
          <a:xfrm flipV="1">
            <a:off x="7108772" y="4948382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DA71D684-14FF-4D11-B88B-677E325B0F2E}"/>
                  </a:ext>
                </a:extLst>
              </p:cNvPr>
              <p:cNvSpPr txBox="1"/>
              <p:nvPr/>
            </p:nvSpPr>
            <p:spPr>
              <a:xfrm>
                <a:off x="5438783" y="3113145"/>
                <a:ext cx="1541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DA71D684-14FF-4D11-B88B-677E325B0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783" y="3113145"/>
                <a:ext cx="1541044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TextBox 165">
            <a:extLst>
              <a:ext uri="{FF2B5EF4-FFF2-40B4-BE49-F238E27FC236}">
                <a16:creationId xmlns:a16="http://schemas.microsoft.com/office/drawing/2014/main" id="{7F9F5C10-9644-4848-B3D2-A6F8E7C9E916}"/>
              </a:ext>
            </a:extLst>
          </p:cNvPr>
          <p:cNvSpPr txBox="1"/>
          <p:nvPr/>
        </p:nvSpPr>
        <p:spPr>
          <a:xfrm>
            <a:off x="6839907" y="4601907"/>
            <a:ext cx="66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6E440034-271D-4435-B459-0A0EF87FA4CC}"/>
              </a:ext>
            </a:extLst>
          </p:cNvPr>
          <p:cNvCxnSpPr>
            <a:cxnSpLocks/>
          </p:cNvCxnSpPr>
          <p:nvPr/>
        </p:nvCxnSpPr>
        <p:spPr>
          <a:xfrm flipV="1">
            <a:off x="7111250" y="2636333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C6AFA1BD-884A-48E3-B1E1-DA6EC55E09FC}"/>
                  </a:ext>
                </a:extLst>
              </p:cNvPr>
              <p:cNvSpPr txBox="1"/>
              <p:nvPr/>
            </p:nvSpPr>
            <p:spPr>
              <a:xfrm>
                <a:off x="6707552" y="4257286"/>
                <a:ext cx="19883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C6AFA1BD-884A-48E3-B1E1-DA6EC55E0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552" y="4257286"/>
                <a:ext cx="198838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2EB71B0F-4FC9-4825-985E-8C6CD5D5A853}"/>
              </a:ext>
            </a:extLst>
          </p:cNvPr>
          <p:cNvCxnSpPr>
            <a:cxnSpLocks/>
          </p:cNvCxnSpPr>
          <p:nvPr/>
        </p:nvCxnSpPr>
        <p:spPr>
          <a:xfrm flipV="1">
            <a:off x="7107786" y="4186899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5CD14373-2617-4049-A946-486D9E6746DB}"/>
              </a:ext>
            </a:extLst>
          </p:cNvPr>
          <p:cNvSpPr txBox="1"/>
          <p:nvPr/>
        </p:nvSpPr>
        <p:spPr>
          <a:xfrm>
            <a:off x="6579947" y="5776858"/>
            <a:ext cx="1715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Block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5804E65-E31D-4B32-9DD9-A4812CCD002F}"/>
              </a:ext>
            </a:extLst>
          </p:cNvPr>
          <p:cNvSpPr txBox="1"/>
          <p:nvPr/>
        </p:nvSpPr>
        <p:spPr>
          <a:xfrm>
            <a:off x="8075795" y="3802969"/>
            <a:ext cx="971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Identity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9FAA9A62-BC62-48EF-96D5-B9D876D43D17}"/>
              </a:ext>
            </a:extLst>
          </p:cNvPr>
          <p:cNvSpPr txBox="1"/>
          <p:nvPr/>
        </p:nvSpPr>
        <p:spPr>
          <a:xfrm>
            <a:off x="7165689" y="2813271"/>
            <a:ext cx="753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sz="16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7889A1FD-894A-41C4-976F-EF44BA975AC7}"/>
                  </a:ext>
                </a:extLst>
              </p:cNvPr>
              <p:cNvSpPr txBox="1"/>
              <p:nvPr/>
            </p:nvSpPr>
            <p:spPr>
              <a:xfrm>
                <a:off x="8362714" y="4066490"/>
                <a:ext cx="287106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7889A1FD-894A-41C4-976F-EF44BA975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714" y="4066490"/>
                <a:ext cx="287106" cy="3693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Arc 173"/>
          <p:cNvSpPr/>
          <p:nvPr/>
        </p:nvSpPr>
        <p:spPr>
          <a:xfrm>
            <a:off x="6488926" y="3301610"/>
            <a:ext cx="1599304" cy="2207491"/>
          </a:xfrm>
          <a:prstGeom prst="arc">
            <a:avLst>
              <a:gd name="adj1" fmla="val 16345712"/>
              <a:gd name="adj2" fmla="val 5583087"/>
            </a:avLst>
          </a:prstGeom>
          <a:ln w="19050">
            <a:solidFill>
              <a:srgbClr val="0070C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Rounded Rectangle 175"/>
          <p:cNvSpPr/>
          <p:nvPr/>
        </p:nvSpPr>
        <p:spPr>
          <a:xfrm>
            <a:off x="5504298" y="2426690"/>
            <a:ext cx="3457670" cy="3810859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8" name="Straight Arrow Connector 177"/>
          <p:cNvCxnSpPr>
            <a:stCxn id="153" idx="1"/>
          </p:cNvCxnSpPr>
          <p:nvPr/>
        </p:nvCxnSpPr>
        <p:spPr>
          <a:xfrm flipH="1" flipV="1">
            <a:off x="8972588" y="4172301"/>
            <a:ext cx="433035" cy="4972"/>
          </a:xfrm>
          <a:prstGeom prst="straightConnector1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CFFFBB3-8C8D-49B3-BA55-D2428DCBBCDD}"/>
              </a:ext>
            </a:extLst>
          </p:cNvPr>
          <p:cNvSpPr/>
          <p:nvPr/>
        </p:nvSpPr>
        <p:spPr>
          <a:xfrm>
            <a:off x="0" y="6475550"/>
            <a:ext cx="82766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Kaiming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He,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Xiangyu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Zhang,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Shaoqing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Ren, Jian Sun,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Residual Learning for Image Recognition, </a:t>
            </a:r>
            <a:endParaRPr lang="en-IN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1071860" y="1999071"/>
            <a:ext cx="1043940" cy="830997"/>
          </a:xfrm>
          <a:prstGeom prst="rect">
            <a:avLst/>
          </a:prstGeom>
          <a:solidFill>
            <a:schemeClr val="accent4">
              <a:lumMod val="40000"/>
              <a:lumOff val="60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7030A0"/>
                </a:solidFill>
                <a:latin typeface="Arial Narrow" panose="020B0606020202030204" pitchFamily="34" charset="0"/>
              </a:rPr>
              <a:t>Global average pooling layer after last </a:t>
            </a:r>
            <a:r>
              <a:rPr lang="en-IN" sz="12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Conv</a:t>
            </a:r>
            <a:r>
              <a:rPr lang="en-IN" sz="1200" dirty="0">
                <a:solidFill>
                  <a:srgbClr val="7030A0"/>
                </a:solidFill>
                <a:latin typeface="Arial Narrow" panose="020B0606020202030204" pitchFamily="34" charset="0"/>
              </a:rPr>
              <a:t> layer </a:t>
            </a:r>
            <a:endParaRPr lang="en-IN" sz="1200" b="1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90" name="Straight Arrow Connector 89"/>
          <p:cNvCxnSpPr>
            <a:stCxn id="89" idx="1"/>
            <a:endCxn id="7" idx="3"/>
          </p:cNvCxnSpPr>
          <p:nvPr/>
        </p:nvCxnSpPr>
        <p:spPr>
          <a:xfrm flipH="1" flipV="1">
            <a:off x="10670450" y="2261750"/>
            <a:ext cx="401410" cy="152820"/>
          </a:xfrm>
          <a:prstGeom prst="straightConnector1">
            <a:avLst/>
          </a:prstGeom>
          <a:ln w="254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654859" y="1717361"/>
            <a:ext cx="1851408" cy="461665"/>
          </a:xfrm>
          <a:prstGeom prst="rect">
            <a:avLst/>
          </a:prstGeom>
          <a:solidFill>
            <a:schemeClr val="accent4">
              <a:lumMod val="40000"/>
              <a:lumOff val="60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7030A0"/>
                </a:solidFill>
                <a:latin typeface="Arial Narrow" panose="020B0606020202030204" pitchFamily="34" charset="0"/>
              </a:rPr>
              <a:t>Only one FC 1000 to output classes</a:t>
            </a:r>
            <a:endParaRPr lang="en-IN" sz="1200" b="1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92" name="Straight Arrow Connector 91"/>
          <p:cNvCxnSpPr>
            <a:stCxn id="91" idx="3"/>
            <a:endCxn id="6" idx="1"/>
          </p:cNvCxnSpPr>
          <p:nvPr/>
        </p:nvCxnSpPr>
        <p:spPr>
          <a:xfrm>
            <a:off x="8506267" y="1948194"/>
            <a:ext cx="1140248" cy="147200"/>
          </a:xfrm>
          <a:prstGeom prst="straightConnector1">
            <a:avLst/>
          </a:prstGeom>
          <a:ln w="254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itle 1">
            <a:extLst>
              <a:ext uri="{FF2B5EF4-FFF2-40B4-BE49-F238E27FC236}">
                <a16:creationId xmlns:a16="http://schemas.microsoft.com/office/drawing/2014/main" id="{0EE1AD73-FD7D-4705-8986-DFF1F9DBE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50"/>
            <a:ext cx="5838825" cy="892175"/>
          </a:xfrm>
        </p:spPr>
        <p:txBody>
          <a:bodyPr>
            <a:normAutofit/>
          </a:bodyPr>
          <a:lstStyle/>
          <a:p>
            <a:r>
              <a:rPr lang="en-IN" sz="3600" dirty="0" err="1">
                <a:latin typeface="Century" panose="02040604050505020304" pitchFamily="18" charset="0"/>
              </a:rPr>
              <a:t>ResNet</a:t>
            </a:r>
            <a:r>
              <a:rPr lang="en-IN" sz="3600" dirty="0">
                <a:latin typeface="Century" panose="02040604050505020304" pitchFamily="18" charset="0"/>
              </a:rPr>
              <a:t> Architecture</a:t>
            </a:r>
          </a:p>
        </p:txBody>
      </p:sp>
    </p:spTree>
    <p:extLst>
      <p:ext uri="{BB962C8B-B14F-4D97-AF65-F5344CB8AC3E}">
        <p14:creationId xmlns:p14="http://schemas.microsoft.com/office/powerpoint/2010/main" val="3246303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835" y="1197984"/>
            <a:ext cx="6378190" cy="4805652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IN" sz="2400" spc="13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Full </a:t>
            </a:r>
            <a:r>
              <a:rPr lang="en-IN" sz="2400" spc="13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ResNet</a:t>
            </a:r>
            <a:r>
              <a:rPr lang="en-IN" sz="2400" spc="13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architecture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endParaRPr lang="en-US" sz="2200" dirty="0">
              <a:latin typeface="Arial Narrow" panose="020B0606020202030204" pitchFamily="34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2200" dirty="0">
                <a:latin typeface="Arial Narrow" panose="020B0606020202030204" pitchFamily="34" charset="0"/>
              </a:rPr>
              <a:t>In shallow variants such as ResNet-18 and ResNet-34, basic residual blocks containing two 3 × 3 convolutional layers are used, whereas deeper variants like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ResNet-50, ResNet-101, and ResNet-152 </a:t>
            </a:r>
            <a:r>
              <a:rPr lang="en-US" sz="2200" dirty="0">
                <a:latin typeface="Arial Narrow" panose="020B0606020202030204" pitchFamily="34" charset="0"/>
              </a:rPr>
              <a:t>employ bottleneck residual blocks consisting of 1 × 1, 3 × 3, and 1 × 1 convolutions to improve computational efficiency.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endParaRPr lang="en-US" sz="2200" dirty="0">
              <a:latin typeface="Arial Narrow" panose="020B0606020202030204" pitchFamily="34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endParaRPr lang="en-US" altLang="en-US" sz="2000" dirty="0">
              <a:latin typeface="Arial Narrow" panose="020B0606020202030204" pitchFamily="34" charset="0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CFFFBB3-8C8D-49B3-BA55-D2428DCBBCDD}"/>
              </a:ext>
            </a:extLst>
          </p:cNvPr>
          <p:cNvSpPr/>
          <p:nvPr/>
        </p:nvSpPr>
        <p:spPr>
          <a:xfrm>
            <a:off x="0" y="6475550"/>
            <a:ext cx="82766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Kaiming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He,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Xiangyu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Zhang,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Shaoqing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Ren, Jian Sun,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Residual Learning for Image Recognition</a:t>
            </a:r>
            <a:endParaRPr lang="en-IN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itle 1">
            <a:extLst>
              <a:ext uri="{FF2B5EF4-FFF2-40B4-BE49-F238E27FC236}">
                <a16:creationId xmlns:a16="http://schemas.microsoft.com/office/drawing/2014/main" id="{0EE1AD73-FD7D-4705-8986-DFF1F9DBE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50"/>
            <a:ext cx="5838825" cy="892175"/>
          </a:xfrm>
        </p:spPr>
        <p:txBody>
          <a:bodyPr>
            <a:normAutofit/>
          </a:bodyPr>
          <a:lstStyle/>
          <a:p>
            <a:r>
              <a:rPr lang="en-IN" sz="3600" dirty="0" err="1">
                <a:latin typeface="Century" panose="02040604050505020304" pitchFamily="18" charset="0"/>
              </a:rPr>
              <a:t>ResNet</a:t>
            </a:r>
            <a:r>
              <a:rPr lang="en-IN" sz="3600" dirty="0">
                <a:latin typeface="Century" panose="02040604050505020304" pitchFamily="18" charset="0"/>
              </a:rPr>
              <a:t> Architecture</a:t>
            </a:r>
          </a:p>
        </p:txBody>
      </p:sp>
      <p:sp>
        <p:nvSpPr>
          <p:cNvPr id="87" name="Rounded Rectangle 3">
            <a:extLst>
              <a:ext uri="{FF2B5EF4-FFF2-40B4-BE49-F238E27FC236}">
                <a16:creationId xmlns:a16="http://schemas.microsoft.com/office/drawing/2014/main" id="{8106CB38-8CFD-4A35-B8D9-23324A782881}"/>
              </a:ext>
            </a:extLst>
          </p:cNvPr>
          <p:cNvSpPr/>
          <p:nvPr/>
        </p:nvSpPr>
        <p:spPr>
          <a:xfrm>
            <a:off x="10641929" y="1783339"/>
            <a:ext cx="1023936" cy="1125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Softmax</a:t>
            </a:r>
          </a:p>
        </p:txBody>
      </p:sp>
      <p:sp>
        <p:nvSpPr>
          <p:cNvPr id="88" name="Rounded Rectangle 4">
            <a:extLst>
              <a:ext uri="{FF2B5EF4-FFF2-40B4-BE49-F238E27FC236}">
                <a16:creationId xmlns:a16="http://schemas.microsoft.com/office/drawing/2014/main" id="{49F53DCE-6F7A-48B7-8A47-9628218320EC}"/>
              </a:ext>
            </a:extLst>
          </p:cNvPr>
          <p:cNvSpPr/>
          <p:nvPr/>
        </p:nvSpPr>
        <p:spPr>
          <a:xfrm>
            <a:off x="10641927" y="1960727"/>
            <a:ext cx="1023936" cy="9939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FC 1000</a:t>
            </a:r>
          </a:p>
        </p:txBody>
      </p:sp>
      <p:sp>
        <p:nvSpPr>
          <p:cNvPr id="94" name="Rounded Rectangle 5">
            <a:extLst>
              <a:ext uri="{FF2B5EF4-FFF2-40B4-BE49-F238E27FC236}">
                <a16:creationId xmlns:a16="http://schemas.microsoft.com/office/drawing/2014/main" id="{C7ABC30B-962B-4E55-9421-358CC6C26E6E}"/>
              </a:ext>
            </a:extLst>
          </p:cNvPr>
          <p:cNvSpPr/>
          <p:nvPr/>
        </p:nvSpPr>
        <p:spPr>
          <a:xfrm>
            <a:off x="10641925" y="2130641"/>
            <a:ext cx="1023937" cy="9227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POOL</a:t>
            </a:r>
          </a:p>
        </p:txBody>
      </p:sp>
      <p:sp>
        <p:nvSpPr>
          <p:cNvPr id="95" name="Rounded Rectangle 6">
            <a:extLst>
              <a:ext uri="{FF2B5EF4-FFF2-40B4-BE49-F238E27FC236}">
                <a16:creationId xmlns:a16="http://schemas.microsoft.com/office/drawing/2014/main" id="{D553FF58-113B-4B36-B130-3D5CC4177512}"/>
              </a:ext>
            </a:extLst>
          </p:cNvPr>
          <p:cNvSpPr/>
          <p:nvPr/>
        </p:nvSpPr>
        <p:spPr>
          <a:xfrm>
            <a:off x="10641926" y="2527808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96" name="Rounded Rectangle 7">
            <a:extLst>
              <a:ext uri="{FF2B5EF4-FFF2-40B4-BE49-F238E27FC236}">
                <a16:creationId xmlns:a16="http://schemas.microsoft.com/office/drawing/2014/main" id="{514AC462-42C8-42BE-B237-B59D0B861884}"/>
              </a:ext>
            </a:extLst>
          </p:cNvPr>
          <p:cNvSpPr/>
          <p:nvPr/>
        </p:nvSpPr>
        <p:spPr>
          <a:xfrm>
            <a:off x="10641925" y="2422022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97" name="Rounded Rectangle 8">
            <a:extLst>
              <a:ext uri="{FF2B5EF4-FFF2-40B4-BE49-F238E27FC236}">
                <a16:creationId xmlns:a16="http://schemas.microsoft.com/office/drawing/2014/main" id="{9E403EF7-B32A-400D-B681-5973DD6BFA35}"/>
              </a:ext>
            </a:extLst>
          </p:cNvPr>
          <p:cNvSpPr/>
          <p:nvPr/>
        </p:nvSpPr>
        <p:spPr>
          <a:xfrm>
            <a:off x="10641926" y="2832698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98" name="Rounded Rectangle 9">
            <a:extLst>
              <a:ext uri="{FF2B5EF4-FFF2-40B4-BE49-F238E27FC236}">
                <a16:creationId xmlns:a16="http://schemas.microsoft.com/office/drawing/2014/main" id="{0EFFE2F7-B9DD-4AF3-87F5-E216EEC99CC5}"/>
              </a:ext>
            </a:extLst>
          </p:cNvPr>
          <p:cNvSpPr/>
          <p:nvPr/>
        </p:nvSpPr>
        <p:spPr>
          <a:xfrm>
            <a:off x="10641925" y="2726912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99" name="Rounded Rectangle 10">
            <a:extLst>
              <a:ext uri="{FF2B5EF4-FFF2-40B4-BE49-F238E27FC236}">
                <a16:creationId xmlns:a16="http://schemas.microsoft.com/office/drawing/2014/main" id="{57886672-547B-4019-B122-940833CA09E4}"/>
              </a:ext>
            </a:extLst>
          </p:cNvPr>
          <p:cNvSpPr/>
          <p:nvPr/>
        </p:nvSpPr>
        <p:spPr>
          <a:xfrm>
            <a:off x="10641926" y="3133078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512, / 2</a:t>
            </a:r>
          </a:p>
        </p:txBody>
      </p:sp>
      <p:sp>
        <p:nvSpPr>
          <p:cNvPr id="100" name="Rounded Rectangle 11">
            <a:extLst>
              <a:ext uri="{FF2B5EF4-FFF2-40B4-BE49-F238E27FC236}">
                <a16:creationId xmlns:a16="http://schemas.microsoft.com/office/drawing/2014/main" id="{9DA23BD5-E713-4A20-88A8-A51A67A00BD5}"/>
              </a:ext>
            </a:extLst>
          </p:cNvPr>
          <p:cNvSpPr/>
          <p:nvPr/>
        </p:nvSpPr>
        <p:spPr>
          <a:xfrm>
            <a:off x="10641925" y="3027292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01" name="Rounded Rectangle 12">
            <a:extLst>
              <a:ext uri="{FF2B5EF4-FFF2-40B4-BE49-F238E27FC236}">
                <a16:creationId xmlns:a16="http://schemas.microsoft.com/office/drawing/2014/main" id="{A58DA62F-4C90-44C8-A224-C8E6F86D4EA3}"/>
              </a:ext>
            </a:extLst>
          </p:cNvPr>
          <p:cNvSpPr/>
          <p:nvPr/>
        </p:nvSpPr>
        <p:spPr>
          <a:xfrm>
            <a:off x="10641925" y="3799828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102" name="Rounded Rectangle 13">
            <a:extLst>
              <a:ext uri="{FF2B5EF4-FFF2-40B4-BE49-F238E27FC236}">
                <a16:creationId xmlns:a16="http://schemas.microsoft.com/office/drawing/2014/main" id="{B756A712-F43E-4E7E-86B4-99344AAA424D}"/>
              </a:ext>
            </a:extLst>
          </p:cNvPr>
          <p:cNvSpPr/>
          <p:nvPr/>
        </p:nvSpPr>
        <p:spPr>
          <a:xfrm>
            <a:off x="10641924" y="3694042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103" name="Rounded Rectangle 14">
            <a:extLst>
              <a:ext uri="{FF2B5EF4-FFF2-40B4-BE49-F238E27FC236}">
                <a16:creationId xmlns:a16="http://schemas.microsoft.com/office/drawing/2014/main" id="{CE90924B-F243-432E-A23A-C0BCB6CEA969}"/>
              </a:ext>
            </a:extLst>
          </p:cNvPr>
          <p:cNvSpPr/>
          <p:nvPr/>
        </p:nvSpPr>
        <p:spPr>
          <a:xfrm>
            <a:off x="10641925" y="4118599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104" name="Rounded Rectangle 15">
            <a:extLst>
              <a:ext uri="{FF2B5EF4-FFF2-40B4-BE49-F238E27FC236}">
                <a16:creationId xmlns:a16="http://schemas.microsoft.com/office/drawing/2014/main" id="{7730ED8B-CB70-4C8C-AFF5-F84A588B17E8}"/>
              </a:ext>
            </a:extLst>
          </p:cNvPr>
          <p:cNvSpPr/>
          <p:nvPr/>
        </p:nvSpPr>
        <p:spPr>
          <a:xfrm>
            <a:off x="10641924" y="4012813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105" name="Rounded Rectangle 16">
            <a:extLst>
              <a:ext uri="{FF2B5EF4-FFF2-40B4-BE49-F238E27FC236}">
                <a16:creationId xmlns:a16="http://schemas.microsoft.com/office/drawing/2014/main" id="{9D76E386-5C8E-4664-86F5-3C53CD2F3D57}"/>
              </a:ext>
            </a:extLst>
          </p:cNvPr>
          <p:cNvSpPr/>
          <p:nvPr/>
        </p:nvSpPr>
        <p:spPr>
          <a:xfrm>
            <a:off x="10641925" y="4430070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128, / 2</a:t>
            </a:r>
          </a:p>
        </p:txBody>
      </p:sp>
      <p:sp>
        <p:nvSpPr>
          <p:cNvPr id="106" name="Rounded Rectangle 17">
            <a:extLst>
              <a:ext uri="{FF2B5EF4-FFF2-40B4-BE49-F238E27FC236}">
                <a16:creationId xmlns:a16="http://schemas.microsoft.com/office/drawing/2014/main" id="{4DAC5C19-6BA3-4426-985A-FCFE5E72D74F}"/>
              </a:ext>
            </a:extLst>
          </p:cNvPr>
          <p:cNvSpPr/>
          <p:nvPr/>
        </p:nvSpPr>
        <p:spPr>
          <a:xfrm>
            <a:off x="10641924" y="4324284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107" name="Rounded Rectangle 18">
            <a:extLst>
              <a:ext uri="{FF2B5EF4-FFF2-40B4-BE49-F238E27FC236}">
                <a16:creationId xmlns:a16="http://schemas.microsoft.com/office/drawing/2014/main" id="{6A7309B1-29AA-4D2E-9333-BD5863ADE56D}"/>
              </a:ext>
            </a:extLst>
          </p:cNvPr>
          <p:cNvSpPr/>
          <p:nvPr/>
        </p:nvSpPr>
        <p:spPr>
          <a:xfrm>
            <a:off x="10641925" y="4810533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108" name="Rounded Rectangle 19">
            <a:extLst>
              <a:ext uri="{FF2B5EF4-FFF2-40B4-BE49-F238E27FC236}">
                <a16:creationId xmlns:a16="http://schemas.microsoft.com/office/drawing/2014/main" id="{C08D7A0B-68DB-4C6E-B97B-DC235E280CEF}"/>
              </a:ext>
            </a:extLst>
          </p:cNvPr>
          <p:cNvSpPr/>
          <p:nvPr/>
        </p:nvSpPr>
        <p:spPr>
          <a:xfrm>
            <a:off x="10641924" y="4704747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111" name="Rounded Rectangle 20">
            <a:extLst>
              <a:ext uri="{FF2B5EF4-FFF2-40B4-BE49-F238E27FC236}">
                <a16:creationId xmlns:a16="http://schemas.microsoft.com/office/drawing/2014/main" id="{1714A474-CE9D-494E-B2C2-70A4E2ECE9C6}"/>
              </a:ext>
            </a:extLst>
          </p:cNvPr>
          <p:cNvSpPr/>
          <p:nvPr/>
        </p:nvSpPr>
        <p:spPr>
          <a:xfrm>
            <a:off x="10641924" y="5121001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113" name="Rounded Rectangle 21">
            <a:extLst>
              <a:ext uri="{FF2B5EF4-FFF2-40B4-BE49-F238E27FC236}">
                <a16:creationId xmlns:a16="http://schemas.microsoft.com/office/drawing/2014/main" id="{88C4C818-4552-4505-87EB-20CAEA38EA09}"/>
              </a:ext>
            </a:extLst>
          </p:cNvPr>
          <p:cNvSpPr/>
          <p:nvPr/>
        </p:nvSpPr>
        <p:spPr>
          <a:xfrm>
            <a:off x="10641923" y="5015215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118" name="Rounded Rectangle 22">
            <a:extLst>
              <a:ext uri="{FF2B5EF4-FFF2-40B4-BE49-F238E27FC236}">
                <a16:creationId xmlns:a16="http://schemas.microsoft.com/office/drawing/2014/main" id="{A4F1F31D-55B6-4383-B415-85D7D7FD5536}"/>
              </a:ext>
            </a:extLst>
          </p:cNvPr>
          <p:cNvSpPr/>
          <p:nvPr/>
        </p:nvSpPr>
        <p:spPr>
          <a:xfrm>
            <a:off x="10641923" y="5432472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64, / 2</a:t>
            </a:r>
          </a:p>
        </p:txBody>
      </p:sp>
      <p:sp>
        <p:nvSpPr>
          <p:cNvPr id="119" name="Rounded Rectangle 23">
            <a:extLst>
              <a:ext uri="{FF2B5EF4-FFF2-40B4-BE49-F238E27FC236}">
                <a16:creationId xmlns:a16="http://schemas.microsoft.com/office/drawing/2014/main" id="{070C7A9C-02BE-41B5-983D-F399881991D4}"/>
              </a:ext>
            </a:extLst>
          </p:cNvPr>
          <p:cNvSpPr/>
          <p:nvPr/>
        </p:nvSpPr>
        <p:spPr>
          <a:xfrm>
            <a:off x="10641922" y="5326686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120" name="Rounded Rectangle 24">
            <a:extLst>
              <a:ext uri="{FF2B5EF4-FFF2-40B4-BE49-F238E27FC236}">
                <a16:creationId xmlns:a16="http://schemas.microsoft.com/office/drawing/2014/main" id="{374C2B17-F159-4337-93F8-2CDA31386F12}"/>
              </a:ext>
            </a:extLst>
          </p:cNvPr>
          <p:cNvSpPr/>
          <p:nvPr/>
        </p:nvSpPr>
        <p:spPr>
          <a:xfrm>
            <a:off x="10641926" y="5825730"/>
            <a:ext cx="1023936" cy="112598"/>
          </a:xfrm>
          <a:prstGeom prst="roundRect">
            <a:avLst/>
          </a:prstGeom>
          <a:solidFill>
            <a:srgbClr val="FFC0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POOL</a:t>
            </a:r>
          </a:p>
        </p:txBody>
      </p:sp>
      <p:sp>
        <p:nvSpPr>
          <p:cNvPr id="121" name="Rounded Rectangle 25">
            <a:extLst>
              <a:ext uri="{FF2B5EF4-FFF2-40B4-BE49-F238E27FC236}">
                <a16:creationId xmlns:a16="http://schemas.microsoft.com/office/drawing/2014/main" id="{64610E7E-C295-472C-8C8B-A777BB500513}"/>
              </a:ext>
            </a:extLst>
          </p:cNvPr>
          <p:cNvSpPr/>
          <p:nvPr/>
        </p:nvSpPr>
        <p:spPr>
          <a:xfrm>
            <a:off x="10641924" y="6003118"/>
            <a:ext cx="1023936" cy="99393"/>
          </a:xfrm>
          <a:prstGeom prst="roundRect">
            <a:avLst/>
          </a:prstGeom>
          <a:solidFill>
            <a:schemeClr val="accent2">
              <a:alpha val="44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7 x 7 </a:t>
            </a:r>
            <a:r>
              <a:rPr lang="en-IN" sz="9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 / 2</a:t>
            </a:r>
          </a:p>
        </p:txBody>
      </p:sp>
      <p:sp>
        <p:nvSpPr>
          <p:cNvPr id="122" name="Rounded Rectangle 26">
            <a:extLst>
              <a:ext uri="{FF2B5EF4-FFF2-40B4-BE49-F238E27FC236}">
                <a16:creationId xmlns:a16="http://schemas.microsoft.com/office/drawing/2014/main" id="{09A63798-68FD-4179-AA6F-BEFBAD315E2B}"/>
              </a:ext>
            </a:extLst>
          </p:cNvPr>
          <p:cNvSpPr/>
          <p:nvPr/>
        </p:nvSpPr>
        <p:spPr>
          <a:xfrm>
            <a:off x="10641922" y="6173032"/>
            <a:ext cx="1023937" cy="92277"/>
          </a:xfrm>
          <a:prstGeom prst="roundRect">
            <a:avLst/>
          </a:prstGeom>
          <a:solidFill>
            <a:srgbClr val="FF0000">
              <a:alpha val="22000"/>
            </a:srgb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INPUT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E717EB2-F4C8-4661-85D6-E256412D4D54}"/>
              </a:ext>
            </a:extLst>
          </p:cNvPr>
          <p:cNvCxnSpPr>
            <a:stCxn id="94" idx="2"/>
            <a:endCxn id="96" idx="0"/>
          </p:cNvCxnSpPr>
          <p:nvPr/>
        </p:nvCxnSpPr>
        <p:spPr>
          <a:xfrm>
            <a:off x="11153894" y="2222918"/>
            <a:ext cx="0" cy="199104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84C362E1-0CEF-4897-AE97-CD24AE2C27A2}"/>
              </a:ext>
            </a:extLst>
          </p:cNvPr>
          <p:cNvCxnSpPr>
            <a:stCxn id="99" idx="2"/>
          </p:cNvCxnSpPr>
          <p:nvPr/>
        </p:nvCxnSpPr>
        <p:spPr>
          <a:xfrm flipH="1">
            <a:off x="11153890" y="3217937"/>
            <a:ext cx="5" cy="98713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56D23505-BC97-4479-8968-9FE6626DD2FB}"/>
              </a:ext>
            </a:extLst>
          </p:cNvPr>
          <p:cNvCxnSpPr>
            <a:stCxn id="95" idx="2"/>
            <a:endCxn id="98" idx="0"/>
          </p:cNvCxnSpPr>
          <p:nvPr/>
        </p:nvCxnSpPr>
        <p:spPr>
          <a:xfrm flipH="1">
            <a:off x="11153894" y="2612667"/>
            <a:ext cx="1" cy="114245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ED8BD3B-B00D-4E8A-BFA4-FCA51C4FBD75}"/>
              </a:ext>
            </a:extLst>
          </p:cNvPr>
          <p:cNvCxnSpPr>
            <a:stCxn id="97" idx="2"/>
            <a:endCxn id="100" idx="0"/>
          </p:cNvCxnSpPr>
          <p:nvPr/>
        </p:nvCxnSpPr>
        <p:spPr>
          <a:xfrm flipH="1">
            <a:off x="11153894" y="2917557"/>
            <a:ext cx="1" cy="109735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68DBB888-FD5E-4558-A6D1-4E60ED8C4439}"/>
              </a:ext>
            </a:extLst>
          </p:cNvPr>
          <p:cNvCxnSpPr>
            <a:stCxn id="101" idx="2"/>
            <a:endCxn id="104" idx="0"/>
          </p:cNvCxnSpPr>
          <p:nvPr/>
        </p:nvCxnSpPr>
        <p:spPr>
          <a:xfrm flipH="1">
            <a:off x="11153893" y="3884687"/>
            <a:ext cx="1" cy="128126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9C30154-E0A9-42EA-857D-7C93BED3739B}"/>
              </a:ext>
            </a:extLst>
          </p:cNvPr>
          <p:cNvCxnSpPr>
            <a:stCxn id="103" idx="2"/>
            <a:endCxn id="106" idx="0"/>
          </p:cNvCxnSpPr>
          <p:nvPr/>
        </p:nvCxnSpPr>
        <p:spPr>
          <a:xfrm flipH="1">
            <a:off x="11153893" y="4203458"/>
            <a:ext cx="1" cy="120826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949D335-8CEC-4FB8-8EFF-171C37064BEB}"/>
              </a:ext>
            </a:extLst>
          </p:cNvPr>
          <p:cNvCxnSpPr>
            <a:stCxn id="105" idx="2"/>
            <a:endCxn id="108" idx="0"/>
          </p:cNvCxnSpPr>
          <p:nvPr/>
        </p:nvCxnSpPr>
        <p:spPr>
          <a:xfrm flipH="1">
            <a:off x="11153893" y="4514929"/>
            <a:ext cx="1" cy="189818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19C0C5A-E1AD-4DBA-9B00-43E2263AFFD4}"/>
              </a:ext>
            </a:extLst>
          </p:cNvPr>
          <p:cNvCxnSpPr>
            <a:stCxn id="107" idx="2"/>
            <a:endCxn id="113" idx="0"/>
          </p:cNvCxnSpPr>
          <p:nvPr/>
        </p:nvCxnSpPr>
        <p:spPr>
          <a:xfrm flipH="1">
            <a:off x="11153892" y="4895392"/>
            <a:ext cx="2" cy="119823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11F424FC-5567-4C23-957F-40385968B1DB}"/>
              </a:ext>
            </a:extLst>
          </p:cNvPr>
          <p:cNvCxnSpPr>
            <a:stCxn id="111" idx="2"/>
            <a:endCxn id="119" idx="0"/>
          </p:cNvCxnSpPr>
          <p:nvPr/>
        </p:nvCxnSpPr>
        <p:spPr>
          <a:xfrm flipH="1">
            <a:off x="11153891" y="5205860"/>
            <a:ext cx="2" cy="120826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8CB7178D-3818-4B9E-8097-95DA04C794B1}"/>
              </a:ext>
            </a:extLst>
          </p:cNvPr>
          <p:cNvCxnSpPr>
            <a:stCxn id="118" idx="2"/>
            <a:endCxn id="120" idx="0"/>
          </p:cNvCxnSpPr>
          <p:nvPr/>
        </p:nvCxnSpPr>
        <p:spPr>
          <a:xfrm>
            <a:off x="11153892" y="5517331"/>
            <a:ext cx="2" cy="308399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F35FE8C0-862A-49E1-8C94-9F62824D13B9}"/>
              </a:ext>
            </a:extLst>
          </p:cNvPr>
          <p:cNvCxnSpPr>
            <a:endCxn id="102" idx="0"/>
          </p:cNvCxnSpPr>
          <p:nvPr/>
        </p:nvCxnSpPr>
        <p:spPr>
          <a:xfrm flipH="1">
            <a:off x="11153893" y="3556693"/>
            <a:ext cx="2" cy="137349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  <a:head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C6A4B3CD-D21A-44EF-B28D-F4879CA8DB43}"/>
              </a:ext>
            </a:extLst>
          </p:cNvPr>
          <p:cNvCxnSpPr/>
          <p:nvPr/>
        </p:nvCxnSpPr>
        <p:spPr>
          <a:xfrm flipH="1">
            <a:off x="11153888" y="3368196"/>
            <a:ext cx="2" cy="137349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  <a:head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Hexagon 141">
            <a:extLst>
              <a:ext uri="{FF2B5EF4-FFF2-40B4-BE49-F238E27FC236}">
                <a16:creationId xmlns:a16="http://schemas.microsoft.com/office/drawing/2014/main" id="{EC7658EA-0F40-4EA3-A015-8E64EC36678C}"/>
              </a:ext>
            </a:extLst>
          </p:cNvPr>
          <p:cNvSpPr/>
          <p:nvPr/>
        </p:nvSpPr>
        <p:spPr>
          <a:xfrm>
            <a:off x="11128647" y="2306741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3" name="Hexagon 142">
            <a:extLst>
              <a:ext uri="{FF2B5EF4-FFF2-40B4-BE49-F238E27FC236}">
                <a16:creationId xmlns:a16="http://schemas.microsoft.com/office/drawing/2014/main" id="{A2C4A7E4-AF53-4B10-9D0A-4DCA217EBA30}"/>
              </a:ext>
            </a:extLst>
          </p:cNvPr>
          <p:cNvSpPr/>
          <p:nvPr/>
        </p:nvSpPr>
        <p:spPr>
          <a:xfrm>
            <a:off x="11128647" y="2650814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0" name="Elbow Connector 41">
            <a:extLst>
              <a:ext uri="{FF2B5EF4-FFF2-40B4-BE49-F238E27FC236}">
                <a16:creationId xmlns:a16="http://schemas.microsoft.com/office/drawing/2014/main" id="{044EA63D-EAFD-40BD-A129-98C7777C0305}"/>
              </a:ext>
            </a:extLst>
          </p:cNvPr>
          <p:cNvCxnSpPr>
            <a:stCxn id="142" idx="0"/>
            <a:endCxn id="143" idx="0"/>
          </p:cNvCxnSpPr>
          <p:nvPr/>
        </p:nvCxnSpPr>
        <p:spPr>
          <a:xfrm>
            <a:off x="11174366" y="2329601"/>
            <a:ext cx="12700" cy="344073"/>
          </a:xfrm>
          <a:prstGeom prst="bentConnector3">
            <a:avLst>
              <a:gd name="adj1" fmla="val 4743748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Hexagon 150">
            <a:extLst>
              <a:ext uri="{FF2B5EF4-FFF2-40B4-BE49-F238E27FC236}">
                <a16:creationId xmlns:a16="http://schemas.microsoft.com/office/drawing/2014/main" id="{BD99BD19-7FA3-4CD5-B767-1CDBB14453E6}"/>
              </a:ext>
            </a:extLst>
          </p:cNvPr>
          <p:cNvSpPr/>
          <p:nvPr/>
        </p:nvSpPr>
        <p:spPr>
          <a:xfrm>
            <a:off x="11134202" y="2942260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2" name="Hexagon 151">
            <a:extLst>
              <a:ext uri="{FF2B5EF4-FFF2-40B4-BE49-F238E27FC236}">
                <a16:creationId xmlns:a16="http://schemas.microsoft.com/office/drawing/2014/main" id="{3A0F40CF-5B75-4A6B-8B27-F64695E8E4A3}"/>
              </a:ext>
            </a:extLst>
          </p:cNvPr>
          <p:cNvSpPr/>
          <p:nvPr/>
        </p:nvSpPr>
        <p:spPr>
          <a:xfrm>
            <a:off x="11134202" y="3286333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4" name="Elbow Connector 44">
            <a:extLst>
              <a:ext uri="{FF2B5EF4-FFF2-40B4-BE49-F238E27FC236}">
                <a16:creationId xmlns:a16="http://schemas.microsoft.com/office/drawing/2014/main" id="{FED25FF2-C9D3-4A4D-B8BA-C2C0A96C4348}"/>
              </a:ext>
            </a:extLst>
          </p:cNvPr>
          <p:cNvCxnSpPr>
            <a:stCxn id="151" idx="0"/>
            <a:endCxn id="152" idx="0"/>
          </p:cNvCxnSpPr>
          <p:nvPr/>
        </p:nvCxnSpPr>
        <p:spPr>
          <a:xfrm>
            <a:off x="11179921" y="2965120"/>
            <a:ext cx="12700" cy="344073"/>
          </a:xfrm>
          <a:prstGeom prst="bentConnector3">
            <a:avLst>
              <a:gd name="adj1" fmla="val 470625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lbow Connector 45">
            <a:extLst>
              <a:ext uri="{FF2B5EF4-FFF2-40B4-BE49-F238E27FC236}">
                <a16:creationId xmlns:a16="http://schemas.microsoft.com/office/drawing/2014/main" id="{138B88F7-03D1-44D0-A3C6-3A22026FD348}"/>
              </a:ext>
            </a:extLst>
          </p:cNvPr>
          <p:cNvCxnSpPr>
            <a:stCxn id="143" idx="0"/>
            <a:endCxn id="151" idx="0"/>
          </p:cNvCxnSpPr>
          <p:nvPr/>
        </p:nvCxnSpPr>
        <p:spPr>
          <a:xfrm>
            <a:off x="11174366" y="2673674"/>
            <a:ext cx="5555" cy="291446"/>
          </a:xfrm>
          <a:prstGeom prst="bentConnector3">
            <a:avLst>
              <a:gd name="adj1" fmla="val 10845275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Hexagon 174">
            <a:extLst>
              <a:ext uri="{FF2B5EF4-FFF2-40B4-BE49-F238E27FC236}">
                <a16:creationId xmlns:a16="http://schemas.microsoft.com/office/drawing/2014/main" id="{2EEC74F6-5B87-42CB-9313-6681B5C0A766}"/>
              </a:ext>
            </a:extLst>
          </p:cNvPr>
          <p:cNvSpPr/>
          <p:nvPr/>
        </p:nvSpPr>
        <p:spPr>
          <a:xfrm>
            <a:off x="11135792" y="3611631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7" name="Hexagon 176">
            <a:extLst>
              <a:ext uri="{FF2B5EF4-FFF2-40B4-BE49-F238E27FC236}">
                <a16:creationId xmlns:a16="http://schemas.microsoft.com/office/drawing/2014/main" id="{96D3DCA7-F494-4841-B120-2A256C2F654E}"/>
              </a:ext>
            </a:extLst>
          </p:cNvPr>
          <p:cNvSpPr/>
          <p:nvPr/>
        </p:nvSpPr>
        <p:spPr>
          <a:xfrm>
            <a:off x="11135792" y="3955704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0" name="Elbow Connector 48">
            <a:extLst>
              <a:ext uri="{FF2B5EF4-FFF2-40B4-BE49-F238E27FC236}">
                <a16:creationId xmlns:a16="http://schemas.microsoft.com/office/drawing/2014/main" id="{FA799F60-B478-468A-B4F3-ABEA83B8B911}"/>
              </a:ext>
            </a:extLst>
          </p:cNvPr>
          <p:cNvCxnSpPr>
            <a:stCxn id="175" idx="0"/>
            <a:endCxn id="177" idx="0"/>
          </p:cNvCxnSpPr>
          <p:nvPr/>
        </p:nvCxnSpPr>
        <p:spPr>
          <a:xfrm>
            <a:off x="11181511" y="3634491"/>
            <a:ext cx="12700" cy="344073"/>
          </a:xfrm>
          <a:prstGeom prst="bentConnector3">
            <a:avLst>
              <a:gd name="adj1" fmla="val 4743748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Hexagon 180">
            <a:extLst>
              <a:ext uri="{FF2B5EF4-FFF2-40B4-BE49-F238E27FC236}">
                <a16:creationId xmlns:a16="http://schemas.microsoft.com/office/drawing/2014/main" id="{610C49CB-B777-48CB-BF26-16ABE3138054}"/>
              </a:ext>
            </a:extLst>
          </p:cNvPr>
          <p:cNvSpPr/>
          <p:nvPr/>
        </p:nvSpPr>
        <p:spPr>
          <a:xfrm>
            <a:off x="11141347" y="4247150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2" name="Hexagon 181">
            <a:extLst>
              <a:ext uri="{FF2B5EF4-FFF2-40B4-BE49-F238E27FC236}">
                <a16:creationId xmlns:a16="http://schemas.microsoft.com/office/drawing/2014/main" id="{22D62238-38E5-4A66-9018-9269F1FF0026}"/>
              </a:ext>
            </a:extLst>
          </p:cNvPr>
          <p:cNvSpPr/>
          <p:nvPr/>
        </p:nvSpPr>
        <p:spPr>
          <a:xfrm>
            <a:off x="11141347" y="4591223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3" name="Elbow Connector 51">
            <a:extLst>
              <a:ext uri="{FF2B5EF4-FFF2-40B4-BE49-F238E27FC236}">
                <a16:creationId xmlns:a16="http://schemas.microsoft.com/office/drawing/2014/main" id="{B470A87A-B70C-4383-842E-CC37BD66EF53}"/>
              </a:ext>
            </a:extLst>
          </p:cNvPr>
          <p:cNvCxnSpPr/>
          <p:nvPr/>
        </p:nvCxnSpPr>
        <p:spPr>
          <a:xfrm>
            <a:off x="11182303" y="4270010"/>
            <a:ext cx="12700" cy="344073"/>
          </a:xfrm>
          <a:prstGeom prst="bentConnector3">
            <a:avLst>
              <a:gd name="adj1" fmla="val 470625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Elbow Connector 52">
            <a:extLst>
              <a:ext uri="{FF2B5EF4-FFF2-40B4-BE49-F238E27FC236}">
                <a16:creationId xmlns:a16="http://schemas.microsoft.com/office/drawing/2014/main" id="{86BF49F0-15A0-4741-8FBB-B53CE02283AE}"/>
              </a:ext>
            </a:extLst>
          </p:cNvPr>
          <p:cNvCxnSpPr>
            <a:stCxn id="177" idx="0"/>
            <a:endCxn id="181" idx="0"/>
          </p:cNvCxnSpPr>
          <p:nvPr/>
        </p:nvCxnSpPr>
        <p:spPr>
          <a:xfrm>
            <a:off x="11181511" y="3978564"/>
            <a:ext cx="5555" cy="291446"/>
          </a:xfrm>
          <a:prstGeom prst="bentConnector3">
            <a:avLst>
              <a:gd name="adj1" fmla="val 10845275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Hexagon 184">
            <a:extLst>
              <a:ext uri="{FF2B5EF4-FFF2-40B4-BE49-F238E27FC236}">
                <a16:creationId xmlns:a16="http://schemas.microsoft.com/office/drawing/2014/main" id="{A72EBFE5-5F89-43CC-B049-FEE0088E4E89}"/>
              </a:ext>
            </a:extLst>
          </p:cNvPr>
          <p:cNvSpPr/>
          <p:nvPr/>
        </p:nvSpPr>
        <p:spPr>
          <a:xfrm>
            <a:off x="11134997" y="4936583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6" name="Elbow Connector 54">
            <a:extLst>
              <a:ext uri="{FF2B5EF4-FFF2-40B4-BE49-F238E27FC236}">
                <a16:creationId xmlns:a16="http://schemas.microsoft.com/office/drawing/2014/main" id="{C4221A78-E7B9-469B-AD0C-9029C7A4D098}"/>
              </a:ext>
            </a:extLst>
          </p:cNvPr>
          <p:cNvCxnSpPr>
            <a:endCxn id="185" idx="0"/>
          </p:cNvCxnSpPr>
          <p:nvPr/>
        </p:nvCxnSpPr>
        <p:spPr>
          <a:xfrm>
            <a:off x="11180716" y="4615370"/>
            <a:ext cx="12700" cy="344073"/>
          </a:xfrm>
          <a:prstGeom prst="bentConnector3">
            <a:avLst>
              <a:gd name="adj1" fmla="val 4743748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Hexagon 186">
            <a:extLst>
              <a:ext uri="{FF2B5EF4-FFF2-40B4-BE49-F238E27FC236}">
                <a16:creationId xmlns:a16="http://schemas.microsoft.com/office/drawing/2014/main" id="{D29E2EDF-682E-465F-9B72-7FB43EBDD5EA}"/>
              </a:ext>
            </a:extLst>
          </p:cNvPr>
          <p:cNvSpPr/>
          <p:nvPr/>
        </p:nvSpPr>
        <p:spPr>
          <a:xfrm>
            <a:off x="11140552" y="5228029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8" name="Hexagon 187">
            <a:extLst>
              <a:ext uri="{FF2B5EF4-FFF2-40B4-BE49-F238E27FC236}">
                <a16:creationId xmlns:a16="http://schemas.microsoft.com/office/drawing/2014/main" id="{0B2CB9B4-C238-4B4B-9AB7-C42038CE55D8}"/>
              </a:ext>
            </a:extLst>
          </p:cNvPr>
          <p:cNvSpPr/>
          <p:nvPr/>
        </p:nvSpPr>
        <p:spPr>
          <a:xfrm>
            <a:off x="11140552" y="5572102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9" name="Elbow Connector 57">
            <a:extLst>
              <a:ext uri="{FF2B5EF4-FFF2-40B4-BE49-F238E27FC236}">
                <a16:creationId xmlns:a16="http://schemas.microsoft.com/office/drawing/2014/main" id="{ECC488C6-7F9E-4478-86F6-9A415BDF77A9}"/>
              </a:ext>
            </a:extLst>
          </p:cNvPr>
          <p:cNvCxnSpPr>
            <a:stCxn id="187" idx="0"/>
            <a:endCxn id="188" idx="0"/>
          </p:cNvCxnSpPr>
          <p:nvPr/>
        </p:nvCxnSpPr>
        <p:spPr>
          <a:xfrm>
            <a:off x="11186271" y="5250889"/>
            <a:ext cx="12700" cy="344073"/>
          </a:xfrm>
          <a:prstGeom prst="bentConnector3">
            <a:avLst>
              <a:gd name="adj1" fmla="val 470625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Elbow Connector 58">
            <a:extLst>
              <a:ext uri="{FF2B5EF4-FFF2-40B4-BE49-F238E27FC236}">
                <a16:creationId xmlns:a16="http://schemas.microsoft.com/office/drawing/2014/main" id="{378495E7-81AB-4B31-89F1-9DBCEA9DB9B6}"/>
              </a:ext>
            </a:extLst>
          </p:cNvPr>
          <p:cNvCxnSpPr>
            <a:stCxn id="185" idx="0"/>
            <a:endCxn id="187" idx="0"/>
          </p:cNvCxnSpPr>
          <p:nvPr/>
        </p:nvCxnSpPr>
        <p:spPr>
          <a:xfrm>
            <a:off x="11180716" y="4959443"/>
            <a:ext cx="5555" cy="291446"/>
          </a:xfrm>
          <a:prstGeom prst="bentConnector3">
            <a:avLst>
              <a:gd name="adj1" fmla="val 10845275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52DAC9F4-0FA0-460A-9D4B-BB920378BF47}"/>
              </a:ext>
            </a:extLst>
          </p:cNvPr>
          <p:cNvCxnSpPr/>
          <p:nvPr/>
        </p:nvCxnSpPr>
        <p:spPr>
          <a:xfrm flipH="1">
            <a:off x="10044884" y="3439665"/>
            <a:ext cx="912812" cy="673"/>
          </a:xfrm>
          <a:prstGeom prst="line">
            <a:avLst/>
          </a:prstGeom>
          <a:ln w="15875">
            <a:solidFill>
              <a:schemeClr val="accent5">
                <a:lumMod val="50000"/>
              </a:schemeClr>
            </a:solidFill>
            <a:head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8993430E-CFCD-40FD-8023-503E6B3CDB1B}"/>
              </a:ext>
            </a:extLst>
          </p:cNvPr>
          <p:cNvSpPr txBox="1"/>
          <p:nvPr/>
        </p:nvSpPr>
        <p:spPr>
          <a:xfrm>
            <a:off x="6823367" y="3113704"/>
            <a:ext cx="2911246" cy="646331"/>
          </a:xfrm>
          <a:prstGeom prst="rect">
            <a:avLst/>
          </a:prstGeom>
          <a:solidFill>
            <a:schemeClr val="accent2">
              <a:lumMod val="40000"/>
              <a:lumOff val="60000"/>
              <a:alpha val="67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Total depths of 34,50,101 or 152</a:t>
            </a:r>
          </a:p>
          <a:p>
            <a:r>
              <a:rPr lang="en-IN" dirty="0">
                <a:latin typeface="Arial Narrow" panose="020B0606020202030204" pitchFamily="34" charset="0"/>
              </a:rPr>
              <a:t>Layers for ImageNet</a:t>
            </a:r>
          </a:p>
        </p:txBody>
      </p:sp>
    </p:spTree>
    <p:extLst>
      <p:ext uri="{BB962C8B-B14F-4D97-AF65-F5344CB8AC3E}">
        <p14:creationId xmlns:p14="http://schemas.microsoft.com/office/powerpoint/2010/main" val="167190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835" y="1197984"/>
            <a:ext cx="6378190" cy="4805652"/>
          </a:xfrm>
        </p:spPr>
        <p:txBody>
          <a:bodyPr>
            <a:normAutofit fontScale="92500"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IN" sz="2400" spc="13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Full </a:t>
            </a:r>
            <a:r>
              <a:rPr lang="en-IN" sz="2400" spc="13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ResNet</a:t>
            </a:r>
            <a:r>
              <a:rPr lang="en-IN" sz="2400" spc="13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architecture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endParaRPr lang="en-US" sz="2200" dirty="0">
              <a:latin typeface="Arial Narrow" panose="020B0606020202030204" pitchFamily="34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2200" dirty="0">
                <a:latin typeface="Arial Narrow" panose="020B0606020202030204" pitchFamily="34" charset="0"/>
              </a:rPr>
              <a:t>In shallow variants such as ResNet-18 and ResNet-34, basic residual blocks containing two 3 × 3 convolutional layers are used, whereas deeper variants like ResNet-50, ResNet-101, and ResNet-152 employ bottleneck residual blocks consisting of 1 × 1, 3 × 3, and 1 × 1 convolutions to improve computational efficiency.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endParaRPr lang="en-US" sz="2200" dirty="0">
              <a:latin typeface="Arial Narrow" panose="020B0606020202030204" pitchFamily="34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2200" dirty="0">
                <a:latin typeface="Arial Narrow" panose="020B0606020202030204" pitchFamily="34" charset="0"/>
              </a:rPr>
              <a:t>Owing to its residual connections, </a:t>
            </a:r>
            <a:r>
              <a:rPr lang="en-US" sz="2200" dirty="0" err="1">
                <a:latin typeface="Arial Narrow" panose="020B0606020202030204" pitchFamily="34" charset="0"/>
              </a:rPr>
              <a:t>ResNet</a:t>
            </a:r>
            <a:r>
              <a:rPr lang="en-US" sz="2200" dirty="0">
                <a:latin typeface="Arial Narrow" panose="020B0606020202030204" pitchFamily="34" charset="0"/>
              </a:rPr>
              <a:t> achieves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high accuracy while maintaining stable optimization</a:t>
            </a:r>
            <a:r>
              <a:rPr lang="en-US" sz="2200" dirty="0">
                <a:latin typeface="Arial Narrow" panose="020B0606020202030204" pitchFamily="34" charset="0"/>
              </a:rPr>
              <a:t>, making it one of the most influential architectures in computer vision for tasks such as </a:t>
            </a:r>
            <a:r>
              <a:rPr lang="en-US" sz="2200" dirty="0">
                <a:solidFill>
                  <a:srgbClr val="00B0F0"/>
                </a:solidFill>
                <a:latin typeface="Arial Narrow" panose="020B0606020202030204" pitchFamily="34" charset="0"/>
              </a:rPr>
              <a:t>image classification, object detection, semantic segmentation, and transfer learning</a:t>
            </a:r>
            <a:r>
              <a:rPr lang="en-US" sz="2200" dirty="0">
                <a:latin typeface="Arial Narrow" panose="020B0606020202030204" pitchFamily="34" charset="0"/>
              </a:rPr>
              <a:t>.</a:t>
            </a:r>
            <a:endParaRPr lang="en-IN" sz="2200" spc="13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endParaRPr lang="en-US" altLang="en-US" sz="2000" dirty="0">
              <a:latin typeface="Arial Narrow" panose="020B0606020202030204" pitchFamily="34" charset="0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CFFFBB3-8C8D-49B3-BA55-D2428DCBBCDD}"/>
              </a:ext>
            </a:extLst>
          </p:cNvPr>
          <p:cNvSpPr/>
          <p:nvPr/>
        </p:nvSpPr>
        <p:spPr>
          <a:xfrm>
            <a:off x="0" y="6475550"/>
            <a:ext cx="82766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Kaiming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He,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Xiangyu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Zhang,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Shaoqing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Ren, Jian Sun,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Residual Learning for Image Recognition</a:t>
            </a:r>
            <a:endParaRPr lang="en-IN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itle 1">
            <a:extLst>
              <a:ext uri="{FF2B5EF4-FFF2-40B4-BE49-F238E27FC236}">
                <a16:creationId xmlns:a16="http://schemas.microsoft.com/office/drawing/2014/main" id="{0EE1AD73-FD7D-4705-8986-DFF1F9DBE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50"/>
            <a:ext cx="5838825" cy="892175"/>
          </a:xfrm>
        </p:spPr>
        <p:txBody>
          <a:bodyPr>
            <a:normAutofit/>
          </a:bodyPr>
          <a:lstStyle/>
          <a:p>
            <a:r>
              <a:rPr lang="en-IN" sz="3600" dirty="0" err="1">
                <a:latin typeface="Century" panose="02040604050505020304" pitchFamily="18" charset="0"/>
              </a:rPr>
              <a:t>ResNet</a:t>
            </a:r>
            <a:r>
              <a:rPr lang="en-IN" sz="3600" dirty="0">
                <a:latin typeface="Century" panose="02040604050505020304" pitchFamily="18" charset="0"/>
              </a:rPr>
              <a:t> Architecture</a:t>
            </a:r>
          </a:p>
        </p:txBody>
      </p:sp>
      <p:sp>
        <p:nvSpPr>
          <p:cNvPr id="87" name="Rounded Rectangle 3">
            <a:extLst>
              <a:ext uri="{FF2B5EF4-FFF2-40B4-BE49-F238E27FC236}">
                <a16:creationId xmlns:a16="http://schemas.microsoft.com/office/drawing/2014/main" id="{8106CB38-8CFD-4A35-B8D9-23324A782881}"/>
              </a:ext>
            </a:extLst>
          </p:cNvPr>
          <p:cNvSpPr/>
          <p:nvPr/>
        </p:nvSpPr>
        <p:spPr>
          <a:xfrm>
            <a:off x="10641929" y="1689070"/>
            <a:ext cx="1023936" cy="1125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Softmax</a:t>
            </a:r>
          </a:p>
        </p:txBody>
      </p:sp>
      <p:sp>
        <p:nvSpPr>
          <p:cNvPr id="88" name="Rounded Rectangle 4">
            <a:extLst>
              <a:ext uri="{FF2B5EF4-FFF2-40B4-BE49-F238E27FC236}">
                <a16:creationId xmlns:a16="http://schemas.microsoft.com/office/drawing/2014/main" id="{49F53DCE-6F7A-48B7-8A47-9628218320EC}"/>
              </a:ext>
            </a:extLst>
          </p:cNvPr>
          <p:cNvSpPr/>
          <p:nvPr/>
        </p:nvSpPr>
        <p:spPr>
          <a:xfrm>
            <a:off x="10641927" y="1866458"/>
            <a:ext cx="1023936" cy="9939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FC 1000</a:t>
            </a:r>
          </a:p>
        </p:txBody>
      </p:sp>
      <p:sp>
        <p:nvSpPr>
          <p:cNvPr id="94" name="Rounded Rectangle 5">
            <a:extLst>
              <a:ext uri="{FF2B5EF4-FFF2-40B4-BE49-F238E27FC236}">
                <a16:creationId xmlns:a16="http://schemas.microsoft.com/office/drawing/2014/main" id="{C7ABC30B-962B-4E55-9421-358CC6C26E6E}"/>
              </a:ext>
            </a:extLst>
          </p:cNvPr>
          <p:cNvSpPr/>
          <p:nvPr/>
        </p:nvSpPr>
        <p:spPr>
          <a:xfrm>
            <a:off x="10641925" y="2036372"/>
            <a:ext cx="1023937" cy="9227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POOL</a:t>
            </a:r>
          </a:p>
        </p:txBody>
      </p:sp>
      <p:sp>
        <p:nvSpPr>
          <p:cNvPr id="95" name="Rounded Rectangle 6">
            <a:extLst>
              <a:ext uri="{FF2B5EF4-FFF2-40B4-BE49-F238E27FC236}">
                <a16:creationId xmlns:a16="http://schemas.microsoft.com/office/drawing/2014/main" id="{D553FF58-113B-4B36-B130-3D5CC4177512}"/>
              </a:ext>
            </a:extLst>
          </p:cNvPr>
          <p:cNvSpPr/>
          <p:nvPr/>
        </p:nvSpPr>
        <p:spPr>
          <a:xfrm>
            <a:off x="10641926" y="2433539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96" name="Rounded Rectangle 7">
            <a:extLst>
              <a:ext uri="{FF2B5EF4-FFF2-40B4-BE49-F238E27FC236}">
                <a16:creationId xmlns:a16="http://schemas.microsoft.com/office/drawing/2014/main" id="{514AC462-42C8-42BE-B237-B59D0B861884}"/>
              </a:ext>
            </a:extLst>
          </p:cNvPr>
          <p:cNvSpPr/>
          <p:nvPr/>
        </p:nvSpPr>
        <p:spPr>
          <a:xfrm>
            <a:off x="10641925" y="2327753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97" name="Rounded Rectangle 8">
            <a:extLst>
              <a:ext uri="{FF2B5EF4-FFF2-40B4-BE49-F238E27FC236}">
                <a16:creationId xmlns:a16="http://schemas.microsoft.com/office/drawing/2014/main" id="{9E403EF7-B32A-400D-B681-5973DD6BFA35}"/>
              </a:ext>
            </a:extLst>
          </p:cNvPr>
          <p:cNvSpPr/>
          <p:nvPr/>
        </p:nvSpPr>
        <p:spPr>
          <a:xfrm>
            <a:off x="10641926" y="2738429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98" name="Rounded Rectangle 9">
            <a:extLst>
              <a:ext uri="{FF2B5EF4-FFF2-40B4-BE49-F238E27FC236}">
                <a16:creationId xmlns:a16="http://schemas.microsoft.com/office/drawing/2014/main" id="{0EFFE2F7-B9DD-4AF3-87F5-E216EEC99CC5}"/>
              </a:ext>
            </a:extLst>
          </p:cNvPr>
          <p:cNvSpPr/>
          <p:nvPr/>
        </p:nvSpPr>
        <p:spPr>
          <a:xfrm>
            <a:off x="10641925" y="2632643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99" name="Rounded Rectangle 10">
            <a:extLst>
              <a:ext uri="{FF2B5EF4-FFF2-40B4-BE49-F238E27FC236}">
                <a16:creationId xmlns:a16="http://schemas.microsoft.com/office/drawing/2014/main" id="{57886672-547B-4019-B122-940833CA09E4}"/>
              </a:ext>
            </a:extLst>
          </p:cNvPr>
          <p:cNvSpPr/>
          <p:nvPr/>
        </p:nvSpPr>
        <p:spPr>
          <a:xfrm>
            <a:off x="10641926" y="3038809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512, / 2</a:t>
            </a:r>
          </a:p>
        </p:txBody>
      </p:sp>
      <p:sp>
        <p:nvSpPr>
          <p:cNvPr id="100" name="Rounded Rectangle 11">
            <a:extLst>
              <a:ext uri="{FF2B5EF4-FFF2-40B4-BE49-F238E27FC236}">
                <a16:creationId xmlns:a16="http://schemas.microsoft.com/office/drawing/2014/main" id="{9DA23BD5-E713-4A20-88A8-A51A67A00BD5}"/>
              </a:ext>
            </a:extLst>
          </p:cNvPr>
          <p:cNvSpPr/>
          <p:nvPr/>
        </p:nvSpPr>
        <p:spPr>
          <a:xfrm>
            <a:off x="10641925" y="2933023"/>
            <a:ext cx="1023937" cy="848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512</a:t>
            </a:r>
          </a:p>
        </p:txBody>
      </p:sp>
      <p:sp>
        <p:nvSpPr>
          <p:cNvPr id="101" name="Rounded Rectangle 12">
            <a:extLst>
              <a:ext uri="{FF2B5EF4-FFF2-40B4-BE49-F238E27FC236}">
                <a16:creationId xmlns:a16="http://schemas.microsoft.com/office/drawing/2014/main" id="{A58DA62F-4C90-44C8-A224-C8E6F86D4EA3}"/>
              </a:ext>
            </a:extLst>
          </p:cNvPr>
          <p:cNvSpPr/>
          <p:nvPr/>
        </p:nvSpPr>
        <p:spPr>
          <a:xfrm>
            <a:off x="10641925" y="3705559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102" name="Rounded Rectangle 13">
            <a:extLst>
              <a:ext uri="{FF2B5EF4-FFF2-40B4-BE49-F238E27FC236}">
                <a16:creationId xmlns:a16="http://schemas.microsoft.com/office/drawing/2014/main" id="{B756A712-F43E-4E7E-86B4-99344AAA424D}"/>
              </a:ext>
            </a:extLst>
          </p:cNvPr>
          <p:cNvSpPr/>
          <p:nvPr/>
        </p:nvSpPr>
        <p:spPr>
          <a:xfrm>
            <a:off x="10641924" y="3599773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103" name="Rounded Rectangle 14">
            <a:extLst>
              <a:ext uri="{FF2B5EF4-FFF2-40B4-BE49-F238E27FC236}">
                <a16:creationId xmlns:a16="http://schemas.microsoft.com/office/drawing/2014/main" id="{CE90924B-F243-432E-A23A-C0BCB6CEA969}"/>
              </a:ext>
            </a:extLst>
          </p:cNvPr>
          <p:cNvSpPr/>
          <p:nvPr/>
        </p:nvSpPr>
        <p:spPr>
          <a:xfrm>
            <a:off x="10641925" y="4024330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104" name="Rounded Rectangle 15">
            <a:extLst>
              <a:ext uri="{FF2B5EF4-FFF2-40B4-BE49-F238E27FC236}">
                <a16:creationId xmlns:a16="http://schemas.microsoft.com/office/drawing/2014/main" id="{7730ED8B-CB70-4C8C-AFF5-F84A588B17E8}"/>
              </a:ext>
            </a:extLst>
          </p:cNvPr>
          <p:cNvSpPr/>
          <p:nvPr/>
        </p:nvSpPr>
        <p:spPr>
          <a:xfrm>
            <a:off x="10641924" y="3918544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105" name="Rounded Rectangle 16">
            <a:extLst>
              <a:ext uri="{FF2B5EF4-FFF2-40B4-BE49-F238E27FC236}">
                <a16:creationId xmlns:a16="http://schemas.microsoft.com/office/drawing/2014/main" id="{9D76E386-5C8E-4664-86F5-3C53CD2F3D57}"/>
              </a:ext>
            </a:extLst>
          </p:cNvPr>
          <p:cNvSpPr/>
          <p:nvPr/>
        </p:nvSpPr>
        <p:spPr>
          <a:xfrm>
            <a:off x="10641925" y="4335801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128, / 2</a:t>
            </a:r>
          </a:p>
        </p:txBody>
      </p:sp>
      <p:sp>
        <p:nvSpPr>
          <p:cNvPr id="106" name="Rounded Rectangle 17">
            <a:extLst>
              <a:ext uri="{FF2B5EF4-FFF2-40B4-BE49-F238E27FC236}">
                <a16:creationId xmlns:a16="http://schemas.microsoft.com/office/drawing/2014/main" id="{4DAC5C19-6BA3-4426-985A-FCFE5E72D74F}"/>
              </a:ext>
            </a:extLst>
          </p:cNvPr>
          <p:cNvSpPr/>
          <p:nvPr/>
        </p:nvSpPr>
        <p:spPr>
          <a:xfrm>
            <a:off x="10641924" y="4230015"/>
            <a:ext cx="1023937" cy="8485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128</a:t>
            </a:r>
          </a:p>
        </p:txBody>
      </p:sp>
      <p:sp>
        <p:nvSpPr>
          <p:cNvPr id="107" name="Rounded Rectangle 18">
            <a:extLst>
              <a:ext uri="{FF2B5EF4-FFF2-40B4-BE49-F238E27FC236}">
                <a16:creationId xmlns:a16="http://schemas.microsoft.com/office/drawing/2014/main" id="{6A7309B1-29AA-4D2E-9333-BD5863ADE56D}"/>
              </a:ext>
            </a:extLst>
          </p:cNvPr>
          <p:cNvSpPr/>
          <p:nvPr/>
        </p:nvSpPr>
        <p:spPr>
          <a:xfrm>
            <a:off x="10641925" y="4716264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108" name="Rounded Rectangle 19">
            <a:extLst>
              <a:ext uri="{FF2B5EF4-FFF2-40B4-BE49-F238E27FC236}">
                <a16:creationId xmlns:a16="http://schemas.microsoft.com/office/drawing/2014/main" id="{C08D7A0B-68DB-4C6E-B97B-DC235E280CEF}"/>
              </a:ext>
            </a:extLst>
          </p:cNvPr>
          <p:cNvSpPr/>
          <p:nvPr/>
        </p:nvSpPr>
        <p:spPr>
          <a:xfrm>
            <a:off x="10641924" y="4610478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111" name="Rounded Rectangle 20">
            <a:extLst>
              <a:ext uri="{FF2B5EF4-FFF2-40B4-BE49-F238E27FC236}">
                <a16:creationId xmlns:a16="http://schemas.microsoft.com/office/drawing/2014/main" id="{1714A474-CE9D-494E-B2C2-70A4E2ECE9C6}"/>
              </a:ext>
            </a:extLst>
          </p:cNvPr>
          <p:cNvSpPr/>
          <p:nvPr/>
        </p:nvSpPr>
        <p:spPr>
          <a:xfrm>
            <a:off x="10641924" y="5026732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113" name="Rounded Rectangle 21">
            <a:extLst>
              <a:ext uri="{FF2B5EF4-FFF2-40B4-BE49-F238E27FC236}">
                <a16:creationId xmlns:a16="http://schemas.microsoft.com/office/drawing/2014/main" id="{88C4C818-4552-4505-87EB-20CAEA38EA09}"/>
              </a:ext>
            </a:extLst>
          </p:cNvPr>
          <p:cNvSpPr/>
          <p:nvPr/>
        </p:nvSpPr>
        <p:spPr>
          <a:xfrm>
            <a:off x="10641923" y="4920946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118" name="Rounded Rectangle 22">
            <a:extLst>
              <a:ext uri="{FF2B5EF4-FFF2-40B4-BE49-F238E27FC236}">
                <a16:creationId xmlns:a16="http://schemas.microsoft.com/office/drawing/2014/main" id="{A4F1F31D-55B6-4383-B415-85D7D7FD5536}"/>
              </a:ext>
            </a:extLst>
          </p:cNvPr>
          <p:cNvSpPr/>
          <p:nvPr/>
        </p:nvSpPr>
        <p:spPr>
          <a:xfrm>
            <a:off x="10641923" y="5338203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64, / 2</a:t>
            </a:r>
          </a:p>
        </p:txBody>
      </p:sp>
      <p:sp>
        <p:nvSpPr>
          <p:cNvPr id="119" name="Rounded Rectangle 23">
            <a:extLst>
              <a:ext uri="{FF2B5EF4-FFF2-40B4-BE49-F238E27FC236}">
                <a16:creationId xmlns:a16="http://schemas.microsoft.com/office/drawing/2014/main" id="{070C7A9C-02BE-41B5-983D-F399881991D4}"/>
              </a:ext>
            </a:extLst>
          </p:cNvPr>
          <p:cNvSpPr/>
          <p:nvPr/>
        </p:nvSpPr>
        <p:spPr>
          <a:xfrm>
            <a:off x="10641922" y="5232417"/>
            <a:ext cx="1023937" cy="84859"/>
          </a:xfrm>
          <a:prstGeom prst="roundRect">
            <a:avLst/>
          </a:prstGeom>
          <a:solidFill>
            <a:srgbClr val="7030A0">
              <a:alpha val="18000"/>
            </a:srgbClr>
          </a:solidFill>
          <a:ln>
            <a:solidFill>
              <a:srgbClr val="C00000">
                <a:alpha val="5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3 x 3 </a:t>
            </a:r>
            <a:r>
              <a:rPr lang="en-IN" sz="7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7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</a:t>
            </a:r>
          </a:p>
        </p:txBody>
      </p:sp>
      <p:sp>
        <p:nvSpPr>
          <p:cNvPr id="120" name="Rounded Rectangle 24">
            <a:extLst>
              <a:ext uri="{FF2B5EF4-FFF2-40B4-BE49-F238E27FC236}">
                <a16:creationId xmlns:a16="http://schemas.microsoft.com/office/drawing/2014/main" id="{374C2B17-F159-4337-93F8-2CDA31386F12}"/>
              </a:ext>
            </a:extLst>
          </p:cNvPr>
          <p:cNvSpPr/>
          <p:nvPr/>
        </p:nvSpPr>
        <p:spPr>
          <a:xfrm>
            <a:off x="10641926" y="5731461"/>
            <a:ext cx="1023936" cy="112598"/>
          </a:xfrm>
          <a:prstGeom prst="roundRect">
            <a:avLst/>
          </a:prstGeom>
          <a:solidFill>
            <a:srgbClr val="FFC0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POOL</a:t>
            </a:r>
          </a:p>
        </p:txBody>
      </p:sp>
      <p:sp>
        <p:nvSpPr>
          <p:cNvPr id="121" name="Rounded Rectangle 25">
            <a:extLst>
              <a:ext uri="{FF2B5EF4-FFF2-40B4-BE49-F238E27FC236}">
                <a16:creationId xmlns:a16="http://schemas.microsoft.com/office/drawing/2014/main" id="{64610E7E-C295-472C-8C8B-A777BB500513}"/>
              </a:ext>
            </a:extLst>
          </p:cNvPr>
          <p:cNvSpPr/>
          <p:nvPr/>
        </p:nvSpPr>
        <p:spPr>
          <a:xfrm>
            <a:off x="10641924" y="5908849"/>
            <a:ext cx="1023936" cy="99393"/>
          </a:xfrm>
          <a:prstGeom prst="roundRect">
            <a:avLst/>
          </a:prstGeom>
          <a:solidFill>
            <a:schemeClr val="accent2">
              <a:alpha val="44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7 x 7 </a:t>
            </a:r>
            <a:r>
              <a:rPr lang="en-IN" sz="900" dirty="0" err="1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conv</a:t>
            </a:r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, 64 / 2</a:t>
            </a:r>
          </a:p>
        </p:txBody>
      </p:sp>
      <p:sp>
        <p:nvSpPr>
          <p:cNvPr id="122" name="Rounded Rectangle 26">
            <a:extLst>
              <a:ext uri="{FF2B5EF4-FFF2-40B4-BE49-F238E27FC236}">
                <a16:creationId xmlns:a16="http://schemas.microsoft.com/office/drawing/2014/main" id="{09A63798-68FD-4179-AA6F-BEFBAD315E2B}"/>
              </a:ext>
            </a:extLst>
          </p:cNvPr>
          <p:cNvSpPr/>
          <p:nvPr/>
        </p:nvSpPr>
        <p:spPr>
          <a:xfrm>
            <a:off x="10641922" y="6078763"/>
            <a:ext cx="1023937" cy="92277"/>
          </a:xfrm>
          <a:prstGeom prst="roundRect">
            <a:avLst/>
          </a:prstGeom>
          <a:solidFill>
            <a:srgbClr val="FF0000">
              <a:alpha val="22000"/>
            </a:srgb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INPUT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E717EB2-F4C8-4661-85D6-E256412D4D54}"/>
              </a:ext>
            </a:extLst>
          </p:cNvPr>
          <p:cNvCxnSpPr>
            <a:stCxn id="94" idx="2"/>
            <a:endCxn id="96" idx="0"/>
          </p:cNvCxnSpPr>
          <p:nvPr/>
        </p:nvCxnSpPr>
        <p:spPr>
          <a:xfrm>
            <a:off x="11153894" y="2128649"/>
            <a:ext cx="0" cy="199104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84C362E1-0CEF-4897-AE97-CD24AE2C27A2}"/>
              </a:ext>
            </a:extLst>
          </p:cNvPr>
          <p:cNvCxnSpPr>
            <a:stCxn id="99" idx="2"/>
          </p:cNvCxnSpPr>
          <p:nvPr/>
        </p:nvCxnSpPr>
        <p:spPr>
          <a:xfrm flipH="1">
            <a:off x="11153890" y="3123668"/>
            <a:ext cx="5" cy="98713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56D23505-BC97-4479-8968-9FE6626DD2FB}"/>
              </a:ext>
            </a:extLst>
          </p:cNvPr>
          <p:cNvCxnSpPr>
            <a:stCxn id="95" idx="2"/>
            <a:endCxn id="98" idx="0"/>
          </p:cNvCxnSpPr>
          <p:nvPr/>
        </p:nvCxnSpPr>
        <p:spPr>
          <a:xfrm flipH="1">
            <a:off x="11153894" y="2518398"/>
            <a:ext cx="1" cy="114245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ED8BD3B-B00D-4E8A-BFA4-FCA51C4FBD75}"/>
              </a:ext>
            </a:extLst>
          </p:cNvPr>
          <p:cNvCxnSpPr>
            <a:stCxn id="97" idx="2"/>
            <a:endCxn id="100" idx="0"/>
          </p:cNvCxnSpPr>
          <p:nvPr/>
        </p:nvCxnSpPr>
        <p:spPr>
          <a:xfrm flipH="1">
            <a:off x="11153894" y="2823288"/>
            <a:ext cx="1" cy="109735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68DBB888-FD5E-4558-A6D1-4E60ED8C4439}"/>
              </a:ext>
            </a:extLst>
          </p:cNvPr>
          <p:cNvCxnSpPr>
            <a:stCxn id="101" idx="2"/>
            <a:endCxn id="104" idx="0"/>
          </p:cNvCxnSpPr>
          <p:nvPr/>
        </p:nvCxnSpPr>
        <p:spPr>
          <a:xfrm flipH="1">
            <a:off x="11153893" y="3790418"/>
            <a:ext cx="1" cy="128126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9C30154-E0A9-42EA-857D-7C93BED3739B}"/>
              </a:ext>
            </a:extLst>
          </p:cNvPr>
          <p:cNvCxnSpPr>
            <a:stCxn id="103" idx="2"/>
            <a:endCxn id="106" idx="0"/>
          </p:cNvCxnSpPr>
          <p:nvPr/>
        </p:nvCxnSpPr>
        <p:spPr>
          <a:xfrm flipH="1">
            <a:off x="11153893" y="4109189"/>
            <a:ext cx="1" cy="120826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949D335-8CEC-4FB8-8EFF-171C37064BEB}"/>
              </a:ext>
            </a:extLst>
          </p:cNvPr>
          <p:cNvCxnSpPr>
            <a:stCxn id="105" idx="2"/>
            <a:endCxn id="108" idx="0"/>
          </p:cNvCxnSpPr>
          <p:nvPr/>
        </p:nvCxnSpPr>
        <p:spPr>
          <a:xfrm flipH="1">
            <a:off x="11153893" y="4420660"/>
            <a:ext cx="1" cy="189818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19C0C5A-E1AD-4DBA-9B00-43E2263AFFD4}"/>
              </a:ext>
            </a:extLst>
          </p:cNvPr>
          <p:cNvCxnSpPr>
            <a:stCxn id="107" idx="2"/>
            <a:endCxn id="113" idx="0"/>
          </p:cNvCxnSpPr>
          <p:nvPr/>
        </p:nvCxnSpPr>
        <p:spPr>
          <a:xfrm flipH="1">
            <a:off x="11153892" y="4801123"/>
            <a:ext cx="2" cy="119823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11F424FC-5567-4C23-957F-40385968B1DB}"/>
              </a:ext>
            </a:extLst>
          </p:cNvPr>
          <p:cNvCxnSpPr>
            <a:stCxn id="111" idx="2"/>
            <a:endCxn id="119" idx="0"/>
          </p:cNvCxnSpPr>
          <p:nvPr/>
        </p:nvCxnSpPr>
        <p:spPr>
          <a:xfrm flipH="1">
            <a:off x="11153891" y="5111591"/>
            <a:ext cx="2" cy="120826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8CB7178D-3818-4B9E-8097-95DA04C794B1}"/>
              </a:ext>
            </a:extLst>
          </p:cNvPr>
          <p:cNvCxnSpPr>
            <a:stCxn id="118" idx="2"/>
            <a:endCxn id="120" idx="0"/>
          </p:cNvCxnSpPr>
          <p:nvPr/>
        </p:nvCxnSpPr>
        <p:spPr>
          <a:xfrm>
            <a:off x="11153892" y="5423062"/>
            <a:ext cx="2" cy="308399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F35FE8C0-862A-49E1-8C94-9F62824D13B9}"/>
              </a:ext>
            </a:extLst>
          </p:cNvPr>
          <p:cNvCxnSpPr>
            <a:endCxn id="102" idx="0"/>
          </p:cNvCxnSpPr>
          <p:nvPr/>
        </p:nvCxnSpPr>
        <p:spPr>
          <a:xfrm flipH="1">
            <a:off x="11153893" y="3462424"/>
            <a:ext cx="2" cy="137349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  <a:head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C6A4B3CD-D21A-44EF-B28D-F4879CA8DB43}"/>
              </a:ext>
            </a:extLst>
          </p:cNvPr>
          <p:cNvCxnSpPr/>
          <p:nvPr/>
        </p:nvCxnSpPr>
        <p:spPr>
          <a:xfrm flipH="1">
            <a:off x="11153888" y="3273927"/>
            <a:ext cx="2" cy="137349"/>
          </a:xfrm>
          <a:prstGeom prst="line">
            <a:avLst/>
          </a:prstGeom>
          <a:ln w="9525">
            <a:solidFill>
              <a:schemeClr val="accent2">
                <a:lumMod val="75000"/>
                <a:alpha val="53000"/>
              </a:schemeClr>
            </a:solidFill>
            <a:head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Hexagon 141">
            <a:extLst>
              <a:ext uri="{FF2B5EF4-FFF2-40B4-BE49-F238E27FC236}">
                <a16:creationId xmlns:a16="http://schemas.microsoft.com/office/drawing/2014/main" id="{EC7658EA-0F40-4EA3-A015-8E64EC36678C}"/>
              </a:ext>
            </a:extLst>
          </p:cNvPr>
          <p:cNvSpPr/>
          <p:nvPr/>
        </p:nvSpPr>
        <p:spPr>
          <a:xfrm>
            <a:off x="11128647" y="2212472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3" name="Hexagon 142">
            <a:extLst>
              <a:ext uri="{FF2B5EF4-FFF2-40B4-BE49-F238E27FC236}">
                <a16:creationId xmlns:a16="http://schemas.microsoft.com/office/drawing/2014/main" id="{A2C4A7E4-AF53-4B10-9D0A-4DCA217EBA30}"/>
              </a:ext>
            </a:extLst>
          </p:cNvPr>
          <p:cNvSpPr/>
          <p:nvPr/>
        </p:nvSpPr>
        <p:spPr>
          <a:xfrm>
            <a:off x="11128647" y="2556545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0" name="Elbow Connector 41">
            <a:extLst>
              <a:ext uri="{FF2B5EF4-FFF2-40B4-BE49-F238E27FC236}">
                <a16:creationId xmlns:a16="http://schemas.microsoft.com/office/drawing/2014/main" id="{044EA63D-EAFD-40BD-A129-98C7777C0305}"/>
              </a:ext>
            </a:extLst>
          </p:cNvPr>
          <p:cNvCxnSpPr>
            <a:stCxn id="142" idx="0"/>
            <a:endCxn id="143" idx="0"/>
          </p:cNvCxnSpPr>
          <p:nvPr/>
        </p:nvCxnSpPr>
        <p:spPr>
          <a:xfrm>
            <a:off x="11174366" y="2235332"/>
            <a:ext cx="12700" cy="344073"/>
          </a:xfrm>
          <a:prstGeom prst="bentConnector3">
            <a:avLst>
              <a:gd name="adj1" fmla="val 4743748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Hexagon 150">
            <a:extLst>
              <a:ext uri="{FF2B5EF4-FFF2-40B4-BE49-F238E27FC236}">
                <a16:creationId xmlns:a16="http://schemas.microsoft.com/office/drawing/2014/main" id="{BD99BD19-7FA3-4CD5-B767-1CDBB14453E6}"/>
              </a:ext>
            </a:extLst>
          </p:cNvPr>
          <p:cNvSpPr/>
          <p:nvPr/>
        </p:nvSpPr>
        <p:spPr>
          <a:xfrm>
            <a:off x="11134202" y="2847991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2" name="Hexagon 151">
            <a:extLst>
              <a:ext uri="{FF2B5EF4-FFF2-40B4-BE49-F238E27FC236}">
                <a16:creationId xmlns:a16="http://schemas.microsoft.com/office/drawing/2014/main" id="{3A0F40CF-5B75-4A6B-8B27-F64695E8E4A3}"/>
              </a:ext>
            </a:extLst>
          </p:cNvPr>
          <p:cNvSpPr/>
          <p:nvPr/>
        </p:nvSpPr>
        <p:spPr>
          <a:xfrm>
            <a:off x="11134202" y="3192064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4" name="Elbow Connector 44">
            <a:extLst>
              <a:ext uri="{FF2B5EF4-FFF2-40B4-BE49-F238E27FC236}">
                <a16:creationId xmlns:a16="http://schemas.microsoft.com/office/drawing/2014/main" id="{FED25FF2-C9D3-4A4D-B8BA-C2C0A96C4348}"/>
              </a:ext>
            </a:extLst>
          </p:cNvPr>
          <p:cNvCxnSpPr>
            <a:stCxn id="151" idx="0"/>
            <a:endCxn id="152" idx="0"/>
          </p:cNvCxnSpPr>
          <p:nvPr/>
        </p:nvCxnSpPr>
        <p:spPr>
          <a:xfrm>
            <a:off x="11179921" y="2870851"/>
            <a:ext cx="12700" cy="344073"/>
          </a:xfrm>
          <a:prstGeom prst="bentConnector3">
            <a:avLst>
              <a:gd name="adj1" fmla="val 470625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lbow Connector 45">
            <a:extLst>
              <a:ext uri="{FF2B5EF4-FFF2-40B4-BE49-F238E27FC236}">
                <a16:creationId xmlns:a16="http://schemas.microsoft.com/office/drawing/2014/main" id="{138B88F7-03D1-44D0-A3C6-3A22026FD348}"/>
              </a:ext>
            </a:extLst>
          </p:cNvPr>
          <p:cNvCxnSpPr>
            <a:stCxn id="143" idx="0"/>
            <a:endCxn id="151" idx="0"/>
          </p:cNvCxnSpPr>
          <p:nvPr/>
        </p:nvCxnSpPr>
        <p:spPr>
          <a:xfrm>
            <a:off x="11174366" y="2579405"/>
            <a:ext cx="5555" cy="291446"/>
          </a:xfrm>
          <a:prstGeom prst="bentConnector3">
            <a:avLst>
              <a:gd name="adj1" fmla="val 10845275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Hexagon 174">
            <a:extLst>
              <a:ext uri="{FF2B5EF4-FFF2-40B4-BE49-F238E27FC236}">
                <a16:creationId xmlns:a16="http://schemas.microsoft.com/office/drawing/2014/main" id="{2EEC74F6-5B87-42CB-9313-6681B5C0A766}"/>
              </a:ext>
            </a:extLst>
          </p:cNvPr>
          <p:cNvSpPr/>
          <p:nvPr/>
        </p:nvSpPr>
        <p:spPr>
          <a:xfrm>
            <a:off x="11135792" y="3517362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7" name="Hexagon 176">
            <a:extLst>
              <a:ext uri="{FF2B5EF4-FFF2-40B4-BE49-F238E27FC236}">
                <a16:creationId xmlns:a16="http://schemas.microsoft.com/office/drawing/2014/main" id="{96D3DCA7-F494-4841-B120-2A256C2F654E}"/>
              </a:ext>
            </a:extLst>
          </p:cNvPr>
          <p:cNvSpPr/>
          <p:nvPr/>
        </p:nvSpPr>
        <p:spPr>
          <a:xfrm>
            <a:off x="11135792" y="3861435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0" name="Elbow Connector 48">
            <a:extLst>
              <a:ext uri="{FF2B5EF4-FFF2-40B4-BE49-F238E27FC236}">
                <a16:creationId xmlns:a16="http://schemas.microsoft.com/office/drawing/2014/main" id="{FA799F60-B478-468A-B4F3-ABEA83B8B911}"/>
              </a:ext>
            </a:extLst>
          </p:cNvPr>
          <p:cNvCxnSpPr>
            <a:stCxn id="175" idx="0"/>
            <a:endCxn id="177" idx="0"/>
          </p:cNvCxnSpPr>
          <p:nvPr/>
        </p:nvCxnSpPr>
        <p:spPr>
          <a:xfrm>
            <a:off x="11181511" y="3540222"/>
            <a:ext cx="12700" cy="344073"/>
          </a:xfrm>
          <a:prstGeom prst="bentConnector3">
            <a:avLst>
              <a:gd name="adj1" fmla="val 4743748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Hexagon 180">
            <a:extLst>
              <a:ext uri="{FF2B5EF4-FFF2-40B4-BE49-F238E27FC236}">
                <a16:creationId xmlns:a16="http://schemas.microsoft.com/office/drawing/2014/main" id="{610C49CB-B777-48CB-BF26-16ABE3138054}"/>
              </a:ext>
            </a:extLst>
          </p:cNvPr>
          <p:cNvSpPr/>
          <p:nvPr/>
        </p:nvSpPr>
        <p:spPr>
          <a:xfrm>
            <a:off x="11141347" y="4152881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2" name="Hexagon 181">
            <a:extLst>
              <a:ext uri="{FF2B5EF4-FFF2-40B4-BE49-F238E27FC236}">
                <a16:creationId xmlns:a16="http://schemas.microsoft.com/office/drawing/2014/main" id="{22D62238-38E5-4A66-9018-9269F1FF0026}"/>
              </a:ext>
            </a:extLst>
          </p:cNvPr>
          <p:cNvSpPr/>
          <p:nvPr/>
        </p:nvSpPr>
        <p:spPr>
          <a:xfrm>
            <a:off x="11141347" y="4496954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3" name="Elbow Connector 51">
            <a:extLst>
              <a:ext uri="{FF2B5EF4-FFF2-40B4-BE49-F238E27FC236}">
                <a16:creationId xmlns:a16="http://schemas.microsoft.com/office/drawing/2014/main" id="{B470A87A-B70C-4383-842E-CC37BD66EF53}"/>
              </a:ext>
            </a:extLst>
          </p:cNvPr>
          <p:cNvCxnSpPr/>
          <p:nvPr/>
        </p:nvCxnSpPr>
        <p:spPr>
          <a:xfrm>
            <a:off x="11182303" y="4175741"/>
            <a:ext cx="12700" cy="344073"/>
          </a:xfrm>
          <a:prstGeom prst="bentConnector3">
            <a:avLst>
              <a:gd name="adj1" fmla="val 470625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Elbow Connector 52">
            <a:extLst>
              <a:ext uri="{FF2B5EF4-FFF2-40B4-BE49-F238E27FC236}">
                <a16:creationId xmlns:a16="http://schemas.microsoft.com/office/drawing/2014/main" id="{86BF49F0-15A0-4741-8FBB-B53CE02283AE}"/>
              </a:ext>
            </a:extLst>
          </p:cNvPr>
          <p:cNvCxnSpPr>
            <a:stCxn id="177" idx="0"/>
            <a:endCxn id="181" idx="0"/>
          </p:cNvCxnSpPr>
          <p:nvPr/>
        </p:nvCxnSpPr>
        <p:spPr>
          <a:xfrm>
            <a:off x="11181511" y="3884295"/>
            <a:ext cx="5555" cy="291446"/>
          </a:xfrm>
          <a:prstGeom prst="bentConnector3">
            <a:avLst>
              <a:gd name="adj1" fmla="val 10845275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Hexagon 184">
            <a:extLst>
              <a:ext uri="{FF2B5EF4-FFF2-40B4-BE49-F238E27FC236}">
                <a16:creationId xmlns:a16="http://schemas.microsoft.com/office/drawing/2014/main" id="{A72EBFE5-5F89-43CC-B049-FEE0088E4E89}"/>
              </a:ext>
            </a:extLst>
          </p:cNvPr>
          <p:cNvSpPr/>
          <p:nvPr/>
        </p:nvSpPr>
        <p:spPr>
          <a:xfrm>
            <a:off x="11134997" y="4842314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6" name="Elbow Connector 54">
            <a:extLst>
              <a:ext uri="{FF2B5EF4-FFF2-40B4-BE49-F238E27FC236}">
                <a16:creationId xmlns:a16="http://schemas.microsoft.com/office/drawing/2014/main" id="{C4221A78-E7B9-469B-AD0C-9029C7A4D098}"/>
              </a:ext>
            </a:extLst>
          </p:cNvPr>
          <p:cNvCxnSpPr>
            <a:endCxn id="185" idx="0"/>
          </p:cNvCxnSpPr>
          <p:nvPr/>
        </p:nvCxnSpPr>
        <p:spPr>
          <a:xfrm>
            <a:off x="11180716" y="4521101"/>
            <a:ext cx="12700" cy="344073"/>
          </a:xfrm>
          <a:prstGeom prst="bentConnector3">
            <a:avLst>
              <a:gd name="adj1" fmla="val 4743748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Hexagon 186">
            <a:extLst>
              <a:ext uri="{FF2B5EF4-FFF2-40B4-BE49-F238E27FC236}">
                <a16:creationId xmlns:a16="http://schemas.microsoft.com/office/drawing/2014/main" id="{D29E2EDF-682E-465F-9B72-7FB43EBDD5EA}"/>
              </a:ext>
            </a:extLst>
          </p:cNvPr>
          <p:cNvSpPr/>
          <p:nvPr/>
        </p:nvSpPr>
        <p:spPr>
          <a:xfrm>
            <a:off x="11140552" y="5133760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8" name="Hexagon 187">
            <a:extLst>
              <a:ext uri="{FF2B5EF4-FFF2-40B4-BE49-F238E27FC236}">
                <a16:creationId xmlns:a16="http://schemas.microsoft.com/office/drawing/2014/main" id="{0B2CB9B4-C238-4B4B-9AB7-C42038CE55D8}"/>
              </a:ext>
            </a:extLst>
          </p:cNvPr>
          <p:cNvSpPr/>
          <p:nvPr/>
        </p:nvSpPr>
        <p:spPr>
          <a:xfrm>
            <a:off x="11140552" y="5477833"/>
            <a:ext cx="45719" cy="45719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9" name="Elbow Connector 57">
            <a:extLst>
              <a:ext uri="{FF2B5EF4-FFF2-40B4-BE49-F238E27FC236}">
                <a16:creationId xmlns:a16="http://schemas.microsoft.com/office/drawing/2014/main" id="{ECC488C6-7F9E-4478-86F6-9A415BDF77A9}"/>
              </a:ext>
            </a:extLst>
          </p:cNvPr>
          <p:cNvCxnSpPr>
            <a:stCxn id="187" idx="0"/>
            <a:endCxn id="188" idx="0"/>
          </p:cNvCxnSpPr>
          <p:nvPr/>
        </p:nvCxnSpPr>
        <p:spPr>
          <a:xfrm>
            <a:off x="11186271" y="5156620"/>
            <a:ext cx="12700" cy="344073"/>
          </a:xfrm>
          <a:prstGeom prst="bentConnector3">
            <a:avLst>
              <a:gd name="adj1" fmla="val 4706252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Elbow Connector 58">
            <a:extLst>
              <a:ext uri="{FF2B5EF4-FFF2-40B4-BE49-F238E27FC236}">
                <a16:creationId xmlns:a16="http://schemas.microsoft.com/office/drawing/2014/main" id="{378495E7-81AB-4B31-89F1-9DBCEA9DB9B6}"/>
              </a:ext>
            </a:extLst>
          </p:cNvPr>
          <p:cNvCxnSpPr>
            <a:stCxn id="185" idx="0"/>
            <a:endCxn id="187" idx="0"/>
          </p:cNvCxnSpPr>
          <p:nvPr/>
        </p:nvCxnSpPr>
        <p:spPr>
          <a:xfrm>
            <a:off x="11180716" y="4865174"/>
            <a:ext cx="5555" cy="291446"/>
          </a:xfrm>
          <a:prstGeom prst="bentConnector3">
            <a:avLst>
              <a:gd name="adj1" fmla="val 10845275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52DAC9F4-0FA0-460A-9D4B-BB920378BF47}"/>
              </a:ext>
            </a:extLst>
          </p:cNvPr>
          <p:cNvCxnSpPr/>
          <p:nvPr/>
        </p:nvCxnSpPr>
        <p:spPr>
          <a:xfrm flipH="1">
            <a:off x="10044884" y="3345396"/>
            <a:ext cx="912812" cy="673"/>
          </a:xfrm>
          <a:prstGeom prst="line">
            <a:avLst/>
          </a:prstGeom>
          <a:ln w="15875">
            <a:solidFill>
              <a:schemeClr val="accent5">
                <a:lumMod val="50000"/>
              </a:schemeClr>
            </a:solidFill>
            <a:head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8993430E-CFCD-40FD-8023-503E6B3CDB1B}"/>
              </a:ext>
            </a:extLst>
          </p:cNvPr>
          <p:cNvSpPr txBox="1"/>
          <p:nvPr/>
        </p:nvSpPr>
        <p:spPr>
          <a:xfrm>
            <a:off x="6823367" y="3019435"/>
            <a:ext cx="2911246" cy="646331"/>
          </a:xfrm>
          <a:prstGeom prst="rect">
            <a:avLst/>
          </a:prstGeom>
          <a:solidFill>
            <a:schemeClr val="accent2">
              <a:lumMod val="40000"/>
              <a:lumOff val="60000"/>
              <a:alpha val="67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Total depths of 34,50,101 or 152</a:t>
            </a:r>
          </a:p>
          <a:p>
            <a:r>
              <a:rPr lang="en-IN" dirty="0">
                <a:latin typeface="Arial Narrow" panose="020B0606020202030204" pitchFamily="34" charset="0"/>
              </a:rPr>
              <a:t>Layers for ImageNet</a:t>
            </a:r>
          </a:p>
        </p:txBody>
      </p:sp>
    </p:spTree>
    <p:extLst>
      <p:ext uri="{BB962C8B-B14F-4D97-AF65-F5344CB8AC3E}">
        <p14:creationId xmlns:p14="http://schemas.microsoft.com/office/powerpoint/2010/main" val="394697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4766"/>
          </a:xfrm>
        </p:spPr>
        <p:txBody>
          <a:bodyPr>
            <a:normAutofit/>
          </a:bodyPr>
          <a:lstStyle/>
          <a:p>
            <a:r>
              <a:rPr lang="en-IN" sz="3600" dirty="0" err="1">
                <a:latin typeface="Century" panose="02040604050505020304" pitchFamily="18" charset="0"/>
              </a:rPr>
              <a:t>ResNet</a:t>
            </a:r>
            <a:r>
              <a:rPr lang="en-IN" sz="3600" dirty="0">
                <a:latin typeface="Century" panose="02040604050505020304" pitchFamily="18" charset="0"/>
              </a:rPr>
              <a:t>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764" y="1179079"/>
            <a:ext cx="8603077" cy="76979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20000"/>
              </a:lnSpc>
            </a:pP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ResNet-50 and deeper </a:t>
            </a:r>
            <a:r>
              <a:rPr lang="en-US" sz="2000" dirty="0">
                <a:latin typeface="Arial Narrow" panose="020B0606020202030204" pitchFamily="34" charset="0"/>
              </a:rPr>
              <a:t>use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bottleneck layers </a:t>
            </a:r>
            <a:r>
              <a:rPr lang="en-US" sz="2000" dirty="0">
                <a:latin typeface="Arial Narrow" panose="020B0606020202030204" pitchFamily="34" charset="0"/>
              </a:rPr>
              <a:t>for more efficient computation, similar to </a:t>
            </a:r>
            <a:r>
              <a:rPr lang="en-US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GoogLeNet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.</a:t>
            </a:r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A986255-7176-4430-9491-E4C667F6DA8C}"/>
              </a:ext>
            </a:extLst>
          </p:cNvPr>
          <p:cNvCxnSpPr>
            <a:cxnSpLocks/>
            <a:stCxn id="35" idx="0"/>
            <a:endCxn id="9" idx="4"/>
          </p:cNvCxnSpPr>
          <p:nvPr/>
        </p:nvCxnSpPr>
        <p:spPr>
          <a:xfrm flipH="1" flipV="1">
            <a:off x="6005012" y="2919138"/>
            <a:ext cx="4514" cy="45584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6795BC59-9925-4205-B1D4-3E73566BC2D3}"/>
              </a:ext>
            </a:extLst>
          </p:cNvPr>
          <p:cNvSpPr/>
          <p:nvPr/>
        </p:nvSpPr>
        <p:spPr>
          <a:xfrm>
            <a:off x="5869951" y="2652130"/>
            <a:ext cx="270122" cy="267008"/>
          </a:xfrm>
          <a:prstGeom prst="ellipse">
            <a:avLst/>
          </a:prstGeom>
          <a:solidFill>
            <a:schemeClr val="accent4">
              <a:lumMod val="60000"/>
              <a:lumOff val="40000"/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Plus Sign 24">
            <a:extLst>
              <a:ext uri="{FF2B5EF4-FFF2-40B4-BE49-F238E27FC236}">
                <a16:creationId xmlns:a16="http://schemas.microsoft.com/office/drawing/2014/main" id="{34F60B51-CD34-4345-B8F9-081D58E1088C}"/>
              </a:ext>
            </a:extLst>
          </p:cNvPr>
          <p:cNvSpPr/>
          <p:nvPr/>
        </p:nvSpPr>
        <p:spPr>
          <a:xfrm>
            <a:off x="5893163" y="2683523"/>
            <a:ext cx="218717" cy="203802"/>
          </a:xfrm>
          <a:prstGeom prst="mathPlus">
            <a:avLst/>
          </a:prstGeom>
          <a:solidFill>
            <a:srgbClr val="FF0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41726D-4D0C-4CFC-AC80-0AC25B906581}"/>
              </a:ext>
            </a:extLst>
          </p:cNvPr>
          <p:cNvCxnSpPr>
            <a:cxnSpLocks/>
          </p:cNvCxnSpPr>
          <p:nvPr/>
        </p:nvCxnSpPr>
        <p:spPr>
          <a:xfrm flipV="1">
            <a:off x="6017146" y="5244334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5321513" y="4850395"/>
            <a:ext cx="1388033" cy="384399"/>
            <a:chOff x="5437639" y="4474756"/>
            <a:chExt cx="1388033" cy="38439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AD6D6A-D029-413A-8FC3-FA9679845E85}"/>
                </a:ext>
              </a:extLst>
            </p:cNvPr>
            <p:cNvSpPr/>
            <p:nvPr/>
          </p:nvSpPr>
          <p:spPr>
            <a:xfrm>
              <a:off x="5437639" y="4474756"/>
              <a:ext cx="1388033" cy="38439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0070C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F9F5C10-9644-4848-B3D2-A6F8E7C9E916}"/>
                </a:ext>
              </a:extLst>
            </p:cNvPr>
            <p:cNvSpPr txBox="1"/>
            <p:nvPr/>
          </p:nvSpPr>
          <p:spPr>
            <a:xfrm>
              <a:off x="5457564" y="4511900"/>
              <a:ext cx="13481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x 1 </a:t>
              </a:r>
              <a:r>
                <a:rPr lang="en-IN" sz="16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16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64</a:t>
              </a: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440034-271D-4435-B459-0A0EF87FA4CC}"/>
              </a:ext>
            </a:extLst>
          </p:cNvPr>
          <p:cNvCxnSpPr>
            <a:cxnSpLocks/>
          </p:cNvCxnSpPr>
          <p:nvPr/>
        </p:nvCxnSpPr>
        <p:spPr>
          <a:xfrm flipV="1">
            <a:off x="6008475" y="2148356"/>
            <a:ext cx="0" cy="47681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EB71B0F-4FC9-4825-985E-8C6CD5D5A853}"/>
              </a:ext>
            </a:extLst>
          </p:cNvPr>
          <p:cNvCxnSpPr>
            <a:cxnSpLocks/>
            <a:stCxn id="11" idx="0"/>
            <a:endCxn id="26" idx="2"/>
          </p:cNvCxnSpPr>
          <p:nvPr/>
        </p:nvCxnSpPr>
        <p:spPr>
          <a:xfrm flipH="1" flipV="1">
            <a:off x="6011468" y="4478477"/>
            <a:ext cx="4062" cy="37191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CD14373-2617-4049-A946-486D9E6746DB}"/>
              </a:ext>
            </a:extLst>
          </p:cNvPr>
          <p:cNvSpPr txBox="1"/>
          <p:nvPr/>
        </p:nvSpPr>
        <p:spPr>
          <a:xfrm>
            <a:off x="5230347" y="6044351"/>
            <a:ext cx="1715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Block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804E65-E31D-4B32-9DD9-A4812CCD002F}"/>
              </a:ext>
            </a:extLst>
          </p:cNvPr>
          <p:cNvSpPr txBox="1"/>
          <p:nvPr/>
        </p:nvSpPr>
        <p:spPr>
          <a:xfrm>
            <a:off x="7570503" y="3713536"/>
            <a:ext cx="1062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AA9A62-BC62-48EF-96D5-B9D876D43D17}"/>
              </a:ext>
            </a:extLst>
          </p:cNvPr>
          <p:cNvSpPr txBox="1"/>
          <p:nvPr/>
        </p:nvSpPr>
        <p:spPr>
          <a:xfrm>
            <a:off x="5824960" y="2138819"/>
            <a:ext cx="1745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 x 28 x 256 Output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889A1FD-894A-41C4-976F-EF44BA975AC7}"/>
                  </a:ext>
                </a:extLst>
              </p:cNvPr>
              <p:cNvSpPr txBox="1"/>
              <p:nvPr/>
            </p:nvSpPr>
            <p:spPr>
              <a:xfrm>
                <a:off x="7857423" y="3977057"/>
                <a:ext cx="287106" cy="36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889A1FD-894A-41C4-976F-EF44BA975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423" y="3977057"/>
                <a:ext cx="287106" cy="3693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c 21"/>
          <p:cNvSpPr/>
          <p:nvPr/>
        </p:nvSpPr>
        <p:spPr>
          <a:xfrm>
            <a:off x="4509131" y="2760738"/>
            <a:ext cx="3107566" cy="3063498"/>
          </a:xfrm>
          <a:prstGeom prst="arc">
            <a:avLst>
              <a:gd name="adj1" fmla="val 16437591"/>
              <a:gd name="adj2" fmla="val 5090427"/>
            </a:avLst>
          </a:prstGeom>
          <a:ln w="19050">
            <a:solidFill>
              <a:srgbClr val="0070C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8" name="Group 27"/>
          <p:cNvGrpSpPr/>
          <p:nvPr/>
        </p:nvGrpSpPr>
        <p:grpSpPr>
          <a:xfrm>
            <a:off x="5317452" y="4102779"/>
            <a:ext cx="1388033" cy="384399"/>
            <a:chOff x="5221403" y="3599633"/>
            <a:chExt cx="1388033" cy="38439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BAD6D6A-D029-413A-8FC3-FA9679845E85}"/>
                </a:ext>
              </a:extLst>
            </p:cNvPr>
            <p:cNvSpPr/>
            <p:nvPr/>
          </p:nvSpPr>
          <p:spPr>
            <a:xfrm>
              <a:off x="5221403" y="3599633"/>
              <a:ext cx="1388033" cy="38439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0070C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F9F5C10-9644-4848-B3D2-A6F8E7C9E916}"/>
                </a:ext>
              </a:extLst>
            </p:cNvPr>
            <p:cNvSpPr txBox="1"/>
            <p:nvPr/>
          </p:nvSpPr>
          <p:spPr>
            <a:xfrm>
              <a:off x="5241328" y="3636777"/>
              <a:ext cx="13481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x 3 </a:t>
              </a:r>
              <a:r>
                <a:rPr lang="en-IN" sz="16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16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64</a:t>
              </a: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EB71B0F-4FC9-4825-985E-8C6CD5D5A853}"/>
              </a:ext>
            </a:extLst>
          </p:cNvPr>
          <p:cNvCxnSpPr>
            <a:cxnSpLocks/>
            <a:stCxn id="25" idx="0"/>
            <a:endCxn id="34" idx="2"/>
          </p:cNvCxnSpPr>
          <p:nvPr/>
        </p:nvCxnSpPr>
        <p:spPr>
          <a:xfrm flipH="1" flipV="1">
            <a:off x="6010014" y="3747543"/>
            <a:ext cx="1455" cy="355236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/>
        </p:nvGrpSpPr>
        <p:grpSpPr>
          <a:xfrm>
            <a:off x="5315997" y="3363144"/>
            <a:ext cx="1512292" cy="384399"/>
            <a:chOff x="5221403" y="3599633"/>
            <a:chExt cx="1512292" cy="3843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BAD6D6A-D029-413A-8FC3-FA9679845E85}"/>
                </a:ext>
              </a:extLst>
            </p:cNvPr>
            <p:cNvSpPr/>
            <p:nvPr/>
          </p:nvSpPr>
          <p:spPr>
            <a:xfrm>
              <a:off x="5221403" y="3599633"/>
              <a:ext cx="1388033" cy="38439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0070C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F9F5C10-9644-4848-B3D2-A6F8E7C9E916}"/>
                </a:ext>
              </a:extLst>
            </p:cNvPr>
            <p:cNvSpPr txBox="1"/>
            <p:nvPr/>
          </p:nvSpPr>
          <p:spPr>
            <a:xfrm>
              <a:off x="5225473" y="3611471"/>
              <a:ext cx="1508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x 1 </a:t>
              </a:r>
              <a:r>
                <a:rPr lang="en-IN" sz="16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  <a:r>
                <a:rPr lang="en-IN" sz="16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256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9FAA9A62-BC62-48EF-96D5-B9D876D43D17}"/>
              </a:ext>
            </a:extLst>
          </p:cNvPr>
          <p:cNvSpPr txBox="1"/>
          <p:nvPr/>
        </p:nvSpPr>
        <p:spPr>
          <a:xfrm>
            <a:off x="4489796" y="5513443"/>
            <a:ext cx="1745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 x 28 x 256 Input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888" y="6422635"/>
            <a:ext cx="114172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IN" sz="16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Kaiming</a:t>
            </a:r>
            <a:r>
              <a:rPr lang="en-IN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He, </a:t>
            </a:r>
            <a:r>
              <a:rPr lang="en-IN" sz="16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Xiangyu</a:t>
            </a:r>
            <a:r>
              <a:rPr lang="en-IN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Zhang, </a:t>
            </a:r>
            <a:r>
              <a:rPr lang="en-IN" sz="16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Shaoqing</a:t>
            </a:r>
            <a:r>
              <a:rPr lang="en-IN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Ren, Jian Sun, </a:t>
            </a:r>
            <a:r>
              <a:rPr lang="en-US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Residual Learning for Image Recognition</a:t>
            </a:r>
            <a:endParaRPr lang="en-IN" sz="1600" dirty="0">
              <a:solidFill>
                <a:srgbClr val="00B0F0"/>
              </a:solidFill>
            </a:endParaRPr>
          </a:p>
        </p:txBody>
      </p:sp>
      <p:sp>
        <p:nvSpPr>
          <p:cNvPr id="4" name="Hexagon 3"/>
          <p:cNvSpPr/>
          <p:nvPr/>
        </p:nvSpPr>
        <p:spPr>
          <a:xfrm>
            <a:off x="5888603" y="5712230"/>
            <a:ext cx="283222" cy="248997"/>
          </a:xfrm>
          <a:prstGeom prst="hexagon">
            <a:avLst/>
          </a:prstGeom>
          <a:solidFill>
            <a:schemeClr val="accent6">
              <a:lumMod val="75000"/>
              <a:alpha val="59000"/>
            </a:schemeClr>
          </a:solidFill>
          <a:ln>
            <a:solidFill>
              <a:schemeClr val="accent4">
                <a:lumMod val="60000"/>
                <a:lumOff val="40000"/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692107-B04A-44B6-8EF9-6770233E1C3B}"/>
              </a:ext>
            </a:extLst>
          </p:cNvPr>
          <p:cNvSpPr/>
          <p:nvPr/>
        </p:nvSpPr>
        <p:spPr>
          <a:xfrm>
            <a:off x="766929" y="2953955"/>
            <a:ext cx="2626766" cy="892552"/>
          </a:xfrm>
          <a:prstGeom prst="rect">
            <a:avLst/>
          </a:prstGeom>
          <a:solidFill>
            <a:schemeClr val="accent1">
              <a:lumMod val="60000"/>
              <a:lumOff val="40000"/>
              <a:alpha val="41000"/>
            </a:schemeClr>
          </a:solidFill>
          <a:ln w="19050">
            <a:solidFill>
              <a:schemeClr val="accent2">
                <a:alpha val="98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pc="13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1x1 conv, 256 filters projects </a:t>
            </a:r>
            <a:r>
              <a:rPr lang="en-US" sz="1600" spc="13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 to 256 feature maps </a:t>
            </a:r>
            <a:r>
              <a:rPr lang="en-IN" sz="1400" spc="13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(28x28x256)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0BE5E07-100B-4B12-9457-2A2D04472BC9}"/>
              </a:ext>
            </a:extLst>
          </p:cNvPr>
          <p:cNvSpPr/>
          <p:nvPr/>
        </p:nvSpPr>
        <p:spPr>
          <a:xfrm>
            <a:off x="766929" y="4075071"/>
            <a:ext cx="2635729" cy="615553"/>
          </a:xfrm>
          <a:prstGeom prst="rect">
            <a:avLst/>
          </a:prstGeom>
          <a:solidFill>
            <a:schemeClr val="accent1">
              <a:lumMod val="60000"/>
              <a:lumOff val="40000"/>
              <a:alpha val="41000"/>
            </a:schemeClr>
          </a:solidFill>
          <a:ln w="19050">
            <a:solidFill>
              <a:schemeClr val="accent2">
                <a:alpha val="98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pc="13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3x3 conv operates over</a:t>
            </a:r>
            <a:r>
              <a:rPr lang="en-IN" sz="1600" spc="13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only 64 feature maps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53FBEC-8E51-4D85-B63C-E1AF854B038D}"/>
              </a:ext>
            </a:extLst>
          </p:cNvPr>
          <p:cNvSpPr/>
          <p:nvPr/>
        </p:nvSpPr>
        <p:spPr>
          <a:xfrm>
            <a:off x="747599" y="4905736"/>
            <a:ext cx="2655058" cy="646331"/>
          </a:xfrm>
          <a:prstGeom prst="rect">
            <a:avLst/>
          </a:prstGeom>
          <a:solidFill>
            <a:schemeClr val="accent1">
              <a:lumMod val="60000"/>
              <a:lumOff val="40000"/>
              <a:alpha val="41000"/>
            </a:schemeClr>
          </a:solidFill>
          <a:ln w="19050">
            <a:solidFill>
              <a:schemeClr val="accent2">
                <a:alpha val="98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pc="13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1x1 conv, 64 filters to project to 28x28x64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>
            <a:stCxn id="29" idx="3"/>
            <a:endCxn id="35" idx="1"/>
          </p:cNvCxnSpPr>
          <p:nvPr/>
        </p:nvCxnSpPr>
        <p:spPr>
          <a:xfrm>
            <a:off x="3393695" y="3400231"/>
            <a:ext cx="1926372" cy="144028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30" idx="3"/>
            <a:endCxn id="26" idx="1"/>
          </p:cNvCxnSpPr>
          <p:nvPr/>
        </p:nvCxnSpPr>
        <p:spPr>
          <a:xfrm flipV="1">
            <a:off x="3402658" y="4309200"/>
            <a:ext cx="1934719" cy="73648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31" idx="3"/>
            <a:endCxn id="14" idx="1"/>
          </p:cNvCxnSpPr>
          <p:nvPr/>
        </p:nvCxnSpPr>
        <p:spPr>
          <a:xfrm flipV="1">
            <a:off x="3402657" y="5056816"/>
            <a:ext cx="1938781" cy="172086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16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873" y="-17317"/>
            <a:ext cx="10515600" cy="806727"/>
          </a:xfrm>
        </p:spPr>
        <p:txBody>
          <a:bodyPr>
            <a:normAutofit/>
          </a:bodyPr>
          <a:lstStyle/>
          <a:p>
            <a:r>
              <a:rPr lang="en-IN" sz="3600" dirty="0" err="1">
                <a:latin typeface="Century" panose="02040604050505020304" pitchFamily="18" charset="0"/>
              </a:rPr>
              <a:t>ResNet</a:t>
            </a:r>
            <a:r>
              <a:rPr lang="en-IN" sz="3600" dirty="0">
                <a:latin typeface="Century" panose="02040604050505020304" pitchFamily="18" charset="0"/>
              </a:rPr>
              <a:t> Architecture</a:t>
            </a:r>
            <a:endParaRPr lang="en-IN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930128" y="2013374"/>
            <a:ext cx="338554" cy="49396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16997" y="1760295"/>
            <a:ext cx="99060" cy="1000125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tx1"/>
                </a:solidFill>
              </a:rPr>
              <a:t>7x7 conv,64, /2</a:t>
            </a:r>
          </a:p>
        </p:txBody>
      </p:sp>
      <p:cxnSp>
        <p:nvCxnSpPr>
          <p:cNvPr id="8" name="Straight Arrow Connector 7"/>
          <p:cNvCxnSpPr>
            <a:stCxn id="4" idx="3"/>
            <a:endCxn id="6" idx="1"/>
          </p:cNvCxnSpPr>
          <p:nvPr/>
        </p:nvCxnSpPr>
        <p:spPr>
          <a:xfrm>
            <a:off x="1268682" y="2260358"/>
            <a:ext cx="648315" cy="0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3"/>
            <a:endCxn id="13" idx="1"/>
          </p:cNvCxnSpPr>
          <p:nvPr/>
        </p:nvCxnSpPr>
        <p:spPr>
          <a:xfrm>
            <a:off x="2016057" y="2260358"/>
            <a:ext cx="254883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70940" y="2013375"/>
            <a:ext cx="338554" cy="49396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Pool, / 2</a:t>
            </a:r>
          </a:p>
        </p:txBody>
      </p:sp>
      <p:cxnSp>
        <p:nvCxnSpPr>
          <p:cNvPr id="14" name="Straight Arrow Connector 13"/>
          <p:cNvCxnSpPr>
            <a:stCxn id="13" idx="3"/>
            <a:endCxn id="15" idx="1"/>
          </p:cNvCxnSpPr>
          <p:nvPr/>
        </p:nvCxnSpPr>
        <p:spPr>
          <a:xfrm flipV="1">
            <a:off x="2609494" y="2260358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752141" y="1760295"/>
            <a:ext cx="99060" cy="1000125"/>
          </a:xfrm>
          <a:prstGeom prst="rect">
            <a:avLst/>
          </a:prstGeom>
          <a:solidFill>
            <a:schemeClr val="accent4">
              <a:lumMod val="40000"/>
              <a:lumOff val="60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conv,64</a:t>
            </a:r>
          </a:p>
        </p:txBody>
      </p:sp>
      <p:cxnSp>
        <p:nvCxnSpPr>
          <p:cNvPr id="31" name="Straight Arrow Connector 30"/>
          <p:cNvCxnSpPr>
            <a:endCxn id="32" idx="1"/>
          </p:cNvCxnSpPr>
          <p:nvPr/>
        </p:nvCxnSpPr>
        <p:spPr>
          <a:xfrm flipV="1">
            <a:off x="2851201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993848" y="1760294"/>
            <a:ext cx="99060" cy="1000125"/>
          </a:xfrm>
          <a:prstGeom prst="rect">
            <a:avLst/>
          </a:prstGeom>
          <a:solidFill>
            <a:schemeClr val="accent4">
              <a:lumMod val="40000"/>
              <a:lumOff val="60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conv,64</a:t>
            </a:r>
          </a:p>
        </p:txBody>
      </p:sp>
      <p:cxnSp>
        <p:nvCxnSpPr>
          <p:cNvPr id="33" name="Straight Arrow Connector 32"/>
          <p:cNvCxnSpPr>
            <a:endCxn id="34" idx="1"/>
          </p:cNvCxnSpPr>
          <p:nvPr/>
        </p:nvCxnSpPr>
        <p:spPr>
          <a:xfrm flipV="1">
            <a:off x="3092908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235555" y="1760294"/>
            <a:ext cx="99060" cy="1000125"/>
          </a:xfrm>
          <a:prstGeom prst="rect">
            <a:avLst/>
          </a:prstGeom>
          <a:solidFill>
            <a:schemeClr val="accent4">
              <a:lumMod val="40000"/>
              <a:lumOff val="60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conv,64</a:t>
            </a:r>
          </a:p>
        </p:txBody>
      </p:sp>
      <p:cxnSp>
        <p:nvCxnSpPr>
          <p:cNvPr id="37" name="Straight Arrow Connector 36"/>
          <p:cNvCxnSpPr>
            <a:endCxn id="38" idx="1"/>
          </p:cNvCxnSpPr>
          <p:nvPr/>
        </p:nvCxnSpPr>
        <p:spPr>
          <a:xfrm flipV="1">
            <a:off x="3336282" y="2260358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478929" y="1760295"/>
            <a:ext cx="99060" cy="1000125"/>
          </a:xfrm>
          <a:prstGeom prst="rect">
            <a:avLst/>
          </a:prstGeom>
          <a:solidFill>
            <a:schemeClr val="accent4">
              <a:lumMod val="40000"/>
              <a:lumOff val="60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conv,64</a:t>
            </a:r>
          </a:p>
        </p:txBody>
      </p:sp>
      <p:cxnSp>
        <p:nvCxnSpPr>
          <p:cNvPr id="39" name="Straight Arrow Connector 38"/>
          <p:cNvCxnSpPr>
            <a:endCxn id="40" idx="1"/>
          </p:cNvCxnSpPr>
          <p:nvPr/>
        </p:nvCxnSpPr>
        <p:spPr>
          <a:xfrm flipV="1">
            <a:off x="3577989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720636" y="1760294"/>
            <a:ext cx="99060" cy="1000125"/>
          </a:xfrm>
          <a:prstGeom prst="rect">
            <a:avLst/>
          </a:prstGeom>
          <a:solidFill>
            <a:schemeClr val="accent4">
              <a:lumMod val="40000"/>
              <a:lumOff val="60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conv,64</a:t>
            </a:r>
          </a:p>
        </p:txBody>
      </p:sp>
      <p:cxnSp>
        <p:nvCxnSpPr>
          <p:cNvPr id="41" name="Straight Arrow Connector 40"/>
          <p:cNvCxnSpPr>
            <a:endCxn id="42" idx="1"/>
          </p:cNvCxnSpPr>
          <p:nvPr/>
        </p:nvCxnSpPr>
        <p:spPr>
          <a:xfrm flipV="1">
            <a:off x="3819696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3962343" y="1760294"/>
            <a:ext cx="99060" cy="1000125"/>
          </a:xfrm>
          <a:prstGeom prst="rect">
            <a:avLst/>
          </a:prstGeom>
          <a:solidFill>
            <a:schemeClr val="accent4">
              <a:lumMod val="40000"/>
              <a:lumOff val="60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conv,64</a:t>
            </a:r>
          </a:p>
        </p:txBody>
      </p:sp>
      <p:cxnSp>
        <p:nvCxnSpPr>
          <p:cNvPr id="43" name="Straight Arrow Connector 42"/>
          <p:cNvCxnSpPr>
            <a:endCxn id="44" idx="1"/>
          </p:cNvCxnSpPr>
          <p:nvPr/>
        </p:nvCxnSpPr>
        <p:spPr>
          <a:xfrm flipV="1">
            <a:off x="4061403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204050" y="1760294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39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conv,128, /2</a:t>
            </a:r>
          </a:p>
        </p:txBody>
      </p:sp>
      <p:cxnSp>
        <p:nvCxnSpPr>
          <p:cNvPr id="47" name="Straight Arrow Connector 46"/>
          <p:cNvCxnSpPr>
            <a:endCxn id="48" idx="1"/>
          </p:cNvCxnSpPr>
          <p:nvPr/>
        </p:nvCxnSpPr>
        <p:spPr>
          <a:xfrm flipV="1">
            <a:off x="4303110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4445757" y="1760294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39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conv,128</a:t>
            </a:r>
          </a:p>
        </p:txBody>
      </p:sp>
      <p:cxnSp>
        <p:nvCxnSpPr>
          <p:cNvPr id="49" name="Straight Arrow Connector 48"/>
          <p:cNvCxnSpPr>
            <a:endCxn id="50" idx="1"/>
          </p:cNvCxnSpPr>
          <p:nvPr/>
        </p:nvCxnSpPr>
        <p:spPr>
          <a:xfrm flipV="1">
            <a:off x="4548748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4691395" y="1760294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39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conv,128</a:t>
            </a:r>
          </a:p>
        </p:txBody>
      </p:sp>
      <p:cxnSp>
        <p:nvCxnSpPr>
          <p:cNvPr id="51" name="Straight Arrow Connector 50"/>
          <p:cNvCxnSpPr>
            <a:endCxn id="52" idx="1"/>
          </p:cNvCxnSpPr>
          <p:nvPr/>
        </p:nvCxnSpPr>
        <p:spPr>
          <a:xfrm flipV="1">
            <a:off x="4790455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4933102" y="1760294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39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conv,128</a:t>
            </a:r>
          </a:p>
        </p:txBody>
      </p:sp>
      <p:cxnSp>
        <p:nvCxnSpPr>
          <p:cNvPr id="53" name="Straight Arrow Connector 52"/>
          <p:cNvCxnSpPr>
            <a:endCxn id="54" idx="1"/>
          </p:cNvCxnSpPr>
          <p:nvPr/>
        </p:nvCxnSpPr>
        <p:spPr>
          <a:xfrm flipV="1">
            <a:off x="5039186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5181833" y="1760294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39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conv,128</a:t>
            </a:r>
          </a:p>
        </p:txBody>
      </p:sp>
      <p:cxnSp>
        <p:nvCxnSpPr>
          <p:cNvPr id="55" name="Straight Arrow Connector 54"/>
          <p:cNvCxnSpPr>
            <a:endCxn id="56" idx="1"/>
          </p:cNvCxnSpPr>
          <p:nvPr/>
        </p:nvCxnSpPr>
        <p:spPr>
          <a:xfrm flipV="1">
            <a:off x="5280893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5423540" y="1760294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39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conv,128</a:t>
            </a:r>
          </a:p>
        </p:txBody>
      </p:sp>
      <p:cxnSp>
        <p:nvCxnSpPr>
          <p:cNvPr id="57" name="Straight Arrow Connector 56"/>
          <p:cNvCxnSpPr>
            <a:endCxn id="58" idx="1"/>
          </p:cNvCxnSpPr>
          <p:nvPr/>
        </p:nvCxnSpPr>
        <p:spPr>
          <a:xfrm flipV="1">
            <a:off x="5522600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5665247" y="1760294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39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conv,128</a:t>
            </a:r>
          </a:p>
        </p:txBody>
      </p:sp>
      <p:cxnSp>
        <p:nvCxnSpPr>
          <p:cNvPr id="59" name="Straight Arrow Connector 58"/>
          <p:cNvCxnSpPr>
            <a:endCxn id="60" idx="1"/>
          </p:cNvCxnSpPr>
          <p:nvPr/>
        </p:nvCxnSpPr>
        <p:spPr>
          <a:xfrm flipV="1">
            <a:off x="5771331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5913978" y="1760294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39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conv,128</a:t>
            </a:r>
          </a:p>
        </p:txBody>
      </p:sp>
      <p:cxnSp>
        <p:nvCxnSpPr>
          <p:cNvPr id="62" name="Straight Arrow Connector 61"/>
          <p:cNvCxnSpPr>
            <a:endCxn id="63" idx="1"/>
          </p:cNvCxnSpPr>
          <p:nvPr/>
        </p:nvCxnSpPr>
        <p:spPr>
          <a:xfrm flipV="1">
            <a:off x="6019388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6162035" y="1760294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conv,256, /2</a:t>
            </a:r>
          </a:p>
        </p:txBody>
      </p:sp>
      <p:cxnSp>
        <p:nvCxnSpPr>
          <p:cNvPr id="64" name="Straight Arrow Connector 63"/>
          <p:cNvCxnSpPr>
            <a:endCxn id="65" idx="1"/>
          </p:cNvCxnSpPr>
          <p:nvPr/>
        </p:nvCxnSpPr>
        <p:spPr>
          <a:xfrm flipV="1">
            <a:off x="6267445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6410092" y="1760294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66" name="Straight Arrow Connector 65"/>
          <p:cNvCxnSpPr>
            <a:endCxn id="67" idx="1"/>
          </p:cNvCxnSpPr>
          <p:nvPr/>
        </p:nvCxnSpPr>
        <p:spPr>
          <a:xfrm flipV="1">
            <a:off x="6509152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6651799" y="1760294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68" name="Straight Arrow Connector 67"/>
          <p:cNvCxnSpPr>
            <a:endCxn id="69" idx="1"/>
          </p:cNvCxnSpPr>
          <p:nvPr/>
        </p:nvCxnSpPr>
        <p:spPr>
          <a:xfrm flipV="1">
            <a:off x="6750859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6893506" y="1760294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70" name="Straight Arrow Connector 69"/>
          <p:cNvCxnSpPr>
            <a:endCxn id="71" idx="1"/>
          </p:cNvCxnSpPr>
          <p:nvPr/>
        </p:nvCxnSpPr>
        <p:spPr>
          <a:xfrm flipV="1">
            <a:off x="6992566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7135213" y="1760294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72" name="Straight Arrow Connector 71"/>
          <p:cNvCxnSpPr>
            <a:endCxn id="73" idx="1"/>
          </p:cNvCxnSpPr>
          <p:nvPr/>
        </p:nvCxnSpPr>
        <p:spPr>
          <a:xfrm flipV="1">
            <a:off x="7234273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376920" y="1760294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74" name="Straight Arrow Connector 73"/>
          <p:cNvCxnSpPr>
            <a:endCxn id="75" idx="1"/>
          </p:cNvCxnSpPr>
          <p:nvPr/>
        </p:nvCxnSpPr>
        <p:spPr>
          <a:xfrm flipV="1">
            <a:off x="7475980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7618627" y="1760294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76" name="Straight Arrow Connector 75"/>
          <p:cNvCxnSpPr>
            <a:endCxn id="77" idx="1"/>
          </p:cNvCxnSpPr>
          <p:nvPr/>
        </p:nvCxnSpPr>
        <p:spPr>
          <a:xfrm flipV="1">
            <a:off x="7725366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7868013" y="1760294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78" name="Straight Arrow Connector 77"/>
          <p:cNvCxnSpPr>
            <a:endCxn id="79" idx="1"/>
          </p:cNvCxnSpPr>
          <p:nvPr/>
        </p:nvCxnSpPr>
        <p:spPr>
          <a:xfrm flipV="1">
            <a:off x="7967073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8109720" y="1760294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80" name="Straight Arrow Connector 79"/>
          <p:cNvCxnSpPr>
            <a:endCxn id="81" idx="1"/>
          </p:cNvCxnSpPr>
          <p:nvPr/>
        </p:nvCxnSpPr>
        <p:spPr>
          <a:xfrm flipV="1">
            <a:off x="8208780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8351427" y="1760294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82" name="Straight Arrow Connector 81"/>
          <p:cNvCxnSpPr>
            <a:endCxn id="83" idx="1"/>
          </p:cNvCxnSpPr>
          <p:nvPr/>
        </p:nvCxnSpPr>
        <p:spPr>
          <a:xfrm flipV="1">
            <a:off x="8458166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8600813" y="1760294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84" name="Straight Arrow Connector 83"/>
          <p:cNvCxnSpPr>
            <a:endCxn id="85" idx="1"/>
          </p:cNvCxnSpPr>
          <p:nvPr/>
        </p:nvCxnSpPr>
        <p:spPr>
          <a:xfrm flipV="1">
            <a:off x="8699873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8842520" y="1760294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86" name="Straight Arrow Connector 85"/>
          <p:cNvCxnSpPr>
            <a:endCxn id="87" idx="1"/>
          </p:cNvCxnSpPr>
          <p:nvPr/>
        </p:nvCxnSpPr>
        <p:spPr>
          <a:xfrm flipV="1">
            <a:off x="8941580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9084227" y="1760294"/>
            <a:ext cx="99060" cy="1000125"/>
          </a:xfrm>
          <a:prstGeom prst="rect">
            <a:avLst/>
          </a:prstGeom>
          <a:solidFill>
            <a:schemeClr val="accent5">
              <a:lumMod val="75000"/>
              <a:alpha val="3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conv,512, /2</a:t>
            </a:r>
          </a:p>
        </p:txBody>
      </p:sp>
      <p:cxnSp>
        <p:nvCxnSpPr>
          <p:cNvPr id="88" name="Straight Arrow Connector 87"/>
          <p:cNvCxnSpPr>
            <a:endCxn id="89" idx="1"/>
          </p:cNvCxnSpPr>
          <p:nvPr/>
        </p:nvCxnSpPr>
        <p:spPr>
          <a:xfrm flipV="1">
            <a:off x="9183287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9325934" y="1760294"/>
            <a:ext cx="99060" cy="1000125"/>
          </a:xfrm>
          <a:prstGeom prst="rect">
            <a:avLst/>
          </a:prstGeom>
          <a:solidFill>
            <a:schemeClr val="accent5">
              <a:lumMod val="75000"/>
              <a:alpha val="3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</a:t>
            </a:r>
          </a:p>
        </p:txBody>
      </p:sp>
      <p:cxnSp>
        <p:nvCxnSpPr>
          <p:cNvPr id="90" name="Straight Arrow Connector 89"/>
          <p:cNvCxnSpPr>
            <a:endCxn id="91" idx="1"/>
          </p:cNvCxnSpPr>
          <p:nvPr/>
        </p:nvCxnSpPr>
        <p:spPr>
          <a:xfrm flipV="1">
            <a:off x="9424994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9567641" y="1760294"/>
            <a:ext cx="99060" cy="1000125"/>
          </a:xfrm>
          <a:prstGeom prst="rect">
            <a:avLst/>
          </a:prstGeom>
          <a:solidFill>
            <a:schemeClr val="accent5">
              <a:lumMod val="75000"/>
              <a:alpha val="3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</a:t>
            </a:r>
          </a:p>
        </p:txBody>
      </p:sp>
      <p:cxnSp>
        <p:nvCxnSpPr>
          <p:cNvPr id="92" name="Straight Arrow Connector 91"/>
          <p:cNvCxnSpPr>
            <a:endCxn id="93" idx="1"/>
          </p:cNvCxnSpPr>
          <p:nvPr/>
        </p:nvCxnSpPr>
        <p:spPr>
          <a:xfrm flipV="1">
            <a:off x="9666796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9809443" y="1760294"/>
            <a:ext cx="99060" cy="1000125"/>
          </a:xfrm>
          <a:prstGeom prst="rect">
            <a:avLst/>
          </a:prstGeom>
          <a:solidFill>
            <a:schemeClr val="accent5">
              <a:lumMod val="75000"/>
              <a:alpha val="3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</a:t>
            </a:r>
          </a:p>
        </p:txBody>
      </p:sp>
      <p:cxnSp>
        <p:nvCxnSpPr>
          <p:cNvPr id="94" name="Straight Arrow Connector 93"/>
          <p:cNvCxnSpPr>
            <a:endCxn id="95" idx="1"/>
          </p:cNvCxnSpPr>
          <p:nvPr/>
        </p:nvCxnSpPr>
        <p:spPr>
          <a:xfrm flipV="1">
            <a:off x="9908503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10051150" y="1760294"/>
            <a:ext cx="99060" cy="1000125"/>
          </a:xfrm>
          <a:prstGeom prst="rect">
            <a:avLst/>
          </a:prstGeom>
          <a:solidFill>
            <a:schemeClr val="accent5">
              <a:lumMod val="75000"/>
              <a:alpha val="3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</a:t>
            </a:r>
          </a:p>
        </p:txBody>
      </p:sp>
      <p:cxnSp>
        <p:nvCxnSpPr>
          <p:cNvPr id="96" name="Straight Arrow Connector 95"/>
          <p:cNvCxnSpPr>
            <a:endCxn id="97" idx="1"/>
          </p:cNvCxnSpPr>
          <p:nvPr/>
        </p:nvCxnSpPr>
        <p:spPr>
          <a:xfrm flipV="1">
            <a:off x="10150210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0292857" y="1760294"/>
            <a:ext cx="99060" cy="1000125"/>
          </a:xfrm>
          <a:prstGeom prst="rect">
            <a:avLst/>
          </a:prstGeom>
          <a:solidFill>
            <a:schemeClr val="accent5">
              <a:lumMod val="75000"/>
              <a:alpha val="3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</a:t>
            </a:r>
          </a:p>
        </p:txBody>
      </p:sp>
      <p:cxnSp>
        <p:nvCxnSpPr>
          <p:cNvPr id="98" name="Straight Arrow Connector 97"/>
          <p:cNvCxnSpPr/>
          <p:nvPr/>
        </p:nvCxnSpPr>
        <p:spPr>
          <a:xfrm flipV="1">
            <a:off x="10392012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10463335" y="1949151"/>
            <a:ext cx="346249" cy="62240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50" b="1" dirty="0" err="1"/>
              <a:t>avg</a:t>
            </a:r>
            <a:r>
              <a:rPr lang="en-IN" sz="1050" b="1" dirty="0"/>
              <a:t> pool</a:t>
            </a:r>
          </a:p>
        </p:txBody>
      </p:sp>
      <p:cxnSp>
        <p:nvCxnSpPr>
          <p:cNvPr id="102" name="Straight Arrow Connector 101"/>
          <p:cNvCxnSpPr>
            <a:endCxn id="103" idx="1"/>
          </p:cNvCxnSpPr>
          <p:nvPr/>
        </p:nvCxnSpPr>
        <p:spPr>
          <a:xfrm flipV="1">
            <a:off x="10762042" y="226035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/>
          <p:cNvSpPr/>
          <p:nvPr/>
        </p:nvSpPr>
        <p:spPr>
          <a:xfrm>
            <a:off x="10904689" y="1760294"/>
            <a:ext cx="99060" cy="1000125"/>
          </a:xfrm>
          <a:prstGeom prst="rect">
            <a:avLst/>
          </a:prstGeom>
          <a:solidFill>
            <a:srgbClr val="FFFF00">
              <a:alpha val="39000"/>
            </a:srgb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FC 1000</a:t>
            </a:r>
          </a:p>
        </p:txBody>
      </p:sp>
      <p:grpSp>
        <p:nvGrpSpPr>
          <p:cNvPr id="223" name="Group 222"/>
          <p:cNvGrpSpPr/>
          <p:nvPr/>
        </p:nvGrpSpPr>
        <p:grpSpPr>
          <a:xfrm>
            <a:off x="2658022" y="1512965"/>
            <a:ext cx="492354" cy="747390"/>
            <a:chOff x="2590483" y="1013334"/>
            <a:chExt cx="492354" cy="747390"/>
          </a:xfrm>
        </p:grpSpPr>
        <p:cxnSp>
          <p:nvCxnSpPr>
            <p:cNvPr id="208" name="Straight Arrow Connector 207"/>
            <p:cNvCxnSpPr/>
            <p:nvPr/>
          </p:nvCxnSpPr>
          <p:spPr>
            <a:xfrm>
              <a:off x="2804771" y="1013334"/>
              <a:ext cx="75405" cy="2380"/>
            </a:xfrm>
            <a:prstGeom prst="straightConnector1">
              <a:avLst/>
            </a:prstGeom>
            <a:noFill/>
            <a:ln w="15875" cap="flat">
              <a:miter lim="800000"/>
              <a:headEnd type="none"/>
              <a:tailEnd type="triangle" w="lg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3" name="Freeform 132"/>
            <p:cNvSpPr/>
            <p:nvPr/>
          </p:nvSpPr>
          <p:spPr>
            <a:xfrm>
              <a:off x="2590483" y="1014344"/>
              <a:ext cx="492354" cy="746380"/>
            </a:xfrm>
            <a:custGeom>
              <a:avLst/>
              <a:gdLst>
                <a:gd name="connsiteX0" fmla="*/ 0 w 495300"/>
                <a:gd name="connsiteY0" fmla="*/ 1166988 h 1166988"/>
                <a:gd name="connsiteX1" fmla="*/ 80963 w 495300"/>
                <a:gd name="connsiteY1" fmla="*/ 152576 h 1166988"/>
                <a:gd name="connsiteX2" fmla="*/ 352425 w 495300"/>
                <a:gd name="connsiteY2" fmla="*/ 109713 h 1166988"/>
                <a:gd name="connsiteX3" fmla="*/ 495300 w 495300"/>
                <a:gd name="connsiteY3" fmla="*/ 1166988 h 1166988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3711"/>
                <a:gd name="connsiteY0" fmla="*/ 1089709 h 1089709"/>
                <a:gd name="connsiteX1" fmla="*/ 80963 w 473711"/>
                <a:gd name="connsiteY1" fmla="*/ 75297 h 1089709"/>
                <a:gd name="connsiteX2" fmla="*/ 431143 w 473711"/>
                <a:gd name="connsiteY2" fmla="*/ 187216 h 1089709"/>
                <a:gd name="connsiteX3" fmla="*/ 472147 w 473711"/>
                <a:gd name="connsiteY3" fmla="*/ 1082565 h 1089709"/>
                <a:gd name="connsiteX0" fmla="*/ 0 w 475182"/>
                <a:gd name="connsiteY0" fmla="*/ 1002035 h 1002035"/>
                <a:gd name="connsiteX1" fmla="*/ 55496 w 475182"/>
                <a:gd name="connsiteY1" fmla="*/ 123354 h 1002035"/>
                <a:gd name="connsiteX2" fmla="*/ 431143 w 475182"/>
                <a:gd name="connsiteY2" fmla="*/ 99542 h 1002035"/>
                <a:gd name="connsiteX3" fmla="*/ 472147 w 475182"/>
                <a:gd name="connsiteY3" fmla="*/ 994891 h 1002035"/>
                <a:gd name="connsiteX0" fmla="*/ 0 w 478698"/>
                <a:gd name="connsiteY0" fmla="*/ 988071 h 988071"/>
                <a:gd name="connsiteX1" fmla="*/ 55496 w 478698"/>
                <a:gd name="connsiteY1" fmla="*/ 109390 h 988071"/>
                <a:gd name="connsiteX2" fmla="*/ 438089 w 478698"/>
                <a:gd name="connsiteY2" fmla="*/ 109390 h 988071"/>
                <a:gd name="connsiteX3" fmla="*/ 472147 w 478698"/>
                <a:gd name="connsiteY3" fmla="*/ 980927 h 988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698" h="988071">
                  <a:moveTo>
                    <a:pt x="0" y="988071"/>
                  </a:moveTo>
                  <a:cubicBezTo>
                    <a:pt x="11113" y="568971"/>
                    <a:pt x="-17519" y="255837"/>
                    <a:pt x="55496" y="109390"/>
                  </a:cubicBezTo>
                  <a:cubicBezTo>
                    <a:pt x="128511" y="-37057"/>
                    <a:pt x="368647" y="-35866"/>
                    <a:pt x="438089" y="109390"/>
                  </a:cubicBezTo>
                  <a:cubicBezTo>
                    <a:pt x="507531" y="254646"/>
                    <a:pt x="465334" y="539205"/>
                    <a:pt x="472147" y="980927"/>
                  </a:cubicBezTo>
                </a:path>
              </a:pathLst>
            </a:custGeom>
            <a:noFill/>
            <a:ln w="15875" cap="flat">
              <a:miter lim="800000"/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34" name="TextBox 133"/>
          <p:cNvSpPr txBox="1"/>
          <p:nvPr/>
        </p:nvSpPr>
        <p:spPr>
          <a:xfrm>
            <a:off x="926201" y="3478829"/>
            <a:ext cx="338554" cy="49396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Image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913070" y="3225750"/>
            <a:ext cx="99060" cy="1000125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tx1"/>
                </a:solidFill>
              </a:rPr>
              <a:t>7x7 conv,64, /2</a:t>
            </a:r>
          </a:p>
        </p:txBody>
      </p:sp>
      <p:cxnSp>
        <p:nvCxnSpPr>
          <p:cNvPr id="136" name="Straight Arrow Connector 135"/>
          <p:cNvCxnSpPr>
            <a:stCxn id="134" idx="3"/>
            <a:endCxn id="135" idx="1"/>
          </p:cNvCxnSpPr>
          <p:nvPr/>
        </p:nvCxnSpPr>
        <p:spPr>
          <a:xfrm>
            <a:off x="1264755" y="3725813"/>
            <a:ext cx="648315" cy="0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135" idx="3"/>
            <a:endCxn id="138" idx="1"/>
          </p:cNvCxnSpPr>
          <p:nvPr/>
        </p:nvCxnSpPr>
        <p:spPr>
          <a:xfrm>
            <a:off x="2012130" y="3725813"/>
            <a:ext cx="254883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2267013" y="3478830"/>
            <a:ext cx="338554" cy="49396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Pool, / 2</a:t>
            </a:r>
          </a:p>
        </p:txBody>
      </p:sp>
      <p:cxnSp>
        <p:nvCxnSpPr>
          <p:cNvPr id="139" name="Straight Arrow Connector 138"/>
          <p:cNvCxnSpPr>
            <a:stCxn id="138" idx="3"/>
            <a:endCxn id="140" idx="1"/>
          </p:cNvCxnSpPr>
          <p:nvPr/>
        </p:nvCxnSpPr>
        <p:spPr>
          <a:xfrm flipV="1">
            <a:off x="2605567" y="3725813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2748214" y="3225750"/>
            <a:ext cx="99060" cy="1000125"/>
          </a:xfrm>
          <a:prstGeom prst="rect">
            <a:avLst/>
          </a:prstGeom>
          <a:solidFill>
            <a:schemeClr val="accent4">
              <a:lumMod val="40000"/>
              <a:lumOff val="60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conv,64</a:t>
            </a:r>
          </a:p>
        </p:txBody>
      </p:sp>
      <p:cxnSp>
        <p:nvCxnSpPr>
          <p:cNvPr id="141" name="Straight Arrow Connector 140"/>
          <p:cNvCxnSpPr>
            <a:endCxn id="142" idx="1"/>
          </p:cNvCxnSpPr>
          <p:nvPr/>
        </p:nvCxnSpPr>
        <p:spPr>
          <a:xfrm flipV="1">
            <a:off x="2847274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/>
          <p:cNvSpPr/>
          <p:nvPr/>
        </p:nvSpPr>
        <p:spPr>
          <a:xfrm>
            <a:off x="2989921" y="3225749"/>
            <a:ext cx="99060" cy="1000125"/>
          </a:xfrm>
          <a:prstGeom prst="rect">
            <a:avLst/>
          </a:prstGeom>
          <a:solidFill>
            <a:schemeClr val="accent4">
              <a:lumMod val="40000"/>
              <a:lumOff val="60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conv,64</a:t>
            </a:r>
          </a:p>
        </p:txBody>
      </p:sp>
      <p:cxnSp>
        <p:nvCxnSpPr>
          <p:cNvPr id="143" name="Straight Arrow Connector 142"/>
          <p:cNvCxnSpPr>
            <a:endCxn id="144" idx="1"/>
          </p:cNvCxnSpPr>
          <p:nvPr/>
        </p:nvCxnSpPr>
        <p:spPr>
          <a:xfrm flipV="1">
            <a:off x="3088981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/>
          <p:cNvSpPr/>
          <p:nvPr/>
        </p:nvSpPr>
        <p:spPr>
          <a:xfrm>
            <a:off x="3231628" y="3225749"/>
            <a:ext cx="99060" cy="1000125"/>
          </a:xfrm>
          <a:prstGeom prst="rect">
            <a:avLst/>
          </a:prstGeom>
          <a:solidFill>
            <a:schemeClr val="accent4">
              <a:lumMod val="40000"/>
              <a:lumOff val="60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conv,64</a:t>
            </a:r>
          </a:p>
        </p:txBody>
      </p:sp>
      <p:cxnSp>
        <p:nvCxnSpPr>
          <p:cNvPr id="145" name="Straight Arrow Connector 144"/>
          <p:cNvCxnSpPr>
            <a:endCxn id="146" idx="1"/>
          </p:cNvCxnSpPr>
          <p:nvPr/>
        </p:nvCxnSpPr>
        <p:spPr>
          <a:xfrm flipV="1">
            <a:off x="3332355" y="3725813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3475002" y="3225750"/>
            <a:ext cx="99060" cy="1000125"/>
          </a:xfrm>
          <a:prstGeom prst="rect">
            <a:avLst/>
          </a:prstGeom>
          <a:solidFill>
            <a:schemeClr val="accent4">
              <a:lumMod val="40000"/>
              <a:lumOff val="60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conv,64</a:t>
            </a:r>
          </a:p>
        </p:txBody>
      </p:sp>
      <p:cxnSp>
        <p:nvCxnSpPr>
          <p:cNvPr id="147" name="Straight Arrow Connector 146"/>
          <p:cNvCxnSpPr>
            <a:endCxn id="148" idx="1"/>
          </p:cNvCxnSpPr>
          <p:nvPr/>
        </p:nvCxnSpPr>
        <p:spPr>
          <a:xfrm flipV="1">
            <a:off x="3574062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 147"/>
          <p:cNvSpPr/>
          <p:nvPr/>
        </p:nvSpPr>
        <p:spPr>
          <a:xfrm>
            <a:off x="3716709" y="3225749"/>
            <a:ext cx="99060" cy="1000125"/>
          </a:xfrm>
          <a:prstGeom prst="rect">
            <a:avLst/>
          </a:prstGeom>
          <a:solidFill>
            <a:schemeClr val="accent4">
              <a:lumMod val="40000"/>
              <a:lumOff val="60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conv,64</a:t>
            </a:r>
          </a:p>
        </p:txBody>
      </p:sp>
      <p:cxnSp>
        <p:nvCxnSpPr>
          <p:cNvPr id="149" name="Straight Arrow Connector 148"/>
          <p:cNvCxnSpPr>
            <a:endCxn id="150" idx="1"/>
          </p:cNvCxnSpPr>
          <p:nvPr/>
        </p:nvCxnSpPr>
        <p:spPr>
          <a:xfrm flipV="1">
            <a:off x="3815769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 149"/>
          <p:cNvSpPr/>
          <p:nvPr/>
        </p:nvSpPr>
        <p:spPr>
          <a:xfrm>
            <a:off x="3958416" y="3225749"/>
            <a:ext cx="99060" cy="1000125"/>
          </a:xfrm>
          <a:prstGeom prst="rect">
            <a:avLst/>
          </a:prstGeom>
          <a:solidFill>
            <a:schemeClr val="accent4">
              <a:lumMod val="40000"/>
              <a:lumOff val="60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conv,64</a:t>
            </a:r>
          </a:p>
        </p:txBody>
      </p:sp>
      <p:cxnSp>
        <p:nvCxnSpPr>
          <p:cNvPr id="151" name="Straight Arrow Connector 150"/>
          <p:cNvCxnSpPr>
            <a:endCxn id="152" idx="1"/>
          </p:cNvCxnSpPr>
          <p:nvPr/>
        </p:nvCxnSpPr>
        <p:spPr>
          <a:xfrm flipV="1">
            <a:off x="4057476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/>
          <p:cNvSpPr/>
          <p:nvPr/>
        </p:nvSpPr>
        <p:spPr>
          <a:xfrm>
            <a:off x="4200123" y="3225749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39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conv,128, /2</a:t>
            </a:r>
          </a:p>
        </p:txBody>
      </p:sp>
      <p:cxnSp>
        <p:nvCxnSpPr>
          <p:cNvPr id="153" name="Straight Arrow Connector 152"/>
          <p:cNvCxnSpPr>
            <a:endCxn id="154" idx="1"/>
          </p:cNvCxnSpPr>
          <p:nvPr/>
        </p:nvCxnSpPr>
        <p:spPr>
          <a:xfrm flipV="1">
            <a:off x="4299183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/>
          <p:cNvSpPr/>
          <p:nvPr/>
        </p:nvSpPr>
        <p:spPr>
          <a:xfrm>
            <a:off x="4441830" y="3225749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39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conv,128</a:t>
            </a:r>
          </a:p>
        </p:txBody>
      </p:sp>
      <p:cxnSp>
        <p:nvCxnSpPr>
          <p:cNvPr id="155" name="Straight Arrow Connector 154"/>
          <p:cNvCxnSpPr>
            <a:endCxn id="156" idx="1"/>
          </p:cNvCxnSpPr>
          <p:nvPr/>
        </p:nvCxnSpPr>
        <p:spPr>
          <a:xfrm flipV="1">
            <a:off x="4544821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 155"/>
          <p:cNvSpPr/>
          <p:nvPr/>
        </p:nvSpPr>
        <p:spPr>
          <a:xfrm>
            <a:off x="4687468" y="3225749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39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conv,128</a:t>
            </a:r>
          </a:p>
        </p:txBody>
      </p:sp>
      <p:cxnSp>
        <p:nvCxnSpPr>
          <p:cNvPr id="157" name="Straight Arrow Connector 156"/>
          <p:cNvCxnSpPr>
            <a:endCxn id="158" idx="1"/>
          </p:cNvCxnSpPr>
          <p:nvPr/>
        </p:nvCxnSpPr>
        <p:spPr>
          <a:xfrm flipV="1">
            <a:off x="4786528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Rectangle 157"/>
          <p:cNvSpPr/>
          <p:nvPr/>
        </p:nvSpPr>
        <p:spPr>
          <a:xfrm>
            <a:off x="4929175" y="3225749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39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conv,128</a:t>
            </a:r>
          </a:p>
        </p:txBody>
      </p:sp>
      <p:cxnSp>
        <p:nvCxnSpPr>
          <p:cNvPr id="159" name="Straight Arrow Connector 158"/>
          <p:cNvCxnSpPr>
            <a:endCxn id="160" idx="1"/>
          </p:cNvCxnSpPr>
          <p:nvPr/>
        </p:nvCxnSpPr>
        <p:spPr>
          <a:xfrm flipV="1">
            <a:off x="5035259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 159"/>
          <p:cNvSpPr/>
          <p:nvPr/>
        </p:nvSpPr>
        <p:spPr>
          <a:xfrm>
            <a:off x="5177906" y="3225749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39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conv,128</a:t>
            </a:r>
          </a:p>
        </p:txBody>
      </p:sp>
      <p:cxnSp>
        <p:nvCxnSpPr>
          <p:cNvPr id="161" name="Straight Arrow Connector 160"/>
          <p:cNvCxnSpPr>
            <a:endCxn id="162" idx="1"/>
          </p:cNvCxnSpPr>
          <p:nvPr/>
        </p:nvCxnSpPr>
        <p:spPr>
          <a:xfrm flipV="1">
            <a:off x="5276966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/>
          <p:cNvSpPr/>
          <p:nvPr/>
        </p:nvSpPr>
        <p:spPr>
          <a:xfrm>
            <a:off x="5419613" y="3225749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39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conv,128</a:t>
            </a:r>
          </a:p>
        </p:txBody>
      </p:sp>
      <p:cxnSp>
        <p:nvCxnSpPr>
          <p:cNvPr id="163" name="Straight Arrow Connector 162"/>
          <p:cNvCxnSpPr>
            <a:endCxn id="164" idx="1"/>
          </p:cNvCxnSpPr>
          <p:nvPr/>
        </p:nvCxnSpPr>
        <p:spPr>
          <a:xfrm flipV="1">
            <a:off x="5518673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 163"/>
          <p:cNvSpPr/>
          <p:nvPr/>
        </p:nvSpPr>
        <p:spPr>
          <a:xfrm>
            <a:off x="5661320" y="3225749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39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conv,128</a:t>
            </a:r>
          </a:p>
        </p:txBody>
      </p:sp>
      <p:cxnSp>
        <p:nvCxnSpPr>
          <p:cNvPr id="165" name="Straight Arrow Connector 164"/>
          <p:cNvCxnSpPr>
            <a:endCxn id="166" idx="1"/>
          </p:cNvCxnSpPr>
          <p:nvPr/>
        </p:nvCxnSpPr>
        <p:spPr>
          <a:xfrm flipV="1">
            <a:off x="5767404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ctangle 165"/>
          <p:cNvSpPr/>
          <p:nvPr/>
        </p:nvSpPr>
        <p:spPr>
          <a:xfrm>
            <a:off x="5910051" y="3225749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39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conv,128</a:t>
            </a:r>
          </a:p>
        </p:txBody>
      </p:sp>
      <p:cxnSp>
        <p:nvCxnSpPr>
          <p:cNvPr id="167" name="Straight Arrow Connector 166"/>
          <p:cNvCxnSpPr>
            <a:endCxn id="168" idx="1"/>
          </p:cNvCxnSpPr>
          <p:nvPr/>
        </p:nvCxnSpPr>
        <p:spPr>
          <a:xfrm flipV="1">
            <a:off x="6015461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Rectangle 167"/>
          <p:cNvSpPr/>
          <p:nvPr/>
        </p:nvSpPr>
        <p:spPr>
          <a:xfrm>
            <a:off x="6158108" y="3225749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conv,256, /2</a:t>
            </a:r>
          </a:p>
        </p:txBody>
      </p:sp>
      <p:cxnSp>
        <p:nvCxnSpPr>
          <p:cNvPr id="169" name="Straight Arrow Connector 168"/>
          <p:cNvCxnSpPr>
            <a:endCxn id="170" idx="1"/>
          </p:cNvCxnSpPr>
          <p:nvPr/>
        </p:nvCxnSpPr>
        <p:spPr>
          <a:xfrm flipV="1">
            <a:off x="6263518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 169"/>
          <p:cNvSpPr/>
          <p:nvPr/>
        </p:nvSpPr>
        <p:spPr>
          <a:xfrm>
            <a:off x="6406165" y="3225749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171" name="Straight Arrow Connector 170"/>
          <p:cNvCxnSpPr>
            <a:endCxn id="172" idx="1"/>
          </p:cNvCxnSpPr>
          <p:nvPr/>
        </p:nvCxnSpPr>
        <p:spPr>
          <a:xfrm flipV="1">
            <a:off x="6505225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 171"/>
          <p:cNvSpPr/>
          <p:nvPr/>
        </p:nvSpPr>
        <p:spPr>
          <a:xfrm>
            <a:off x="6647872" y="3225749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173" name="Straight Arrow Connector 172"/>
          <p:cNvCxnSpPr>
            <a:endCxn id="174" idx="1"/>
          </p:cNvCxnSpPr>
          <p:nvPr/>
        </p:nvCxnSpPr>
        <p:spPr>
          <a:xfrm flipV="1">
            <a:off x="6746932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Rectangle 173"/>
          <p:cNvSpPr/>
          <p:nvPr/>
        </p:nvSpPr>
        <p:spPr>
          <a:xfrm>
            <a:off x="6889579" y="3225749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175" name="Straight Arrow Connector 174"/>
          <p:cNvCxnSpPr>
            <a:endCxn id="176" idx="1"/>
          </p:cNvCxnSpPr>
          <p:nvPr/>
        </p:nvCxnSpPr>
        <p:spPr>
          <a:xfrm flipV="1">
            <a:off x="6988639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Rectangle 175"/>
          <p:cNvSpPr/>
          <p:nvPr/>
        </p:nvSpPr>
        <p:spPr>
          <a:xfrm>
            <a:off x="7131286" y="3225749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177" name="Straight Arrow Connector 176"/>
          <p:cNvCxnSpPr>
            <a:endCxn id="178" idx="1"/>
          </p:cNvCxnSpPr>
          <p:nvPr/>
        </p:nvCxnSpPr>
        <p:spPr>
          <a:xfrm flipV="1">
            <a:off x="7230346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Rectangle 177"/>
          <p:cNvSpPr/>
          <p:nvPr/>
        </p:nvSpPr>
        <p:spPr>
          <a:xfrm>
            <a:off x="7372993" y="3225749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179" name="Straight Arrow Connector 178"/>
          <p:cNvCxnSpPr>
            <a:endCxn id="180" idx="1"/>
          </p:cNvCxnSpPr>
          <p:nvPr/>
        </p:nvCxnSpPr>
        <p:spPr>
          <a:xfrm flipV="1">
            <a:off x="7472053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ctangle 179"/>
          <p:cNvSpPr/>
          <p:nvPr/>
        </p:nvSpPr>
        <p:spPr>
          <a:xfrm>
            <a:off x="7614700" y="3225749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181" name="Straight Arrow Connector 180"/>
          <p:cNvCxnSpPr>
            <a:endCxn id="182" idx="1"/>
          </p:cNvCxnSpPr>
          <p:nvPr/>
        </p:nvCxnSpPr>
        <p:spPr>
          <a:xfrm flipV="1">
            <a:off x="7721439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Rectangle 181"/>
          <p:cNvSpPr/>
          <p:nvPr/>
        </p:nvSpPr>
        <p:spPr>
          <a:xfrm>
            <a:off x="7864086" y="3225749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183" name="Straight Arrow Connector 182"/>
          <p:cNvCxnSpPr>
            <a:endCxn id="184" idx="1"/>
          </p:cNvCxnSpPr>
          <p:nvPr/>
        </p:nvCxnSpPr>
        <p:spPr>
          <a:xfrm flipV="1">
            <a:off x="7963146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ectangle 183"/>
          <p:cNvSpPr/>
          <p:nvPr/>
        </p:nvSpPr>
        <p:spPr>
          <a:xfrm>
            <a:off x="8105793" y="3225749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185" name="Straight Arrow Connector 184"/>
          <p:cNvCxnSpPr>
            <a:endCxn id="186" idx="1"/>
          </p:cNvCxnSpPr>
          <p:nvPr/>
        </p:nvCxnSpPr>
        <p:spPr>
          <a:xfrm flipV="1">
            <a:off x="8204853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ectangle 185"/>
          <p:cNvSpPr/>
          <p:nvPr/>
        </p:nvSpPr>
        <p:spPr>
          <a:xfrm>
            <a:off x="8347500" y="3225749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187" name="Straight Arrow Connector 186"/>
          <p:cNvCxnSpPr>
            <a:endCxn id="188" idx="1"/>
          </p:cNvCxnSpPr>
          <p:nvPr/>
        </p:nvCxnSpPr>
        <p:spPr>
          <a:xfrm flipV="1">
            <a:off x="8454239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Rectangle 187"/>
          <p:cNvSpPr/>
          <p:nvPr/>
        </p:nvSpPr>
        <p:spPr>
          <a:xfrm>
            <a:off x="8596886" y="3225749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189" name="Straight Arrow Connector 188"/>
          <p:cNvCxnSpPr>
            <a:endCxn id="190" idx="1"/>
          </p:cNvCxnSpPr>
          <p:nvPr/>
        </p:nvCxnSpPr>
        <p:spPr>
          <a:xfrm flipV="1">
            <a:off x="8695946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Rectangle 189"/>
          <p:cNvSpPr/>
          <p:nvPr/>
        </p:nvSpPr>
        <p:spPr>
          <a:xfrm>
            <a:off x="8838593" y="3225749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191" name="Straight Arrow Connector 190"/>
          <p:cNvCxnSpPr>
            <a:endCxn id="192" idx="1"/>
          </p:cNvCxnSpPr>
          <p:nvPr/>
        </p:nvCxnSpPr>
        <p:spPr>
          <a:xfrm flipV="1">
            <a:off x="8937653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ctangle 191"/>
          <p:cNvSpPr/>
          <p:nvPr/>
        </p:nvSpPr>
        <p:spPr>
          <a:xfrm>
            <a:off x="9080300" y="3225749"/>
            <a:ext cx="99060" cy="1000125"/>
          </a:xfrm>
          <a:prstGeom prst="rect">
            <a:avLst/>
          </a:prstGeom>
          <a:solidFill>
            <a:schemeClr val="accent5">
              <a:lumMod val="75000"/>
              <a:alpha val="3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conv,512, /2</a:t>
            </a:r>
          </a:p>
        </p:txBody>
      </p:sp>
      <p:cxnSp>
        <p:nvCxnSpPr>
          <p:cNvPr id="193" name="Straight Arrow Connector 192"/>
          <p:cNvCxnSpPr>
            <a:endCxn id="194" idx="1"/>
          </p:cNvCxnSpPr>
          <p:nvPr/>
        </p:nvCxnSpPr>
        <p:spPr>
          <a:xfrm flipV="1">
            <a:off x="9179360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Rectangle 193"/>
          <p:cNvSpPr/>
          <p:nvPr/>
        </p:nvSpPr>
        <p:spPr>
          <a:xfrm>
            <a:off x="9322007" y="3225749"/>
            <a:ext cx="99060" cy="1000125"/>
          </a:xfrm>
          <a:prstGeom prst="rect">
            <a:avLst/>
          </a:prstGeom>
          <a:solidFill>
            <a:schemeClr val="accent5">
              <a:lumMod val="75000"/>
              <a:alpha val="3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</a:t>
            </a:r>
          </a:p>
        </p:txBody>
      </p:sp>
      <p:cxnSp>
        <p:nvCxnSpPr>
          <p:cNvPr id="195" name="Straight Arrow Connector 194"/>
          <p:cNvCxnSpPr>
            <a:endCxn id="196" idx="1"/>
          </p:cNvCxnSpPr>
          <p:nvPr/>
        </p:nvCxnSpPr>
        <p:spPr>
          <a:xfrm flipV="1">
            <a:off x="9421067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Rectangle 195"/>
          <p:cNvSpPr/>
          <p:nvPr/>
        </p:nvSpPr>
        <p:spPr>
          <a:xfrm>
            <a:off x="9563714" y="3225749"/>
            <a:ext cx="99060" cy="1000125"/>
          </a:xfrm>
          <a:prstGeom prst="rect">
            <a:avLst/>
          </a:prstGeom>
          <a:solidFill>
            <a:schemeClr val="accent5">
              <a:lumMod val="75000"/>
              <a:alpha val="3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</a:t>
            </a:r>
          </a:p>
        </p:txBody>
      </p:sp>
      <p:cxnSp>
        <p:nvCxnSpPr>
          <p:cNvPr id="197" name="Straight Arrow Connector 196"/>
          <p:cNvCxnSpPr>
            <a:endCxn id="198" idx="1"/>
          </p:cNvCxnSpPr>
          <p:nvPr/>
        </p:nvCxnSpPr>
        <p:spPr>
          <a:xfrm flipV="1">
            <a:off x="9662869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ectangle 197"/>
          <p:cNvSpPr/>
          <p:nvPr/>
        </p:nvSpPr>
        <p:spPr>
          <a:xfrm>
            <a:off x="9805516" y="3225749"/>
            <a:ext cx="99060" cy="1000125"/>
          </a:xfrm>
          <a:prstGeom prst="rect">
            <a:avLst/>
          </a:prstGeom>
          <a:solidFill>
            <a:schemeClr val="accent5">
              <a:lumMod val="75000"/>
              <a:alpha val="3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</a:t>
            </a:r>
          </a:p>
        </p:txBody>
      </p:sp>
      <p:cxnSp>
        <p:nvCxnSpPr>
          <p:cNvPr id="199" name="Straight Arrow Connector 198"/>
          <p:cNvCxnSpPr>
            <a:endCxn id="200" idx="1"/>
          </p:cNvCxnSpPr>
          <p:nvPr/>
        </p:nvCxnSpPr>
        <p:spPr>
          <a:xfrm flipV="1">
            <a:off x="9904576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Rectangle 199"/>
          <p:cNvSpPr/>
          <p:nvPr/>
        </p:nvSpPr>
        <p:spPr>
          <a:xfrm>
            <a:off x="10047223" y="3225749"/>
            <a:ext cx="99060" cy="1000125"/>
          </a:xfrm>
          <a:prstGeom prst="rect">
            <a:avLst/>
          </a:prstGeom>
          <a:solidFill>
            <a:schemeClr val="accent5">
              <a:lumMod val="75000"/>
              <a:alpha val="3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</a:t>
            </a:r>
          </a:p>
        </p:txBody>
      </p:sp>
      <p:cxnSp>
        <p:nvCxnSpPr>
          <p:cNvPr id="201" name="Straight Arrow Connector 200"/>
          <p:cNvCxnSpPr>
            <a:endCxn id="202" idx="1"/>
          </p:cNvCxnSpPr>
          <p:nvPr/>
        </p:nvCxnSpPr>
        <p:spPr>
          <a:xfrm flipV="1">
            <a:off x="10146283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ectangle 201"/>
          <p:cNvSpPr/>
          <p:nvPr/>
        </p:nvSpPr>
        <p:spPr>
          <a:xfrm>
            <a:off x="10288930" y="3225749"/>
            <a:ext cx="99060" cy="1000125"/>
          </a:xfrm>
          <a:prstGeom prst="rect">
            <a:avLst/>
          </a:prstGeom>
          <a:solidFill>
            <a:schemeClr val="accent5">
              <a:lumMod val="75000"/>
              <a:alpha val="3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</a:t>
            </a:r>
          </a:p>
        </p:txBody>
      </p:sp>
      <p:cxnSp>
        <p:nvCxnSpPr>
          <p:cNvPr id="203" name="Straight Arrow Connector 202"/>
          <p:cNvCxnSpPr/>
          <p:nvPr/>
        </p:nvCxnSpPr>
        <p:spPr>
          <a:xfrm flipV="1">
            <a:off x="10388085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10459408" y="3414606"/>
            <a:ext cx="346249" cy="62240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50" b="1" dirty="0" err="1"/>
              <a:t>avg</a:t>
            </a:r>
            <a:r>
              <a:rPr lang="en-IN" sz="1050" b="1" dirty="0"/>
              <a:t> pool</a:t>
            </a:r>
          </a:p>
        </p:txBody>
      </p:sp>
      <p:cxnSp>
        <p:nvCxnSpPr>
          <p:cNvPr id="205" name="Straight Arrow Connector 204"/>
          <p:cNvCxnSpPr>
            <a:endCxn id="206" idx="1"/>
          </p:cNvCxnSpPr>
          <p:nvPr/>
        </p:nvCxnSpPr>
        <p:spPr>
          <a:xfrm flipV="1">
            <a:off x="10758115" y="3725812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Rectangle 205"/>
          <p:cNvSpPr/>
          <p:nvPr/>
        </p:nvSpPr>
        <p:spPr>
          <a:xfrm>
            <a:off x="10900762" y="3225749"/>
            <a:ext cx="99060" cy="1000125"/>
          </a:xfrm>
          <a:prstGeom prst="rect">
            <a:avLst/>
          </a:prstGeom>
          <a:solidFill>
            <a:srgbClr val="FFFF00">
              <a:alpha val="39000"/>
            </a:srgb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FC 1000</a:t>
            </a:r>
          </a:p>
        </p:txBody>
      </p:sp>
      <p:grpSp>
        <p:nvGrpSpPr>
          <p:cNvPr id="224" name="Group 223"/>
          <p:cNvGrpSpPr/>
          <p:nvPr/>
        </p:nvGrpSpPr>
        <p:grpSpPr>
          <a:xfrm>
            <a:off x="3144916" y="1512965"/>
            <a:ext cx="492354" cy="747390"/>
            <a:chOff x="2590483" y="1013334"/>
            <a:chExt cx="492354" cy="747390"/>
          </a:xfrm>
        </p:grpSpPr>
        <p:cxnSp>
          <p:nvCxnSpPr>
            <p:cNvPr id="225" name="Straight Arrow Connector 224"/>
            <p:cNvCxnSpPr/>
            <p:nvPr/>
          </p:nvCxnSpPr>
          <p:spPr>
            <a:xfrm>
              <a:off x="2804771" y="1013334"/>
              <a:ext cx="75405" cy="2380"/>
            </a:xfrm>
            <a:prstGeom prst="straightConnector1">
              <a:avLst/>
            </a:prstGeom>
            <a:noFill/>
            <a:ln w="15875" cap="flat">
              <a:miter lim="800000"/>
              <a:headEnd type="none"/>
              <a:tailEnd type="triangle" w="lg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6" name="Freeform 225"/>
            <p:cNvSpPr/>
            <p:nvPr/>
          </p:nvSpPr>
          <p:spPr>
            <a:xfrm>
              <a:off x="2590483" y="1014344"/>
              <a:ext cx="492354" cy="746380"/>
            </a:xfrm>
            <a:custGeom>
              <a:avLst/>
              <a:gdLst>
                <a:gd name="connsiteX0" fmla="*/ 0 w 495300"/>
                <a:gd name="connsiteY0" fmla="*/ 1166988 h 1166988"/>
                <a:gd name="connsiteX1" fmla="*/ 80963 w 495300"/>
                <a:gd name="connsiteY1" fmla="*/ 152576 h 1166988"/>
                <a:gd name="connsiteX2" fmla="*/ 352425 w 495300"/>
                <a:gd name="connsiteY2" fmla="*/ 109713 h 1166988"/>
                <a:gd name="connsiteX3" fmla="*/ 495300 w 495300"/>
                <a:gd name="connsiteY3" fmla="*/ 1166988 h 1166988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3711"/>
                <a:gd name="connsiteY0" fmla="*/ 1089709 h 1089709"/>
                <a:gd name="connsiteX1" fmla="*/ 80963 w 473711"/>
                <a:gd name="connsiteY1" fmla="*/ 75297 h 1089709"/>
                <a:gd name="connsiteX2" fmla="*/ 431143 w 473711"/>
                <a:gd name="connsiteY2" fmla="*/ 187216 h 1089709"/>
                <a:gd name="connsiteX3" fmla="*/ 472147 w 473711"/>
                <a:gd name="connsiteY3" fmla="*/ 1082565 h 1089709"/>
                <a:gd name="connsiteX0" fmla="*/ 0 w 475182"/>
                <a:gd name="connsiteY0" fmla="*/ 1002035 h 1002035"/>
                <a:gd name="connsiteX1" fmla="*/ 55496 w 475182"/>
                <a:gd name="connsiteY1" fmla="*/ 123354 h 1002035"/>
                <a:gd name="connsiteX2" fmla="*/ 431143 w 475182"/>
                <a:gd name="connsiteY2" fmla="*/ 99542 h 1002035"/>
                <a:gd name="connsiteX3" fmla="*/ 472147 w 475182"/>
                <a:gd name="connsiteY3" fmla="*/ 994891 h 1002035"/>
                <a:gd name="connsiteX0" fmla="*/ 0 w 478698"/>
                <a:gd name="connsiteY0" fmla="*/ 988071 h 988071"/>
                <a:gd name="connsiteX1" fmla="*/ 55496 w 478698"/>
                <a:gd name="connsiteY1" fmla="*/ 109390 h 988071"/>
                <a:gd name="connsiteX2" fmla="*/ 438089 w 478698"/>
                <a:gd name="connsiteY2" fmla="*/ 109390 h 988071"/>
                <a:gd name="connsiteX3" fmla="*/ 472147 w 478698"/>
                <a:gd name="connsiteY3" fmla="*/ 980927 h 988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698" h="988071">
                  <a:moveTo>
                    <a:pt x="0" y="988071"/>
                  </a:moveTo>
                  <a:cubicBezTo>
                    <a:pt x="11113" y="568971"/>
                    <a:pt x="-17519" y="255837"/>
                    <a:pt x="55496" y="109390"/>
                  </a:cubicBezTo>
                  <a:cubicBezTo>
                    <a:pt x="128511" y="-37057"/>
                    <a:pt x="368647" y="-35866"/>
                    <a:pt x="438089" y="109390"/>
                  </a:cubicBezTo>
                  <a:cubicBezTo>
                    <a:pt x="507531" y="254646"/>
                    <a:pt x="465334" y="539205"/>
                    <a:pt x="472147" y="980927"/>
                  </a:cubicBezTo>
                </a:path>
              </a:pathLst>
            </a:custGeom>
            <a:noFill/>
            <a:ln w="15875" cap="flat">
              <a:miter lim="800000"/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27" name="Group 226"/>
          <p:cNvGrpSpPr/>
          <p:nvPr/>
        </p:nvGrpSpPr>
        <p:grpSpPr>
          <a:xfrm>
            <a:off x="3626811" y="1512965"/>
            <a:ext cx="492354" cy="747390"/>
            <a:chOff x="2590483" y="1013334"/>
            <a:chExt cx="492354" cy="747390"/>
          </a:xfrm>
        </p:grpSpPr>
        <p:cxnSp>
          <p:nvCxnSpPr>
            <p:cNvPr id="228" name="Straight Arrow Connector 227"/>
            <p:cNvCxnSpPr/>
            <p:nvPr/>
          </p:nvCxnSpPr>
          <p:spPr>
            <a:xfrm>
              <a:off x="2804771" y="1013334"/>
              <a:ext cx="75405" cy="2380"/>
            </a:xfrm>
            <a:prstGeom prst="straightConnector1">
              <a:avLst/>
            </a:prstGeom>
            <a:noFill/>
            <a:ln w="15875" cap="flat">
              <a:miter lim="800000"/>
              <a:headEnd type="none"/>
              <a:tailEnd type="triangle" w="lg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9" name="Freeform 228"/>
            <p:cNvSpPr/>
            <p:nvPr/>
          </p:nvSpPr>
          <p:spPr>
            <a:xfrm>
              <a:off x="2590483" y="1014344"/>
              <a:ext cx="492354" cy="746380"/>
            </a:xfrm>
            <a:custGeom>
              <a:avLst/>
              <a:gdLst>
                <a:gd name="connsiteX0" fmla="*/ 0 w 495300"/>
                <a:gd name="connsiteY0" fmla="*/ 1166988 h 1166988"/>
                <a:gd name="connsiteX1" fmla="*/ 80963 w 495300"/>
                <a:gd name="connsiteY1" fmla="*/ 152576 h 1166988"/>
                <a:gd name="connsiteX2" fmla="*/ 352425 w 495300"/>
                <a:gd name="connsiteY2" fmla="*/ 109713 h 1166988"/>
                <a:gd name="connsiteX3" fmla="*/ 495300 w 495300"/>
                <a:gd name="connsiteY3" fmla="*/ 1166988 h 1166988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3711"/>
                <a:gd name="connsiteY0" fmla="*/ 1089709 h 1089709"/>
                <a:gd name="connsiteX1" fmla="*/ 80963 w 473711"/>
                <a:gd name="connsiteY1" fmla="*/ 75297 h 1089709"/>
                <a:gd name="connsiteX2" fmla="*/ 431143 w 473711"/>
                <a:gd name="connsiteY2" fmla="*/ 187216 h 1089709"/>
                <a:gd name="connsiteX3" fmla="*/ 472147 w 473711"/>
                <a:gd name="connsiteY3" fmla="*/ 1082565 h 1089709"/>
                <a:gd name="connsiteX0" fmla="*/ 0 w 475182"/>
                <a:gd name="connsiteY0" fmla="*/ 1002035 h 1002035"/>
                <a:gd name="connsiteX1" fmla="*/ 55496 w 475182"/>
                <a:gd name="connsiteY1" fmla="*/ 123354 h 1002035"/>
                <a:gd name="connsiteX2" fmla="*/ 431143 w 475182"/>
                <a:gd name="connsiteY2" fmla="*/ 99542 h 1002035"/>
                <a:gd name="connsiteX3" fmla="*/ 472147 w 475182"/>
                <a:gd name="connsiteY3" fmla="*/ 994891 h 1002035"/>
                <a:gd name="connsiteX0" fmla="*/ 0 w 478698"/>
                <a:gd name="connsiteY0" fmla="*/ 988071 h 988071"/>
                <a:gd name="connsiteX1" fmla="*/ 55496 w 478698"/>
                <a:gd name="connsiteY1" fmla="*/ 109390 h 988071"/>
                <a:gd name="connsiteX2" fmla="*/ 438089 w 478698"/>
                <a:gd name="connsiteY2" fmla="*/ 109390 h 988071"/>
                <a:gd name="connsiteX3" fmla="*/ 472147 w 478698"/>
                <a:gd name="connsiteY3" fmla="*/ 980927 h 988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698" h="988071">
                  <a:moveTo>
                    <a:pt x="0" y="988071"/>
                  </a:moveTo>
                  <a:cubicBezTo>
                    <a:pt x="11113" y="568971"/>
                    <a:pt x="-17519" y="255837"/>
                    <a:pt x="55496" y="109390"/>
                  </a:cubicBezTo>
                  <a:cubicBezTo>
                    <a:pt x="128511" y="-37057"/>
                    <a:pt x="368647" y="-35866"/>
                    <a:pt x="438089" y="109390"/>
                  </a:cubicBezTo>
                  <a:cubicBezTo>
                    <a:pt x="507531" y="254646"/>
                    <a:pt x="465334" y="539205"/>
                    <a:pt x="472147" y="980927"/>
                  </a:cubicBezTo>
                </a:path>
              </a:pathLst>
            </a:custGeom>
            <a:noFill/>
            <a:ln w="15875" cap="flat">
              <a:miter lim="800000"/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30" name="Group 229"/>
          <p:cNvGrpSpPr/>
          <p:nvPr/>
        </p:nvGrpSpPr>
        <p:grpSpPr>
          <a:xfrm>
            <a:off x="4108830" y="1508215"/>
            <a:ext cx="492354" cy="747390"/>
            <a:chOff x="2590483" y="1013334"/>
            <a:chExt cx="492354" cy="747390"/>
          </a:xfrm>
        </p:grpSpPr>
        <p:cxnSp>
          <p:nvCxnSpPr>
            <p:cNvPr id="231" name="Straight Arrow Connector 230"/>
            <p:cNvCxnSpPr/>
            <p:nvPr/>
          </p:nvCxnSpPr>
          <p:spPr>
            <a:xfrm>
              <a:off x="2804771" y="1013334"/>
              <a:ext cx="75405" cy="2380"/>
            </a:xfrm>
            <a:prstGeom prst="straightConnector1">
              <a:avLst/>
            </a:prstGeom>
            <a:noFill/>
            <a:ln w="15875" cap="flat">
              <a:prstDash val="sysDash"/>
              <a:miter lim="800000"/>
              <a:headEnd type="none"/>
              <a:tailEnd type="triangle" w="lg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32" name="Freeform 231"/>
            <p:cNvSpPr/>
            <p:nvPr/>
          </p:nvSpPr>
          <p:spPr>
            <a:xfrm>
              <a:off x="2590483" y="1014344"/>
              <a:ext cx="492354" cy="746380"/>
            </a:xfrm>
            <a:custGeom>
              <a:avLst/>
              <a:gdLst>
                <a:gd name="connsiteX0" fmla="*/ 0 w 495300"/>
                <a:gd name="connsiteY0" fmla="*/ 1166988 h 1166988"/>
                <a:gd name="connsiteX1" fmla="*/ 80963 w 495300"/>
                <a:gd name="connsiteY1" fmla="*/ 152576 h 1166988"/>
                <a:gd name="connsiteX2" fmla="*/ 352425 w 495300"/>
                <a:gd name="connsiteY2" fmla="*/ 109713 h 1166988"/>
                <a:gd name="connsiteX3" fmla="*/ 495300 w 495300"/>
                <a:gd name="connsiteY3" fmla="*/ 1166988 h 1166988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3711"/>
                <a:gd name="connsiteY0" fmla="*/ 1089709 h 1089709"/>
                <a:gd name="connsiteX1" fmla="*/ 80963 w 473711"/>
                <a:gd name="connsiteY1" fmla="*/ 75297 h 1089709"/>
                <a:gd name="connsiteX2" fmla="*/ 431143 w 473711"/>
                <a:gd name="connsiteY2" fmla="*/ 187216 h 1089709"/>
                <a:gd name="connsiteX3" fmla="*/ 472147 w 473711"/>
                <a:gd name="connsiteY3" fmla="*/ 1082565 h 1089709"/>
                <a:gd name="connsiteX0" fmla="*/ 0 w 475182"/>
                <a:gd name="connsiteY0" fmla="*/ 1002035 h 1002035"/>
                <a:gd name="connsiteX1" fmla="*/ 55496 w 475182"/>
                <a:gd name="connsiteY1" fmla="*/ 123354 h 1002035"/>
                <a:gd name="connsiteX2" fmla="*/ 431143 w 475182"/>
                <a:gd name="connsiteY2" fmla="*/ 99542 h 1002035"/>
                <a:gd name="connsiteX3" fmla="*/ 472147 w 475182"/>
                <a:gd name="connsiteY3" fmla="*/ 994891 h 1002035"/>
                <a:gd name="connsiteX0" fmla="*/ 0 w 478698"/>
                <a:gd name="connsiteY0" fmla="*/ 988071 h 988071"/>
                <a:gd name="connsiteX1" fmla="*/ 55496 w 478698"/>
                <a:gd name="connsiteY1" fmla="*/ 109390 h 988071"/>
                <a:gd name="connsiteX2" fmla="*/ 438089 w 478698"/>
                <a:gd name="connsiteY2" fmla="*/ 109390 h 988071"/>
                <a:gd name="connsiteX3" fmla="*/ 472147 w 478698"/>
                <a:gd name="connsiteY3" fmla="*/ 980927 h 988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698" h="988071">
                  <a:moveTo>
                    <a:pt x="0" y="988071"/>
                  </a:moveTo>
                  <a:cubicBezTo>
                    <a:pt x="11113" y="568971"/>
                    <a:pt x="-17519" y="255837"/>
                    <a:pt x="55496" y="109390"/>
                  </a:cubicBezTo>
                  <a:cubicBezTo>
                    <a:pt x="128511" y="-37057"/>
                    <a:pt x="368647" y="-35866"/>
                    <a:pt x="438089" y="109390"/>
                  </a:cubicBezTo>
                  <a:cubicBezTo>
                    <a:pt x="507531" y="254646"/>
                    <a:pt x="465334" y="539205"/>
                    <a:pt x="472147" y="980927"/>
                  </a:cubicBezTo>
                </a:path>
              </a:pathLst>
            </a:custGeom>
            <a:noFill/>
            <a:ln w="15875" cap="flat">
              <a:prstDash val="sysDash"/>
              <a:miter lim="800000"/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33" name="Group 232"/>
          <p:cNvGrpSpPr/>
          <p:nvPr/>
        </p:nvGrpSpPr>
        <p:grpSpPr>
          <a:xfrm>
            <a:off x="4603703" y="1512939"/>
            <a:ext cx="492354" cy="747390"/>
            <a:chOff x="2590483" y="1013334"/>
            <a:chExt cx="492354" cy="747390"/>
          </a:xfrm>
        </p:grpSpPr>
        <p:cxnSp>
          <p:nvCxnSpPr>
            <p:cNvPr id="234" name="Straight Arrow Connector 233"/>
            <p:cNvCxnSpPr/>
            <p:nvPr/>
          </p:nvCxnSpPr>
          <p:spPr>
            <a:xfrm>
              <a:off x="2804771" y="1013334"/>
              <a:ext cx="75405" cy="2380"/>
            </a:xfrm>
            <a:prstGeom prst="straightConnector1">
              <a:avLst/>
            </a:prstGeom>
            <a:noFill/>
            <a:ln w="15875" cap="flat">
              <a:miter lim="800000"/>
              <a:headEnd type="none"/>
              <a:tailEnd type="triangle" w="lg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35" name="Freeform 234"/>
            <p:cNvSpPr/>
            <p:nvPr/>
          </p:nvSpPr>
          <p:spPr>
            <a:xfrm>
              <a:off x="2590483" y="1014344"/>
              <a:ext cx="492354" cy="746380"/>
            </a:xfrm>
            <a:custGeom>
              <a:avLst/>
              <a:gdLst>
                <a:gd name="connsiteX0" fmla="*/ 0 w 495300"/>
                <a:gd name="connsiteY0" fmla="*/ 1166988 h 1166988"/>
                <a:gd name="connsiteX1" fmla="*/ 80963 w 495300"/>
                <a:gd name="connsiteY1" fmla="*/ 152576 h 1166988"/>
                <a:gd name="connsiteX2" fmla="*/ 352425 w 495300"/>
                <a:gd name="connsiteY2" fmla="*/ 109713 h 1166988"/>
                <a:gd name="connsiteX3" fmla="*/ 495300 w 495300"/>
                <a:gd name="connsiteY3" fmla="*/ 1166988 h 1166988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3711"/>
                <a:gd name="connsiteY0" fmla="*/ 1089709 h 1089709"/>
                <a:gd name="connsiteX1" fmla="*/ 80963 w 473711"/>
                <a:gd name="connsiteY1" fmla="*/ 75297 h 1089709"/>
                <a:gd name="connsiteX2" fmla="*/ 431143 w 473711"/>
                <a:gd name="connsiteY2" fmla="*/ 187216 h 1089709"/>
                <a:gd name="connsiteX3" fmla="*/ 472147 w 473711"/>
                <a:gd name="connsiteY3" fmla="*/ 1082565 h 1089709"/>
                <a:gd name="connsiteX0" fmla="*/ 0 w 475182"/>
                <a:gd name="connsiteY0" fmla="*/ 1002035 h 1002035"/>
                <a:gd name="connsiteX1" fmla="*/ 55496 w 475182"/>
                <a:gd name="connsiteY1" fmla="*/ 123354 h 1002035"/>
                <a:gd name="connsiteX2" fmla="*/ 431143 w 475182"/>
                <a:gd name="connsiteY2" fmla="*/ 99542 h 1002035"/>
                <a:gd name="connsiteX3" fmla="*/ 472147 w 475182"/>
                <a:gd name="connsiteY3" fmla="*/ 994891 h 1002035"/>
                <a:gd name="connsiteX0" fmla="*/ 0 w 478698"/>
                <a:gd name="connsiteY0" fmla="*/ 988071 h 988071"/>
                <a:gd name="connsiteX1" fmla="*/ 55496 w 478698"/>
                <a:gd name="connsiteY1" fmla="*/ 109390 h 988071"/>
                <a:gd name="connsiteX2" fmla="*/ 438089 w 478698"/>
                <a:gd name="connsiteY2" fmla="*/ 109390 h 988071"/>
                <a:gd name="connsiteX3" fmla="*/ 472147 w 478698"/>
                <a:gd name="connsiteY3" fmla="*/ 980927 h 988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698" h="988071">
                  <a:moveTo>
                    <a:pt x="0" y="988071"/>
                  </a:moveTo>
                  <a:cubicBezTo>
                    <a:pt x="11113" y="568971"/>
                    <a:pt x="-17519" y="255837"/>
                    <a:pt x="55496" y="109390"/>
                  </a:cubicBezTo>
                  <a:cubicBezTo>
                    <a:pt x="128511" y="-37057"/>
                    <a:pt x="368647" y="-35866"/>
                    <a:pt x="438089" y="109390"/>
                  </a:cubicBezTo>
                  <a:cubicBezTo>
                    <a:pt x="507531" y="254646"/>
                    <a:pt x="465334" y="539205"/>
                    <a:pt x="472147" y="980927"/>
                  </a:cubicBezTo>
                </a:path>
              </a:pathLst>
            </a:custGeom>
            <a:noFill/>
            <a:ln w="15875" cap="flat">
              <a:miter lim="800000"/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36" name="Group 235"/>
          <p:cNvGrpSpPr/>
          <p:nvPr/>
        </p:nvGrpSpPr>
        <p:grpSpPr>
          <a:xfrm>
            <a:off x="5086072" y="1514327"/>
            <a:ext cx="492354" cy="747390"/>
            <a:chOff x="2590483" y="1013334"/>
            <a:chExt cx="492354" cy="747390"/>
          </a:xfrm>
        </p:grpSpPr>
        <p:cxnSp>
          <p:nvCxnSpPr>
            <p:cNvPr id="237" name="Straight Arrow Connector 236"/>
            <p:cNvCxnSpPr/>
            <p:nvPr/>
          </p:nvCxnSpPr>
          <p:spPr>
            <a:xfrm>
              <a:off x="2804771" y="1013334"/>
              <a:ext cx="75405" cy="2380"/>
            </a:xfrm>
            <a:prstGeom prst="straightConnector1">
              <a:avLst/>
            </a:prstGeom>
            <a:noFill/>
            <a:ln w="15875" cap="flat">
              <a:miter lim="800000"/>
              <a:headEnd type="none"/>
              <a:tailEnd type="triangle" w="lg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38" name="Freeform 237"/>
            <p:cNvSpPr/>
            <p:nvPr/>
          </p:nvSpPr>
          <p:spPr>
            <a:xfrm>
              <a:off x="2590483" y="1014344"/>
              <a:ext cx="492354" cy="746380"/>
            </a:xfrm>
            <a:custGeom>
              <a:avLst/>
              <a:gdLst>
                <a:gd name="connsiteX0" fmla="*/ 0 w 495300"/>
                <a:gd name="connsiteY0" fmla="*/ 1166988 h 1166988"/>
                <a:gd name="connsiteX1" fmla="*/ 80963 w 495300"/>
                <a:gd name="connsiteY1" fmla="*/ 152576 h 1166988"/>
                <a:gd name="connsiteX2" fmla="*/ 352425 w 495300"/>
                <a:gd name="connsiteY2" fmla="*/ 109713 h 1166988"/>
                <a:gd name="connsiteX3" fmla="*/ 495300 w 495300"/>
                <a:gd name="connsiteY3" fmla="*/ 1166988 h 1166988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3711"/>
                <a:gd name="connsiteY0" fmla="*/ 1089709 h 1089709"/>
                <a:gd name="connsiteX1" fmla="*/ 80963 w 473711"/>
                <a:gd name="connsiteY1" fmla="*/ 75297 h 1089709"/>
                <a:gd name="connsiteX2" fmla="*/ 431143 w 473711"/>
                <a:gd name="connsiteY2" fmla="*/ 187216 h 1089709"/>
                <a:gd name="connsiteX3" fmla="*/ 472147 w 473711"/>
                <a:gd name="connsiteY3" fmla="*/ 1082565 h 1089709"/>
                <a:gd name="connsiteX0" fmla="*/ 0 w 475182"/>
                <a:gd name="connsiteY0" fmla="*/ 1002035 h 1002035"/>
                <a:gd name="connsiteX1" fmla="*/ 55496 w 475182"/>
                <a:gd name="connsiteY1" fmla="*/ 123354 h 1002035"/>
                <a:gd name="connsiteX2" fmla="*/ 431143 w 475182"/>
                <a:gd name="connsiteY2" fmla="*/ 99542 h 1002035"/>
                <a:gd name="connsiteX3" fmla="*/ 472147 w 475182"/>
                <a:gd name="connsiteY3" fmla="*/ 994891 h 1002035"/>
                <a:gd name="connsiteX0" fmla="*/ 0 w 478698"/>
                <a:gd name="connsiteY0" fmla="*/ 988071 h 988071"/>
                <a:gd name="connsiteX1" fmla="*/ 55496 w 478698"/>
                <a:gd name="connsiteY1" fmla="*/ 109390 h 988071"/>
                <a:gd name="connsiteX2" fmla="*/ 438089 w 478698"/>
                <a:gd name="connsiteY2" fmla="*/ 109390 h 988071"/>
                <a:gd name="connsiteX3" fmla="*/ 472147 w 478698"/>
                <a:gd name="connsiteY3" fmla="*/ 980927 h 988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698" h="988071">
                  <a:moveTo>
                    <a:pt x="0" y="988071"/>
                  </a:moveTo>
                  <a:cubicBezTo>
                    <a:pt x="11113" y="568971"/>
                    <a:pt x="-17519" y="255837"/>
                    <a:pt x="55496" y="109390"/>
                  </a:cubicBezTo>
                  <a:cubicBezTo>
                    <a:pt x="128511" y="-37057"/>
                    <a:pt x="368647" y="-35866"/>
                    <a:pt x="438089" y="109390"/>
                  </a:cubicBezTo>
                  <a:cubicBezTo>
                    <a:pt x="507531" y="254646"/>
                    <a:pt x="465334" y="539205"/>
                    <a:pt x="472147" y="980927"/>
                  </a:cubicBezTo>
                </a:path>
              </a:pathLst>
            </a:custGeom>
            <a:noFill/>
            <a:ln w="15875" cap="flat">
              <a:miter lim="800000"/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39" name="Group 238"/>
          <p:cNvGrpSpPr/>
          <p:nvPr/>
        </p:nvGrpSpPr>
        <p:grpSpPr>
          <a:xfrm>
            <a:off x="5575395" y="1508215"/>
            <a:ext cx="492354" cy="747390"/>
            <a:chOff x="2590483" y="1013334"/>
            <a:chExt cx="492354" cy="747390"/>
          </a:xfrm>
        </p:grpSpPr>
        <p:cxnSp>
          <p:nvCxnSpPr>
            <p:cNvPr id="240" name="Straight Arrow Connector 239"/>
            <p:cNvCxnSpPr/>
            <p:nvPr/>
          </p:nvCxnSpPr>
          <p:spPr>
            <a:xfrm>
              <a:off x="2804771" y="1013334"/>
              <a:ext cx="75405" cy="2380"/>
            </a:xfrm>
            <a:prstGeom prst="straightConnector1">
              <a:avLst/>
            </a:prstGeom>
            <a:noFill/>
            <a:ln w="15875" cap="flat">
              <a:miter lim="800000"/>
              <a:headEnd type="none"/>
              <a:tailEnd type="triangle" w="lg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41" name="Freeform 240"/>
            <p:cNvSpPr/>
            <p:nvPr/>
          </p:nvSpPr>
          <p:spPr>
            <a:xfrm>
              <a:off x="2590483" y="1014344"/>
              <a:ext cx="492354" cy="746380"/>
            </a:xfrm>
            <a:custGeom>
              <a:avLst/>
              <a:gdLst>
                <a:gd name="connsiteX0" fmla="*/ 0 w 495300"/>
                <a:gd name="connsiteY0" fmla="*/ 1166988 h 1166988"/>
                <a:gd name="connsiteX1" fmla="*/ 80963 w 495300"/>
                <a:gd name="connsiteY1" fmla="*/ 152576 h 1166988"/>
                <a:gd name="connsiteX2" fmla="*/ 352425 w 495300"/>
                <a:gd name="connsiteY2" fmla="*/ 109713 h 1166988"/>
                <a:gd name="connsiteX3" fmla="*/ 495300 w 495300"/>
                <a:gd name="connsiteY3" fmla="*/ 1166988 h 1166988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3711"/>
                <a:gd name="connsiteY0" fmla="*/ 1089709 h 1089709"/>
                <a:gd name="connsiteX1" fmla="*/ 80963 w 473711"/>
                <a:gd name="connsiteY1" fmla="*/ 75297 h 1089709"/>
                <a:gd name="connsiteX2" fmla="*/ 431143 w 473711"/>
                <a:gd name="connsiteY2" fmla="*/ 187216 h 1089709"/>
                <a:gd name="connsiteX3" fmla="*/ 472147 w 473711"/>
                <a:gd name="connsiteY3" fmla="*/ 1082565 h 1089709"/>
                <a:gd name="connsiteX0" fmla="*/ 0 w 475182"/>
                <a:gd name="connsiteY0" fmla="*/ 1002035 h 1002035"/>
                <a:gd name="connsiteX1" fmla="*/ 55496 w 475182"/>
                <a:gd name="connsiteY1" fmla="*/ 123354 h 1002035"/>
                <a:gd name="connsiteX2" fmla="*/ 431143 w 475182"/>
                <a:gd name="connsiteY2" fmla="*/ 99542 h 1002035"/>
                <a:gd name="connsiteX3" fmla="*/ 472147 w 475182"/>
                <a:gd name="connsiteY3" fmla="*/ 994891 h 1002035"/>
                <a:gd name="connsiteX0" fmla="*/ 0 w 478698"/>
                <a:gd name="connsiteY0" fmla="*/ 988071 h 988071"/>
                <a:gd name="connsiteX1" fmla="*/ 55496 w 478698"/>
                <a:gd name="connsiteY1" fmla="*/ 109390 h 988071"/>
                <a:gd name="connsiteX2" fmla="*/ 438089 w 478698"/>
                <a:gd name="connsiteY2" fmla="*/ 109390 h 988071"/>
                <a:gd name="connsiteX3" fmla="*/ 472147 w 478698"/>
                <a:gd name="connsiteY3" fmla="*/ 980927 h 988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698" h="988071">
                  <a:moveTo>
                    <a:pt x="0" y="988071"/>
                  </a:moveTo>
                  <a:cubicBezTo>
                    <a:pt x="11113" y="568971"/>
                    <a:pt x="-17519" y="255837"/>
                    <a:pt x="55496" y="109390"/>
                  </a:cubicBezTo>
                  <a:cubicBezTo>
                    <a:pt x="128511" y="-37057"/>
                    <a:pt x="368647" y="-35866"/>
                    <a:pt x="438089" y="109390"/>
                  </a:cubicBezTo>
                  <a:cubicBezTo>
                    <a:pt x="507531" y="254646"/>
                    <a:pt x="465334" y="539205"/>
                    <a:pt x="472147" y="980927"/>
                  </a:cubicBezTo>
                </a:path>
              </a:pathLst>
            </a:custGeom>
            <a:noFill/>
            <a:ln w="15875" cap="flat">
              <a:miter lim="800000"/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42" name="Group 241"/>
          <p:cNvGrpSpPr/>
          <p:nvPr/>
        </p:nvGrpSpPr>
        <p:grpSpPr>
          <a:xfrm>
            <a:off x="6058250" y="1508215"/>
            <a:ext cx="492354" cy="747390"/>
            <a:chOff x="2590483" y="1013334"/>
            <a:chExt cx="492354" cy="747390"/>
          </a:xfrm>
        </p:grpSpPr>
        <p:cxnSp>
          <p:nvCxnSpPr>
            <p:cNvPr id="243" name="Straight Arrow Connector 242"/>
            <p:cNvCxnSpPr/>
            <p:nvPr/>
          </p:nvCxnSpPr>
          <p:spPr>
            <a:xfrm>
              <a:off x="2804771" y="1013334"/>
              <a:ext cx="75405" cy="2380"/>
            </a:xfrm>
            <a:prstGeom prst="straightConnector1">
              <a:avLst/>
            </a:prstGeom>
            <a:noFill/>
            <a:ln w="15875" cap="flat">
              <a:prstDash val="sysDash"/>
              <a:miter lim="800000"/>
              <a:headEnd type="none"/>
              <a:tailEnd type="triangle" w="lg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44" name="Freeform 243"/>
            <p:cNvSpPr/>
            <p:nvPr/>
          </p:nvSpPr>
          <p:spPr>
            <a:xfrm>
              <a:off x="2590483" y="1014344"/>
              <a:ext cx="492354" cy="746380"/>
            </a:xfrm>
            <a:custGeom>
              <a:avLst/>
              <a:gdLst>
                <a:gd name="connsiteX0" fmla="*/ 0 w 495300"/>
                <a:gd name="connsiteY0" fmla="*/ 1166988 h 1166988"/>
                <a:gd name="connsiteX1" fmla="*/ 80963 w 495300"/>
                <a:gd name="connsiteY1" fmla="*/ 152576 h 1166988"/>
                <a:gd name="connsiteX2" fmla="*/ 352425 w 495300"/>
                <a:gd name="connsiteY2" fmla="*/ 109713 h 1166988"/>
                <a:gd name="connsiteX3" fmla="*/ 495300 w 495300"/>
                <a:gd name="connsiteY3" fmla="*/ 1166988 h 1166988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3711"/>
                <a:gd name="connsiteY0" fmla="*/ 1089709 h 1089709"/>
                <a:gd name="connsiteX1" fmla="*/ 80963 w 473711"/>
                <a:gd name="connsiteY1" fmla="*/ 75297 h 1089709"/>
                <a:gd name="connsiteX2" fmla="*/ 431143 w 473711"/>
                <a:gd name="connsiteY2" fmla="*/ 187216 h 1089709"/>
                <a:gd name="connsiteX3" fmla="*/ 472147 w 473711"/>
                <a:gd name="connsiteY3" fmla="*/ 1082565 h 1089709"/>
                <a:gd name="connsiteX0" fmla="*/ 0 w 475182"/>
                <a:gd name="connsiteY0" fmla="*/ 1002035 h 1002035"/>
                <a:gd name="connsiteX1" fmla="*/ 55496 w 475182"/>
                <a:gd name="connsiteY1" fmla="*/ 123354 h 1002035"/>
                <a:gd name="connsiteX2" fmla="*/ 431143 w 475182"/>
                <a:gd name="connsiteY2" fmla="*/ 99542 h 1002035"/>
                <a:gd name="connsiteX3" fmla="*/ 472147 w 475182"/>
                <a:gd name="connsiteY3" fmla="*/ 994891 h 1002035"/>
                <a:gd name="connsiteX0" fmla="*/ 0 w 478698"/>
                <a:gd name="connsiteY0" fmla="*/ 988071 h 988071"/>
                <a:gd name="connsiteX1" fmla="*/ 55496 w 478698"/>
                <a:gd name="connsiteY1" fmla="*/ 109390 h 988071"/>
                <a:gd name="connsiteX2" fmla="*/ 438089 w 478698"/>
                <a:gd name="connsiteY2" fmla="*/ 109390 h 988071"/>
                <a:gd name="connsiteX3" fmla="*/ 472147 w 478698"/>
                <a:gd name="connsiteY3" fmla="*/ 980927 h 988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698" h="988071">
                  <a:moveTo>
                    <a:pt x="0" y="988071"/>
                  </a:moveTo>
                  <a:cubicBezTo>
                    <a:pt x="11113" y="568971"/>
                    <a:pt x="-17519" y="255837"/>
                    <a:pt x="55496" y="109390"/>
                  </a:cubicBezTo>
                  <a:cubicBezTo>
                    <a:pt x="128511" y="-37057"/>
                    <a:pt x="368647" y="-35866"/>
                    <a:pt x="438089" y="109390"/>
                  </a:cubicBezTo>
                  <a:cubicBezTo>
                    <a:pt x="507531" y="254646"/>
                    <a:pt x="465334" y="539205"/>
                    <a:pt x="472147" y="980927"/>
                  </a:cubicBezTo>
                </a:path>
              </a:pathLst>
            </a:custGeom>
            <a:noFill/>
            <a:ln w="15875" cap="flat">
              <a:prstDash val="sysDash"/>
              <a:miter lim="800000"/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45" name="Group 244"/>
          <p:cNvGrpSpPr/>
          <p:nvPr/>
        </p:nvGrpSpPr>
        <p:grpSpPr>
          <a:xfrm>
            <a:off x="6545709" y="1508215"/>
            <a:ext cx="492354" cy="747390"/>
            <a:chOff x="2590483" y="1013334"/>
            <a:chExt cx="492354" cy="747390"/>
          </a:xfrm>
        </p:grpSpPr>
        <p:cxnSp>
          <p:nvCxnSpPr>
            <p:cNvPr id="246" name="Straight Arrow Connector 245"/>
            <p:cNvCxnSpPr/>
            <p:nvPr/>
          </p:nvCxnSpPr>
          <p:spPr>
            <a:xfrm>
              <a:off x="2804771" y="1013334"/>
              <a:ext cx="75405" cy="2380"/>
            </a:xfrm>
            <a:prstGeom prst="straightConnector1">
              <a:avLst/>
            </a:prstGeom>
            <a:noFill/>
            <a:ln w="15875" cap="flat">
              <a:miter lim="800000"/>
              <a:headEnd type="none"/>
              <a:tailEnd type="triangle" w="lg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47" name="Freeform 246"/>
            <p:cNvSpPr/>
            <p:nvPr/>
          </p:nvSpPr>
          <p:spPr>
            <a:xfrm>
              <a:off x="2590483" y="1014344"/>
              <a:ext cx="492354" cy="746380"/>
            </a:xfrm>
            <a:custGeom>
              <a:avLst/>
              <a:gdLst>
                <a:gd name="connsiteX0" fmla="*/ 0 w 495300"/>
                <a:gd name="connsiteY0" fmla="*/ 1166988 h 1166988"/>
                <a:gd name="connsiteX1" fmla="*/ 80963 w 495300"/>
                <a:gd name="connsiteY1" fmla="*/ 152576 h 1166988"/>
                <a:gd name="connsiteX2" fmla="*/ 352425 w 495300"/>
                <a:gd name="connsiteY2" fmla="*/ 109713 h 1166988"/>
                <a:gd name="connsiteX3" fmla="*/ 495300 w 495300"/>
                <a:gd name="connsiteY3" fmla="*/ 1166988 h 1166988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3711"/>
                <a:gd name="connsiteY0" fmla="*/ 1089709 h 1089709"/>
                <a:gd name="connsiteX1" fmla="*/ 80963 w 473711"/>
                <a:gd name="connsiteY1" fmla="*/ 75297 h 1089709"/>
                <a:gd name="connsiteX2" fmla="*/ 431143 w 473711"/>
                <a:gd name="connsiteY2" fmla="*/ 187216 h 1089709"/>
                <a:gd name="connsiteX3" fmla="*/ 472147 w 473711"/>
                <a:gd name="connsiteY3" fmla="*/ 1082565 h 1089709"/>
                <a:gd name="connsiteX0" fmla="*/ 0 w 475182"/>
                <a:gd name="connsiteY0" fmla="*/ 1002035 h 1002035"/>
                <a:gd name="connsiteX1" fmla="*/ 55496 w 475182"/>
                <a:gd name="connsiteY1" fmla="*/ 123354 h 1002035"/>
                <a:gd name="connsiteX2" fmla="*/ 431143 w 475182"/>
                <a:gd name="connsiteY2" fmla="*/ 99542 h 1002035"/>
                <a:gd name="connsiteX3" fmla="*/ 472147 w 475182"/>
                <a:gd name="connsiteY3" fmla="*/ 994891 h 1002035"/>
                <a:gd name="connsiteX0" fmla="*/ 0 w 478698"/>
                <a:gd name="connsiteY0" fmla="*/ 988071 h 988071"/>
                <a:gd name="connsiteX1" fmla="*/ 55496 w 478698"/>
                <a:gd name="connsiteY1" fmla="*/ 109390 h 988071"/>
                <a:gd name="connsiteX2" fmla="*/ 438089 w 478698"/>
                <a:gd name="connsiteY2" fmla="*/ 109390 h 988071"/>
                <a:gd name="connsiteX3" fmla="*/ 472147 w 478698"/>
                <a:gd name="connsiteY3" fmla="*/ 980927 h 988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698" h="988071">
                  <a:moveTo>
                    <a:pt x="0" y="988071"/>
                  </a:moveTo>
                  <a:cubicBezTo>
                    <a:pt x="11113" y="568971"/>
                    <a:pt x="-17519" y="255837"/>
                    <a:pt x="55496" y="109390"/>
                  </a:cubicBezTo>
                  <a:cubicBezTo>
                    <a:pt x="128511" y="-37057"/>
                    <a:pt x="368647" y="-35866"/>
                    <a:pt x="438089" y="109390"/>
                  </a:cubicBezTo>
                  <a:cubicBezTo>
                    <a:pt x="507531" y="254646"/>
                    <a:pt x="465334" y="539205"/>
                    <a:pt x="472147" y="980927"/>
                  </a:cubicBezTo>
                </a:path>
              </a:pathLst>
            </a:custGeom>
            <a:noFill/>
            <a:ln w="15875" cap="flat">
              <a:miter lim="800000"/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48" name="Group 247"/>
          <p:cNvGrpSpPr/>
          <p:nvPr/>
        </p:nvGrpSpPr>
        <p:grpSpPr>
          <a:xfrm>
            <a:off x="8496760" y="1512978"/>
            <a:ext cx="492354" cy="747390"/>
            <a:chOff x="2590483" y="1013334"/>
            <a:chExt cx="492354" cy="747390"/>
          </a:xfrm>
        </p:grpSpPr>
        <p:cxnSp>
          <p:nvCxnSpPr>
            <p:cNvPr id="249" name="Straight Arrow Connector 248"/>
            <p:cNvCxnSpPr/>
            <p:nvPr/>
          </p:nvCxnSpPr>
          <p:spPr>
            <a:xfrm>
              <a:off x="2804771" y="1013334"/>
              <a:ext cx="75405" cy="2380"/>
            </a:xfrm>
            <a:prstGeom prst="straightConnector1">
              <a:avLst/>
            </a:prstGeom>
            <a:noFill/>
            <a:ln w="15875" cap="flat">
              <a:miter lim="800000"/>
              <a:headEnd type="none"/>
              <a:tailEnd type="triangle" w="lg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0" name="Freeform 249"/>
            <p:cNvSpPr/>
            <p:nvPr/>
          </p:nvSpPr>
          <p:spPr>
            <a:xfrm>
              <a:off x="2590483" y="1014344"/>
              <a:ext cx="492354" cy="746380"/>
            </a:xfrm>
            <a:custGeom>
              <a:avLst/>
              <a:gdLst>
                <a:gd name="connsiteX0" fmla="*/ 0 w 495300"/>
                <a:gd name="connsiteY0" fmla="*/ 1166988 h 1166988"/>
                <a:gd name="connsiteX1" fmla="*/ 80963 w 495300"/>
                <a:gd name="connsiteY1" fmla="*/ 152576 h 1166988"/>
                <a:gd name="connsiteX2" fmla="*/ 352425 w 495300"/>
                <a:gd name="connsiteY2" fmla="*/ 109713 h 1166988"/>
                <a:gd name="connsiteX3" fmla="*/ 495300 w 495300"/>
                <a:gd name="connsiteY3" fmla="*/ 1166988 h 1166988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3711"/>
                <a:gd name="connsiteY0" fmla="*/ 1089709 h 1089709"/>
                <a:gd name="connsiteX1" fmla="*/ 80963 w 473711"/>
                <a:gd name="connsiteY1" fmla="*/ 75297 h 1089709"/>
                <a:gd name="connsiteX2" fmla="*/ 431143 w 473711"/>
                <a:gd name="connsiteY2" fmla="*/ 187216 h 1089709"/>
                <a:gd name="connsiteX3" fmla="*/ 472147 w 473711"/>
                <a:gd name="connsiteY3" fmla="*/ 1082565 h 1089709"/>
                <a:gd name="connsiteX0" fmla="*/ 0 w 475182"/>
                <a:gd name="connsiteY0" fmla="*/ 1002035 h 1002035"/>
                <a:gd name="connsiteX1" fmla="*/ 55496 w 475182"/>
                <a:gd name="connsiteY1" fmla="*/ 123354 h 1002035"/>
                <a:gd name="connsiteX2" fmla="*/ 431143 w 475182"/>
                <a:gd name="connsiteY2" fmla="*/ 99542 h 1002035"/>
                <a:gd name="connsiteX3" fmla="*/ 472147 w 475182"/>
                <a:gd name="connsiteY3" fmla="*/ 994891 h 1002035"/>
                <a:gd name="connsiteX0" fmla="*/ 0 w 478698"/>
                <a:gd name="connsiteY0" fmla="*/ 988071 h 988071"/>
                <a:gd name="connsiteX1" fmla="*/ 55496 w 478698"/>
                <a:gd name="connsiteY1" fmla="*/ 109390 h 988071"/>
                <a:gd name="connsiteX2" fmla="*/ 438089 w 478698"/>
                <a:gd name="connsiteY2" fmla="*/ 109390 h 988071"/>
                <a:gd name="connsiteX3" fmla="*/ 472147 w 478698"/>
                <a:gd name="connsiteY3" fmla="*/ 980927 h 988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698" h="988071">
                  <a:moveTo>
                    <a:pt x="0" y="988071"/>
                  </a:moveTo>
                  <a:cubicBezTo>
                    <a:pt x="11113" y="568971"/>
                    <a:pt x="-17519" y="255837"/>
                    <a:pt x="55496" y="109390"/>
                  </a:cubicBezTo>
                  <a:cubicBezTo>
                    <a:pt x="128511" y="-37057"/>
                    <a:pt x="368647" y="-35866"/>
                    <a:pt x="438089" y="109390"/>
                  </a:cubicBezTo>
                  <a:cubicBezTo>
                    <a:pt x="507531" y="254646"/>
                    <a:pt x="465334" y="539205"/>
                    <a:pt x="472147" y="980927"/>
                  </a:cubicBezTo>
                </a:path>
              </a:pathLst>
            </a:custGeom>
            <a:noFill/>
            <a:ln w="15875" cap="flat">
              <a:miter lim="800000"/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51" name="Group 250"/>
          <p:cNvGrpSpPr/>
          <p:nvPr/>
        </p:nvGrpSpPr>
        <p:grpSpPr>
          <a:xfrm>
            <a:off x="7521153" y="1514436"/>
            <a:ext cx="492354" cy="747390"/>
            <a:chOff x="2590483" y="1013334"/>
            <a:chExt cx="492354" cy="747390"/>
          </a:xfrm>
        </p:grpSpPr>
        <p:cxnSp>
          <p:nvCxnSpPr>
            <p:cNvPr id="252" name="Straight Arrow Connector 251"/>
            <p:cNvCxnSpPr/>
            <p:nvPr/>
          </p:nvCxnSpPr>
          <p:spPr>
            <a:xfrm>
              <a:off x="2804771" y="1013334"/>
              <a:ext cx="75405" cy="2380"/>
            </a:xfrm>
            <a:prstGeom prst="straightConnector1">
              <a:avLst/>
            </a:prstGeom>
            <a:noFill/>
            <a:ln w="15875" cap="flat">
              <a:miter lim="800000"/>
              <a:headEnd type="none"/>
              <a:tailEnd type="triangle" w="lg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3" name="Freeform 252"/>
            <p:cNvSpPr/>
            <p:nvPr/>
          </p:nvSpPr>
          <p:spPr>
            <a:xfrm>
              <a:off x="2590483" y="1014344"/>
              <a:ext cx="492354" cy="746380"/>
            </a:xfrm>
            <a:custGeom>
              <a:avLst/>
              <a:gdLst>
                <a:gd name="connsiteX0" fmla="*/ 0 w 495300"/>
                <a:gd name="connsiteY0" fmla="*/ 1166988 h 1166988"/>
                <a:gd name="connsiteX1" fmla="*/ 80963 w 495300"/>
                <a:gd name="connsiteY1" fmla="*/ 152576 h 1166988"/>
                <a:gd name="connsiteX2" fmla="*/ 352425 w 495300"/>
                <a:gd name="connsiteY2" fmla="*/ 109713 h 1166988"/>
                <a:gd name="connsiteX3" fmla="*/ 495300 w 495300"/>
                <a:gd name="connsiteY3" fmla="*/ 1166988 h 1166988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3711"/>
                <a:gd name="connsiteY0" fmla="*/ 1089709 h 1089709"/>
                <a:gd name="connsiteX1" fmla="*/ 80963 w 473711"/>
                <a:gd name="connsiteY1" fmla="*/ 75297 h 1089709"/>
                <a:gd name="connsiteX2" fmla="*/ 431143 w 473711"/>
                <a:gd name="connsiteY2" fmla="*/ 187216 h 1089709"/>
                <a:gd name="connsiteX3" fmla="*/ 472147 w 473711"/>
                <a:gd name="connsiteY3" fmla="*/ 1082565 h 1089709"/>
                <a:gd name="connsiteX0" fmla="*/ 0 w 475182"/>
                <a:gd name="connsiteY0" fmla="*/ 1002035 h 1002035"/>
                <a:gd name="connsiteX1" fmla="*/ 55496 w 475182"/>
                <a:gd name="connsiteY1" fmla="*/ 123354 h 1002035"/>
                <a:gd name="connsiteX2" fmla="*/ 431143 w 475182"/>
                <a:gd name="connsiteY2" fmla="*/ 99542 h 1002035"/>
                <a:gd name="connsiteX3" fmla="*/ 472147 w 475182"/>
                <a:gd name="connsiteY3" fmla="*/ 994891 h 1002035"/>
                <a:gd name="connsiteX0" fmla="*/ 0 w 478698"/>
                <a:gd name="connsiteY0" fmla="*/ 988071 h 988071"/>
                <a:gd name="connsiteX1" fmla="*/ 55496 w 478698"/>
                <a:gd name="connsiteY1" fmla="*/ 109390 h 988071"/>
                <a:gd name="connsiteX2" fmla="*/ 438089 w 478698"/>
                <a:gd name="connsiteY2" fmla="*/ 109390 h 988071"/>
                <a:gd name="connsiteX3" fmla="*/ 472147 w 478698"/>
                <a:gd name="connsiteY3" fmla="*/ 980927 h 988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698" h="988071">
                  <a:moveTo>
                    <a:pt x="0" y="988071"/>
                  </a:moveTo>
                  <a:cubicBezTo>
                    <a:pt x="11113" y="568971"/>
                    <a:pt x="-17519" y="255837"/>
                    <a:pt x="55496" y="109390"/>
                  </a:cubicBezTo>
                  <a:cubicBezTo>
                    <a:pt x="128511" y="-37057"/>
                    <a:pt x="368647" y="-35866"/>
                    <a:pt x="438089" y="109390"/>
                  </a:cubicBezTo>
                  <a:cubicBezTo>
                    <a:pt x="507531" y="254646"/>
                    <a:pt x="465334" y="539205"/>
                    <a:pt x="472147" y="980927"/>
                  </a:cubicBezTo>
                </a:path>
              </a:pathLst>
            </a:custGeom>
            <a:noFill/>
            <a:ln w="15875" cap="flat">
              <a:miter lim="800000"/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54" name="Group 253"/>
          <p:cNvGrpSpPr/>
          <p:nvPr/>
        </p:nvGrpSpPr>
        <p:grpSpPr>
          <a:xfrm>
            <a:off x="8007906" y="1513957"/>
            <a:ext cx="492354" cy="747390"/>
            <a:chOff x="2590483" y="1013334"/>
            <a:chExt cx="492354" cy="747390"/>
          </a:xfrm>
        </p:grpSpPr>
        <p:cxnSp>
          <p:nvCxnSpPr>
            <p:cNvPr id="255" name="Straight Arrow Connector 254"/>
            <p:cNvCxnSpPr/>
            <p:nvPr/>
          </p:nvCxnSpPr>
          <p:spPr>
            <a:xfrm>
              <a:off x="2804771" y="1013334"/>
              <a:ext cx="75405" cy="2380"/>
            </a:xfrm>
            <a:prstGeom prst="straightConnector1">
              <a:avLst/>
            </a:prstGeom>
            <a:noFill/>
            <a:ln w="15875" cap="flat">
              <a:miter lim="800000"/>
              <a:headEnd type="none"/>
              <a:tailEnd type="triangle" w="lg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Freeform 255"/>
            <p:cNvSpPr/>
            <p:nvPr/>
          </p:nvSpPr>
          <p:spPr>
            <a:xfrm>
              <a:off x="2590483" y="1014344"/>
              <a:ext cx="492354" cy="746380"/>
            </a:xfrm>
            <a:custGeom>
              <a:avLst/>
              <a:gdLst>
                <a:gd name="connsiteX0" fmla="*/ 0 w 495300"/>
                <a:gd name="connsiteY0" fmla="*/ 1166988 h 1166988"/>
                <a:gd name="connsiteX1" fmla="*/ 80963 w 495300"/>
                <a:gd name="connsiteY1" fmla="*/ 152576 h 1166988"/>
                <a:gd name="connsiteX2" fmla="*/ 352425 w 495300"/>
                <a:gd name="connsiteY2" fmla="*/ 109713 h 1166988"/>
                <a:gd name="connsiteX3" fmla="*/ 495300 w 495300"/>
                <a:gd name="connsiteY3" fmla="*/ 1166988 h 1166988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3711"/>
                <a:gd name="connsiteY0" fmla="*/ 1089709 h 1089709"/>
                <a:gd name="connsiteX1" fmla="*/ 80963 w 473711"/>
                <a:gd name="connsiteY1" fmla="*/ 75297 h 1089709"/>
                <a:gd name="connsiteX2" fmla="*/ 431143 w 473711"/>
                <a:gd name="connsiteY2" fmla="*/ 187216 h 1089709"/>
                <a:gd name="connsiteX3" fmla="*/ 472147 w 473711"/>
                <a:gd name="connsiteY3" fmla="*/ 1082565 h 1089709"/>
                <a:gd name="connsiteX0" fmla="*/ 0 w 475182"/>
                <a:gd name="connsiteY0" fmla="*/ 1002035 h 1002035"/>
                <a:gd name="connsiteX1" fmla="*/ 55496 w 475182"/>
                <a:gd name="connsiteY1" fmla="*/ 123354 h 1002035"/>
                <a:gd name="connsiteX2" fmla="*/ 431143 w 475182"/>
                <a:gd name="connsiteY2" fmla="*/ 99542 h 1002035"/>
                <a:gd name="connsiteX3" fmla="*/ 472147 w 475182"/>
                <a:gd name="connsiteY3" fmla="*/ 994891 h 1002035"/>
                <a:gd name="connsiteX0" fmla="*/ 0 w 478698"/>
                <a:gd name="connsiteY0" fmla="*/ 988071 h 988071"/>
                <a:gd name="connsiteX1" fmla="*/ 55496 w 478698"/>
                <a:gd name="connsiteY1" fmla="*/ 109390 h 988071"/>
                <a:gd name="connsiteX2" fmla="*/ 438089 w 478698"/>
                <a:gd name="connsiteY2" fmla="*/ 109390 h 988071"/>
                <a:gd name="connsiteX3" fmla="*/ 472147 w 478698"/>
                <a:gd name="connsiteY3" fmla="*/ 980927 h 988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698" h="988071">
                  <a:moveTo>
                    <a:pt x="0" y="988071"/>
                  </a:moveTo>
                  <a:cubicBezTo>
                    <a:pt x="11113" y="568971"/>
                    <a:pt x="-17519" y="255837"/>
                    <a:pt x="55496" y="109390"/>
                  </a:cubicBezTo>
                  <a:cubicBezTo>
                    <a:pt x="128511" y="-37057"/>
                    <a:pt x="368647" y="-35866"/>
                    <a:pt x="438089" y="109390"/>
                  </a:cubicBezTo>
                  <a:cubicBezTo>
                    <a:pt x="507531" y="254646"/>
                    <a:pt x="465334" y="539205"/>
                    <a:pt x="472147" y="980927"/>
                  </a:cubicBezTo>
                </a:path>
              </a:pathLst>
            </a:custGeom>
            <a:noFill/>
            <a:ln w="15875" cap="flat">
              <a:miter lim="800000"/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57" name="Group 256"/>
          <p:cNvGrpSpPr/>
          <p:nvPr/>
        </p:nvGrpSpPr>
        <p:grpSpPr>
          <a:xfrm>
            <a:off x="7031845" y="1512939"/>
            <a:ext cx="492354" cy="747390"/>
            <a:chOff x="2590483" y="1013334"/>
            <a:chExt cx="492354" cy="747390"/>
          </a:xfrm>
        </p:grpSpPr>
        <p:cxnSp>
          <p:nvCxnSpPr>
            <p:cNvPr id="258" name="Straight Arrow Connector 257"/>
            <p:cNvCxnSpPr/>
            <p:nvPr/>
          </p:nvCxnSpPr>
          <p:spPr>
            <a:xfrm>
              <a:off x="2804771" y="1013334"/>
              <a:ext cx="75405" cy="2380"/>
            </a:xfrm>
            <a:prstGeom prst="straightConnector1">
              <a:avLst/>
            </a:prstGeom>
            <a:noFill/>
            <a:ln w="15875" cap="flat">
              <a:miter lim="800000"/>
              <a:headEnd type="none"/>
              <a:tailEnd type="triangle" w="lg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9" name="Freeform 258"/>
            <p:cNvSpPr/>
            <p:nvPr/>
          </p:nvSpPr>
          <p:spPr>
            <a:xfrm>
              <a:off x="2590483" y="1014344"/>
              <a:ext cx="492354" cy="746380"/>
            </a:xfrm>
            <a:custGeom>
              <a:avLst/>
              <a:gdLst>
                <a:gd name="connsiteX0" fmla="*/ 0 w 495300"/>
                <a:gd name="connsiteY0" fmla="*/ 1166988 h 1166988"/>
                <a:gd name="connsiteX1" fmla="*/ 80963 w 495300"/>
                <a:gd name="connsiteY1" fmla="*/ 152576 h 1166988"/>
                <a:gd name="connsiteX2" fmla="*/ 352425 w 495300"/>
                <a:gd name="connsiteY2" fmla="*/ 109713 h 1166988"/>
                <a:gd name="connsiteX3" fmla="*/ 495300 w 495300"/>
                <a:gd name="connsiteY3" fmla="*/ 1166988 h 1166988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3711"/>
                <a:gd name="connsiteY0" fmla="*/ 1089709 h 1089709"/>
                <a:gd name="connsiteX1" fmla="*/ 80963 w 473711"/>
                <a:gd name="connsiteY1" fmla="*/ 75297 h 1089709"/>
                <a:gd name="connsiteX2" fmla="*/ 431143 w 473711"/>
                <a:gd name="connsiteY2" fmla="*/ 187216 h 1089709"/>
                <a:gd name="connsiteX3" fmla="*/ 472147 w 473711"/>
                <a:gd name="connsiteY3" fmla="*/ 1082565 h 1089709"/>
                <a:gd name="connsiteX0" fmla="*/ 0 w 475182"/>
                <a:gd name="connsiteY0" fmla="*/ 1002035 h 1002035"/>
                <a:gd name="connsiteX1" fmla="*/ 55496 w 475182"/>
                <a:gd name="connsiteY1" fmla="*/ 123354 h 1002035"/>
                <a:gd name="connsiteX2" fmla="*/ 431143 w 475182"/>
                <a:gd name="connsiteY2" fmla="*/ 99542 h 1002035"/>
                <a:gd name="connsiteX3" fmla="*/ 472147 w 475182"/>
                <a:gd name="connsiteY3" fmla="*/ 994891 h 1002035"/>
                <a:gd name="connsiteX0" fmla="*/ 0 w 478698"/>
                <a:gd name="connsiteY0" fmla="*/ 988071 h 988071"/>
                <a:gd name="connsiteX1" fmla="*/ 55496 w 478698"/>
                <a:gd name="connsiteY1" fmla="*/ 109390 h 988071"/>
                <a:gd name="connsiteX2" fmla="*/ 438089 w 478698"/>
                <a:gd name="connsiteY2" fmla="*/ 109390 h 988071"/>
                <a:gd name="connsiteX3" fmla="*/ 472147 w 478698"/>
                <a:gd name="connsiteY3" fmla="*/ 980927 h 988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698" h="988071">
                  <a:moveTo>
                    <a:pt x="0" y="988071"/>
                  </a:moveTo>
                  <a:cubicBezTo>
                    <a:pt x="11113" y="568971"/>
                    <a:pt x="-17519" y="255837"/>
                    <a:pt x="55496" y="109390"/>
                  </a:cubicBezTo>
                  <a:cubicBezTo>
                    <a:pt x="128511" y="-37057"/>
                    <a:pt x="368647" y="-35866"/>
                    <a:pt x="438089" y="109390"/>
                  </a:cubicBezTo>
                  <a:cubicBezTo>
                    <a:pt x="507531" y="254646"/>
                    <a:pt x="465334" y="539205"/>
                    <a:pt x="472147" y="980927"/>
                  </a:cubicBezTo>
                </a:path>
              </a:pathLst>
            </a:custGeom>
            <a:noFill/>
            <a:ln w="15875" cap="flat">
              <a:miter lim="800000"/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60" name="Group 259"/>
          <p:cNvGrpSpPr/>
          <p:nvPr/>
        </p:nvGrpSpPr>
        <p:grpSpPr>
          <a:xfrm>
            <a:off x="8986877" y="1508215"/>
            <a:ext cx="492354" cy="747390"/>
            <a:chOff x="2590483" y="1013334"/>
            <a:chExt cx="492354" cy="747390"/>
          </a:xfrm>
        </p:grpSpPr>
        <p:cxnSp>
          <p:nvCxnSpPr>
            <p:cNvPr id="261" name="Straight Arrow Connector 260"/>
            <p:cNvCxnSpPr/>
            <p:nvPr/>
          </p:nvCxnSpPr>
          <p:spPr>
            <a:xfrm>
              <a:off x="2804771" y="1013334"/>
              <a:ext cx="75405" cy="2380"/>
            </a:xfrm>
            <a:prstGeom prst="straightConnector1">
              <a:avLst/>
            </a:prstGeom>
            <a:noFill/>
            <a:ln w="15875" cap="flat">
              <a:prstDash val="sysDash"/>
              <a:miter lim="800000"/>
              <a:headEnd type="none"/>
              <a:tailEnd type="triangle" w="lg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2" name="Freeform 261"/>
            <p:cNvSpPr/>
            <p:nvPr/>
          </p:nvSpPr>
          <p:spPr>
            <a:xfrm>
              <a:off x="2590483" y="1014344"/>
              <a:ext cx="492354" cy="746380"/>
            </a:xfrm>
            <a:custGeom>
              <a:avLst/>
              <a:gdLst>
                <a:gd name="connsiteX0" fmla="*/ 0 w 495300"/>
                <a:gd name="connsiteY0" fmla="*/ 1166988 h 1166988"/>
                <a:gd name="connsiteX1" fmla="*/ 80963 w 495300"/>
                <a:gd name="connsiteY1" fmla="*/ 152576 h 1166988"/>
                <a:gd name="connsiteX2" fmla="*/ 352425 w 495300"/>
                <a:gd name="connsiteY2" fmla="*/ 109713 h 1166988"/>
                <a:gd name="connsiteX3" fmla="*/ 495300 w 495300"/>
                <a:gd name="connsiteY3" fmla="*/ 1166988 h 1166988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3711"/>
                <a:gd name="connsiteY0" fmla="*/ 1089709 h 1089709"/>
                <a:gd name="connsiteX1" fmla="*/ 80963 w 473711"/>
                <a:gd name="connsiteY1" fmla="*/ 75297 h 1089709"/>
                <a:gd name="connsiteX2" fmla="*/ 431143 w 473711"/>
                <a:gd name="connsiteY2" fmla="*/ 187216 h 1089709"/>
                <a:gd name="connsiteX3" fmla="*/ 472147 w 473711"/>
                <a:gd name="connsiteY3" fmla="*/ 1082565 h 1089709"/>
                <a:gd name="connsiteX0" fmla="*/ 0 w 475182"/>
                <a:gd name="connsiteY0" fmla="*/ 1002035 h 1002035"/>
                <a:gd name="connsiteX1" fmla="*/ 55496 w 475182"/>
                <a:gd name="connsiteY1" fmla="*/ 123354 h 1002035"/>
                <a:gd name="connsiteX2" fmla="*/ 431143 w 475182"/>
                <a:gd name="connsiteY2" fmla="*/ 99542 h 1002035"/>
                <a:gd name="connsiteX3" fmla="*/ 472147 w 475182"/>
                <a:gd name="connsiteY3" fmla="*/ 994891 h 1002035"/>
                <a:gd name="connsiteX0" fmla="*/ 0 w 478698"/>
                <a:gd name="connsiteY0" fmla="*/ 988071 h 988071"/>
                <a:gd name="connsiteX1" fmla="*/ 55496 w 478698"/>
                <a:gd name="connsiteY1" fmla="*/ 109390 h 988071"/>
                <a:gd name="connsiteX2" fmla="*/ 438089 w 478698"/>
                <a:gd name="connsiteY2" fmla="*/ 109390 h 988071"/>
                <a:gd name="connsiteX3" fmla="*/ 472147 w 478698"/>
                <a:gd name="connsiteY3" fmla="*/ 980927 h 988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698" h="988071">
                  <a:moveTo>
                    <a:pt x="0" y="988071"/>
                  </a:moveTo>
                  <a:cubicBezTo>
                    <a:pt x="11113" y="568971"/>
                    <a:pt x="-17519" y="255837"/>
                    <a:pt x="55496" y="109390"/>
                  </a:cubicBezTo>
                  <a:cubicBezTo>
                    <a:pt x="128511" y="-37057"/>
                    <a:pt x="368647" y="-35866"/>
                    <a:pt x="438089" y="109390"/>
                  </a:cubicBezTo>
                  <a:cubicBezTo>
                    <a:pt x="507531" y="254646"/>
                    <a:pt x="465334" y="539205"/>
                    <a:pt x="472147" y="980927"/>
                  </a:cubicBezTo>
                </a:path>
              </a:pathLst>
            </a:custGeom>
            <a:noFill/>
            <a:ln w="15875" cap="flat">
              <a:prstDash val="sysDash"/>
              <a:miter lim="800000"/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63" name="Group 262"/>
          <p:cNvGrpSpPr/>
          <p:nvPr/>
        </p:nvGrpSpPr>
        <p:grpSpPr>
          <a:xfrm>
            <a:off x="9477132" y="1508215"/>
            <a:ext cx="492354" cy="747390"/>
            <a:chOff x="2590483" y="1013334"/>
            <a:chExt cx="492354" cy="747390"/>
          </a:xfrm>
        </p:grpSpPr>
        <p:cxnSp>
          <p:nvCxnSpPr>
            <p:cNvPr id="264" name="Straight Arrow Connector 263"/>
            <p:cNvCxnSpPr/>
            <p:nvPr/>
          </p:nvCxnSpPr>
          <p:spPr>
            <a:xfrm>
              <a:off x="2804771" y="1013334"/>
              <a:ext cx="75405" cy="2380"/>
            </a:xfrm>
            <a:prstGeom prst="straightConnector1">
              <a:avLst/>
            </a:prstGeom>
            <a:noFill/>
            <a:ln w="15875" cap="flat">
              <a:miter lim="800000"/>
              <a:headEnd type="none"/>
              <a:tailEnd type="triangle" w="lg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5" name="Freeform 264"/>
            <p:cNvSpPr/>
            <p:nvPr/>
          </p:nvSpPr>
          <p:spPr>
            <a:xfrm>
              <a:off x="2590483" y="1014344"/>
              <a:ext cx="492354" cy="746380"/>
            </a:xfrm>
            <a:custGeom>
              <a:avLst/>
              <a:gdLst>
                <a:gd name="connsiteX0" fmla="*/ 0 w 495300"/>
                <a:gd name="connsiteY0" fmla="*/ 1166988 h 1166988"/>
                <a:gd name="connsiteX1" fmla="*/ 80963 w 495300"/>
                <a:gd name="connsiteY1" fmla="*/ 152576 h 1166988"/>
                <a:gd name="connsiteX2" fmla="*/ 352425 w 495300"/>
                <a:gd name="connsiteY2" fmla="*/ 109713 h 1166988"/>
                <a:gd name="connsiteX3" fmla="*/ 495300 w 495300"/>
                <a:gd name="connsiteY3" fmla="*/ 1166988 h 1166988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3711"/>
                <a:gd name="connsiteY0" fmla="*/ 1089709 h 1089709"/>
                <a:gd name="connsiteX1" fmla="*/ 80963 w 473711"/>
                <a:gd name="connsiteY1" fmla="*/ 75297 h 1089709"/>
                <a:gd name="connsiteX2" fmla="*/ 431143 w 473711"/>
                <a:gd name="connsiteY2" fmla="*/ 187216 h 1089709"/>
                <a:gd name="connsiteX3" fmla="*/ 472147 w 473711"/>
                <a:gd name="connsiteY3" fmla="*/ 1082565 h 1089709"/>
                <a:gd name="connsiteX0" fmla="*/ 0 w 475182"/>
                <a:gd name="connsiteY0" fmla="*/ 1002035 h 1002035"/>
                <a:gd name="connsiteX1" fmla="*/ 55496 w 475182"/>
                <a:gd name="connsiteY1" fmla="*/ 123354 h 1002035"/>
                <a:gd name="connsiteX2" fmla="*/ 431143 w 475182"/>
                <a:gd name="connsiteY2" fmla="*/ 99542 h 1002035"/>
                <a:gd name="connsiteX3" fmla="*/ 472147 w 475182"/>
                <a:gd name="connsiteY3" fmla="*/ 994891 h 1002035"/>
                <a:gd name="connsiteX0" fmla="*/ 0 w 478698"/>
                <a:gd name="connsiteY0" fmla="*/ 988071 h 988071"/>
                <a:gd name="connsiteX1" fmla="*/ 55496 w 478698"/>
                <a:gd name="connsiteY1" fmla="*/ 109390 h 988071"/>
                <a:gd name="connsiteX2" fmla="*/ 438089 w 478698"/>
                <a:gd name="connsiteY2" fmla="*/ 109390 h 988071"/>
                <a:gd name="connsiteX3" fmla="*/ 472147 w 478698"/>
                <a:gd name="connsiteY3" fmla="*/ 980927 h 988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698" h="988071">
                  <a:moveTo>
                    <a:pt x="0" y="988071"/>
                  </a:moveTo>
                  <a:cubicBezTo>
                    <a:pt x="11113" y="568971"/>
                    <a:pt x="-17519" y="255837"/>
                    <a:pt x="55496" y="109390"/>
                  </a:cubicBezTo>
                  <a:cubicBezTo>
                    <a:pt x="128511" y="-37057"/>
                    <a:pt x="368647" y="-35866"/>
                    <a:pt x="438089" y="109390"/>
                  </a:cubicBezTo>
                  <a:cubicBezTo>
                    <a:pt x="507531" y="254646"/>
                    <a:pt x="465334" y="539205"/>
                    <a:pt x="472147" y="980927"/>
                  </a:cubicBezTo>
                </a:path>
              </a:pathLst>
            </a:custGeom>
            <a:noFill/>
            <a:ln w="15875" cap="flat">
              <a:miter lim="800000"/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66" name="Group 265"/>
          <p:cNvGrpSpPr/>
          <p:nvPr/>
        </p:nvGrpSpPr>
        <p:grpSpPr>
          <a:xfrm>
            <a:off x="9963279" y="1504235"/>
            <a:ext cx="492354" cy="747390"/>
            <a:chOff x="2590483" y="1013334"/>
            <a:chExt cx="492354" cy="747390"/>
          </a:xfrm>
        </p:grpSpPr>
        <p:cxnSp>
          <p:nvCxnSpPr>
            <p:cNvPr id="267" name="Straight Arrow Connector 266"/>
            <p:cNvCxnSpPr/>
            <p:nvPr/>
          </p:nvCxnSpPr>
          <p:spPr>
            <a:xfrm>
              <a:off x="2804771" y="1013334"/>
              <a:ext cx="75405" cy="2380"/>
            </a:xfrm>
            <a:prstGeom prst="straightConnector1">
              <a:avLst/>
            </a:prstGeom>
            <a:noFill/>
            <a:ln w="15875" cap="flat">
              <a:miter lim="800000"/>
              <a:headEnd type="none"/>
              <a:tailEnd type="triangle" w="lg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8" name="Freeform 267"/>
            <p:cNvSpPr/>
            <p:nvPr/>
          </p:nvSpPr>
          <p:spPr>
            <a:xfrm>
              <a:off x="2590483" y="1014344"/>
              <a:ext cx="492354" cy="746380"/>
            </a:xfrm>
            <a:custGeom>
              <a:avLst/>
              <a:gdLst>
                <a:gd name="connsiteX0" fmla="*/ 0 w 495300"/>
                <a:gd name="connsiteY0" fmla="*/ 1166988 h 1166988"/>
                <a:gd name="connsiteX1" fmla="*/ 80963 w 495300"/>
                <a:gd name="connsiteY1" fmla="*/ 152576 h 1166988"/>
                <a:gd name="connsiteX2" fmla="*/ 352425 w 495300"/>
                <a:gd name="connsiteY2" fmla="*/ 109713 h 1166988"/>
                <a:gd name="connsiteX3" fmla="*/ 495300 w 495300"/>
                <a:gd name="connsiteY3" fmla="*/ 1166988 h 1166988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95300"/>
                <a:gd name="connsiteY0" fmla="*/ 1163966 h 1163966"/>
                <a:gd name="connsiteX1" fmla="*/ 80963 w 495300"/>
                <a:gd name="connsiteY1" fmla="*/ 149554 h 1163966"/>
                <a:gd name="connsiteX2" fmla="*/ 407990 w 495300"/>
                <a:gd name="connsiteY2" fmla="*/ 111454 h 1163966"/>
                <a:gd name="connsiteX3" fmla="*/ 495300 w 495300"/>
                <a:gd name="connsiteY3" fmla="*/ 1163966 h 1163966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2147"/>
                <a:gd name="connsiteY0" fmla="*/ 1163480 h 1163480"/>
                <a:gd name="connsiteX1" fmla="*/ 80963 w 472147"/>
                <a:gd name="connsiteY1" fmla="*/ 149068 h 1163480"/>
                <a:gd name="connsiteX2" fmla="*/ 407990 w 472147"/>
                <a:gd name="connsiteY2" fmla="*/ 110968 h 1163480"/>
                <a:gd name="connsiteX3" fmla="*/ 472147 w 472147"/>
                <a:gd name="connsiteY3" fmla="*/ 1156336 h 1163480"/>
                <a:gd name="connsiteX0" fmla="*/ 0 w 473711"/>
                <a:gd name="connsiteY0" fmla="*/ 1089709 h 1089709"/>
                <a:gd name="connsiteX1" fmla="*/ 80963 w 473711"/>
                <a:gd name="connsiteY1" fmla="*/ 75297 h 1089709"/>
                <a:gd name="connsiteX2" fmla="*/ 431143 w 473711"/>
                <a:gd name="connsiteY2" fmla="*/ 187216 h 1089709"/>
                <a:gd name="connsiteX3" fmla="*/ 472147 w 473711"/>
                <a:gd name="connsiteY3" fmla="*/ 1082565 h 1089709"/>
                <a:gd name="connsiteX0" fmla="*/ 0 w 475182"/>
                <a:gd name="connsiteY0" fmla="*/ 1002035 h 1002035"/>
                <a:gd name="connsiteX1" fmla="*/ 55496 w 475182"/>
                <a:gd name="connsiteY1" fmla="*/ 123354 h 1002035"/>
                <a:gd name="connsiteX2" fmla="*/ 431143 w 475182"/>
                <a:gd name="connsiteY2" fmla="*/ 99542 h 1002035"/>
                <a:gd name="connsiteX3" fmla="*/ 472147 w 475182"/>
                <a:gd name="connsiteY3" fmla="*/ 994891 h 1002035"/>
                <a:gd name="connsiteX0" fmla="*/ 0 w 478698"/>
                <a:gd name="connsiteY0" fmla="*/ 988071 h 988071"/>
                <a:gd name="connsiteX1" fmla="*/ 55496 w 478698"/>
                <a:gd name="connsiteY1" fmla="*/ 109390 h 988071"/>
                <a:gd name="connsiteX2" fmla="*/ 438089 w 478698"/>
                <a:gd name="connsiteY2" fmla="*/ 109390 h 988071"/>
                <a:gd name="connsiteX3" fmla="*/ 472147 w 478698"/>
                <a:gd name="connsiteY3" fmla="*/ 980927 h 988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698" h="988071">
                  <a:moveTo>
                    <a:pt x="0" y="988071"/>
                  </a:moveTo>
                  <a:cubicBezTo>
                    <a:pt x="11113" y="568971"/>
                    <a:pt x="-17519" y="255837"/>
                    <a:pt x="55496" y="109390"/>
                  </a:cubicBezTo>
                  <a:cubicBezTo>
                    <a:pt x="128511" y="-37057"/>
                    <a:pt x="368647" y="-35866"/>
                    <a:pt x="438089" y="109390"/>
                  </a:cubicBezTo>
                  <a:cubicBezTo>
                    <a:pt x="507531" y="254646"/>
                    <a:pt x="465334" y="539205"/>
                    <a:pt x="472147" y="980927"/>
                  </a:cubicBezTo>
                </a:path>
              </a:pathLst>
            </a:custGeom>
            <a:noFill/>
            <a:ln w="15875" cap="flat">
              <a:miter lim="800000"/>
              <a:headEnd type="non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69" name="TextBox 268"/>
          <p:cNvSpPr txBox="1"/>
          <p:nvPr/>
        </p:nvSpPr>
        <p:spPr>
          <a:xfrm>
            <a:off x="897626" y="4728471"/>
            <a:ext cx="338554" cy="49396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Image</a:t>
            </a:r>
          </a:p>
        </p:txBody>
      </p:sp>
      <p:cxnSp>
        <p:nvCxnSpPr>
          <p:cNvPr id="270" name="Straight Arrow Connector 269"/>
          <p:cNvCxnSpPr>
            <a:endCxn id="271" idx="1"/>
          </p:cNvCxnSpPr>
          <p:nvPr/>
        </p:nvCxnSpPr>
        <p:spPr>
          <a:xfrm flipV="1">
            <a:off x="1223533" y="4989597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Rectangle 270"/>
          <p:cNvSpPr/>
          <p:nvPr/>
        </p:nvSpPr>
        <p:spPr>
          <a:xfrm>
            <a:off x="1366180" y="4489534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conv,64</a:t>
            </a:r>
          </a:p>
        </p:txBody>
      </p:sp>
      <p:cxnSp>
        <p:nvCxnSpPr>
          <p:cNvPr id="272" name="Straight Arrow Connector 271"/>
          <p:cNvCxnSpPr>
            <a:endCxn id="273" idx="1"/>
          </p:cNvCxnSpPr>
          <p:nvPr/>
        </p:nvCxnSpPr>
        <p:spPr>
          <a:xfrm flipV="1">
            <a:off x="1465240" y="4989596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Rectangle 272"/>
          <p:cNvSpPr/>
          <p:nvPr/>
        </p:nvSpPr>
        <p:spPr>
          <a:xfrm>
            <a:off x="1607887" y="4489533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conv,64</a:t>
            </a:r>
          </a:p>
        </p:txBody>
      </p:sp>
      <p:cxnSp>
        <p:nvCxnSpPr>
          <p:cNvPr id="274" name="Straight Arrow Connector 273"/>
          <p:cNvCxnSpPr/>
          <p:nvPr/>
        </p:nvCxnSpPr>
        <p:spPr>
          <a:xfrm flipV="1">
            <a:off x="1706947" y="4989596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TextBox 274"/>
          <p:cNvSpPr txBox="1"/>
          <p:nvPr/>
        </p:nvSpPr>
        <p:spPr>
          <a:xfrm>
            <a:off x="1849594" y="4742611"/>
            <a:ext cx="338554" cy="49396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Pool, / 2</a:t>
            </a:r>
          </a:p>
        </p:txBody>
      </p:sp>
      <p:cxnSp>
        <p:nvCxnSpPr>
          <p:cNvPr id="276" name="Straight Arrow Connector 275"/>
          <p:cNvCxnSpPr>
            <a:endCxn id="277" idx="1"/>
          </p:cNvCxnSpPr>
          <p:nvPr/>
        </p:nvCxnSpPr>
        <p:spPr>
          <a:xfrm flipV="1">
            <a:off x="2189328" y="4989596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Rectangle 276"/>
          <p:cNvSpPr/>
          <p:nvPr/>
        </p:nvSpPr>
        <p:spPr>
          <a:xfrm>
            <a:off x="2331975" y="4489533"/>
            <a:ext cx="99060" cy="1000125"/>
          </a:xfrm>
          <a:prstGeom prst="rect">
            <a:avLst/>
          </a:prstGeom>
          <a:solidFill>
            <a:schemeClr val="accent3">
              <a:lumMod val="60000"/>
              <a:lumOff val="40000"/>
              <a:alpha val="7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conv,128</a:t>
            </a:r>
          </a:p>
        </p:txBody>
      </p:sp>
      <p:cxnSp>
        <p:nvCxnSpPr>
          <p:cNvPr id="278" name="Straight Arrow Connector 277"/>
          <p:cNvCxnSpPr>
            <a:endCxn id="279" idx="1"/>
          </p:cNvCxnSpPr>
          <p:nvPr/>
        </p:nvCxnSpPr>
        <p:spPr>
          <a:xfrm flipV="1">
            <a:off x="2438059" y="4989596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Rectangle 278"/>
          <p:cNvSpPr/>
          <p:nvPr/>
        </p:nvSpPr>
        <p:spPr>
          <a:xfrm>
            <a:off x="2580706" y="4489533"/>
            <a:ext cx="99060" cy="1000125"/>
          </a:xfrm>
          <a:prstGeom prst="rect">
            <a:avLst/>
          </a:prstGeom>
          <a:solidFill>
            <a:schemeClr val="accent3">
              <a:lumMod val="60000"/>
              <a:lumOff val="40000"/>
              <a:alpha val="7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conv,128</a:t>
            </a:r>
          </a:p>
        </p:txBody>
      </p:sp>
      <p:cxnSp>
        <p:nvCxnSpPr>
          <p:cNvPr id="280" name="Straight Arrow Connector 279"/>
          <p:cNvCxnSpPr/>
          <p:nvPr/>
        </p:nvCxnSpPr>
        <p:spPr>
          <a:xfrm flipV="1">
            <a:off x="2679766" y="4989596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TextBox 280"/>
          <p:cNvSpPr txBox="1"/>
          <p:nvPr/>
        </p:nvSpPr>
        <p:spPr>
          <a:xfrm>
            <a:off x="2813176" y="4742611"/>
            <a:ext cx="338554" cy="49396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Pool, / 2</a:t>
            </a:r>
          </a:p>
        </p:txBody>
      </p:sp>
      <p:cxnSp>
        <p:nvCxnSpPr>
          <p:cNvPr id="282" name="Straight Arrow Connector 281"/>
          <p:cNvCxnSpPr>
            <a:endCxn id="283" idx="1"/>
          </p:cNvCxnSpPr>
          <p:nvPr/>
        </p:nvCxnSpPr>
        <p:spPr>
          <a:xfrm flipV="1">
            <a:off x="3193437" y="4989596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Rectangle 282"/>
          <p:cNvSpPr/>
          <p:nvPr/>
        </p:nvSpPr>
        <p:spPr>
          <a:xfrm>
            <a:off x="3336084" y="4489533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284" name="Straight Arrow Connector 283"/>
          <p:cNvCxnSpPr>
            <a:endCxn id="285" idx="1"/>
          </p:cNvCxnSpPr>
          <p:nvPr/>
        </p:nvCxnSpPr>
        <p:spPr>
          <a:xfrm flipV="1">
            <a:off x="3435144" y="4989596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Rectangle 284"/>
          <p:cNvSpPr/>
          <p:nvPr/>
        </p:nvSpPr>
        <p:spPr>
          <a:xfrm>
            <a:off x="3577791" y="4489533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286" name="Straight Arrow Connector 285"/>
          <p:cNvCxnSpPr>
            <a:endCxn id="287" idx="1"/>
          </p:cNvCxnSpPr>
          <p:nvPr/>
        </p:nvCxnSpPr>
        <p:spPr>
          <a:xfrm flipV="1">
            <a:off x="3676851" y="4989596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Rectangle 286"/>
          <p:cNvSpPr/>
          <p:nvPr/>
        </p:nvSpPr>
        <p:spPr>
          <a:xfrm>
            <a:off x="3819498" y="4489533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288" name="Straight Arrow Connector 287"/>
          <p:cNvCxnSpPr>
            <a:endCxn id="289" idx="1"/>
          </p:cNvCxnSpPr>
          <p:nvPr/>
        </p:nvCxnSpPr>
        <p:spPr>
          <a:xfrm flipV="1">
            <a:off x="3918558" y="4989596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Rectangle 288"/>
          <p:cNvSpPr/>
          <p:nvPr/>
        </p:nvSpPr>
        <p:spPr>
          <a:xfrm>
            <a:off x="4061205" y="4489533"/>
            <a:ext cx="99060" cy="1000125"/>
          </a:xfrm>
          <a:prstGeom prst="rect">
            <a:avLst/>
          </a:prstGeom>
          <a:solidFill>
            <a:schemeClr val="accent6">
              <a:lumMod val="60000"/>
              <a:lumOff val="40000"/>
              <a:alpha val="58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conv,256</a:t>
            </a:r>
          </a:p>
        </p:txBody>
      </p:sp>
      <p:cxnSp>
        <p:nvCxnSpPr>
          <p:cNvPr id="290" name="Straight Arrow Connector 289"/>
          <p:cNvCxnSpPr/>
          <p:nvPr/>
        </p:nvCxnSpPr>
        <p:spPr>
          <a:xfrm flipV="1">
            <a:off x="4160265" y="4989594"/>
            <a:ext cx="483505" cy="4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4658893" y="4742611"/>
            <a:ext cx="338554" cy="49396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Pool, / 2</a:t>
            </a:r>
          </a:p>
        </p:txBody>
      </p:sp>
      <p:cxnSp>
        <p:nvCxnSpPr>
          <p:cNvPr id="293" name="Straight Arrow Connector 292"/>
          <p:cNvCxnSpPr>
            <a:endCxn id="294" idx="1"/>
          </p:cNvCxnSpPr>
          <p:nvPr/>
        </p:nvCxnSpPr>
        <p:spPr>
          <a:xfrm flipV="1">
            <a:off x="4998490" y="4989594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Rectangle 293"/>
          <p:cNvSpPr/>
          <p:nvPr/>
        </p:nvSpPr>
        <p:spPr>
          <a:xfrm>
            <a:off x="5141137" y="4489531"/>
            <a:ext cx="99060" cy="1000125"/>
          </a:xfrm>
          <a:prstGeom prst="rect">
            <a:avLst/>
          </a:prstGeom>
          <a:solidFill>
            <a:srgbClr val="00B050">
              <a:alpha val="42000"/>
            </a:srgb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</a:t>
            </a:r>
          </a:p>
        </p:txBody>
      </p:sp>
      <p:cxnSp>
        <p:nvCxnSpPr>
          <p:cNvPr id="295" name="Straight Arrow Connector 294"/>
          <p:cNvCxnSpPr>
            <a:endCxn id="296" idx="1"/>
          </p:cNvCxnSpPr>
          <p:nvPr/>
        </p:nvCxnSpPr>
        <p:spPr>
          <a:xfrm flipV="1">
            <a:off x="5240197" y="4989594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Rectangle 295"/>
          <p:cNvSpPr/>
          <p:nvPr/>
        </p:nvSpPr>
        <p:spPr>
          <a:xfrm>
            <a:off x="5382844" y="4489531"/>
            <a:ext cx="99060" cy="1000125"/>
          </a:xfrm>
          <a:prstGeom prst="rect">
            <a:avLst/>
          </a:prstGeom>
          <a:solidFill>
            <a:srgbClr val="00B050">
              <a:alpha val="42000"/>
            </a:srgb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</a:t>
            </a:r>
          </a:p>
        </p:txBody>
      </p:sp>
      <p:cxnSp>
        <p:nvCxnSpPr>
          <p:cNvPr id="297" name="Straight Arrow Connector 296"/>
          <p:cNvCxnSpPr>
            <a:endCxn id="298" idx="1"/>
          </p:cNvCxnSpPr>
          <p:nvPr/>
        </p:nvCxnSpPr>
        <p:spPr>
          <a:xfrm flipV="1">
            <a:off x="5481999" y="4989594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Rectangle 297"/>
          <p:cNvSpPr/>
          <p:nvPr/>
        </p:nvSpPr>
        <p:spPr>
          <a:xfrm>
            <a:off x="5624646" y="4489531"/>
            <a:ext cx="99060" cy="1000125"/>
          </a:xfrm>
          <a:prstGeom prst="rect">
            <a:avLst/>
          </a:prstGeom>
          <a:solidFill>
            <a:srgbClr val="00B050">
              <a:alpha val="42000"/>
            </a:srgb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</a:t>
            </a:r>
          </a:p>
        </p:txBody>
      </p:sp>
      <p:cxnSp>
        <p:nvCxnSpPr>
          <p:cNvPr id="299" name="Straight Arrow Connector 298"/>
          <p:cNvCxnSpPr>
            <a:endCxn id="300" idx="1"/>
          </p:cNvCxnSpPr>
          <p:nvPr/>
        </p:nvCxnSpPr>
        <p:spPr>
          <a:xfrm flipV="1">
            <a:off x="5723706" y="4989594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299"/>
          <p:cNvSpPr/>
          <p:nvPr/>
        </p:nvSpPr>
        <p:spPr>
          <a:xfrm>
            <a:off x="5866353" y="4489531"/>
            <a:ext cx="99060" cy="1000125"/>
          </a:xfrm>
          <a:prstGeom prst="rect">
            <a:avLst/>
          </a:prstGeom>
          <a:solidFill>
            <a:srgbClr val="00B050">
              <a:alpha val="42000"/>
            </a:srgb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9315496" y="4745627"/>
            <a:ext cx="338554" cy="49396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Pool, / 2</a:t>
            </a:r>
          </a:p>
        </p:txBody>
      </p:sp>
      <p:cxnSp>
        <p:nvCxnSpPr>
          <p:cNvPr id="304" name="Straight Arrow Connector 303"/>
          <p:cNvCxnSpPr>
            <a:stCxn id="303" idx="3"/>
            <a:endCxn id="311" idx="1"/>
          </p:cNvCxnSpPr>
          <p:nvPr/>
        </p:nvCxnSpPr>
        <p:spPr>
          <a:xfrm flipV="1">
            <a:off x="9654050" y="4992610"/>
            <a:ext cx="763632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Rectangle 310"/>
          <p:cNvSpPr/>
          <p:nvPr/>
        </p:nvSpPr>
        <p:spPr>
          <a:xfrm>
            <a:off x="10417682" y="4492547"/>
            <a:ext cx="99060" cy="1000125"/>
          </a:xfrm>
          <a:prstGeom prst="rect">
            <a:avLst/>
          </a:prstGeom>
          <a:solidFill>
            <a:srgbClr val="00B0F0">
              <a:alpha val="29000"/>
            </a:srgb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FC 4096</a:t>
            </a:r>
          </a:p>
        </p:txBody>
      </p:sp>
      <p:cxnSp>
        <p:nvCxnSpPr>
          <p:cNvPr id="312" name="Straight Arrow Connector 311"/>
          <p:cNvCxnSpPr/>
          <p:nvPr/>
        </p:nvCxnSpPr>
        <p:spPr>
          <a:xfrm flipV="1">
            <a:off x="10516998" y="4992608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Rectangle 312"/>
          <p:cNvSpPr/>
          <p:nvPr/>
        </p:nvSpPr>
        <p:spPr>
          <a:xfrm>
            <a:off x="10666056" y="4492545"/>
            <a:ext cx="99060" cy="1000125"/>
          </a:xfrm>
          <a:prstGeom prst="rect">
            <a:avLst/>
          </a:prstGeom>
          <a:solidFill>
            <a:srgbClr val="00B0F0">
              <a:alpha val="29000"/>
            </a:srgb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FC 4096</a:t>
            </a:r>
          </a:p>
        </p:txBody>
      </p:sp>
      <p:cxnSp>
        <p:nvCxnSpPr>
          <p:cNvPr id="314" name="Straight Arrow Connector 313"/>
          <p:cNvCxnSpPr/>
          <p:nvPr/>
        </p:nvCxnSpPr>
        <p:spPr>
          <a:xfrm flipV="1">
            <a:off x="10765372" y="4992606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Rectangle 316"/>
          <p:cNvSpPr/>
          <p:nvPr/>
        </p:nvSpPr>
        <p:spPr>
          <a:xfrm>
            <a:off x="10915635" y="4492543"/>
            <a:ext cx="99060" cy="1000125"/>
          </a:xfrm>
          <a:prstGeom prst="rect">
            <a:avLst/>
          </a:prstGeom>
          <a:solidFill>
            <a:srgbClr val="00B0F0">
              <a:alpha val="29000"/>
            </a:srgb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FC 1000</a:t>
            </a:r>
          </a:p>
        </p:txBody>
      </p:sp>
      <p:cxnSp>
        <p:nvCxnSpPr>
          <p:cNvPr id="318" name="Straight Arrow Connector 317"/>
          <p:cNvCxnSpPr/>
          <p:nvPr/>
        </p:nvCxnSpPr>
        <p:spPr>
          <a:xfrm flipV="1">
            <a:off x="11014951" y="4992604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TextBox 318"/>
          <p:cNvSpPr txBox="1"/>
          <p:nvPr/>
        </p:nvSpPr>
        <p:spPr>
          <a:xfrm>
            <a:off x="1164974" y="5652826"/>
            <a:ext cx="492443" cy="67378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Output</a:t>
            </a:r>
          </a:p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Size : 224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1935769" y="5652825"/>
            <a:ext cx="492443" cy="67378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Output</a:t>
            </a:r>
          </a:p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Size : 112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2992631" y="5676925"/>
            <a:ext cx="492443" cy="67378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Output</a:t>
            </a:r>
          </a:p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Size : 56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4860360" y="5676925"/>
            <a:ext cx="492443" cy="67378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Output</a:t>
            </a:r>
          </a:p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Size : 28</a:t>
            </a:r>
          </a:p>
        </p:txBody>
      </p:sp>
      <p:cxnSp>
        <p:nvCxnSpPr>
          <p:cNvPr id="324" name="Straight Arrow Connector 323"/>
          <p:cNvCxnSpPr>
            <a:endCxn id="325" idx="1"/>
          </p:cNvCxnSpPr>
          <p:nvPr/>
        </p:nvCxnSpPr>
        <p:spPr>
          <a:xfrm flipV="1">
            <a:off x="6805997" y="4989590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Rectangle 324"/>
          <p:cNvSpPr/>
          <p:nvPr/>
        </p:nvSpPr>
        <p:spPr>
          <a:xfrm>
            <a:off x="6948644" y="4489527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54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</a:t>
            </a:r>
          </a:p>
        </p:txBody>
      </p:sp>
      <p:cxnSp>
        <p:nvCxnSpPr>
          <p:cNvPr id="326" name="Straight Arrow Connector 325"/>
          <p:cNvCxnSpPr>
            <a:endCxn id="327" idx="1"/>
          </p:cNvCxnSpPr>
          <p:nvPr/>
        </p:nvCxnSpPr>
        <p:spPr>
          <a:xfrm flipV="1">
            <a:off x="7047704" y="4989590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Rectangle 326"/>
          <p:cNvSpPr/>
          <p:nvPr/>
        </p:nvSpPr>
        <p:spPr>
          <a:xfrm>
            <a:off x="7190351" y="4489527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54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</a:t>
            </a:r>
          </a:p>
        </p:txBody>
      </p:sp>
      <p:cxnSp>
        <p:nvCxnSpPr>
          <p:cNvPr id="328" name="Straight Arrow Connector 327"/>
          <p:cNvCxnSpPr>
            <a:endCxn id="329" idx="1"/>
          </p:cNvCxnSpPr>
          <p:nvPr/>
        </p:nvCxnSpPr>
        <p:spPr>
          <a:xfrm flipV="1">
            <a:off x="7289506" y="4989590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Rectangle 328"/>
          <p:cNvSpPr/>
          <p:nvPr/>
        </p:nvSpPr>
        <p:spPr>
          <a:xfrm>
            <a:off x="7432153" y="4489527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54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</a:t>
            </a:r>
          </a:p>
        </p:txBody>
      </p:sp>
      <p:cxnSp>
        <p:nvCxnSpPr>
          <p:cNvPr id="330" name="Straight Arrow Connector 329"/>
          <p:cNvCxnSpPr>
            <a:endCxn id="331" idx="1"/>
          </p:cNvCxnSpPr>
          <p:nvPr/>
        </p:nvCxnSpPr>
        <p:spPr>
          <a:xfrm flipV="1">
            <a:off x="7531213" y="4989590"/>
            <a:ext cx="142647" cy="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Rectangle 330"/>
          <p:cNvSpPr/>
          <p:nvPr/>
        </p:nvSpPr>
        <p:spPr>
          <a:xfrm>
            <a:off x="7673860" y="4489527"/>
            <a:ext cx="99060" cy="1000125"/>
          </a:xfrm>
          <a:prstGeom prst="rect">
            <a:avLst/>
          </a:prstGeom>
          <a:solidFill>
            <a:schemeClr val="accent2">
              <a:lumMod val="60000"/>
              <a:lumOff val="40000"/>
              <a:alpha val="54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800" b="1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3x3 conv,512</a:t>
            </a:r>
          </a:p>
        </p:txBody>
      </p:sp>
      <p:cxnSp>
        <p:nvCxnSpPr>
          <p:cNvPr id="332" name="Straight Arrow Connector 331"/>
          <p:cNvCxnSpPr/>
          <p:nvPr/>
        </p:nvCxnSpPr>
        <p:spPr>
          <a:xfrm flipV="1">
            <a:off x="5964051" y="4989594"/>
            <a:ext cx="483505" cy="4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TextBox 332"/>
          <p:cNvSpPr txBox="1"/>
          <p:nvPr/>
        </p:nvSpPr>
        <p:spPr>
          <a:xfrm>
            <a:off x="6462679" y="4742611"/>
            <a:ext cx="338554" cy="49396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Pool, / 2</a:t>
            </a:r>
          </a:p>
        </p:txBody>
      </p:sp>
      <p:cxnSp>
        <p:nvCxnSpPr>
          <p:cNvPr id="342" name="Straight Arrow Connector 341"/>
          <p:cNvCxnSpPr>
            <a:stCxn id="331" idx="3"/>
            <a:endCxn id="303" idx="1"/>
          </p:cNvCxnSpPr>
          <p:nvPr/>
        </p:nvCxnSpPr>
        <p:spPr>
          <a:xfrm>
            <a:off x="7772920" y="4989590"/>
            <a:ext cx="1542576" cy="3021"/>
          </a:xfrm>
          <a:prstGeom prst="straightConnector1">
            <a:avLst/>
          </a:prstGeom>
          <a:ln w="15875">
            <a:solidFill>
              <a:srgbClr val="FF0000">
                <a:alpha val="6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/>
          <p:cNvSpPr txBox="1"/>
          <p:nvPr/>
        </p:nvSpPr>
        <p:spPr>
          <a:xfrm>
            <a:off x="6626584" y="5542558"/>
            <a:ext cx="492443" cy="67378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Output</a:t>
            </a:r>
          </a:p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Size : 14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9139957" y="5481813"/>
            <a:ext cx="492443" cy="67378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Output</a:t>
            </a:r>
          </a:p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Size : 7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10125647" y="5536921"/>
            <a:ext cx="492443" cy="67378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Output</a:t>
            </a:r>
          </a:p>
          <a:p>
            <a:pPr algn="ctr"/>
            <a:r>
              <a:rPr lang="en-IN" sz="1000" b="1" dirty="0">
                <a:latin typeface="Arial Narrow" panose="020B0606020202030204" pitchFamily="34" charset="0"/>
              </a:rPr>
              <a:t>Size : 1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391404" y="4634844"/>
            <a:ext cx="430887" cy="709490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VGG-19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51" name="TextBox 350"/>
          <p:cNvSpPr txBox="1"/>
          <p:nvPr/>
        </p:nvSpPr>
        <p:spPr>
          <a:xfrm>
            <a:off x="372440" y="1720579"/>
            <a:ext cx="430887" cy="1321837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34 layer residual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372932" y="3138076"/>
            <a:ext cx="430887" cy="108779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34 layer plain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54" name="Rectangle 353"/>
          <p:cNvSpPr/>
          <p:nvPr/>
        </p:nvSpPr>
        <p:spPr>
          <a:xfrm>
            <a:off x="147154" y="6557718"/>
            <a:ext cx="1075360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Source: </a:t>
            </a:r>
            <a:r>
              <a:rPr lang="en-IN" sz="16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Kaiming</a:t>
            </a:r>
            <a:r>
              <a:rPr lang="en-IN" sz="16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He, </a:t>
            </a:r>
            <a:r>
              <a:rPr lang="en-IN" sz="16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Xiangyu</a:t>
            </a:r>
            <a:r>
              <a:rPr lang="en-IN" sz="16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Zhang, </a:t>
            </a:r>
            <a:r>
              <a:rPr lang="en-IN" sz="16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Shaoqing</a:t>
            </a:r>
            <a:r>
              <a:rPr lang="en-IN" sz="16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Ren, Jian Sun, </a:t>
            </a:r>
            <a:r>
              <a:rPr lang="en-US" sz="16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Deep Residual Learning for Image Recognition</a:t>
            </a:r>
            <a:endParaRPr lang="en-IN" sz="1600" dirty="0">
              <a:solidFill>
                <a:srgbClr val="00B0F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70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Introduction to </a:t>
            </a:r>
            <a:r>
              <a:rPr lang="en-US" sz="24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ResNet</a:t>
            </a:r>
            <a:endParaRPr lang="en-US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Residual (SKIP) Connection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Why SKIP connections are advantageous?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Res-Net Architecture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Performance of Res-Net</a:t>
            </a:r>
          </a:p>
        </p:txBody>
      </p:sp>
    </p:spTree>
    <p:extLst>
      <p:ext uri="{BB962C8B-B14F-4D97-AF65-F5344CB8AC3E}">
        <p14:creationId xmlns:p14="http://schemas.microsoft.com/office/powerpoint/2010/main" val="1912609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543688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CNN Model Architectures -II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Next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5: Part II</a:t>
            </a:r>
          </a:p>
        </p:txBody>
      </p:sp>
    </p:spTree>
    <p:extLst>
      <p:ext uri="{BB962C8B-B14F-4D97-AF65-F5344CB8AC3E}">
        <p14:creationId xmlns:p14="http://schemas.microsoft.com/office/powerpoint/2010/main" val="75728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8867</TotalTime>
  <Words>3543</Words>
  <Application>Microsoft Office PowerPoint</Application>
  <PresentationFormat>Widescreen</PresentationFormat>
  <Paragraphs>573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Arial Narrow</vt:lpstr>
      <vt:lpstr>Book Antiqua</vt:lpstr>
      <vt:lpstr>Calibri</vt:lpstr>
      <vt:lpstr>Calibri Light</vt:lpstr>
      <vt:lpstr>Cambria Math</vt:lpstr>
      <vt:lpstr>Century</vt:lpstr>
      <vt:lpstr>Times New Roman</vt:lpstr>
      <vt:lpstr>Office Theme</vt:lpstr>
      <vt:lpstr>     CNN with Residual Connections  ResNet  </vt:lpstr>
      <vt:lpstr>Content</vt:lpstr>
      <vt:lpstr>ImageNet Large Scale Visual Recognition Challenge (ILSVRC)</vt:lpstr>
      <vt:lpstr>Challenges for Deep Network</vt:lpstr>
      <vt:lpstr>Activation Function are not enough to handle Vanishing Gradient Problem Completely</vt:lpstr>
      <vt:lpstr>ResNet Basics</vt:lpstr>
      <vt:lpstr>Introducing SKIP Connection</vt:lpstr>
      <vt:lpstr>Advantages of SKIP Connections</vt:lpstr>
      <vt:lpstr>Normal CNN Nodes</vt:lpstr>
      <vt:lpstr>Normal CNN Nodes</vt:lpstr>
      <vt:lpstr>Vanishing Gradient Concept</vt:lpstr>
      <vt:lpstr>How SKIP Connection helps Vanishing  Gradient Problem ?</vt:lpstr>
      <vt:lpstr>Identity Mapping with SKIP Connections</vt:lpstr>
      <vt:lpstr>Identity Mapping with SKIP Connections</vt:lpstr>
      <vt:lpstr>Advantages of SKIP Connections</vt:lpstr>
      <vt:lpstr>Advantages of SKIP Connections</vt:lpstr>
      <vt:lpstr>ResNet Architecture</vt:lpstr>
      <vt:lpstr>ResNet Architecture</vt:lpstr>
      <vt:lpstr>ResNet Architecture</vt:lpstr>
      <vt:lpstr>ResNet Architecture</vt:lpstr>
      <vt:lpstr>ResNet Architecture</vt:lpstr>
      <vt:lpstr>ResNet Architecture</vt:lpstr>
      <vt:lpstr>ResNet Architecture</vt:lpstr>
      <vt:lpstr>ResNet Architecture</vt:lpstr>
      <vt:lpstr>Summary</vt:lpstr>
      <vt:lpstr>CNN Model Architectures -II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9 : Part A</dc:title>
  <dc:creator>Niloy</dc:creator>
  <cp:lastModifiedBy>HP</cp:lastModifiedBy>
  <cp:revision>262</cp:revision>
  <dcterms:created xsi:type="dcterms:W3CDTF">2026-07-03T13:22:07Z</dcterms:created>
  <dcterms:modified xsi:type="dcterms:W3CDTF">2026-07-29T16:04:41Z</dcterms:modified>
</cp:coreProperties>
</file>