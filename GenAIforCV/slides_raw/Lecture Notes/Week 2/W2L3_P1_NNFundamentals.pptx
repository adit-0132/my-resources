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8" r:id="rId3"/>
    <p:sldId id="269" r:id="rId4"/>
    <p:sldId id="270" r:id="rId5"/>
    <p:sldId id="271" r:id="rId6"/>
    <p:sldId id="272" r:id="rId7"/>
    <p:sldId id="274" r:id="rId8"/>
    <p:sldId id="275" r:id="rId9"/>
    <p:sldId id="276" r:id="rId10"/>
    <p:sldId id="277" r:id="rId11"/>
    <p:sldId id="278" r:id="rId12"/>
    <p:sldId id="280" r:id="rId13"/>
    <p:sldId id="2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C666-9590-4F39-BC17-470FD3350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25489-E7F8-47DC-88EC-756527342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44EA2-929D-4220-AB01-B25DC828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5E16-09EC-46EF-A8A6-AB517721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C1757-93EE-44DC-B339-B6C6C3ED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09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CBC9-139C-4F05-ABB6-D209E337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815CA-F7D3-4AFA-BE3F-95E366DD7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6108-2936-468D-BDCE-9EE516E1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6E84B-8FF9-48AB-82F0-DD2BDF1A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59FF-2686-4E46-B721-0182D1AA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0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04C8-972F-4D7D-B077-7BD767E5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72A98-DBAF-4C33-8256-08339658D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7195B-D509-4E08-AECC-916CEC85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FD12E-F591-4DE5-B8C9-DC71C126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7F50A-A950-4207-B9E3-4EA2D0DC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65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8ADB-FE25-427D-AE3C-00E2F93F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EC013-C791-43A3-B428-5CB0AC152B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E856C-7CF5-46A6-B819-422675B54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9E450-7FC3-408E-B65A-4CAC351A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1EF92-A131-4409-8073-D1771194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6E818-FDAE-432E-B76D-9CC4C110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7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E099-AED6-4473-80DE-C4525CD3D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14198-2834-4476-B223-0084DCEE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6DF61-CA8B-44F8-A0B5-ED6CDC5D7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33C49-2FB4-493B-A197-6F9A6BE7A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5B512-DFC9-4E14-A730-612948549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08766-A52F-4856-AAF1-FAC3E820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C6F66-7229-4160-927B-17C9D7E1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E199F-76BD-4137-8FF4-B1C6FC16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49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559F8-C430-4906-86D9-203F83AC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12CCD-9BC1-4183-81D0-1EA38786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7E6FE-026D-492F-A583-C7E91480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200E6-6DF6-4662-BA09-F7BD31F7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7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7BC4C-C3C3-4E32-8A85-25C6DAED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2F900-9634-498B-84FE-F25A4001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A2163-A7E0-4E78-BD6D-88A7637F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40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DDE1-45CB-47E4-9E41-52D81124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650B-8D72-44E4-A364-3B61C0460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E0AB4-1C42-4E6E-AD01-FE352405B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EE8C7-C4E8-4401-832E-33F26865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E287E-34C2-43D9-997B-26175B45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305D8-CAAC-420C-947D-1E8E93BE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82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CFA7-FF3E-4B7B-8363-14820F36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0B7CB-83CB-46CA-BB93-E860C67F7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B726C-C696-453E-A4D4-7C57D92C6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13ECE-5D2F-4BD8-8A8E-D8891E8C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E964C-75F5-4FAE-85A1-D8D5E5D4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91609-D4B4-4342-9D46-593DD2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64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3B46-6C50-42C2-BEE2-771D2F7E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A2470-129D-460E-A0ED-74565B094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BE51B-17CB-4E8D-9EFE-016C5613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02B59-D300-47C6-828B-21D087B6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E4AD-B9E1-4449-B99C-B97767CC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4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90081-F608-4E64-91F9-FC7FA1434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1D626-FF76-4026-91BD-83C0F78D6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AF2B0-E804-4C95-9C45-CDE99291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B8075-DF35-44BE-BCF8-8E55D6D8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E0EB5-ACC8-4918-A7B0-AC3BD96C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49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AB50E-B2B4-4DC6-ACFE-DD55EF0E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6453D-4943-4A15-A184-4051885FB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CACB-7F98-4A82-944B-4D99B9AE3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4BD4A-0956-42BF-8900-1E3AE7C027B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A0CA-CD9E-4C9B-AE5B-080CFE3B0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9BBCB-351F-4A04-B5B9-6ED9DCF5B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F3607-66AD-4E03-99EA-5F4FE79A5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5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12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240.png"/><Relationship Id="rId10" Type="http://schemas.openxmlformats.org/officeDocument/2006/relationships/image" Target="../media/image291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png"/><Relationship Id="rId13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0" Type="http://schemas.openxmlformats.org/officeDocument/2006/relationships/image" Target="../media/image270.png"/><Relationship Id="rId4" Type="http://schemas.openxmlformats.org/officeDocument/2006/relationships/image" Target="../media/image36.pn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Neural Network Fundamentals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3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ea typeface="Calibri Light"/>
                <a:cs typeface="Calibri Ligh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Neural Network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Application Domains for Neural Network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Single Layer Perceptron (SLP)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SLP: Training Algorithm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SLP: Applications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SLP: Limitations</a:t>
            </a:r>
          </a:p>
        </p:txBody>
      </p:sp>
    </p:spTree>
    <p:extLst>
      <p:ext uri="{BB962C8B-B14F-4D97-AF65-F5344CB8AC3E}">
        <p14:creationId xmlns:p14="http://schemas.microsoft.com/office/powerpoint/2010/main" val="15706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Components of a Biological Neuron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5392267" cy="4351338"/>
          </a:xfrm>
        </p:spPr>
        <p:txBody>
          <a:bodyPr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 Narrow" panose="020B0606020202030204" pitchFamily="34" charset="0"/>
              </a:rPr>
              <a:t>A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biological neuron </a:t>
            </a:r>
            <a:r>
              <a:rPr lang="en-US" altLang="en-US" sz="2400" dirty="0">
                <a:latin typeface="Arial Narrow" panose="020B0606020202030204" pitchFamily="34" charset="0"/>
              </a:rPr>
              <a:t>consists of a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cell body </a:t>
            </a:r>
            <a:r>
              <a:rPr lang="en-US" altLang="en-US" sz="2400" dirty="0">
                <a:latin typeface="Arial Narrow" panose="020B0606020202030204" pitchFamily="34" charset="0"/>
              </a:rPr>
              <a:t>(soma),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dendrites</a:t>
            </a:r>
            <a:r>
              <a:rPr lang="en-US" altLang="en-US" sz="2400" dirty="0">
                <a:latin typeface="Arial Narrow" panose="020B0606020202030204" pitchFamily="34" charset="0"/>
              </a:rPr>
              <a:t> that receive inputs, and an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axon</a:t>
            </a:r>
            <a:r>
              <a:rPr lang="en-US" altLang="en-US" sz="2400" dirty="0">
                <a:latin typeface="Arial Narrow" panose="020B0606020202030204" pitchFamily="34" charset="0"/>
              </a:rPr>
              <a:t> that sends outputs.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 Narrow" panose="020B0606020202030204" pitchFamily="34" charset="0"/>
              </a:rPr>
              <a:t>Neurons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communicate</a:t>
            </a:r>
            <a:r>
              <a:rPr lang="en-US" altLang="en-US" sz="2400" dirty="0">
                <a:latin typeface="Arial Narrow" panose="020B0606020202030204" pitchFamily="34" charset="0"/>
              </a:rPr>
              <a:t> through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synapses</a:t>
            </a:r>
            <a:r>
              <a:rPr lang="en-US" altLang="en-US" sz="2400" dirty="0">
                <a:latin typeface="Arial Narrow" panose="020B0606020202030204" pitchFamily="34" charset="0"/>
              </a:rPr>
              <a:t>, where the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axon of one neuron </a:t>
            </a:r>
            <a:r>
              <a:rPr lang="en-US" altLang="en-US" sz="2400" dirty="0">
                <a:latin typeface="Arial Narrow" panose="020B0606020202030204" pitchFamily="34" charset="0"/>
              </a:rPr>
              <a:t>connects to the </a:t>
            </a: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dendrite of another neuron</a:t>
            </a:r>
            <a:r>
              <a:rPr lang="en-US" altLang="en-US" sz="2400" dirty="0">
                <a:latin typeface="Arial Narrow" panose="020B0606020202030204" pitchFamily="34" charset="0"/>
              </a:rPr>
              <a:t>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Electrochemical</a:t>
            </a:r>
            <a:r>
              <a:rPr lang="en-US" altLang="en-US" sz="2400" dirty="0">
                <a:latin typeface="Arial Narrow" panose="020B0606020202030204" pitchFamily="34" charset="0"/>
              </a:rPr>
              <a:t> signals travel from the dendrites through the cell body and along the axon, allowing information to be processed and transmitted throughout the nervous system. 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390932" y="2121130"/>
            <a:ext cx="5477522" cy="3533606"/>
            <a:chOff x="6187736" y="1908698"/>
            <a:chExt cx="5477522" cy="3533606"/>
          </a:xfrm>
        </p:grpSpPr>
        <p:sp>
          <p:nvSpPr>
            <p:cNvPr id="4" name="Rounded Rectangle 3"/>
            <p:cNvSpPr/>
            <p:nvPr/>
          </p:nvSpPr>
          <p:spPr>
            <a:xfrm>
              <a:off x="6187736" y="1908698"/>
              <a:ext cx="5477522" cy="2938509"/>
            </a:xfrm>
            <a:prstGeom prst="roundRect">
              <a:avLst/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92445" y="2227481"/>
              <a:ext cx="4861355" cy="2145863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>
              <a:stCxn id="10" idx="2"/>
            </p:cNvCxnSpPr>
            <p:nvPr/>
          </p:nvCxnSpPr>
          <p:spPr>
            <a:xfrm flipH="1" flipV="1">
              <a:off x="7660644" y="3262289"/>
              <a:ext cx="857518" cy="442936"/>
            </a:xfrm>
            <a:prstGeom prst="straightConnector1">
              <a:avLst/>
            </a:prstGeom>
            <a:ln w="952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8518162" y="3520559"/>
              <a:ext cx="679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rial Narrow" panose="020B0606020202030204" pitchFamily="34" charset="0"/>
                </a:rPr>
                <a:t>Soma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518162" y="3520559"/>
              <a:ext cx="679994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3" name="Straight Arrow Connector 12"/>
            <p:cNvCxnSpPr>
              <a:stCxn id="15" idx="0"/>
            </p:cNvCxnSpPr>
            <p:nvPr/>
          </p:nvCxnSpPr>
          <p:spPr>
            <a:xfrm flipV="1">
              <a:off x="10834834" y="3262289"/>
              <a:ext cx="325017" cy="503795"/>
            </a:xfrm>
            <a:prstGeom prst="straightConnector1">
              <a:avLst/>
            </a:prstGeom>
            <a:ln w="952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10279055" y="3778932"/>
              <a:ext cx="1060697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359768" y="3766084"/>
              <a:ext cx="950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rial Narrow" panose="020B0606020202030204" pitchFamily="34" charset="0"/>
                </a:rPr>
                <a:t>Synapse</a:t>
              </a:r>
            </a:p>
          </p:txBody>
        </p:sp>
        <p:cxnSp>
          <p:nvCxnSpPr>
            <p:cNvPr id="20" name="Straight Arrow Connector 19"/>
            <p:cNvCxnSpPr>
              <a:stCxn id="25" idx="4"/>
            </p:cNvCxnSpPr>
            <p:nvPr/>
          </p:nvCxnSpPr>
          <p:spPr>
            <a:xfrm flipH="1">
              <a:off x="9701338" y="3005249"/>
              <a:ext cx="1923" cy="374531"/>
            </a:xfrm>
            <a:prstGeom prst="straightConnector1">
              <a:avLst/>
            </a:prstGeom>
            <a:ln w="952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9386222" y="2635917"/>
              <a:ext cx="634078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400512" y="2613385"/>
              <a:ext cx="6197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Arial Narrow" panose="020B0606020202030204" pitchFamily="34" charset="0"/>
                </a:rPr>
                <a:t>Axon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8256224" y="4445221"/>
              <a:ext cx="1060697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36937" y="4432373"/>
              <a:ext cx="9012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rial Narrow" panose="020B0606020202030204" pitchFamily="34" charset="0"/>
                </a:rPr>
                <a:t>Dendrite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851116" y="4919084"/>
              <a:ext cx="24929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dirty="0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</a:rPr>
                <a:t>Biological Neuron</a:t>
              </a:r>
            </a:p>
          </p:txBody>
        </p:sp>
      </p:grpSp>
      <p:cxnSp>
        <p:nvCxnSpPr>
          <p:cNvPr id="24" name="Straight Arrow Connector 23"/>
          <p:cNvCxnSpPr>
            <a:stCxn id="28" idx="2"/>
          </p:cNvCxnSpPr>
          <p:nvPr/>
        </p:nvCxnSpPr>
        <p:spPr>
          <a:xfrm flipH="1" flipV="1">
            <a:off x="7642259" y="4403531"/>
            <a:ext cx="817161" cy="438788"/>
          </a:xfrm>
          <a:prstGeom prst="straightConnector1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5BC0DB3-76E5-4CD2-8BA5-AEC0C5838B49}"/>
              </a:ext>
            </a:extLst>
          </p:cNvPr>
          <p:cNvSpPr/>
          <p:nvPr/>
        </p:nvSpPr>
        <p:spPr>
          <a:xfrm>
            <a:off x="5921465" y="6304413"/>
            <a:ext cx="61366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Image Source: </a:t>
            </a:r>
            <a:r>
              <a:rPr lang="en-IN" dirty="0" err="1">
                <a:latin typeface="Arial Narrow" panose="020B0606020202030204" pitchFamily="34" charset="0"/>
              </a:rPr>
              <a:t>Stoianov</a:t>
            </a:r>
            <a:r>
              <a:rPr lang="en-IN" dirty="0">
                <a:latin typeface="Arial Narrow" panose="020B0606020202030204" pitchFamily="34" charset="0"/>
              </a:rPr>
              <a:t>, </a:t>
            </a:r>
            <a:r>
              <a:rPr lang="en-IN" dirty="0" err="1">
                <a:latin typeface="Arial Narrow" panose="020B0606020202030204" pitchFamily="34" charset="0"/>
              </a:rPr>
              <a:t>Ivilin</a:t>
            </a:r>
            <a:r>
              <a:rPr lang="en-IN" dirty="0">
                <a:latin typeface="Arial Narrow" panose="020B0606020202030204" pitchFamily="34" charset="0"/>
              </a:rPr>
              <a:t>. (2001). Connectionist lexical processing.</a:t>
            </a:r>
          </a:p>
        </p:txBody>
      </p:sp>
    </p:spTree>
    <p:extLst>
      <p:ext uri="{BB962C8B-B14F-4D97-AF65-F5344CB8AC3E}">
        <p14:creationId xmlns:p14="http://schemas.microsoft.com/office/powerpoint/2010/main" val="143810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ounded Rectangle 175"/>
          <p:cNvSpPr/>
          <p:nvPr/>
        </p:nvSpPr>
        <p:spPr>
          <a:xfrm>
            <a:off x="620395" y="1362120"/>
            <a:ext cx="4703226" cy="25182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Rectangle 164"/>
          <p:cNvSpPr/>
          <p:nvPr/>
        </p:nvSpPr>
        <p:spPr>
          <a:xfrm>
            <a:off x="1069589" y="3378838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Rectangle 163"/>
          <p:cNvSpPr/>
          <p:nvPr/>
        </p:nvSpPr>
        <p:spPr>
          <a:xfrm>
            <a:off x="1069589" y="2494906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Rectangle 162"/>
          <p:cNvSpPr/>
          <p:nvPr/>
        </p:nvSpPr>
        <p:spPr>
          <a:xfrm>
            <a:off x="1069589" y="1887120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724" y="212724"/>
            <a:ext cx="10515600" cy="106362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Introduction to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32"/>
              <p:cNvSpPr txBox="1"/>
              <p:nvPr/>
            </p:nvSpPr>
            <p:spPr>
              <a:xfrm>
                <a:off x="1090763" y="1808265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40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63" y="1808265"/>
                <a:ext cx="323760" cy="362984"/>
              </a:xfrm>
              <a:prstGeom prst="rect">
                <a:avLst/>
              </a:prstGeom>
              <a:blipFill>
                <a:blip r:embed="rId2"/>
                <a:stretch>
                  <a:fillRect r="-11321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34"/>
              <p:cNvSpPr txBox="1"/>
              <p:nvPr/>
            </p:nvSpPr>
            <p:spPr>
              <a:xfrm>
                <a:off x="1090763" y="2436384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42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63" y="2436384"/>
                <a:ext cx="323760" cy="362984"/>
              </a:xfrm>
              <a:prstGeom prst="rect">
                <a:avLst/>
              </a:prstGeom>
              <a:blipFill>
                <a:blip r:embed="rId3"/>
                <a:stretch>
                  <a:fillRect r="-13208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36"/>
              <p:cNvSpPr txBox="1"/>
              <p:nvPr/>
            </p:nvSpPr>
            <p:spPr>
              <a:xfrm>
                <a:off x="1060239" y="3334059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44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239" y="3334059"/>
                <a:ext cx="323760" cy="362984"/>
              </a:xfrm>
              <a:prstGeom prst="rect">
                <a:avLst/>
              </a:prstGeom>
              <a:blipFill>
                <a:blip r:embed="rId4"/>
                <a:stretch>
                  <a:fillRect r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TextBox 37"/>
          <p:cNvSpPr txBox="1"/>
          <p:nvPr/>
        </p:nvSpPr>
        <p:spPr>
          <a:xfrm>
            <a:off x="1154879" y="2652394"/>
            <a:ext cx="195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latin typeface="Arial Narrow" panose="020B0606020202030204" pitchFamily="34" charset="0"/>
              </a:rPr>
              <a:t>.</a:t>
            </a:r>
          </a:p>
          <a:p>
            <a:r>
              <a:rPr lang="en-IN" sz="1400" b="1" dirty="0">
                <a:latin typeface="Arial Narrow" panose="020B0606020202030204" pitchFamily="34" charset="0"/>
              </a:rPr>
              <a:t>..</a:t>
            </a:r>
          </a:p>
        </p:txBody>
      </p:sp>
      <p:cxnSp>
        <p:nvCxnSpPr>
          <p:cNvPr id="147" name="Straight Arrow Connector 146"/>
          <p:cNvCxnSpPr>
            <a:stCxn id="163" idx="3"/>
            <a:endCxn id="3" idx="2"/>
          </p:cNvCxnSpPr>
          <p:nvPr/>
        </p:nvCxnSpPr>
        <p:spPr>
          <a:xfrm>
            <a:off x="1466061" y="2045587"/>
            <a:ext cx="642110" cy="660271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164" idx="3"/>
            <a:endCxn id="3" idx="2"/>
          </p:cNvCxnSpPr>
          <p:nvPr/>
        </p:nvCxnSpPr>
        <p:spPr>
          <a:xfrm>
            <a:off x="1466061" y="2653373"/>
            <a:ext cx="642110" cy="52485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>
            <a:stCxn id="165" idx="3"/>
            <a:endCxn id="3" idx="2"/>
          </p:cNvCxnSpPr>
          <p:nvPr/>
        </p:nvCxnSpPr>
        <p:spPr>
          <a:xfrm flipV="1">
            <a:off x="1466061" y="2705858"/>
            <a:ext cx="642110" cy="831447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47"/>
              <p:cNvSpPr txBox="1"/>
              <p:nvPr/>
            </p:nvSpPr>
            <p:spPr>
              <a:xfrm>
                <a:off x="2414450" y="1584127"/>
                <a:ext cx="625853" cy="338554"/>
              </a:xfrm>
              <a:prstGeom prst="rect">
                <a:avLst/>
              </a:prstGeom>
              <a:solidFill>
                <a:schemeClr val="accent2">
                  <a:lumMod val="75000"/>
                  <a:alpha val="79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=1</a:t>
                </a:r>
              </a:p>
            </p:txBody>
          </p:sp>
        </mc:Choice>
        <mc:Fallback xmlns="">
          <p:sp>
            <p:nvSpPr>
              <p:cNvPr id="150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50" y="1584127"/>
                <a:ext cx="625853" cy="338554"/>
              </a:xfrm>
              <a:prstGeom prst="rect">
                <a:avLst/>
              </a:prstGeom>
              <a:blipFill>
                <a:blip r:embed="rId5"/>
                <a:stretch>
                  <a:fillRect t="-1754" b="-22807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" name="Straight Arrow Connector 150"/>
          <p:cNvCxnSpPr>
            <a:stCxn id="150" idx="2"/>
            <a:endCxn id="3" idx="0"/>
          </p:cNvCxnSpPr>
          <p:nvPr/>
        </p:nvCxnSpPr>
        <p:spPr>
          <a:xfrm flipH="1">
            <a:off x="2725799" y="1922681"/>
            <a:ext cx="1578" cy="288097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stCxn id="3" idx="6"/>
            <a:endCxn id="153" idx="1"/>
          </p:cNvCxnSpPr>
          <p:nvPr/>
        </p:nvCxnSpPr>
        <p:spPr>
          <a:xfrm>
            <a:off x="3343426" y="2705858"/>
            <a:ext cx="496295" cy="1878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Picture 1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721" y="2560960"/>
            <a:ext cx="346189" cy="29355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54" name="Straight Arrow Connector 153"/>
          <p:cNvCxnSpPr>
            <a:stCxn id="153" idx="3"/>
            <a:endCxn id="155" idx="1"/>
          </p:cNvCxnSpPr>
          <p:nvPr/>
        </p:nvCxnSpPr>
        <p:spPr>
          <a:xfrm>
            <a:off x="4185910" y="2707736"/>
            <a:ext cx="335023" cy="4265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58"/>
          <p:cNvSpPr txBox="1"/>
          <p:nvPr/>
        </p:nvSpPr>
        <p:spPr>
          <a:xfrm>
            <a:off x="4520933" y="2573501"/>
            <a:ext cx="657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Output  </a:t>
            </a:r>
          </a:p>
        </p:txBody>
      </p:sp>
      <p:sp>
        <p:nvSpPr>
          <p:cNvPr id="156" name="TextBox 60"/>
          <p:cNvSpPr txBox="1"/>
          <p:nvPr/>
        </p:nvSpPr>
        <p:spPr>
          <a:xfrm>
            <a:off x="3492813" y="2876731"/>
            <a:ext cx="12525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Activation function</a:t>
            </a:r>
          </a:p>
        </p:txBody>
      </p:sp>
      <p:sp>
        <p:nvSpPr>
          <p:cNvPr id="159" name="TextBox 66"/>
          <p:cNvSpPr txBox="1"/>
          <p:nvPr/>
        </p:nvSpPr>
        <p:spPr>
          <a:xfrm>
            <a:off x="958515" y="1470242"/>
            <a:ext cx="685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Inputs  </a:t>
            </a:r>
          </a:p>
        </p:txBody>
      </p:sp>
      <p:sp>
        <p:nvSpPr>
          <p:cNvPr id="160" name="TextBox 67"/>
          <p:cNvSpPr txBox="1"/>
          <p:nvPr/>
        </p:nvSpPr>
        <p:spPr>
          <a:xfrm>
            <a:off x="3060140" y="1627600"/>
            <a:ext cx="657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43"/>
              <p:cNvSpPr txBox="1"/>
              <p:nvPr/>
            </p:nvSpPr>
            <p:spPr>
              <a:xfrm>
                <a:off x="1648219" y="1931842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5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219" y="1931842"/>
                <a:ext cx="323760" cy="362984"/>
              </a:xfrm>
              <a:prstGeom prst="rect">
                <a:avLst/>
              </a:prstGeom>
              <a:blipFill>
                <a:blip r:embed="rId7"/>
                <a:stretch>
                  <a:fillRect r="-26415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44"/>
              <p:cNvSpPr txBox="1"/>
              <p:nvPr/>
            </p:nvSpPr>
            <p:spPr>
              <a:xfrm>
                <a:off x="1625236" y="2547963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6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236" y="2547963"/>
                <a:ext cx="323760" cy="362984"/>
              </a:xfrm>
              <a:prstGeom prst="rect">
                <a:avLst/>
              </a:prstGeom>
              <a:blipFill>
                <a:blip r:embed="rId8"/>
                <a:stretch>
                  <a:fillRect r="-26415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45"/>
              <p:cNvSpPr txBox="1"/>
              <p:nvPr/>
            </p:nvSpPr>
            <p:spPr>
              <a:xfrm>
                <a:off x="1767096" y="3059343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7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096" y="3059343"/>
                <a:ext cx="323760" cy="362984"/>
              </a:xfrm>
              <a:prstGeom prst="rect">
                <a:avLst/>
              </a:prstGeom>
              <a:blipFill>
                <a:blip r:embed="rId9"/>
                <a:stretch>
                  <a:fillRect r="-245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48"/>
              <p:cNvSpPr txBox="1"/>
              <p:nvPr/>
            </p:nvSpPr>
            <p:spPr>
              <a:xfrm>
                <a:off x="2819163" y="1872224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8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163" y="1872224"/>
                <a:ext cx="323760" cy="362984"/>
              </a:xfrm>
              <a:prstGeom prst="rect">
                <a:avLst/>
              </a:prstGeom>
              <a:blipFill>
                <a:blip r:embed="rId10"/>
                <a:stretch>
                  <a:fillRect r="-25926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TextBox 176"/>
          <p:cNvSpPr txBox="1"/>
          <p:nvPr/>
        </p:nvSpPr>
        <p:spPr>
          <a:xfrm>
            <a:off x="2296502" y="3895031"/>
            <a:ext cx="1669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Artificial Neuron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/>
              <p:cNvSpPr/>
              <p:nvPr/>
            </p:nvSpPr>
            <p:spPr>
              <a:xfrm>
                <a:off x="2108171" y="2210778"/>
                <a:ext cx="1235255" cy="99016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Oval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171" y="2210778"/>
                <a:ext cx="1235255" cy="99016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Oval 126"/>
          <p:cNvSpPr/>
          <p:nvPr/>
        </p:nvSpPr>
        <p:spPr>
          <a:xfrm>
            <a:off x="8228618" y="3189406"/>
            <a:ext cx="760095" cy="589863"/>
          </a:xfrm>
          <a:prstGeom prst="ellipse">
            <a:avLst/>
          </a:prstGeom>
          <a:solidFill>
            <a:schemeClr val="bg1"/>
          </a:solidFill>
          <a:ln>
            <a:solidFill>
              <a:srgbClr val="FF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8" name="Group 127"/>
          <p:cNvGrpSpPr/>
          <p:nvPr/>
        </p:nvGrpSpPr>
        <p:grpSpPr>
          <a:xfrm>
            <a:off x="9257638" y="1584127"/>
            <a:ext cx="2276476" cy="3381376"/>
            <a:chOff x="1238249" y="1904999"/>
            <a:chExt cx="2562225" cy="3809989"/>
          </a:xfrm>
        </p:grpSpPr>
        <p:sp>
          <p:nvSpPr>
            <p:cNvPr id="129" name="Oval 128"/>
            <p:cNvSpPr/>
            <p:nvPr/>
          </p:nvSpPr>
          <p:spPr>
            <a:xfrm>
              <a:off x="1457325" y="2867025"/>
              <a:ext cx="2124075" cy="51435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38249" y="1904999"/>
              <a:ext cx="2562225" cy="61912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Rounded Rectangle 130"/>
            <p:cNvSpPr/>
            <p:nvPr/>
          </p:nvSpPr>
          <p:spPr>
            <a:xfrm>
              <a:off x="1428750" y="2095500"/>
              <a:ext cx="295275" cy="2476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1895475" y="2095500"/>
              <a:ext cx="295275" cy="2476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3" name="Rounded Rectangle 132"/>
            <p:cNvSpPr/>
            <p:nvPr/>
          </p:nvSpPr>
          <p:spPr>
            <a:xfrm>
              <a:off x="2362200" y="2095500"/>
              <a:ext cx="295275" cy="2476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4" name="Rounded Rectangle 133"/>
            <p:cNvSpPr/>
            <p:nvPr/>
          </p:nvSpPr>
          <p:spPr>
            <a:xfrm>
              <a:off x="2828925" y="2095500"/>
              <a:ext cx="295275" cy="2476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Rounded Rectangle 138"/>
            <p:cNvSpPr/>
            <p:nvPr/>
          </p:nvSpPr>
          <p:spPr>
            <a:xfrm>
              <a:off x="3295650" y="2095500"/>
              <a:ext cx="295275" cy="2476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Rounded Rectangle 140"/>
            <p:cNvSpPr/>
            <p:nvPr/>
          </p:nvSpPr>
          <p:spPr>
            <a:xfrm>
              <a:off x="1657351" y="3000373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Rounded Rectangle 142"/>
            <p:cNvSpPr/>
            <p:nvPr/>
          </p:nvSpPr>
          <p:spPr>
            <a:xfrm>
              <a:off x="2124076" y="3000373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2590801" y="3005135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58" name="Rounded Rectangle 157"/>
            <p:cNvSpPr/>
            <p:nvPr/>
          </p:nvSpPr>
          <p:spPr>
            <a:xfrm>
              <a:off x="3057526" y="3000373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1" name="Down Arrow 160"/>
            <p:cNvSpPr/>
            <p:nvPr/>
          </p:nvSpPr>
          <p:spPr>
            <a:xfrm>
              <a:off x="2362200" y="2524124"/>
              <a:ext cx="285750" cy="34289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2" name="Oval 161"/>
            <p:cNvSpPr/>
            <p:nvPr/>
          </p:nvSpPr>
          <p:spPr>
            <a:xfrm>
              <a:off x="1457325" y="3733796"/>
              <a:ext cx="2124075" cy="51435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1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6" name="Rounded Rectangle 165"/>
            <p:cNvSpPr/>
            <p:nvPr/>
          </p:nvSpPr>
          <p:spPr>
            <a:xfrm>
              <a:off x="1666876" y="3867144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2133601" y="3867144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8" name="Rounded Rectangle 167"/>
            <p:cNvSpPr/>
            <p:nvPr/>
          </p:nvSpPr>
          <p:spPr>
            <a:xfrm>
              <a:off x="2600326" y="3871906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9" name="Rounded Rectangle 168"/>
            <p:cNvSpPr/>
            <p:nvPr/>
          </p:nvSpPr>
          <p:spPr>
            <a:xfrm>
              <a:off x="3067051" y="3867144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0" name="Down Arrow 169"/>
            <p:cNvSpPr/>
            <p:nvPr/>
          </p:nvSpPr>
          <p:spPr>
            <a:xfrm>
              <a:off x="2371725" y="3390895"/>
              <a:ext cx="285750" cy="34289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1" name="Oval 170"/>
            <p:cNvSpPr/>
            <p:nvPr/>
          </p:nvSpPr>
          <p:spPr>
            <a:xfrm>
              <a:off x="1466850" y="4600567"/>
              <a:ext cx="2124075" cy="51435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1666876" y="4733915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3" name="Rounded Rectangle 172"/>
            <p:cNvSpPr/>
            <p:nvPr/>
          </p:nvSpPr>
          <p:spPr>
            <a:xfrm>
              <a:off x="2133601" y="4733915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" name="Rounded Rectangle 173"/>
            <p:cNvSpPr/>
            <p:nvPr/>
          </p:nvSpPr>
          <p:spPr>
            <a:xfrm>
              <a:off x="2600326" y="4738677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5" name="Rounded Rectangle 174"/>
            <p:cNvSpPr/>
            <p:nvPr/>
          </p:nvSpPr>
          <p:spPr>
            <a:xfrm>
              <a:off x="3067051" y="4733915"/>
              <a:ext cx="295275" cy="24765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9" name="Down Arrow 178"/>
            <p:cNvSpPr/>
            <p:nvPr/>
          </p:nvSpPr>
          <p:spPr>
            <a:xfrm>
              <a:off x="2371725" y="4257666"/>
              <a:ext cx="285750" cy="34289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2362200" y="5467338"/>
              <a:ext cx="295275" cy="247650"/>
            </a:xfrm>
            <a:prstGeom prst="roundRect">
              <a:avLst/>
            </a:prstGeom>
            <a:solidFill>
              <a:srgbClr val="C00000">
                <a:alpha val="62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3" name="Down Arrow 182"/>
            <p:cNvSpPr/>
            <p:nvPr/>
          </p:nvSpPr>
          <p:spPr>
            <a:xfrm>
              <a:off x="2362200" y="5114899"/>
              <a:ext cx="285750" cy="34289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84" name="Left Bracket 183"/>
          <p:cNvSpPr/>
          <p:nvPr/>
        </p:nvSpPr>
        <p:spPr>
          <a:xfrm>
            <a:off x="9340104" y="2485549"/>
            <a:ext cx="103714" cy="1994998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5" name="Straight Arrow Connector 184"/>
          <p:cNvCxnSpPr>
            <a:stCxn id="184" idx="1"/>
            <a:endCxn id="127" idx="6"/>
          </p:cNvCxnSpPr>
          <p:nvPr/>
        </p:nvCxnSpPr>
        <p:spPr>
          <a:xfrm flipH="1">
            <a:off x="8988713" y="3483048"/>
            <a:ext cx="351391" cy="129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8248454" y="3192536"/>
            <a:ext cx="765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Hidden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187" name="Left Bracket 186"/>
          <p:cNvSpPr/>
          <p:nvPr/>
        </p:nvSpPr>
        <p:spPr>
          <a:xfrm>
            <a:off x="9172864" y="1613710"/>
            <a:ext cx="100966" cy="569596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8" name="Straight Arrow Connector 187"/>
          <p:cNvCxnSpPr>
            <a:stCxn id="187" idx="1"/>
          </p:cNvCxnSpPr>
          <p:nvPr/>
        </p:nvCxnSpPr>
        <p:spPr>
          <a:xfrm flipH="1">
            <a:off x="8994748" y="1898508"/>
            <a:ext cx="178116" cy="95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8313706" y="1613710"/>
            <a:ext cx="697233" cy="584775"/>
          </a:xfrm>
          <a:prstGeom prst="ellipse">
            <a:avLst/>
          </a:prstGeom>
          <a:solidFill>
            <a:schemeClr val="bg1"/>
          </a:solidFill>
          <a:ln>
            <a:solidFill>
              <a:srgbClr val="FF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0" name="TextBox 189"/>
          <p:cNvSpPr txBox="1"/>
          <p:nvPr/>
        </p:nvSpPr>
        <p:spPr>
          <a:xfrm>
            <a:off x="8264179" y="1598531"/>
            <a:ext cx="82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Input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191" name="Left Bracket 190"/>
          <p:cNvSpPr/>
          <p:nvPr/>
        </p:nvSpPr>
        <p:spPr>
          <a:xfrm>
            <a:off x="10072024" y="4737244"/>
            <a:ext cx="45719" cy="285408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2" name="Straight Arrow Connector 191"/>
          <p:cNvCxnSpPr>
            <a:stCxn id="191" idx="1"/>
            <a:endCxn id="193" idx="6"/>
          </p:cNvCxnSpPr>
          <p:nvPr/>
        </p:nvCxnSpPr>
        <p:spPr>
          <a:xfrm flipH="1" flipV="1">
            <a:off x="8937364" y="4870145"/>
            <a:ext cx="1134660" cy="980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8240131" y="4577757"/>
            <a:ext cx="697233" cy="584775"/>
          </a:xfrm>
          <a:prstGeom prst="ellipse">
            <a:avLst/>
          </a:prstGeom>
          <a:solidFill>
            <a:schemeClr val="bg1"/>
          </a:solidFill>
          <a:ln>
            <a:solidFill>
              <a:srgbClr val="FF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TextBox 193"/>
          <p:cNvSpPr txBox="1"/>
          <p:nvPr/>
        </p:nvSpPr>
        <p:spPr>
          <a:xfrm>
            <a:off x="8159337" y="4587560"/>
            <a:ext cx="82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371191" y="5374287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Arial Narrow" panose="020B0606020202030204" pitchFamily="34" charset="0"/>
              </a:rPr>
              <a:t>Neural Network</a:t>
            </a:r>
          </a:p>
        </p:txBody>
      </p:sp>
      <p:sp>
        <p:nvSpPr>
          <p:cNvPr id="196" name="Oval 195"/>
          <p:cNvSpPr/>
          <p:nvPr/>
        </p:nvSpPr>
        <p:spPr>
          <a:xfrm>
            <a:off x="10365091" y="3227000"/>
            <a:ext cx="455654" cy="426073"/>
          </a:xfrm>
          <a:prstGeom prst="ellipse">
            <a:avLst/>
          </a:prstGeom>
          <a:solidFill>
            <a:srgbClr val="FF0000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7" name="Group 196"/>
          <p:cNvGrpSpPr/>
          <p:nvPr/>
        </p:nvGrpSpPr>
        <p:grpSpPr>
          <a:xfrm>
            <a:off x="879724" y="4292676"/>
            <a:ext cx="4387888" cy="2506441"/>
            <a:chOff x="6187736" y="1908698"/>
            <a:chExt cx="5477522" cy="3581395"/>
          </a:xfrm>
        </p:grpSpPr>
        <p:sp>
          <p:nvSpPr>
            <p:cNvPr id="198" name="Rounded Rectangle 197"/>
            <p:cNvSpPr/>
            <p:nvPr/>
          </p:nvSpPr>
          <p:spPr>
            <a:xfrm>
              <a:off x="6187736" y="1908698"/>
              <a:ext cx="5477522" cy="2938509"/>
            </a:xfrm>
            <a:prstGeom prst="roundRect">
              <a:avLst/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99" name="Picture 19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92445" y="2227481"/>
              <a:ext cx="4861355" cy="2145863"/>
            </a:xfrm>
            <a:prstGeom prst="rect">
              <a:avLst/>
            </a:prstGeom>
          </p:spPr>
        </p:pic>
        <p:cxnSp>
          <p:nvCxnSpPr>
            <p:cNvPr id="200" name="Straight Arrow Connector 199"/>
            <p:cNvCxnSpPr>
              <a:stCxn id="202" idx="2"/>
            </p:cNvCxnSpPr>
            <p:nvPr/>
          </p:nvCxnSpPr>
          <p:spPr>
            <a:xfrm flipH="1" flipV="1">
              <a:off x="7660644" y="3262289"/>
              <a:ext cx="857518" cy="442936"/>
            </a:xfrm>
            <a:prstGeom prst="straightConnector1">
              <a:avLst/>
            </a:prstGeom>
            <a:ln w="952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/>
            <p:cNvSpPr txBox="1"/>
            <p:nvPr/>
          </p:nvSpPr>
          <p:spPr>
            <a:xfrm>
              <a:off x="8518162" y="3520559"/>
              <a:ext cx="644746" cy="395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Arial Narrow" panose="020B0606020202030204" pitchFamily="34" charset="0"/>
                </a:rPr>
                <a:t>Soma</a:t>
              </a:r>
            </a:p>
          </p:txBody>
        </p:sp>
        <p:sp>
          <p:nvSpPr>
            <p:cNvPr id="202" name="Oval 201"/>
            <p:cNvSpPr/>
            <p:nvPr/>
          </p:nvSpPr>
          <p:spPr>
            <a:xfrm>
              <a:off x="8518162" y="3520559"/>
              <a:ext cx="679994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3" name="Straight Arrow Connector 202"/>
            <p:cNvCxnSpPr>
              <a:stCxn id="205" idx="0"/>
            </p:cNvCxnSpPr>
            <p:nvPr/>
          </p:nvCxnSpPr>
          <p:spPr>
            <a:xfrm flipV="1">
              <a:off x="10782195" y="3262291"/>
              <a:ext cx="377657" cy="503793"/>
            </a:xfrm>
            <a:prstGeom prst="straightConnector1">
              <a:avLst/>
            </a:prstGeom>
            <a:ln w="952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Oval 203"/>
            <p:cNvSpPr/>
            <p:nvPr/>
          </p:nvSpPr>
          <p:spPr>
            <a:xfrm>
              <a:off x="10279055" y="3778932"/>
              <a:ext cx="1060697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10359768" y="3766084"/>
              <a:ext cx="844853" cy="395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Arial Narrow" panose="020B0606020202030204" pitchFamily="34" charset="0"/>
                </a:rPr>
                <a:t>Synapse</a:t>
              </a:r>
            </a:p>
          </p:txBody>
        </p:sp>
        <p:cxnSp>
          <p:nvCxnSpPr>
            <p:cNvPr id="206" name="Straight Arrow Connector 205"/>
            <p:cNvCxnSpPr>
              <a:stCxn id="207" idx="4"/>
            </p:cNvCxnSpPr>
            <p:nvPr/>
          </p:nvCxnSpPr>
          <p:spPr>
            <a:xfrm flipH="1">
              <a:off x="9701338" y="3005249"/>
              <a:ext cx="1923" cy="374531"/>
            </a:xfrm>
            <a:prstGeom prst="straightConnector1">
              <a:avLst/>
            </a:prstGeom>
            <a:ln w="952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Oval 206"/>
            <p:cNvSpPr/>
            <p:nvPr/>
          </p:nvSpPr>
          <p:spPr>
            <a:xfrm>
              <a:off x="9386222" y="2635917"/>
              <a:ext cx="634078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9400512" y="2613386"/>
              <a:ext cx="619788" cy="395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latin typeface="Arial Narrow" panose="020B0606020202030204" pitchFamily="34" charset="0"/>
                </a:rPr>
                <a:t>Axon</a:t>
              </a:r>
            </a:p>
          </p:txBody>
        </p:sp>
        <p:sp>
          <p:nvSpPr>
            <p:cNvPr id="209" name="Oval 208"/>
            <p:cNvSpPr/>
            <p:nvPr/>
          </p:nvSpPr>
          <p:spPr>
            <a:xfrm>
              <a:off x="8256224" y="4445221"/>
              <a:ext cx="1060697" cy="369332"/>
            </a:xfrm>
            <a:prstGeom prst="ellipse">
              <a:avLst/>
            </a:prstGeom>
            <a:solidFill>
              <a:schemeClr val="accent1">
                <a:alpha val="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8336937" y="4432372"/>
              <a:ext cx="826844" cy="395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Arial Narrow" panose="020B0606020202030204" pitchFamily="34" charset="0"/>
                </a:rPr>
                <a:t>Dendrite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7639400" y="4918385"/>
              <a:ext cx="2289628" cy="5717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</a:rPr>
                <a:t>Biological Neuron</a:t>
              </a:r>
            </a:p>
          </p:txBody>
        </p:sp>
      </p:grpSp>
      <p:cxnSp>
        <p:nvCxnSpPr>
          <p:cNvPr id="212" name="Straight Arrow Connector 211"/>
          <p:cNvCxnSpPr>
            <a:stCxn id="209" idx="2"/>
          </p:cNvCxnSpPr>
          <p:nvPr/>
        </p:nvCxnSpPr>
        <p:spPr>
          <a:xfrm flipH="1" flipV="1">
            <a:off x="1896962" y="5860037"/>
            <a:ext cx="639769" cy="337065"/>
          </a:xfrm>
          <a:prstGeom prst="straightConnector1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96" idx="2"/>
            <a:endCxn id="176" idx="3"/>
          </p:cNvCxnSpPr>
          <p:nvPr/>
        </p:nvCxnSpPr>
        <p:spPr>
          <a:xfrm flipH="1" flipV="1">
            <a:off x="5323621" y="2621263"/>
            <a:ext cx="5041470" cy="818774"/>
          </a:xfrm>
          <a:prstGeom prst="straightConnector1">
            <a:avLst/>
          </a:prstGeom>
          <a:ln w="22225" cap="flat" cmpd="sng">
            <a:solidFill>
              <a:schemeClr val="accent2"/>
            </a:solidFill>
            <a:prstDash val="lgDash"/>
            <a:miter lim="800000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stCxn id="196" idx="2"/>
            <a:endCxn id="198" idx="3"/>
          </p:cNvCxnSpPr>
          <p:nvPr/>
        </p:nvCxnSpPr>
        <p:spPr>
          <a:xfrm flipH="1">
            <a:off x="5267612" y="3440037"/>
            <a:ext cx="5097479" cy="1880898"/>
          </a:xfrm>
          <a:prstGeom prst="straightConnector1">
            <a:avLst/>
          </a:prstGeom>
          <a:ln w="22225" cap="flat" cmpd="sng">
            <a:solidFill>
              <a:schemeClr val="accent2"/>
            </a:solidFill>
            <a:prstDash val="lgDash"/>
            <a:miter lim="800000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85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Introduction to Neural Network</a:t>
            </a:r>
            <a:endParaRPr lang="en-IN" sz="3600" dirty="0"/>
          </a:p>
        </p:txBody>
      </p:sp>
      <p:sp>
        <p:nvSpPr>
          <p:cNvPr id="72" name="Content Placeholder 71"/>
          <p:cNvSpPr>
            <a:spLocks noGrp="1"/>
          </p:cNvSpPr>
          <p:nvPr>
            <p:ph idx="1"/>
          </p:nvPr>
        </p:nvSpPr>
        <p:spPr>
          <a:xfrm>
            <a:off x="838200" y="1825625"/>
            <a:ext cx="5643206" cy="4351338"/>
          </a:xfrm>
        </p:spPr>
        <p:txBody>
          <a:bodyPr>
            <a:normAutofit/>
          </a:bodyPr>
          <a:lstStyle/>
          <a:p>
            <a:pPr marL="342900" indent="-342900" algn="just"/>
            <a:r>
              <a:rPr lang="en-US" sz="2300" dirty="0">
                <a:latin typeface="Arial Narrow" panose="020B0606020202030204" pitchFamily="34" charset="0"/>
              </a:rPr>
              <a:t>An </a:t>
            </a:r>
            <a:r>
              <a:rPr lang="en-US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Artificial Neural Network (ANN) </a:t>
            </a:r>
            <a:r>
              <a:rPr lang="en-US" sz="2300" dirty="0">
                <a:latin typeface="Arial Narrow" panose="020B0606020202030204" pitchFamily="34" charset="0"/>
              </a:rPr>
              <a:t>is a computational model inspired by biological neural networks. Its basic processing unit is the </a:t>
            </a:r>
            <a:r>
              <a:rPr lang="en-US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artificial neuron</a:t>
            </a:r>
            <a:r>
              <a:rPr lang="en-US" sz="2300" dirty="0">
                <a:latin typeface="Arial Narrow" panose="020B0606020202030204" pitchFamily="34" charset="0"/>
              </a:rPr>
              <a:t>, which forms the foundation of the network.</a:t>
            </a:r>
          </a:p>
          <a:p>
            <a:pPr marL="342900" indent="-342900" algn="just"/>
            <a:endParaRPr lang="en-US" sz="2300" dirty="0">
              <a:latin typeface="Arial Narrow" panose="020B0606020202030204" pitchFamily="34" charset="0"/>
            </a:endParaRPr>
          </a:p>
          <a:p>
            <a:pPr marL="342900" indent="-342900" algn="just"/>
            <a:r>
              <a:rPr lang="en-US" sz="2300" dirty="0">
                <a:latin typeface="Arial Narrow" panose="020B0606020202030204" pitchFamily="34" charset="0"/>
              </a:rPr>
              <a:t>The basic unit of an ANN is an </a:t>
            </a:r>
            <a:r>
              <a:rPr lang="en-US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artificial neuron</a:t>
            </a:r>
            <a:r>
              <a:rPr lang="en-US" sz="2300" dirty="0">
                <a:latin typeface="Arial Narrow" panose="020B0606020202030204" pitchFamily="34" charset="0"/>
              </a:rPr>
              <a:t>, which processes information through three operations: </a:t>
            </a:r>
            <a:r>
              <a:rPr lang="en-US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multiplication, summation</a:t>
            </a:r>
            <a:r>
              <a:rPr lang="en-US" sz="2300" dirty="0">
                <a:latin typeface="Arial Narrow" panose="020B0606020202030204" pitchFamily="34" charset="0"/>
              </a:rPr>
              <a:t>, and </a:t>
            </a:r>
            <a:r>
              <a:rPr lang="en-US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activation</a:t>
            </a:r>
            <a:r>
              <a:rPr lang="en-US" sz="2300" dirty="0"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18054" y="1278748"/>
            <a:ext cx="4134193" cy="1828754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035" y="1278748"/>
            <a:ext cx="3669137" cy="1497964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8336806" y="2027731"/>
            <a:ext cx="640151" cy="282587"/>
          </a:xfrm>
          <a:prstGeom prst="straightConnector1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76957" y="2181408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Soma</a:t>
            </a:r>
          </a:p>
        </p:txBody>
      </p:sp>
      <p:sp>
        <p:nvSpPr>
          <p:cNvPr id="12" name="Oval 11"/>
          <p:cNvSpPr/>
          <p:nvPr/>
        </p:nvSpPr>
        <p:spPr>
          <a:xfrm>
            <a:off x="8976957" y="2181408"/>
            <a:ext cx="513230" cy="257820"/>
          </a:xfrm>
          <a:prstGeom prst="ellipse">
            <a:avLst/>
          </a:prstGeom>
          <a:solidFill>
            <a:schemeClr val="accent1">
              <a:alpha val="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0711102" y="2081858"/>
            <a:ext cx="284958" cy="285481"/>
          </a:xfrm>
          <a:prstGeom prst="straightConnector1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306002" y="2361771"/>
            <a:ext cx="800568" cy="257820"/>
          </a:xfrm>
          <a:prstGeom prst="ellipse">
            <a:avLst/>
          </a:prstGeom>
          <a:solidFill>
            <a:schemeClr val="accent1">
              <a:alpha val="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10363741" y="2333310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Synapse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9848306" y="1821609"/>
            <a:ext cx="17423" cy="273549"/>
          </a:xfrm>
          <a:prstGeom prst="straightConnector1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632131" y="1563865"/>
            <a:ext cx="478574" cy="257820"/>
          </a:xfrm>
          <a:prstGeom prst="ellipse">
            <a:avLst/>
          </a:prstGeom>
          <a:solidFill>
            <a:schemeClr val="accent1">
              <a:alpha val="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9596375" y="1540551"/>
            <a:ext cx="538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 Narrow" panose="020B0606020202030204" pitchFamily="34" charset="0"/>
              </a:rPr>
              <a:t>Axon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139107" y="2659520"/>
            <a:ext cx="640151" cy="282587"/>
          </a:xfrm>
          <a:prstGeom prst="straightConnector1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779258" y="2826888"/>
            <a:ext cx="800568" cy="257820"/>
          </a:xfrm>
          <a:prstGeom prst="ellipse">
            <a:avLst/>
          </a:prstGeom>
          <a:solidFill>
            <a:schemeClr val="accent1">
              <a:alpha val="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8840177" y="2817919"/>
            <a:ext cx="559205" cy="214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Dendrite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3500" y="3157676"/>
            <a:ext cx="1834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Biological Neuron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7129049" y="3748111"/>
            <a:ext cx="4703226" cy="2933021"/>
            <a:chOff x="7138574" y="3748111"/>
            <a:chExt cx="4703226" cy="2933021"/>
          </a:xfrm>
        </p:grpSpPr>
        <p:sp>
          <p:nvSpPr>
            <p:cNvPr id="45" name="Rounded Rectangle 44"/>
            <p:cNvSpPr/>
            <p:nvPr/>
          </p:nvSpPr>
          <p:spPr>
            <a:xfrm>
              <a:off x="7138574" y="3748111"/>
              <a:ext cx="4703226" cy="2518286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2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587768" y="5764829"/>
              <a:ext cx="396472" cy="3169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587768" y="4880897"/>
              <a:ext cx="396472" cy="3169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587768" y="4273111"/>
              <a:ext cx="396472" cy="3169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32"/>
                <p:cNvSpPr txBox="1"/>
                <p:nvPr/>
              </p:nvSpPr>
              <p:spPr>
                <a:xfrm>
                  <a:off x="7608942" y="4194256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49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8942" y="4194256"/>
                  <a:ext cx="323760" cy="362984"/>
                </a:xfrm>
                <a:prstGeom prst="rect">
                  <a:avLst/>
                </a:prstGeom>
                <a:blipFill>
                  <a:blip r:embed="rId3"/>
                  <a:stretch>
                    <a:fillRect r="-11321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34"/>
                <p:cNvSpPr txBox="1"/>
                <p:nvPr/>
              </p:nvSpPr>
              <p:spPr>
                <a:xfrm>
                  <a:off x="7608942" y="4822375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50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8942" y="4822375"/>
                  <a:ext cx="323760" cy="362984"/>
                </a:xfrm>
                <a:prstGeom prst="rect">
                  <a:avLst/>
                </a:prstGeom>
                <a:blipFill>
                  <a:blip r:embed="rId4"/>
                  <a:stretch>
                    <a:fillRect r="-13208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36"/>
                <p:cNvSpPr txBox="1"/>
                <p:nvPr/>
              </p:nvSpPr>
              <p:spPr>
                <a:xfrm>
                  <a:off x="7578418" y="5720050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51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8418" y="5720050"/>
                  <a:ext cx="323760" cy="362984"/>
                </a:xfrm>
                <a:prstGeom prst="rect">
                  <a:avLst/>
                </a:prstGeom>
                <a:blipFill>
                  <a:blip r:embed="rId5"/>
                  <a:stretch>
                    <a:fillRect r="-132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TextBox 37"/>
            <p:cNvSpPr txBox="1"/>
            <p:nvPr/>
          </p:nvSpPr>
          <p:spPr>
            <a:xfrm>
              <a:off x="7673058" y="5038385"/>
              <a:ext cx="19552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b="1" dirty="0">
                  <a:latin typeface="Arial Narrow" panose="020B0606020202030204" pitchFamily="34" charset="0"/>
                </a:rPr>
                <a:t>.</a:t>
              </a:r>
            </a:p>
            <a:p>
              <a:r>
                <a:rPr lang="en-IN" sz="1400" b="1" dirty="0">
                  <a:latin typeface="Arial Narrow" panose="020B0606020202030204" pitchFamily="34" charset="0"/>
                </a:rPr>
                <a:t>..</a:t>
              </a:r>
            </a:p>
          </p:txBody>
        </p:sp>
        <p:cxnSp>
          <p:nvCxnSpPr>
            <p:cNvPr id="53" name="Straight Arrow Connector 52"/>
            <p:cNvCxnSpPr>
              <a:stCxn id="48" idx="3"/>
              <a:endCxn id="70" idx="2"/>
            </p:cNvCxnSpPr>
            <p:nvPr/>
          </p:nvCxnSpPr>
          <p:spPr>
            <a:xfrm>
              <a:off x="7984240" y="4431578"/>
              <a:ext cx="688076" cy="660271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7" idx="3"/>
              <a:endCxn id="70" idx="2"/>
            </p:cNvCxnSpPr>
            <p:nvPr/>
          </p:nvCxnSpPr>
          <p:spPr>
            <a:xfrm>
              <a:off x="7984240" y="5039364"/>
              <a:ext cx="688076" cy="52485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46" idx="3"/>
              <a:endCxn id="70" idx="2"/>
            </p:cNvCxnSpPr>
            <p:nvPr/>
          </p:nvCxnSpPr>
          <p:spPr>
            <a:xfrm flipV="1">
              <a:off x="7984240" y="5091849"/>
              <a:ext cx="688076" cy="831447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47"/>
                <p:cNvSpPr txBox="1"/>
                <p:nvPr/>
              </p:nvSpPr>
              <p:spPr>
                <a:xfrm>
                  <a:off x="8961204" y="3970118"/>
                  <a:ext cx="625853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79000"/>
                  </a:schemeClr>
                </a:solidFill>
                <a:ln>
                  <a:solidFill>
                    <a:srgbClr val="002060"/>
                  </a:solidFill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IN" sz="1600" dirty="0">
                      <a:latin typeface="Arial Narrow" panose="020B0606020202030204" pitchFamily="34" charset="0"/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56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1204" y="3970118"/>
                  <a:ext cx="625853" cy="338554"/>
                </a:xfrm>
                <a:prstGeom prst="rect">
                  <a:avLst/>
                </a:prstGeom>
                <a:blipFill>
                  <a:blip r:embed="rId6"/>
                  <a:stretch>
                    <a:fillRect t="-1724" b="-20690"/>
                  </a:stretch>
                </a:blipFill>
                <a:ln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/>
            <p:cNvCxnSpPr>
              <a:stCxn id="56" idx="2"/>
              <a:endCxn id="70" idx="0"/>
            </p:cNvCxnSpPr>
            <p:nvPr/>
          </p:nvCxnSpPr>
          <p:spPr>
            <a:xfrm flipH="1">
              <a:off x="9266961" y="4308672"/>
              <a:ext cx="7170" cy="288097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70" idx="6"/>
              <a:endCxn id="59" idx="1"/>
            </p:cNvCxnSpPr>
            <p:nvPr/>
          </p:nvCxnSpPr>
          <p:spPr>
            <a:xfrm>
              <a:off x="9861605" y="5091849"/>
              <a:ext cx="496295" cy="1878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57900" y="4946951"/>
              <a:ext cx="346189" cy="293551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cxnSp>
          <p:nvCxnSpPr>
            <p:cNvPr id="60" name="Straight Arrow Connector 59"/>
            <p:cNvCxnSpPr>
              <a:stCxn id="59" idx="3"/>
              <a:endCxn id="61" idx="1"/>
            </p:cNvCxnSpPr>
            <p:nvPr/>
          </p:nvCxnSpPr>
          <p:spPr>
            <a:xfrm>
              <a:off x="10704089" y="5093727"/>
              <a:ext cx="335023" cy="4265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58"/>
            <p:cNvSpPr txBox="1"/>
            <p:nvPr/>
          </p:nvSpPr>
          <p:spPr>
            <a:xfrm>
              <a:off x="11039112" y="4959492"/>
              <a:ext cx="657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Output  </a:t>
              </a:r>
            </a:p>
          </p:txBody>
        </p:sp>
        <p:sp>
          <p:nvSpPr>
            <p:cNvPr id="62" name="TextBox 60"/>
            <p:cNvSpPr txBox="1"/>
            <p:nvPr/>
          </p:nvSpPr>
          <p:spPr>
            <a:xfrm>
              <a:off x="10010992" y="5262722"/>
              <a:ext cx="1252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Activation function</a:t>
              </a:r>
            </a:p>
          </p:txBody>
        </p:sp>
        <p:sp>
          <p:nvSpPr>
            <p:cNvPr id="63" name="TextBox 66"/>
            <p:cNvSpPr txBox="1"/>
            <p:nvPr/>
          </p:nvSpPr>
          <p:spPr>
            <a:xfrm>
              <a:off x="7476694" y="3856233"/>
              <a:ext cx="685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Inputs  </a:t>
              </a:r>
            </a:p>
          </p:txBody>
        </p:sp>
        <p:sp>
          <p:nvSpPr>
            <p:cNvPr id="64" name="TextBox 67"/>
            <p:cNvSpPr txBox="1"/>
            <p:nvPr/>
          </p:nvSpPr>
          <p:spPr>
            <a:xfrm>
              <a:off x="9587844" y="4013591"/>
              <a:ext cx="657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Bias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43"/>
                <p:cNvSpPr txBox="1"/>
                <p:nvPr/>
              </p:nvSpPr>
              <p:spPr>
                <a:xfrm>
                  <a:off x="8166398" y="4317833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65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398" y="4317833"/>
                  <a:ext cx="323760" cy="362984"/>
                </a:xfrm>
                <a:prstGeom prst="rect">
                  <a:avLst/>
                </a:prstGeom>
                <a:blipFill>
                  <a:blip r:embed="rId8"/>
                  <a:stretch>
                    <a:fillRect r="-26415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44"/>
                <p:cNvSpPr txBox="1"/>
                <p:nvPr/>
              </p:nvSpPr>
              <p:spPr>
                <a:xfrm>
                  <a:off x="8143415" y="4933954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66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3415" y="4933954"/>
                  <a:ext cx="323760" cy="362984"/>
                </a:xfrm>
                <a:prstGeom prst="rect">
                  <a:avLst/>
                </a:prstGeom>
                <a:blipFill>
                  <a:blip r:embed="rId9"/>
                  <a:stretch>
                    <a:fillRect r="-28302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45"/>
                <p:cNvSpPr txBox="1"/>
                <p:nvPr/>
              </p:nvSpPr>
              <p:spPr>
                <a:xfrm>
                  <a:off x="8285275" y="5445334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67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5275" y="5445334"/>
                  <a:ext cx="323760" cy="362984"/>
                </a:xfrm>
                <a:prstGeom prst="rect">
                  <a:avLst/>
                </a:prstGeom>
                <a:blipFill>
                  <a:blip r:embed="rId10"/>
                  <a:stretch>
                    <a:fillRect r="-2452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48"/>
                <p:cNvSpPr txBox="1"/>
                <p:nvPr/>
              </p:nvSpPr>
              <p:spPr>
                <a:xfrm>
                  <a:off x="9337342" y="4258215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68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7342" y="4258215"/>
                  <a:ext cx="323760" cy="362984"/>
                </a:xfrm>
                <a:prstGeom prst="rect">
                  <a:avLst/>
                </a:prstGeom>
                <a:blipFill>
                  <a:blip r:embed="rId11"/>
                  <a:stretch>
                    <a:fillRect r="-28302" b="-33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/>
            <p:cNvSpPr txBox="1"/>
            <p:nvPr/>
          </p:nvSpPr>
          <p:spPr>
            <a:xfrm>
              <a:off x="8814681" y="6281022"/>
              <a:ext cx="16690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000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IN" dirty="0"/>
                <a:t>Artificial Neuron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val 69"/>
                <p:cNvSpPr/>
                <p:nvPr/>
              </p:nvSpPr>
              <p:spPr>
                <a:xfrm>
                  <a:off x="8672316" y="4596769"/>
                  <a:ext cx="1189289" cy="99016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0" name="Oval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316" y="4596769"/>
                  <a:ext cx="1189289" cy="99016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7444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Introduction to Neural Network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138" y="1652224"/>
            <a:ext cx="6241632" cy="4351338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Input Level</a:t>
            </a:r>
            <a:r>
              <a:rPr lang="en-US" altLang="en-US" sz="2400" dirty="0">
                <a:latin typeface="Arial Narrow" panose="020B0606020202030204" pitchFamily="34" charset="0"/>
              </a:rPr>
              <a:t>: Input values from the data are multiplied by their corresponding weights, which determine the importance of each input. </a:t>
            </a:r>
          </a:p>
          <a:p>
            <a:pPr algn="just"/>
            <a:endParaRPr lang="en-US" alt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Body Level</a:t>
            </a:r>
            <a:r>
              <a:rPr lang="en-US" altLang="en-US" sz="2400" dirty="0">
                <a:latin typeface="Arial Narrow" panose="020B0606020202030204" pitchFamily="34" charset="0"/>
              </a:rPr>
              <a:t>: All weighted inputs are added together along with a bias value to produce a weighted sum. </a:t>
            </a:r>
          </a:p>
          <a:p>
            <a:pPr algn="just"/>
            <a:endParaRPr lang="en-US" alt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Output Level</a:t>
            </a:r>
            <a:r>
              <a:rPr lang="en-US" altLang="en-US" sz="2400" dirty="0">
                <a:latin typeface="Arial Narrow" panose="020B0606020202030204" pitchFamily="34" charset="0"/>
              </a:rPr>
              <a:t>: The weighted sum is passed through an activation function to generate the final output of the neuron. </a:t>
            </a:r>
          </a:p>
          <a:p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441258"/>
            <a:ext cx="5414383" cy="4818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en-US" sz="1800" dirty="0">
              <a:latin typeface="Arial Narrow" panose="020B060602020203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7081424" y="3070541"/>
            <a:ext cx="4703226" cy="2933021"/>
            <a:chOff x="7138574" y="3748111"/>
            <a:chExt cx="4703226" cy="2933021"/>
          </a:xfrm>
        </p:grpSpPr>
        <p:sp>
          <p:nvSpPr>
            <p:cNvPr id="74" name="Rounded Rectangle 73"/>
            <p:cNvSpPr/>
            <p:nvPr/>
          </p:nvSpPr>
          <p:spPr>
            <a:xfrm>
              <a:off x="7138574" y="3748111"/>
              <a:ext cx="4703226" cy="2518286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2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7587768" y="5764829"/>
              <a:ext cx="396472" cy="3169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587768" y="4880897"/>
              <a:ext cx="396472" cy="3169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587768" y="4273111"/>
              <a:ext cx="396472" cy="3169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32"/>
                <p:cNvSpPr txBox="1"/>
                <p:nvPr/>
              </p:nvSpPr>
              <p:spPr>
                <a:xfrm>
                  <a:off x="7608942" y="4194256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78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8942" y="4194256"/>
                  <a:ext cx="323760" cy="362984"/>
                </a:xfrm>
                <a:prstGeom prst="rect">
                  <a:avLst/>
                </a:prstGeom>
                <a:blipFill>
                  <a:blip r:embed="rId2"/>
                  <a:stretch>
                    <a:fillRect r="-11321" b="-33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34"/>
                <p:cNvSpPr txBox="1"/>
                <p:nvPr/>
              </p:nvSpPr>
              <p:spPr>
                <a:xfrm>
                  <a:off x="7608942" y="4822375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79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8942" y="4822375"/>
                  <a:ext cx="323760" cy="362984"/>
                </a:xfrm>
                <a:prstGeom prst="rect">
                  <a:avLst/>
                </a:prstGeom>
                <a:blipFill>
                  <a:blip r:embed="rId3"/>
                  <a:stretch>
                    <a:fillRect r="-13208" b="-33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36"/>
                <p:cNvSpPr txBox="1"/>
                <p:nvPr/>
              </p:nvSpPr>
              <p:spPr>
                <a:xfrm>
                  <a:off x="7578418" y="5720050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80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8418" y="5720050"/>
                  <a:ext cx="323760" cy="362984"/>
                </a:xfrm>
                <a:prstGeom prst="rect">
                  <a:avLst/>
                </a:prstGeom>
                <a:blipFill>
                  <a:blip r:embed="rId4"/>
                  <a:stretch>
                    <a:fillRect r="-132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37"/>
            <p:cNvSpPr txBox="1"/>
            <p:nvPr/>
          </p:nvSpPr>
          <p:spPr>
            <a:xfrm>
              <a:off x="7673058" y="5038385"/>
              <a:ext cx="19552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b="1" dirty="0">
                  <a:latin typeface="Arial Narrow" panose="020B0606020202030204" pitchFamily="34" charset="0"/>
                </a:rPr>
                <a:t>.</a:t>
              </a:r>
            </a:p>
            <a:p>
              <a:r>
                <a:rPr lang="en-IN" sz="1400" b="1" dirty="0">
                  <a:latin typeface="Arial Narrow" panose="020B0606020202030204" pitchFamily="34" charset="0"/>
                </a:rPr>
                <a:t>..</a:t>
              </a:r>
            </a:p>
          </p:txBody>
        </p:sp>
        <p:cxnSp>
          <p:nvCxnSpPr>
            <p:cNvPr id="82" name="Straight Arrow Connector 81"/>
            <p:cNvCxnSpPr>
              <a:stCxn id="77" idx="3"/>
              <a:endCxn id="99" idx="2"/>
            </p:cNvCxnSpPr>
            <p:nvPr/>
          </p:nvCxnSpPr>
          <p:spPr>
            <a:xfrm>
              <a:off x="7984240" y="4431578"/>
              <a:ext cx="688076" cy="660271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6" idx="3"/>
              <a:endCxn id="99" idx="2"/>
            </p:cNvCxnSpPr>
            <p:nvPr/>
          </p:nvCxnSpPr>
          <p:spPr>
            <a:xfrm>
              <a:off x="7984240" y="5039364"/>
              <a:ext cx="688076" cy="52485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75" idx="3"/>
              <a:endCxn id="99" idx="2"/>
            </p:cNvCxnSpPr>
            <p:nvPr/>
          </p:nvCxnSpPr>
          <p:spPr>
            <a:xfrm flipV="1">
              <a:off x="7984240" y="5091849"/>
              <a:ext cx="688076" cy="831447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47"/>
                <p:cNvSpPr txBox="1"/>
                <p:nvPr/>
              </p:nvSpPr>
              <p:spPr>
                <a:xfrm>
                  <a:off x="8961204" y="3970118"/>
                  <a:ext cx="625853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79000"/>
                  </a:schemeClr>
                </a:solidFill>
                <a:ln>
                  <a:solidFill>
                    <a:srgbClr val="002060"/>
                  </a:solidFill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IN" sz="1600" dirty="0">
                      <a:latin typeface="Arial Narrow" panose="020B0606020202030204" pitchFamily="34" charset="0"/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85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1204" y="3970118"/>
                  <a:ext cx="625853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1724" b="-20690"/>
                  </a:stretch>
                </a:blipFill>
                <a:ln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Arrow Connector 85"/>
            <p:cNvCxnSpPr>
              <a:stCxn id="85" idx="2"/>
              <a:endCxn id="99" idx="0"/>
            </p:cNvCxnSpPr>
            <p:nvPr/>
          </p:nvCxnSpPr>
          <p:spPr>
            <a:xfrm flipH="1">
              <a:off x="9266961" y="4308672"/>
              <a:ext cx="7170" cy="288097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99" idx="6"/>
              <a:endCxn id="88" idx="1"/>
            </p:cNvCxnSpPr>
            <p:nvPr/>
          </p:nvCxnSpPr>
          <p:spPr>
            <a:xfrm>
              <a:off x="9861605" y="5091849"/>
              <a:ext cx="496295" cy="1878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8" name="Picture 8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57900" y="4946951"/>
              <a:ext cx="346189" cy="293551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cxnSp>
          <p:nvCxnSpPr>
            <p:cNvPr id="89" name="Straight Arrow Connector 88"/>
            <p:cNvCxnSpPr>
              <a:stCxn id="88" idx="3"/>
              <a:endCxn id="90" idx="1"/>
            </p:cNvCxnSpPr>
            <p:nvPr/>
          </p:nvCxnSpPr>
          <p:spPr>
            <a:xfrm>
              <a:off x="10704089" y="5093727"/>
              <a:ext cx="335023" cy="4265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58"/>
            <p:cNvSpPr txBox="1"/>
            <p:nvPr/>
          </p:nvSpPr>
          <p:spPr>
            <a:xfrm>
              <a:off x="11039112" y="4959492"/>
              <a:ext cx="657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Output  </a:t>
              </a:r>
            </a:p>
          </p:txBody>
        </p:sp>
        <p:sp>
          <p:nvSpPr>
            <p:cNvPr id="91" name="TextBox 60"/>
            <p:cNvSpPr txBox="1"/>
            <p:nvPr/>
          </p:nvSpPr>
          <p:spPr>
            <a:xfrm>
              <a:off x="10010992" y="5262722"/>
              <a:ext cx="1252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Activation function</a:t>
              </a:r>
            </a:p>
          </p:txBody>
        </p:sp>
        <p:sp>
          <p:nvSpPr>
            <p:cNvPr id="92" name="TextBox 66"/>
            <p:cNvSpPr txBox="1"/>
            <p:nvPr/>
          </p:nvSpPr>
          <p:spPr>
            <a:xfrm>
              <a:off x="7476694" y="3856233"/>
              <a:ext cx="685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Inputs  </a:t>
              </a:r>
            </a:p>
          </p:txBody>
        </p:sp>
        <p:sp>
          <p:nvSpPr>
            <p:cNvPr id="93" name="TextBox 67"/>
            <p:cNvSpPr txBox="1"/>
            <p:nvPr/>
          </p:nvSpPr>
          <p:spPr>
            <a:xfrm>
              <a:off x="9587844" y="4013591"/>
              <a:ext cx="657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Bias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43"/>
                <p:cNvSpPr txBox="1"/>
                <p:nvPr/>
              </p:nvSpPr>
              <p:spPr>
                <a:xfrm>
                  <a:off x="8166398" y="4317833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398" y="4317833"/>
                  <a:ext cx="323760" cy="362984"/>
                </a:xfrm>
                <a:prstGeom prst="rect">
                  <a:avLst/>
                </a:prstGeom>
                <a:blipFill>
                  <a:blip r:embed="rId7"/>
                  <a:stretch>
                    <a:fillRect r="-26415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44"/>
                <p:cNvSpPr txBox="1"/>
                <p:nvPr/>
              </p:nvSpPr>
              <p:spPr>
                <a:xfrm>
                  <a:off x="8143415" y="4933954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3415" y="4933954"/>
                  <a:ext cx="323760" cy="362984"/>
                </a:xfrm>
                <a:prstGeom prst="rect">
                  <a:avLst/>
                </a:prstGeom>
                <a:blipFill>
                  <a:blip r:embed="rId8"/>
                  <a:stretch>
                    <a:fillRect r="-25926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45"/>
                <p:cNvSpPr txBox="1"/>
                <p:nvPr/>
              </p:nvSpPr>
              <p:spPr>
                <a:xfrm>
                  <a:off x="8285275" y="5445334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5275" y="5445334"/>
                  <a:ext cx="323760" cy="362984"/>
                </a:xfrm>
                <a:prstGeom prst="rect">
                  <a:avLst/>
                </a:prstGeom>
                <a:blipFill>
                  <a:blip r:embed="rId9"/>
                  <a:stretch>
                    <a:fillRect r="-2452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48"/>
                <p:cNvSpPr txBox="1"/>
                <p:nvPr/>
              </p:nvSpPr>
              <p:spPr>
                <a:xfrm>
                  <a:off x="9337342" y="4258215"/>
                  <a:ext cx="323760" cy="362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baseline="-25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7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7342" y="4258215"/>
                  <a:ext cx="323760" cy="362984"/>
                </a:xfrm>
                <a:prstGeom prst="rect">
                  <a:avLst/>
                </a:prstGeom>
                <a:blipFill>
                  <a:blip r:embed="rId10"/>
                  <a:stretch>
                    <a:fillRect r="-28302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TextBox 97"/>
            <p:cNvSpPr txBox="1"/>
            <p:nvPr/>
          </p:nvSpPr>
          <p:spPr>
            <a:xfrm>
              <a:off x="8814681" y="6281022"/>
              <a:ext cx="16690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000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IN" dirty="0"/>
                <a:t>Artificial Neuron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Oval 98"/>
                <p:cNvSpPr/>
                <p:nvPr/>
              </p:nvSpPr>
              <p:spPr>
                <a:xfrm>
                  <a:off x="8672316" y="4596769"/>
                  <a:ext cx="1189289" cy="99016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9" name="Oval 9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316" y="4596769"/>
                  <a:ext cx="1189289" cy="99016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6267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4774006" y="1465949"/>
            <a:ext cx="2845770" cy="849744"/>
          </a:xfrm>
          <a:prstGeom prst="roundRect">
            <a:avLst/>
          </a:prstGeom>
          <a:solidFill>
            <a:srgbClr val="0070C0">
              <a:alpha val="72941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178" tIns="43178" rIns="43178" bIns="43178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b="1" kern="1200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Applications of Neural Network</a:t>
            </a:r>
            <a:endParaRPr lang="en-US" b="1" kern="12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Rectangle: Rounded Corners 7">
            <a:extLst>
              <a:ext uri="{FF2B5EF4-FFF2-40B4-BE49-F238E27FC236}">
                <a16:creationId xmlns:a16="http://schemas.microsoft.com/office/drawing/2014/main" id="{DFFA78AD-12F8-4CEA-9992-4EDBD3B913CE}"/>
              </a:ext>
            </a:extLst>
          </p:cNvPr>
          <p:cNvSpPr/>
          <p:nvPr/>
        </p:nvSpPr>
        <p:spPr>
          <a:xfrm>
            <a:off x="2878771" y="3876538"/>
            <a:ext cx="2008800" cy="2438836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6000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584" tIns="30584" rIns="30584" bIns="30584" numCol="1" spcCol="127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Data-Rich Problems</a:t>
            </a:r>
            <a:endParaRPr lang="en-US" altLang="en-US" sz="1300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Neural networks </a:t>
            </a:r>
            <a:r>
              <a:rPr lang="en-US" alt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perform well in domains where large amounts of labeled or unlabeled data are available for training</a:t>
            </a: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Examples: Recommendation systems, sentiment analysis, and customer behavior prediction. </a:t>
            </a:r>
          </a:p>
        </p:txBody>
      </p:sp>
      <p:sp>
        <p:nvSpPr>
          <p:cNvPr id="23" name="Rectangle: Rounded Corners 8">
            <a:extLst>
              <a:ext uri="{FF2B5EF4-FFF2-40B4-BE49-F238E27FC236}">
                <a16:creationId xmlns:a16="http://schemas.microsoft.com/office/drawing/2014/main" id="{EFAA3787-B557-436F-8848-9C0A54642EA8}"/>
              </a:ext>
            </a:extLst>
          </p:cNvPr>
          <p:cNvSpPr/>
          <p:nvPr/>
        </p:nvSpPr>
        <p:spPr>
          <a:xfrm>
            <a:off x="5192491" y="3876538"/>
            <a:ext cx="2008800" cy="2438836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6000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584" tIns="30584" rIns="30584" bIns="30584" numCol="1" spcCol="1270" anchor="ctr" anchorCtr="0">
            <a:noAutofit/>
          </a:bodyPr>
          <a:lstStyle/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en-US" sz="13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Pattern Recognition Tasks</a:t>
            </a:r>
            <a:r>
              <a:rPr lang="en-US" altLang="en-US" sz="13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Neural networks are effective at </a:t>
            </a:r>
            <a:r>
              <a:rPr lang="en-US" alt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identifying patterns, features, and regularities within large and complex datasets</a:t>
            </a: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 </a:t>
            </a:r>
          </a:p>
          <a:p>
            <a:pPr algn="just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Examples: Face recognition, handwritten digit recognition, and object detection</a:t>
            </a:r>
            <a:r>
              <a:rPr lang="en-US" altLang="en-US" sz="14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4" name="Rectangle: Rounded Corners 9">
            <a:extLst>
              <a:ext uri="{FF2B5EF4-FFF2-40B4-BE49-F238E27FC236}">
                <a16:creationId xmlns:a16="http://schemas.microsoft.com/office/drawing/2014/main" id="{821680C0-8955-496E-98A6-38FB958E0C80}"/>
              </a:ext>
            </a:extLst>
          </p:cNvPr>
          <p:cNvSpPr/>
          <p:nvPr/>
        </p:nvSpPr>
        <p:spPr>
          <a:xfrm>
            <a:off x="9819931" y="3840606"/>
            <a:ext cx="2008800" cy="248441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6000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584" tIns="30584" rIns="30584" bIns="30584" numCol="1" spcCol="127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Problems with No Explicit Algorithm</a:t>
            </a:r>
            <a:endParaRPr lang="en-US" sz="1300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Neural networks can learn solutions for tasks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where no clear set of rules exists.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Examples: Machine translation, emotion detection, and speech understanding. </a:t>
            </a:r>
          </a:p>
        </p:txBody>
      </p:sp>
      <p:sp>
        <p:nvSpPr>
          <p:cNvPr id="25" name="Rectangle: Rounded Corners 10">
            <a:extLst>
              <a:ext uri="{FF2B5EF4-FFF2-40B4-BE49-F238E27FC236}">
                <a16:creationId xmlns:a16="http://schemas.microsoft.com/office/drawing/2014/main" id="{BE99EEBD-6ABE-4C2A-8126-2010734C6D87}"/>
              </a:ext>
            </a:extLst>
          </p:cNvPr>
          <p:cNvSpPr/>
          <p:nvPr/>
        </p:nvSpPr>
        <p:spPr>
          <a:xfrm>
            <a:off x="7506211" y="3876538"/>
            <a:ext cx="2008800" cy="2438836"/>
          </a:xfrm>
          <a:prstGeom prst="roundRect">
            <a:avLst>
              <a:gd name="adj" fmla="val 18756"/>
            </a:avLst>
          </a:prstGeom>
          <a:solidFill>
            <a:schemeClr val="accent5">
              <a:lumMod val="60000"/>
              <a:lumOff val="40000"/>
              <a:alpha val="16000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584" tIns="30584" rIns="30584" bIns="30584" numCol="1" spcCol="127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Noisy or Uncertain Data Environments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Neural networks </a:t>
            </a:r>
            <a:r>
              <a:rPr lang="en-US" alt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can handle incomplete, noisy, or inconsistent data while still making reliable predictions.</a:t>
            </a: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Examples: Sensor data analysis, medical diagnosis, and fault detection systems. </a:t>
            </a:r>
          </a:p>
        </p:txBody>
      </p:sp>
      <p:sp>
        <p:nvSpPr>
          <p:cNvPr id="26" name="Rectangle: Rounded Corners 7">
            <a:extLst>
              <a:ext uri="{FF2B5EF4-FFF2-40B4-BE49-F238E27FC236}">
                <a16:creationId xmlns:a16="http://schemas.microsoft.com/office/drawing/2014/main" id="{DFFA78AD-12F8-4CEA-9992-4EDBD3B913CE}"/>
              </a:ext>
            </a:extLst>
          </p:cNvPr>
          <p:cNvSpPr/>
          <p:nvPr/>
        </p:nvSpPr>
        <p:spPr>
          <a:xfrm>
            <a:off x="345256" y="3940786"/>
            <a:ext cx="2331733" cy="2384229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6000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584" tIns="30584" rIns="30584" bIns="30584" numCol="1" spcCol="1270" anchor="ctr" anchorCtr="0">
            <a:noAutofit/>
          </a:bodyPr>
          <a:lstStyle/>
          <a:p>
            <a:pPr algn="ctr"/>
            <a:r>
              <a:rPr lang="en-US" altLang="en-US" sz="12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Non-Linear and Complex Problems</a:t>
            </a:r>
            <a:r>
              <a:rPr lang="en-US" altLang="en-US" sz="12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Neural networks can effectively handle problems where the </a:t>
            </a:r>
            <a:r>
              <a:rPr lang="en-US" alt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relationship between inputs and outputs is highly non-linear or mathematically ill-defined</a:t>
            </a: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sz="14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Examples: Image classification, speech recognition, and other pattern recognition tasks</a:t>
            </a:r>
            <a:r>
              <a:rPr lang="en-US" altLang="en-US" sz="14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 </a:t>
            </a:r>
            <a:endParaRPr lang="en-IN" sz="1400" dirty="0"/>
          </a:p>
        </p:txBody>
      </p:sp>
      <p:cxnSp>
        <p:nvCxnSpPr>
          <p:cNvPr id="30" name="Elbow Connector 29"/>
          <p:cNvCxnSpPr>
            <a:cxnSpLocks/>
            <a:stCxn id="13" idx="2"/>
            <a:endCxn id="26" idx="0"/>
          </p:cNvCxnSpPr>
          <p:nvPr/>
        </p:nvCxnSpPr>
        <p:spPr>
          <a:xfrm rot="5400000">
            <a:off x="3041461" y="785355"/>
            <a:ext cx="1625093" cy="4685768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2" idx="0"/>
          </p:cNvCxnSpPr>
          <p:nvPr/>
        </p:nvCxnSpPr>
        <p:spPr>
          <a:xfrm>
            <a:off x="3883169" y="3128239"/>
            <a:ext cx="2" cy="74829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/>
          <p:nvPr/>
        </p:nvCxnSpPr>
        <p:spPr>
          <a:xfrm rot="16200000" flipH="1">
            <a:off x="7748155" y="758331"/>
            <a:ext cx="1524913" cy="4627440"/>
          </a:xfrm>
          <a:prstGeom prst="bentConnector3">
            <a:avLst>
              <a:gd name="adj1" fmla="val 53634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5" idx="0"/>
          </p:cNvCxnSpPr>
          <p:nvPr/>
        </p:nvCxnSpPr>
        <p:spPr>
          <a:xfrm>
            <a:off x="8510610" y="3128239"/>
            <a:ext cx="1" cy="74829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23" idx="0"/>
          </p:cNvCxnSpPr>
          <p:nvPr/>
        </p:nvCxnSpPr>
        <p:spPr>
          <a:xfrm>
            <a:off x="6196890" y="3128239"/>
            <a:ext cx="1" cy="74829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45256" y="173461"/>
            <a:ext cx="108585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latin typeface="Century" panose="02040604050505020304" pitchFamily="18" charset="0"/>
              </a:rPr>
              <a:t>Applications of Neural </a:t>
            </a:r>
            <a:r>
              <a:rPr lang="en-US" sz="3600" dirty="0">
                <a:latin typeface="Century" panose="02040604050505020304" pitchFamily="18" charset="0"/>
              </a:rPr>
              <a:t>Network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31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73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Single Layer Perceptron (SLP)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146" y="4307883"/>
            <a:ext cx="37814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15400" y="27527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711200" y="1068474"/>
            <a:ext cx="635931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Components of a SLP</a:t>
            </a: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Inputs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The SLP takes multiple inputs (x</a:t>
            </a:r>
            <a:r>
              <a:rPr lang="en-US" altLang="en-US" sz="1800" baseline="-250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,x</a:t>
            </a:r>
            <a:r>
              <a:rPr lang="en-US" altLang="en-US" sz="1800" baseline="-250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,…,</a:t>
            </a:r>
            <a:r>
              <a:rPr lang="en-US" altLang="en-US" sz="1800" dirty="0" err="1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x</a:t>
            </a:r>
            <a:r>
              <a:rPr lang="en-US" altLang="en-US" sz="1800" baseline="-25000" dirty="0" err="1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Weights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Each input is associated with a weight (w</a:t>
            </a:r>
            <a:r>
              <a:rPr lang="en-US" altLang="en-US" sz="1800" baseline="-250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,w</a:t>
            </a:r>
            <a:r>
              <a:rPr lang="en-US" altLang="en-US" sz="1800" baseline="-250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,…,</a:t>
            </a:r>
            <a:r>
              <a:rPr lang="en-US" altLang="en-US" sz="1800" dirty="0" err="1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US" altLang="en-US" sz="1800" baseline="-25000" dirty="0" err="1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Bias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A bias term (b) is added to shift the decision boundary.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Activation Function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A step function (a simple </a:t>
            </a:r>
            <a:r>
              <a:rPr lang="en-US" altLang="en-US" sz="1800" dirty="0" err="1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thresholding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function) is generally used as activation function.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The step function is defined as:</a:t>
            </a:r>
            <a:endParaRPr lang="en-US" altLang="en-US" sz="9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6000" dirty="0">
                <a:latin typeface="Arial Narrow" panose="020B0606020202030204" pitchFamily="34" charset="0"/>
                <a:cs typeface="Times New Roman" panose="02020603050405020304" pitchFamily="18" charset="0"/>
              </a:rPr>
              <a:t>                     </a:t>
            </a:r>
            <a:endParaRPr lang="en-US" altLang="en-US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Binary Output</a:t>
            </a:r>
            <a:r>
              <a:rPr lang="en-US" altLang="en-US" sz="1800" dirty="0">
                <a:solidFill>
                  <a:srgbClr val="242424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The output of a perceptron is binary (1 or 0), making it suitable for linearly separable classification problems.</a:t>
            </a:r>
            <a:endParaRPr lang="en-US" altLang="en-US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73878" y="2332557"/>
            <a:ext cx="4703226" cy="25182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7566204" y="4352662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7566204" y="3449680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566204" y="2860944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32"/>
              <p:cNvSpPr txBox="1"/>
              <p:nvPr/>
            </p:nvSpPr>
            <p:spPr>
              <a:xfrm>
                <a:off x="7587378" y="2782089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378" y="2782089"/>
                <a:ext cx="323760" cy="362984"/>
              </a:xfrm>
              <a:prstGeom prst="rect">
                <a:avLst/>
              </a:prstGeom>
              <a:blipFill>
                <a:blip r:embed="rId3"/>
                <a:stretch>
                  <a:fillRect r="-11321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34"/>
              <p:cNvSpPr txBox="1"/>
              <p:nvPr/>
            </p:nvSpPr>
            <p:spPr>
              <a:xfrm>
                <a:off x="7587378" y="3410208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1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378" y="3410208"/>
                <a:ext cx="323760" cy="362984"/>
              </a:xfrm>
              <a:prstGeom prst="rect">
                <a:avLst/>
              </a:prstGeom>
              <a:blipFill>
                <a:blip r:embed="rId4"/>
                <a:stretch>
                  <a:fillRect r="-13208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36"/>
              <p:cNvSpPr txBox="1"/>
              <p:nvPr/>
            </p:nvSpPr>
            <p:spPr>
              <a:xfrm>
                <a:off x="7556854" y="4307883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2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854" y="4307883"/>
                <a:ext cx="323760" cy="362984"/>
              </a:xfrm>
              <a:prstGeom prst="rect">
                <a:avLst/>
              </a:prstGeom>
              <a:blipFill>
                <a:blip r:embed="rId5"/>
                <a:stretch>
                  <a:fillRect r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37"/>
          <p:cNvSpPr txBox="1"/>
          <p:nvPr/>
        </p:nvSpPr>
        <p:spPr>
          <a:xfrm>
            <a:off x="7651494" y="3626218"/>
            <a:ext cx="195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latin typeface="Arial Narrow" panose="020B0606020202030204" pitchFamily="34" charset="0"/>
              </a:rPr>
              <a:t>.</a:t>
            </a:r>
          </a:p>
          <a:p>
            <a:r>
              <a:rPr lang="en-IN" sz="1400" b="1" dirty="0">
                <a:latin typeface="Arial Narrow" panose="020B0606020202030204" pitchFamily="34" charset="0"/>
              </a:rPr>
              <a:t>..</a:t>
            </a:r>
          </a:p>
        </p:txBody>
      </p:sp>
      <p:cxnSp>
        <p:nvCxnSpPr>
          <p:cNvPr id="25" name="Straight Arrow Connector 24"/>
          <p:cNvCxnSpPr>
            <a:stCxn id="19" idx="3"/>
          </p:cNvCxnSpPr>
          <p:nvPr/>
        </p:nvCxnSpPr>
        <p:spPr>
          <a:xfrm>
            <a:off x="7962676" y="3019411"/>
            <a:ext cx="854009" cy="57982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8" idx="3"/>
            <a:endCxn id="127" idx="2"/>
          </p:cNvCxnSpPr>
          <p:nvPr/>
        </p:nvCxnSpPr>
        <p:spPr>
          <a:xfrm flipV="1">
            <a:off x="7962676" y="3604114"/>
            <a:ext cx="829931" cy="4033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7" idx="3"/>
          </p:cNvCxnSpPr>
          <p:nvPr/>
        </p:nvCxnSpPr>
        <p:spPr>
          <a:xfrm flipV="1">
            <a:off x="7962676" y="3599231"/>
            <a:ext cx="854009" cy="911898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47"/>
              <p:cNvSpPr txBox="1"/>
              <p:nvPr/>
            </p:nvSpPr>
            <p:spPr>
              <a:xfrm>
                <a:off x="9077752" y="2557951"/>
                <a:ext cx="625853" cy="338554"/>
              </a:xfrm>
              <a:prstGeom prst="rect">
                <a:avLst/>
              </a:prstGeom>
              <a:solidFill>
                <a:schemeClr val="accent2">
                  <a:lumMod val="75000"/>
                  <a:alpha val="79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=1</a:t>
                </a:r>
              </a:p>
            </p:txBody>
          </p:sp>
        </mc:Choice>
        <mc:Fallback xmlns="">
          <p:sp>
            <p:nvSpPr>
              <p:cNvPr id="2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752" y="2557951"/>
                <a:ext cx="625853" cy="338554"/>
              </a:xfrm>
              <a:prstGeom prst="rect">
                <a:avLst/>
              </a:prstGeom>
              <a:blipFill>
                <a:blip r:embed="rId6"/>
                <a:stretch>
                  <a:fillRect t="-1754" b="-22807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>
            <a:stCxn id="28" idx="2"/>
            <a:endCxn id="127" idx="0"/>
          </p:cNvCxnSpPr>
          <p:nvPr/>
        </p:nvCxnSpPr>
        <p:spPr>
          <a:xfrm flipH="1">
            <a:off x="9387252" y="2896505"/>
            <a:ext cx="3427" cy="212529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44" idx="1"/>
          </p:cNvCxnSpPr>
          <p:nvPr/>
        </p:nvCxnSpPr>
        <p:spPr>
          <a:xfrm>
            <a:off x="9845591" y="3599231"/>
            <a:ext cx="477373" cy="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44" idx="3"/>
            <a:endCxn id="33" idx="1"/>
          </p:cNvCxnSpPr>
          <p:nvPr/>
        </p:nvCxnSpPr>
        <p:spPr>
          <a:xfrm>
            <a:off x="10569028" y="3599231"/>
            <a:ext cx="382531" cy="7607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58"/>
          <p:cNvSpPr txBox="1"/>
          <p:nvPr/>
        </p:nvSpPr>
        <p:spPr>
          <a:xfrm>
            <a:off x="10951559" y="3468338"/>
            <a:ext cx="657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Output  </a:t>
            </a:r>
          </a:p>
        </p:txBody>
      </p:sp>
      <p:sp>
        <p:nvSpPr>
          <p:cNvPr id="34" name="TextBox 60"/>
          <p:cNvSpPr txBox="1"/>
          <p:nvPr/>
        </p:nvSpPr>
        <p:spPr>
          <a:xfrm>
            <a:off x="9923439" y="3771568"/>
            <a:ext cx="12525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Activation function</a:t>
            </a:r>
          </a:p>
        </p:txBody>
      </p:sp>
      <p:sp>
        <p:nvSpPr>
          <p:cNvPr id="35" name="TextBox 66"/>
          <p:cNvSpPr txBox="1"/>
          <p:nvPr/>
        </p:nvSpPr>
        <p:spPr>
          <a:xfrm>
            <a:off x="7455130" y="2444066"/>
            <a:ext cx="685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Inputs  </a:t>
            </a:r>
          </a:p>
        </p:txBody>
      </p:sp>
      <p:sp>
        <p:nvSpPr>
          <p:cNvPr id="36" name="TextBox 67"/>
          <p:cNvSpPr txBox="1"/>
          <p:nvPr/>
        </p:nvSpPr>
        <p:spPr>
          <a:xfrm>
            <a:off x="9732015" y="2601424"/>
            <a:ext cx="657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43"/>
              <p:cNvSpPr txBox="1"/>
              <p:nvPr/>
            </p:nvSpPr>
            <p:spPr>
              <a:xfrm>
                <a:off x="8144834" y="2905666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7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834" y="2905666"/>
                <a:ext cx="323760" cy="362984"/>
              </a:xfrm>
              <a:prstGeom prst="rect">
                <a:avLst/>
              </a:prstGeom>
              <a:blipFill>
                <a:blip r:embed="rId8"/>
                <a:stretch>
                  <a:fillRect r="-26415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44"/>
              <p:cNvSpPr txBox="1"/>
              <p:nvPr/>
            </p:nvSpPr>
            <p:spPr>
              <a:xfrm>
                <a:off x="8121851" y="3521787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8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851" y="3521787"/>
                <a:ext cx="323760" cy="362984"/>
              </a:xfrm>
              <a:prstGeom prst="rect">
                <a:avLst/>
              </a:prstGeom>
              <a:blipFill>
                <a:blip r:embed="rId9"/>
                <a:stretch>
                  <a:fillRect r="-28302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45"/>
              <p:cNvSpPr txBox="1"/>
              <p:nvPr/>
            </p:nvSpPr>
            <p:spPr>
              <a:xfrm>
                <a:off x="8263711" y="4033167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9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711" y="4033167"/>
                <a:ext cx="323760" cy="362984"/>
              </a:xfrm>
              <a:prstGeom prst="rect">
                <a:avLst/>
              </a:prstGeom>
              <a:blipFill>
                <a:blip r:embed="rId10"/>
                <a:stretch>
                  <a:fillRect r="-245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48"/>
              <p:cNvSpPr txBox="1"/>
              <p:nvPr/>
            </p:nvSpPr>
            <p:spPr>
              <a:xfrm>
                <a:off x="9463611" y="2804636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3611" y="2804636"/>
                <a:ext cx="323760" cy="362984"/>
              </a:xfrm>
              <a:prstGeom prst="rect">
                <a:avLst/>
              </a:prstGeom>
              <a:blipFill>
                <a:blip r:embed="rId11"/>
                <a:stretch>
                  <a:fillRect r="-25926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8445611" y="4960075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algn="ctr"/>
            <a:r>
              <a:rPr lang="en-IN" dirty="0">
                <a:cs typeface="Times New Roman" panose="02020603050405020304" pitchFamily="18" charset="0"/>
              </a:rPr>
              <a:t>Single Layer Perceptron</a:t>
            </a:r>
          </a:p>
          <a:p>
            <a:pPr algn="ctr"/>
            <a:r>
              <a:rPr lang="en-IN" dirty="0">
                <a:cs typeface="Times New Roman" panose="02020603050405020304" pitchFamily="18" charset="0"/>
              </a:rPr>
              <a:t>(with single output)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22964" y="3488503"/>
            <a:ext cx="246064" cy="2214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Connector 47"/>
          <p:cNvCxnSpPr/>
          <p:nvPr/>
        </p:nvCxnSpPr>
        <p:spPr>
          <a:xfrm>
            <a:off x="10322964" y="3662335"/>
            <a:ext cx="11509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10434090" y="3531365"/>
            <a:ext cx="0" cy="13097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0426153" y="3531365"/>
            <a:ext cx="1428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val 126"/>
              <p:cNvSpPr/>
              <p:nvPr/>
            </p:nvSpPr>
            <p:spPr>
              <a:xfrm>
                <a:off x="8792607" y="3109034"/>
                <a:ext cx="1189289" cy="99016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7" name="Oval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607" y="3109034"/>
                <a:ext cx="1189289" cy="99016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09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Binary Step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70526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binary step function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(also called the threshold or Heaviside function) produces a binary output based on whether the input exceeds a specified threshold.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Defined as:	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0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sz="20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sz="20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0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 sz="20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0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0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​It is commonly used in 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single-layer perceptron for binary classification tasks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output represents 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predicted class based on the decision boundary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endParaRPr lang="en-IN" sz="18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70526" cy="4351338"/>
              </a:xfrm>
              <a:blipFill>
                <a:blip r:embed="rId2"/>
                <a:stretch>
                  <a:fillRect l="-875" t="-1401" r="-11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/>
          <p:cNvGrpSpPr/>
          <p:nvPr/>
        </p:nvGrpSpPr>
        <p:grpSpPr>
          <a:xfrm>
            <a:off x="7680608" y="2118360"/>
            <a:ext cx="3516030" cy="2999927"/>
            <a:chOff x="7680608" y="2118360"/>
            <a:chExt cx="3516030" cy="2999927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8211941" y="4098176"/>
              <a:ext cx="1208649" cy="7143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9420590" y="2905728"/>
              <a:ext cx="0" cy="1199591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9413447" y="2905728"/>
              <a:ext cx="1437521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8219282" y="2905728"/>
              <a:ext cx="1190990" cy="0"/>
            </a:xfrm>
            <a:prstGeom prst="line">
              <a:avLst/>
            </a:prstGeom>
            <a:ln w="9525"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 flipV="1">
              <a:off x="9410272" y="4098176"/>
              <a:ext cx="1440696" cy="7143"/>
            </a:xfrm>
            <a:prstGeom prst="line">
              <a:avLst/>
            </a:prstGeom>
            <a:ln w="9525"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8205691" y="2118360"/>
              <a:ext cx="13590" cy="2444115"/>
            </a:xfrm>
            <a:prstGeom prst="line">
              <a:avLst/>
            </a:prstGeom>
            <a:ln w="222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 flipV="1">
              <a:off x="8211941" y="4557712"/>
              <a:ext cx="2984697" cy="4763"/>
            </a:xfrm>
            <a:prstGeom prst="line">
              <a:avLst/>
            </a:prstGeom>
            <a:ln w="222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9390245" y="3486786"/>
              <a:ext cx="60690" cy="7239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Arial Narrow" panose="020B060602020203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7797" y="4595067"/>
              <a:ext cx="281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-2		       0	              2</a:t>
              </a:r>
              <a:endPara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680609" y="4205377"/>
              <a:ext cx="7143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-0.2</a:t>
              </a:r>
              <a:endPara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80609" y="3722834"/>
              <a:ext cx="7143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 0.2</a:t>
              </a:r>
              <a:endPara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680608" y="3224710"/>
              <a:ext cx="7143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 0.6</a:t>
              </a:r>
              <a:endPara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80608" y="2831148"/>
              <a:ext cx="7143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 1.0</a:t>
              </a:r>
              <a:endPara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270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14052" y="2043379"/>
            <a:ext cx="5370485" cy="3742151"/>
            <a:chOff x="7242174" y="1344291"/>
            <a:chExt cx="4369777" cy="3079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7667625" y="1344291"/>
                  <a:ext cx="3831690" cy="4821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IN" sz="2400" dirty="0"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A=predicted output =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a14:m>
                  <a:endPara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7625" y="1344291"/>
                  <a:ext cx="3831690" cy="482183"/>
                </a:xfrm>
                <a:prstGeom prst="rect">
                  <a:avLst/>
                </a:prstGeom>
                <a:blipFill>
                  <a:blip r:embed="rId2"/>
                  <a:stretch>
                    <a:fillRect l="-2385" t="-6329" b="-2784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/>
            <p:cNvSpPr/>
            <p:nvPr/>
          </p:nvSpPr>
          <p:spPr>
            <a:xfrm>
              <a:off x="7667625" y="1925646"/>
              <a:ext cx="29514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d = actual (target) 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8473328" y="2467511"/>
                  <a:ext cx="2238818" cy="7838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3328" y="2467511"/>
                  <a:ext cx="2238818" cy="7838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106"/>
                <p:cNvSpPr txBox="1"/>
                <p:nvPr/>
              </p:nvSpPr>
              <p:spPr>
                <a:xfrm>
                  <a:off x="7242174" y="3435736"/>
                  <a:ext cx="4369777" cy="9876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r>
                    <a:rPr lang="en-IN" sz="2400" dirty="0"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Goal: Change the weights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IN" sz="2400" dirty="0"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) in such a fashion that the Error becomes very less (close to zero) </a:t>
                  </a:r>
                </a:p>
              </p:txBody>
            </p:sp>
          </mc:Choice>
          <mc:Fallback xmlns="">
            <p:sp>
              <p:nvSpPr>
                <p:cNvPr id="8" name="TextBox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2174" y="3435736"/>
                  <a:ext cx="4369777" cy="987647"/>
                </a:xfrm>
                <a:prstGeom prst="rect">
                  <a:avLst/>
                </a:prstGeom>
                <a:blipFill>
                  <a:blip r:embed="rId4"/>
                  <a:stretch>
                    <a:fillRect l="-1703" t="-3553" r="-1816" b="-1116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8"/>
          <p:cNvSpPr txBox="1"/>
          <p:nvPr/>
        </p:nvSpPr>
        <p:spPr>
          <a:xfrm>
            <a:off x="8915400" y="27527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7117010" y="2335944"/>
            <a:ext cx="4703226" cy="25182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6204" y="4352662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566204" y="3468730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7566204" y="2860944"/>
            <a:ext cx="396472" cy="316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32"/>
              <p:cNvSpPr txBox="1"/>
              <p:nvPr/>
            </p:nvSpPr>
            <p:spPr>
              <a:xfrm>
                <a:off x="7587378" y="2782089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4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378" y="2782089"/>
                <a:ext cx="323760" cy="362984"/>
              </a:xfrm>
              <a:prstGeom prst="rect">
                <a:avLst/>
              </a:prstGeom>
              <a:blipFill>
                <a:blip r:embed="rId5"/>
                <a:stretch>
                  <a:fillRect r="-11321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4"/>
              <p:cNvSpPr txBox="1"/>
              <p:nvPr/>
            </p:nvSpPr>
            <p:spPr>
              <a:xfrm>
                <a:off x="7587378" y="3410208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378" y="3410208"/>
                <a:ext cx="323760" cy="362984"/>
              </a:xfrm>
              <a:prstGeom prst="rect">
                <a:avLst/>
              </a:prstGeom>
              <a:blipFill>
                <a:blip r:embed="rId6"/>
                <a:stretch>
                  <a:fillRect r="-13208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36"/>
              <p:cNvSpPr txBox="1"/>
              <p:nvPr/>
            </p:nvSpPr>
            <p:spPr>
              <a:xfrm>
                <a:off x="7556854" y="4307883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854" y="4307883"/>
                <a:ext cx="323760" cy="362984"/>
              </a:xfrm>
              <a:prstGeom prst="rect">
                <a:avLst/>
              </a:prstGeom>
              <a:blipFill>
                <a:blip r:embed="rId7"/>
                <a:stretch>
                  <a:fillRect r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37"/>
          <p:cNvSpPr txBox="1"/>
          <p:nvPr/>
        </p:nvSpPr>
        <p:spPr>
          <a:xfrm>
            <a:off x="7651494" y="3626218"/>
            <a:ext cx="195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latin typeface="Arial Narrow" panose="020B0606020202030204" pitchFamily="34" charset="0"/>
              </a:rPr>
              <a:t>.</a:t>
            </a:r>
          </a:p>
          <a:p>
            <a:r>
              <a:rPr lang="en-IN" sz="1400" b="1" dirty="0">
                <a:latin typeface="Arial Narrow" panose="020B0606020202030204" pitchFamily="34" charset="0"/>
              </a:rPr>
              <a:t>..</a:t>
            </a:r>
          </a:p>
        </p:txBody>
      </p:sp>
      <p:cxnSp>
        <p:nvCxnSpPr>
          <p:cNvPr id="19" name="Straight Arrow Connector 18"/>
          <p:cNvCxnSpPr>
            <a:stCxn id="13" idx="3"/>
          </p:cNvCxnSpPr>
          <p:nvPr/>
        </p:nvCxnSpPr>
        <p:spPr>
          <a:xfrm>
            <a:off x="7962676" y="3019411"/>
            <a:ext cx="854009" cy="57982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3"/>
          </p:cNvCxnSpPr>
          <p:nvPr/>
        </p:nvCxnSpPr>
        <p:spPr>
          <a:xfrm flipV="1">
            <a:off x="7962676" y="3599231"/>
            <a:ext cx="854009" cy="27966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3"/>
          </p:cNvCxnSpPr>
          <p:nvPr/>
        </p:nvCxnSpPr>
        <p:spPr>
          <a:xfrm flipV="1">
            <a:off x="7962676" y="3599231"/>
            <a:ext cx="854009" cy="911898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47"/>
              <p:cNvSpPr txBox="1"/>
              <p:nvPr/>
            </p:nvSpPr>
            <p:spPr>
              <a:xfrm>
                <a:off x="9072990" y="2557951"/>
                <a:ext cx="625853" cy="338554"/>
              </a:xfrm>
              <a:prstGeom prst="rect">
                <a:avLst/>
              </a:prstGeom>
              <a:solidFill>
                <a:schemeClr val="accent2">
                  <a:lumMod val="75000"/>
                  <a:alpha val="79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=1</a:t>
                </a:r>
              </a:p>
            </p:txBody>
          </p:sp>
        </mc:Choice>
        <mc:Fallback xmlns="">
          <p:sp>
            <p:nvSpPr>
              <p:cNvPr id="22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990" y="2557951"/>
                <a:ext cx="625853" cy="338554"/>
              </a:xfrm>
              <a:prstGeom prst="rect">
                <a:avLst/>
              </a:prstGeom>
              <a:blipFill>
                <a:blip r:embed="rId8"/>
                <a:stretch>
                  <a:fillRect t="-1754" b="-22807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22" idx="2"/>
            <a:endCxn id="40" idx="0"/>
          </p:cNvCxnSpPr>
          <p:nvPr/>
        </p:nvCxnSpPr>
        <p:spPr>
          <a:xfrm>
            <a:off x="9385917" y="2896505"/>
            <a:ext cx="1335" cy="212529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35" idx="1"/>
          </p:cNvCxnSpPr>
          <p:nvPr/>
        </p:nvCxnSpPr>
        <p:spPr>
          <a:xfrm>
            <a:off x="9845591" y="3599231"/>
            <a:ext cx="477373" cy="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35" idx="3"/>
            <a:endCxn id="26" idx="1"/>
          </p:cNvCxnSpPr>
          <p:nvPr/>
        </p:nvCxnSpPr>
        <p:spPr>
          <a:xfrm>
            <a:off x="10569028" y="3599231"/>
            <a:ext cx="382531" cy="7607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8"/>
          <p:cNvSpPr txBox="1"/>
          <p:nvPr/>
        </p:nvSpPr>
        <p:spPr>
          <a:xfrm>
            <a:off x="10951559" y="3468338"/>
            <a:ext cx="657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Output  </a:t>
            </a:r>
          </a:p>
        </p:txBody>
      </p:sp>
      <p:sp>
        <p:nvSpPr>
          <p:cNvPr id="27" name="TextBox 60"/>
          <p:cNvSpPr txBox="1"/>
          <p:nvPr/>
        </p:nvSpPr>
        <p:spPr>
          <a:xfrm>
            <a:off x="9923439" y="3771568"/>
            <a:ext cx="12525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Activation function</a:t>
            </a:r>
          </a:p>
        </p:txBody>
      </p:sp>
      <p:sp>
        <p:nvSpPr>
          <p:cNvPr id="28" name="TextBox 66"/>
          <p:cNvSpPr txBox="1"/>
          <p:nvPr/>
        </p:nvSpPr>
        <p:spPr>
          <a:xfrm>
            <a:off x="7455130" y="2444066"/>
            <a:ext cx="685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Inputs  </a:t>
            </a:r>
          </a:p>
        </p:txBody>
      </p:sp>
      <p:sp>
        <p:nvSpPr>
          <p:cNvPr id="29" name="TextBox 67"/>
          <p:cNvSpPr txBox="1"/>
          <p:nvPr/>
        </p:nvSpPr>
        <p:spPr>
          <a:xfrm>
            <a:off x="9677405" y="2601424"/>
            <a:ext cx="657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Arial Narrow" panose="020B0606020202030204" pitchFamily="34" charset="0"/>
              </a:rPr>
              <a:t>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43"/>
              <p:cNvSpPr txBox="1"/>
              <p:nvPr/>
            </p:nvSpPr>
            <p:spPr>
              <a:xfrm>
                <a:off x="8144834" y="2905666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0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834" y="2905666"/>
                <a:ext cx="323760" cy="362984"/>
              </a:xfrm>
              <a:prstGeom prst="rect">
                <a:avLst/>
              </a:prstGeom>
              <a:blipFill>
                <a:blip r:embed="rId10"/>
                <a:stretch>
                  <a:fillRect r="-26415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44"/>
              <p:cNvSpPr txBox="1"/>
              <p:nvPr/>
            </p:nvSpPr>
            <p:spPr>
              <a:xfrm>
                <a:off x="8121851" y="3521787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1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851" y="3521787"/>
                <a:ext cx="323760" cy="362984"/>
              </a:xfrm>
              <a:prstGeom prst="rect">
                <a:avLst/>
              </a:prstGeom>
              <a:blipFill>
                <a:blip r:embed="rId11"/>
                <a:stretch>
                  <a:fillRect r="-28302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45"/>
              <p:cNvSpPr txBox="1"/>
              <p:nvPr/>
            </p:nvSpPr>
            <p:spPr>
              <a:xfrm>
                <a:off x="8263711" y="4033167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711" y="4033167"/>
                <a:ext cx="323760" cy="362984"/>
              </a:xfrm>
              <a:prstGeom prst="rect">
                <a:avLst/>
              </a:prstGeom>
              <a:blipFill>
                <a:blip r:embed="rId12"/>
                <a:stretch>
                  <a:fillRect r="-245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48"/>
              <p:cNvSpPr txBox="1"/>
              <p:nvPr/>
            </p:nvSpPr>
            <p:spPr>
              <a:xfrm>
                <a:off x="9468178" y="2826998"/>
                <a:ext cx="323760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3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178" y="2826998"/>
                <a:ext cx="323760" cy="362984"/>
              </a:xfrm>
              <a:prstGeom prst="rect">
                <a:avLst/>
              </a:prstGeom>
              <a:blipFill>
                <a:blip r:embed="rId13"/>
                <a:stretch>
                  <a:fillRect r="-28302" b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8417889" y="4893552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algn="ctr"/>
            <a:r>
              <a:rPr lang="en-IN" dirty="0">
                <a:cs typeface="Times New Roman" panose="02020603050405020304" pitchFamily="18" charset="0"/>
              </a:rPr>
              <a:t>Single Layer Perceptron</a:t>
            </a:r>
          </a:p>
          <a:p>
            <a:pPr algn="ctr"/>
            <a:r>
              <a:rPr lang="en-IN" dirty="0">
                <a:cs typeface="Times New Roman" panose="02020603050405020304" pitchFamily="18" charset="0"/>
              </a:rPr>
              <a:t>(with single output)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2964" y="3488503"/>
            <a:ext cx="246064" cy="2214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6" name="Straight Connector 35"/>
          <p:cNvCxnSpPr/>
          <p:nvPr/>
        </p:nvCxnSpPr>
        <p:spPr>
          <a:xfrm>
            <a:off x="10322964" y="3662335"/>
            <a:ext cx="11509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10434090" y="3531365"/>
            <a:ext cx="0" cy="13097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0426153" y="3531365"/>
            <a:ext cx="1428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Single Layer Perceptron (SLP)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8792607" y="3109034"/>
                <a:ext cx="1189289" cy="99016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607" y="3109034"/>
                <a:ext cx="1189289" cy="99016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806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 82"/>
          <p:cNvSpPr/>
          <p:nvPr/>
        </p:nvSpPr>
        <p:spPr>
          <a:xfrm>
            <a:off x="9283140" y="1637787"/>
            <a:ext cx="2384618" cy="227348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ounded Rectangle 83"/>
          <p:cNvSpPr/>
          <p:nvPr/>
        </p:nvSpPr>
        <p:spPr>
          <a:xfrm>
            <a:off x="9299932" y="4367574"/>
            <a:ext cx="2384618" cy="227348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457" y="1133813"/>
            <a:ext cx="8217825" cy="283873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Arial Narrow" panose="020B0606020202030204" pitchFamily="34" charset="0"/>
              </a:rPr>
              <a:t>Linear Separability:</a:t>
            </a:r>
            <a:r>
              <a:rPr lang="en-US" sz="1900" dirty="0">
                <a:latin typeface="Arial Narrow" panose="020B0606020202030204" pitchFamily="34" charset="0"/>
              </a:rPr>
              <a:t> A perceptron can classify data only if the classes are separated by a straight line or hyperplane.</a:t>
            </a:r>
          </a:p>
          <a:p>
            <a:pPr marL="813150" indent="-285750">
              <a:buFont typeface="Wingdings" panose="05000000000000000000" pitchFamily="2" charset="2"/>
              <a:buChar char="q"/>
            </a:pPr>
            <a:r>
              <a:rPr lang="en-US" sz="1900" dirty="0">
                <a:latin typeface="Arial Narrow" panose="020B0606020202030204" pitchFamily="34" charset="0"/>
              </a:rPr>
              <a:t>Works </a:t>
            </a:r>
            <a:r>
              <a:rPr lang="en-US" sz="1900" dirty="0">
                <a:solidFill>
                  <a:srgbClr val="00B0F0"/>
                </a:solidFill>
                <a:latin typeface="Arial Narrow" panose="020B0606020202030204" pitchFamily="34" charset="0"/>
              </a:rPr>
              <a:t>for linearly separable problems</a:t>
            </a:r>
            <a:r>
              <a:rPr lang="en-US" sz="1900" dirty="0">
                <a:latin typeface="Arial Narrow" panose="020B0606020202030204" pitchFamily="34" charset="0"/>
              </a:rPr>
              <a:t>. </a:t>
            </a:r>
          </a:p>
          <a:p>
            <a:pPr marL="813150" indent="-285750"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B0F0"/>
                </a:solidFill>
                <a:latin typeface="Arial Narrow" panose="020B0606020202030204" pitchFamily="34" charset="0"/>
              </a:rPr>
              <a:t>Cannot solve non-linearly separable problems such as XOR</a:t>
            </a:r>
            <a:r>
              <a:rPr lang="en-US" sz="1900" dirty="0">
                <a:latin typeface="Arial Narrow" panose="020B0606020202030204" pitchFamily="34" charset="0"/>
              </a:rPr>
              <a:t>.</a:t>
            </a:r>
          </a:p>
          <a:p>
            <a:endParaRPr lang="en-US" sz="1900" b="1" dirty="0">
              <a:latin typeface="Arial Narrow" panose="020B0606020202030204" pitchFamily="34" charset="0"/>
            </a:endParaRPr>
          </a:p>
          <a:p>
            <a:r>
              <a:rPr lang="en-US" sz="1900" b="1" dirty="0">
                <a:latin typeface="Arial Narrow" panose="020B0606020202030204" pitchFamily="34" charset="0"/>
              </a:rPr>
              <a:t>Single-Layer Model:</a:t>
            </a:r>
            <a:r>
              <a:rPr lang="en-US" sz="1900" dirty="0">
                <a:latin typeface="Arial Narrow" panose="020B0606020202030204" pitchFamily="34" charset="0"/>
              </a:rPr>
              <a:t> The perceptron has only one layer and no hidden layers.</a:t>
            </a:r>
          </a:p>
          <a:p>
            <a:pPr marL="813150" indent="-285750">
              <a:buFont typeface="Wingdings" panose="05000000000000000000" pitchFamily="2" charset="2"/>
              <a:buChar char="q"/>
            </a:pPr>
            <a:r>
              <a:rPr lang="en-US" sz="1900" dirty="0">
                <a:latin typeface="Arial Narrow" panose="020B0606020202030204" pitchFamily="34" charset="0"/>
              </a:rPr>
              <a:t>Simple and easy to implement. </a:t>
            </a:r>
          </a:p>
          <a:p>
            <a:pPr marL="813150" indent="-285750">
              <a:buFont typeface="Wingdings" panose="05000000000000000000" pitchFamily="2" charset="2"/>
              <a:buChar char="q"/>
            </a:pPr>
            <a:r>
              <a:rPr lang="en-US" sz="1900" dirty="0">
                <a:latin typeface="Arial Narrow" panose="020B0606020202030204" pitchFamily="34" charset="0"/>
              </a:rPr>
              <a:t>Limited in learning complex patterns and relationships.</a:t>
            </a:r>
          </a:p>
          <a:p>
            <a:pPr marL="0" indent="0">
              <a:buNone/>
            </a:pPr>
            <a:endParaRPr lang="en-IN" sz="1050" dirty="0">
              <a:latin typeface="Arial Narrow" panose="020B060602020203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64309" y="51859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Single Layer Perceptron (SLP)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3367157" y="5906154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16200000" flipV="1">
            <a:off x="2605157" y="5153679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9708494" y="3377851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V="1">
            <a:off x="8946494" y="2625376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9963308" y="2125046"/>
            <a:ext cx="904875" cy="10382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304945" y="4105155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945" y="4105155"/>
                <a:ext cx="299184" cy="276999"/>
              </a:xfrm>
              <a:prstGeom prst="rect">
                <a:avLst/>
              </a:prstGeom>
              <a:blipFill>
                <a:blip r:embed="rId2"/>
                <a:stretch>
                  <a:fillRect l="-16327" r="-1020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962572" y="5725404"/>
                <a:ext cx="2930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72" y="5725404"/>
                <a:ext cx="293093" cy="276999"/>
              </a:xfrm>
              <a:prstGeom prst="rect">
                <a:avLst/>
              </a:prstGeom>
              <a:blipFill>
                <a:blip r:embed="rId3"/>
                <a:stretch>
                  <a:fillRect l="-18750" r="-833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D7E0B95-2CA8-4E1B-9CC7-3AA8D06E8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544748"/>
              </p:ext>
            </p:extLst>
          </p:nvPr>
        </p:nvGraphicFramePr>
        <p:xfrm>
          <a:off x="6778464" y="4440907"/>
          <a:ext cx="176910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01">
                  <a:extLst>
                    <a:ext uri="{9D8B030D-6E8A-4147-A177-3AD203B41FA5}">
                      <a16:colId xmlns:a16="http://schemas.microsoft.com/office/drawing/2014/main" val="1869332136"/>
                    </a:ext>
                  </a:extLst>
                </a:gridCol>
                <a:gridCol w="589701">
                  <a:extLst>
                    <a:ext uri="{9D8B030D-6E8A-4147-A177-3AD203B41FA5}">
                      <a16:colId xmlns:a16="http://schemas.microsoft.com/office/drawing/2014/main" val="578415405"/>
                    </a:ext>
                  </a:extLst>
                </a:gridCol>
                <a:gridCol w="589701">
                  <a:extLst>
                    <a:ext uri="{9D8B030D-6E8A-4147-A177-3AD203B41FA5}">
                      <a16:colId xmlns:a16="http://schemas.microsoft.com/office/drawing/2014/main" val="1952219316"/>
                    </a:ext>
                  </a:extLst>
                </a:gridCol>
              </a:tblGrid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O/P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181375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155385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835926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782662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018821"/>
                  </a:ext>
                </a:extLst>
              </a:tr>
            </a:tbl>
          </a:graphicData>
        </a:graphic>
      </p:graphicFrame>
      <p:sp>
        <p:nvSpPr>
          <p:cNvPr id="45" name="24-Point Star 44"/>
          <p:cNvSpPr/>
          <p:nvPr/>
        </p:nvSpPr>
        <p:spPr>
          <a:xfrm>
            <a:off x="9913778" y="2739676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24-Point Star 45"/>
          <p:cNvSpPr/>
          <p:nvPr/>
        </p:nvSpPr>
        <p:spPr>
          <a:xfrm>
            <a:off x="9913778" y="2992362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24-Point Star 46"/>
          <p:cNvSpPr/>
          <p:nvPr/>
        </p:nvSpPr>
        <p:spPr>
          <a:xfrm>
            <a:off x="10066178" y="3144762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24-Point Star 47"/>
          <p:cNvSpPr/>
          <p:nvPr/>
        </p:nvSpPr>
        <p:spPr>
          <a:xfrm>
            <a:off x="10270965" y="3014321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24-Point Star 48"/>
          <p:cNvSpPr/>
          <p:nvPr/>
        </p:nvSpPr>
        <p:spPr>
          <a:xfrm>
            <a:off x="10127138" y="2838736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24-Point Star 49"/>
          <p:cNvSpPr/>
          <p:nvPr/>
        </p:nvSpPr>
        <p:spPr>
          <a:xfrm>
            <a:off x="10012838" y="2501212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24-Point Star 50"/>
          <p:cNvSpPr/>
          <p:nvPr/>
        </p:nvSpPr>
        <p:spPr>
          <a:xfrm>
            <a:off x="10470038" y="3143536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24-Point Star 51"/>
          <p:cNvSpPr/>
          <p:nvPr/>
        </p:nvSpPr>
        <p:spPr>
          <a:xfrm>
            <a:off x="10287158" y="2706952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24-Point Star 52"/>
          <p:cNvSpPr/>
          <p:nvPr/>
        </p:nvSpPr>
        <p:spPr>
          <a:xfrm>
            <a:off x="10423365" y="2206601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24-Point Star 53"/>
          <p:cNvSpPr/>
          <p:nvPr/>
        </p:nvSpPr>
        <p:spPr>
          <a:xfrm>
            <a:off x="10575765" y="2359001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24-Point Star 54"/>
          <p:cNvSpPr/>
          <p:nvPr/>
        </p:nvSpPr>
        <p:spPr>
          <a:xfrm>
            <a:off x="10763387" y="2411019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24-Point Star 55"/>
          <p:cNvSpPr/>
          <p:nvPr/>
        </p:nvSpPr>
        <p:spPr>
          <a:xfrm>
            <a:off x="10579099" y="2590696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24-Point Star 56"/>
          <p:cNvSpPr/>
          <p:nvPr/>
        </p:nvSpPr>
        <p:spPr>
          <a:xfrm>
            <a:off x="10822918" y="2687693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24-Point Star 57"/>
          <p:cNvSpPr/>
          <p:nvPr/>
        </p:nvSpPr>
        <p:spPr>
          <a:xfrm>
            <a:off x="10743861" y="2139136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24-Point Star 58"/>
          <p:cNvSpPr/>
          <p:nvPr/>
        </p:nvSpPr>
        <p:spPr>
          <a:xfrm>
            <a:off x="10408125" y="2456739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24-Point Star 59"/>
          <p:cNvSpPr/>
          <p:nvPr/>
        </p:nvSpPr>
        <p:spPr>
          <a:xfrm>
            <a:off x="10933905" y="2494949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24-Point Star 60"/>
          <p:cNvSpPr/>
          <p:nvPr/>
        </p:nvSpPr>
        <p:spPr>
          <a:xfrm>
            <a:off x="10983435" y="2829147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/>
          <p:cNvSpPr txBox="1"/>
          <p:nvPr/>
        </p:nvSpPr>
        <p:spPr>
          <a:xfrm>
            <a:off x="9632924" y="3566669"/>
            <a:ext cx="1580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Linearly Separable</a:t>
            </a:r>
          </a:p>
        </p:txBody>
      </p:sp>
      <p:cxnSp>
        <p:nvCxnSpPr>
          <p:cNvPr id="63" name="Straight Arrow Connector 62"/>
          <p:cNvCxnSpPr/>
          <p:nvPr/>
        </p:nvCxnSpPr>
        <p:spPr>
          <a:xfrm flipV="1">
            <a:off x="9739877" y="6105023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rot="16200000" flipV="1">
            <a:off x="8977877" y="5352548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24-Point Star 65"/>
          <p:cNvSpPr/>
          <p:nvPr/>
        </p:nvSpPr>
        <p:spPr>
          <a:xfrm>
            <a:off x="9960427" y="5090097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24-Point Star 67"/>
          <p:cNvSpPr/>
          <p:nvPr/>
        </p:nvSpPr>
        <p:spPr>
          <a:xfrm>
            <a:off x="10147547" y="5804167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24-Point Star 68"/>
          <p:cNvSpPr/>
          <p:nvPr/>
        </p:nvSpPr>
        <p:spPr>
          <a:xfrm>
            <a:off x="10790277" y="5527045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24-Point Star 69"/>
          <p:cNvSpPr/>
          <p:nvPr/>
        </p:nvSpPr>
        <p:spPr>
          <a:xfrm>
            <a:off x="9883629" y="5360088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24-Point Star 70"/>
          <p:cNvSpPr/>
          <p:nvPr/>
        </p:nvSpPr>
        <p:spPr>
          <a:xfrm>
            <a:off x="10623838" y="5271110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24-Point Star 71"/>
          <p:cNvSpPr/>
          <p:nvPr/>
        </p:nvSpPr>
        <p:spPr>
          <a:xfrm>
            <a:off x="10477000" y="5874889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24-Point Star 72"/>
          <p:cNvSpPr/>
          <p:nvPr/>
        </p:nvSpPr>
        <p:spPr>
          <a:xfrm>
            <a:off x="10096718" y="5012883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24-Point Star 73"/>
          <p:cNvSpPr/>
          <p:nvPr/>
        </p:nvSpPr>
        <p:spPr>
          <a:xfrm>
            <a:off x="10238560" y="5192622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24-Point Star 74"/>
          <p:cNvSpPr/>
          <p:nvPr/>
        </p:nvSpPr>
        <p:spPr>
          <a:xfrm>
            <a:off x="10337620" y="5314368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24-Point Star 75"/>
          <p:cNvSpPr/>
          <p:nvPr/>
        </p:nvSpPr>
        <p:spPr>
          <a:xfrm>
            <a:off x="10444294" y="5388967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24-Point Star 76"/>
          <p:cNvSpPr/>
          <p:nvPr/>
        </p:nvSpPr>
        <p:spPr>
          <a:xfrm>
            <a:off x="10345984" y="5564084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24-Point Star 77"/>
          <p:cNvSpPr/>
          <p:nvPr/>
        </p:nvSpPr>
        <p:spPr>
          <a:xfrm>
            <a:off x="10393181" y="5683172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24-Point Star 78"/>
          <p:cNvSpPr/>
          <p:nvPr/>
        </p:nvSpPr>
        <p:spPr>
          <a:xfrm>
            <a:off x="10442711" y="5132712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24-Point Star 79"/>
          <p:cNvSpPr/>
          <p:nvPr/>
        </p:nvSpPr>
        <p:spPr>
          <a:xfrm>
            <a:off x="10116178" y="5381817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24-Point Star 80"/>
          <p:cNvSpPr/>
          <p:nvPr/>
        </p:nvSpPr>
        <p:spPr>
          <a:xfrm>
            <a:off x="10587674" y="5527045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24-Point Star 81"/>
          <p:cNvSpPr/>
          <p:nvPr/>
        </p:nvSpPr>
        <p:spPr>
          <a:xfrm>
            <a:off x="10180312" y="5626896"/>
            <a:ext cx="99060" cy="91440"/>
          </a:xfrm>
          <a:prstGeom prst="star24">
            <a:avLst/>
          </a:prstGeom>
          <a:solidFill>
            <a:srgbClr val="FFFF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24-Point Star 85"/>
          <p:cNvSpPr/>
          <p:nvPr/>
        </p:nvSpPr>
        <p:spPr>
          <a:xfrm>
            <a:off x="9987100" y="5594750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24-Point Star 86"/>
          <p:cNvSpPr/>
          <p:nvPr/>
        </p:nvSpPr>
        <p:spPr>
          <a:xfrm>
            <a:off x="10375258" y="4891525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24-Point Star 87"/>
          <p:cNvSpPr/>
          <p:nvPr/>
        </p:nvSpPr>
        <p:spPr>
          <a:xfrm>
            <a:off x="10658121" y="5748788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24-Point Star 88"/>
          <p:cNvSpPr/>
          <p:nvPr/>
        </p:nvSpPr>
        <p:spPr>
          <a:xfrm>
            <a:off x="10620998" y="4953940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24-Point Star 89"/>
          <p:cNvSpPr/>
          <p:nvPr/>
        </p:nvSpPr>
        <p:spPr>
          <a:xfrm>
            <a:off x="9819967" y="2366100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24-Point Star 90"/>
          <p:cNvSpPr/>
          <p:nvPr/>
        </p:nvSpPr>
        <p:spPr>
          <a:xfrm>
            <a:off x="9807078" y="2588420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24-Point Star 91"/>
          <p:cNvSpPr/>
          <p:nvPr/>
        </p:nvSpPr>
        <p:spPr>
          <a:xfrm>
            <a:off x="10066178" y="2671178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24-Point Star 92"/>
          <p:cNvSpPr/>
          <p:nvPr/>
        </p:nvSpPr>
        <p:spPr>
          <a:xfrm>
            <a:off x="10110518" y="2975959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24-Point Star 93"/>
          <p:cNvSpPr/>
          <p:nvPr/>
        </p:nvSpPr>
        <p:spPr>
          <a:xfrm>
            <a:off x="10430349" y="2984735"/>
            <a:ext cx="99060" cy="91440"/>
          </a:xfrm>
          <a:prstGeom prst="star24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24-Point Star 94"/>
          <p:cNvSpPr/>
          <p:nvPr/>
        </p:nvSpPr>
        <p:spPr>
          <a:xfrm>
            <a:off x="10790277" y="5164780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24-Point Star 95"/>
          <p:cNvSpPr/>
          <p:nvPr/>
        </p:nvSpPr>
        <p:spPr>
          <a:xfrm>
            <a:off x="10907445" y="5314368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24-Point Star 96"/>
          <p:cNvSpPr/>
          <p:nvPr/>
        </p:nvSpPr>
        <p:spPr>
          <a:xfrm>
            <a:off x="9939689" y="5792495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24-Point Star 97"/>
          <p:cNvSpPr/>
          <p:nvPr/>
        </p:nvSpPr>
        <p:spPr>
          <a:xfrm>
            <a:off x="10242975" y="4989559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24-Point Star 98"/>
          <p:cNvSpPr/>
          <p:nvPr/>
        </p:nvSpPr>
        <p:spPr>
          <a:xfrm>
            <a:off x="9819238" y="5190567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24-Point Star 99"/>
          <p:cNvSpPr/>
          <p:nvPr/>
        </p:nvSpPr>
        <p:spPr>
          <a:xfrm>
            <a:off x="10793731" y="4973172"/>
            <a:ext cx="99060" cy="9144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/>
          <p:cNvSpPr txBox="1"/>
          <p:nvPr/>
        </p:nvSpPr>
        <p:spPr>
          <a:xfrm>
            <a:off x="9537910" y="6196439"/>
            <a:ext cx="1888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Not Linearly Separable</a:t>
            </a:r>
          </a:p>
        </p:txBody>
      </p:sp>
      <p:sp>
        <p:nvSpPr>
          <p:cNvPr id="103" name="Quad Arrow 102"/>
          <p:cNvSpPr/>
          <p:nvPr/>
        </p:nvSpPr>
        <p:spPr>
          <a:xfrm>
            <a:off x="3300148" y="5812888"/>
            <a:ext cx="137160" cy="149588"/>
          </a:xfrm>
          <a:prstGeom prst="quadArrow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Quad Arrow 103"/>
          <p:cNvSpPr/>
          <p:nvPr/>
        </p:nvSpPr>
        <p:spPr>
          <a:xfrm>
            <a:off x="4366197" y="4854144"/>
            <a:ext cx="137160" cy="149588"/>
          </a:xfrm>
          <a:prstGeom prst="quadArrow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Quad Arrow 104"/>
          <p:cNvSpPr/>
          <p:nvPr/>
        </p:nvSpPr>
        <p:spPr>
          <a:xfrm>
            <a:off x="4366197" y="5819351"/>
            <a:ext cx="137160" cy="149588"/>
          </a:xfrm>
          <a:prstGeom prst="quad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Quad Arrow 105"/>
          <p:cNvSpPr/>
          <p:nvPr/>
        </p:nvSpPr>
        <p:spPr>
          <a:xfrm>
            <a:off x="3292983" y="4855662"/>
            <a:ext cx="137160" cy="149588"/>
          </a:xfrm>
          <a:prstGeom prst="quad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TextBox 106"/>
          <p:cNvSpPr txBox="1"/>
          <p:nvPr/>
        </p:nvSpPr>
        <p:spPr>
          <a:xfrm>
            <a:off x="2913276" y="6019311"/>
            <a:ext cx="250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XOR representation </a:t>
            </a:r>
          </a:p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(Linear non-separable task)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9743534" y="1678065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3534" y="1678065"/>
                <a:ext cx="299184" cy="276999"/>
              </a:xfrm>
              <a:prstGeom prst="rect">
                <a:avLst/>
              </a:prstGeom>
              <a:blipFill>
                <a:blip r:embed="rId4"/>
                <a:stretch>
                  <a:fillRect l="-16327" r="-1020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9804653" y="4367551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653" y="4367551"/>
                <a:ext cx="299184" cy="276999"/>
              </a:xfrm>
              <a:prstGeom prst="rect">
                <a:avLst/>
              </a:prstGeom>
              <a:blipFill>
                <a:blip r:embed="rId5"/>
                <a:stretch>
                  <a:fillRect l="-16327" r="-1020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11294235" y="3336446"/>
                <a:ext cx="2930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235" y="3336446"/>
                <a:ext cx="293093" cy="276999"/>
              </a:xfrm>
              <a:prstGeom prst="rect">
                <a:avLst/>
              </a:prstGeom>
              <a:blipFill>
                <a:blip r:embed="rId6"/>
                <a:stretch>
                  <a:fillRect l="-20833" r="-6250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11341216" y="5920609"/>
                <a:ext cx="2930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216" y="5920609"/>
                <a:ext cx="293093" cy="276999"/>
              </a:xfrm>
              <a:prstGeom prst="rect">
                <a:avLst/>
              </a:prstGeom>
              <a:blipFill>
                <a:blip r:embed="rId7"/>
                <a:stretch>
                  <a:fillRect l="-18367" r="-61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/>
          <p:cNvSpPr txBox="1"/>
          <p:nvPr/>
        </p:nvSpPr>
        <p:spPr>
          <a:xfrm>
            <a:off x="7109017" y="62968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XOR Logic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848212" y="4090176"/>
            <a:ext cx="2670705" cy="267472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211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ea typeface="Calibri Light"/>
                <a:cs typeface="Calibri Light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Neural Network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Application Domains for Neural Network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Single Layer Perceptron (SLP)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SLP: Training Algorithm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SLP: Applications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SLP: Limitations</a:t>
            </a:r>
          </a:p>
        </p:txBody>
      </p:sp>
    </p:spTree>
    <p:extLst>
      <p:ext uri="{BB962C8B-B14F-4D97-AF65-F5344CB8AC3E}">
        <p14:creationId xmlns:p14="http://schemas.microsoft.com/office/powerpoint/2010/main" val="2080182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Neural Network Fundamentals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3: Part II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994</Words>
  <Application>Microsoft Office PowerPoint</Application>
  <PresentationFormat>Widescreen</PresentationFormat>
  <Paragraphs>223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Courier New</vt:lpstr>
      <vt:lpstr>Times New Roman</vt:lpstr>
      <vt:lpstr>Wingdings</vt:lpstr>
      <vt:lpstr>Office Theme</vt:lpstr>
      <vt:lpstr>Neural Network Fundamentals </vt:lpstr>
      <vt:lpstr>Content</vt:lpstr>
      <vt:lpstr>Components of a Biological Neuron</vt:lpstr>
      <vt:lpstr>Introduction to Neural Network</vt:lpstr>
      <vt:lpstr>Introduction to Neural Network</vt:lpstr>
      <vt:lpstr>Introduction to Neural Network</vt:lpstr>
      <vt:lpstr>Applications of Neural Network</vt:lpstr>
      <vt:lpstr>Single Layer Perceptron (SLP)</vt:lpstr>
      <vt:lpstr>Binary Step Function</vt:lpstr>
      <vt:lpstr>Single Layer Perceptron (SLP)</vt:lpstr>
      <vt:lpstr>Single Layer Perceptron (SLP)</vt:lpstr>
      <vt:lpstr>Summary</vt:lpstr>
      <vt:lpstr>Neural Network Fundamentals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Fundamentals </dc:title>
  <dc:creator>IITG</dc:creator>
  <cp:lastModifiedBy>HP</cp:lastModifiedBy>
  <cp:revision>14</cp:revision>
  <dcterms:created xsi:type="dcterms:W3CDTF">2026-07-07T08:34:32Z</dcterms:created>
  <dcterms:modified xsi:type="dcterms:W3CDTF">2026-07-09T16:52:06Z</dcterms:modified>
</cp:coreProperties>
</file>