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315" r:id="rId2"/>
    <p:sldId id="256" r:id="rId3"/>
    <p:sldId id="285" r:id="rId4"/>
    <p:sldId id="286" r:id="rId5"/>
    <p:sldId id="287" r:id="rId6"/>
    <p:sldId id="288" r:id="rId7"/>
    <p:sldId id="289" r:id="rId8"/>
    <p:sldId id="291" r:id="rId9"/>
    <p:sldId id="292" r:id="rId10"/>
    <p:sldId id="293" r:id="rId11"/>
    <p:sldId id="294" r:id="rId12"/>
    <p:sldId id="295" r:id="rId13"/>
    <p:sldId id="296" r:id="rId14"/>
    <p:sldId id="298" r:id="rId15"/>
    <p:sldId id="301" r:id="rId16"/>
    <p:sldId id="299" r:id="rId17"/>
    <p:sldId id="300"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6" r:id="rId31"/>
    <p:sldId id="31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4" d="100"/>
          <a:sy n="54" d="100"/>
        </p:scale>
        <p:origin x="82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620612-DF13-4676-8482-3D1A43D6064C}" type="datetimeFigureOut">
              <a:rPr lang="en-IN" smtClean="0"/>
              <a:t>16-08-2026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33F6AE-2E2B-4BAC-9D14-84E3CC537056}" type="slidenum">
              <a:rPr lang="en-IN" smtClean="0"/>
              <a:t>‹#›</a:t>
            </a:fld>
            <a:endParaRPr lang="en-IN"/>
          </a:p>
        </p:txBody>
      </p:sp>
    </p:spTree>
    <p:extLst>
      <p:ext uri="{BB962C8B-B14F-4D97-AF65-F5344CB8AC3E}">
        <p14:creationId xmlns:p14="http://schemas.microsoft.com/office/powerpoint/2010/main" val="3638113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81BEF32-3B57-4ADA-8EA1-31BB3F8302E7}" type="slidenum">
              <a:rPr lang="en-IN" smtClean="0"/>
              <a:t>20</a:t>
            </a:fld>
            <a:endParaRPr lang="en-IN"/>
          </a:p>
        </p:txBody>
      </p:sp>
    </p:spTree>
    <p:extLst>
      <p:ext uri="{BB962C8B-B14F-4D97-AF65-F5344CB8AC3E}">
        <p14:creationId xmlns:p14="http://schemas.microsoft.com/office/powerpoint/2010/main" val="184884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81BEF32-3B57-4ADA-8EA1-31BB3F8302E7}" type="slidenum">
              <a:rPr lang="en-IN" smtClean="0"/>
              <a:t>25</a:t>
            </a:fld>
            <a:endParaRPr lang="en-IN"/>
          </a:p>
        </p:txBody>
      </p:sp>
    </p:spTree>
    <p:extLst>
      <p:ext uri="{BB962C8B-B14F-4D97-AF65-F5344CB8AC3E}">
        <p14:creationId xmlns:p14="http://schemas.microsoft.com/office/powerpoint/2010/main" val="1886362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3CF9A-1B53-4B1C-8FC9-B30BA5E40F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7E64B81-CAB3-44B7-98CD-849B1FB70A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07E37D8-4065-4436-9B1B-5D365BD11006}"/>
              </a:ext>
            </a:extLst>
          </p:cNvPr>
          <p:cNvSpPr>
            <a:spLocks noGrp="1"/>
          </p:cNvSpPr>
          <p:nvPr>
            <p:ph type="dt" sz="half" idx="10"/>
          </p:nvPr>
        </p:nvSpPr>
        <p:spPr/>
        <p:txBody>
          <a:bodyPr/>
          <a:lstStyle/>
          <a:p>
            <a:fld id="{636A34B6-AADB-4E12-BEC6-FEC590FE2A73}" type="datetimeFigureOut">
              <a:rPr lang="en-IN" smtClean="0"/>
              <a:t>16-08-2026</a:t>
            </a:fld>
            <a:endParaRPr lang="en-IN"/>
          </a:p>
        </p:txBody>
      </p:sp>
      <p:sp>
        <p:nvSpPr>
          <p:cNvPr id="5" name="Footer Placeholder 4">
            <a:extLst>
              <a:ext uri="{FF2B5EF4-FFF2-40B4-BE49-F238E27FC236}">
                <a16:creationId xmlns:a16="http://schemas.microsoft.com/office/drawing/2014/main" id="{72982A07-7D4F-4599-ACF2-1DF58A8E88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1A7933-22FB-45E5-96BD-C6361F482A06}"/>
              </a:ext>
            </a:extLst>
          </p:cNvPr>
          <p:cNvSpPr>
            <a:spLocks noGrp="1"/>
          </p:cNvSpPr>
          <p:nvPr>
            <p:ph type="sldNum" sz="quarter" idx="12"/>
          </p:nvPr>
        </p:nvSpPr>
        <p:spPr/>
        <p:txBody>
          <a:bodyPr/>
          <a:lstStyle/>
          <a:p>
            <a:fld id="{21C93249-CE25-4CA7-AE7B-08BB1DA82565}" type="slidenum">
              <a:rPr lang="en-IN" smtClean="0"/>
              <a:t>‹#›</a:t>
            </a:fld>
            <a:endParaRPr lang="en-IN"/>
          </a:p>
        </p:txBody>
      </p:sp>
    </p:spTree>
    <p:extLst>
      <p:ext uri="{BB962C8B-B14F-4D97-AF65-F5344CB8AC3E}">
        <p14:creationId xmlns:p14="http://schemas.microsoft.com/office/powerpoint/2010/main" val="3351899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112B6-FBE5-4A62-BC70-C848884D7C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784FFC-702F-4FD4-86A1-6C128809DE6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07E570-6662-4248-8332-1FC621F6D681}"/>
              </a:ext>
            </a:extLst>
          </p:cNvPr>
          <p:cNvSpPr>
            <a:spLocks noGrp="1"/>
          </p:cNvSpPr>
          <p:nvPr>
            <p:ph type="dt" sz="half" idx="10"/>
          </p:nvPr>
        </p:nvSpPr>
        <p:spPr/>
        <p:txBody>
          <a:bodyPr/>
          <a:lstStyle/>
          <a:p>
            <a:fld id="{636A34B6-AADB-4E12-BEC6-FEC590FE2A73}" type="datetimeFigureOut">
              <a:rPr lang="en-IN" smtClean="0"/>
              <a:t>16-08-2026</a:t>
            </a:fld>
            <a:endParaRPr lang="en-IN"/>
          </a:p>
        </p:txBody>
      </p:sp>
      <p:sp>
        <p:nvSpPr>
          <p:cNvPr id="5" name="Footer Placeholder 4">
            <a:extLst>
              <a:ext uri="{FF2B5EF4-FFF2-40B4-BE49-F238E27FC236}">
                <a16:creationId xmlns:a16="http://schemas.microsoft.com/office/drawing/2014/main" id="{7BEBF25E-200F-4079-AB6E-103D2C5D87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CD9A19-1B6D-4C46-8F2E-ADAEFBB34F28}"/>
              </a:ext>
            </a:extLst>
          </p:cNvPr>
          <p:cNvSpPr>
            <a:spLocks noGrp="1"/>
          </p:cNvSpPr>
          <p:nvPr>
            <p:ph type="sldNum" sz="quarter" idx="12"/>
          </p:nvPr>
        </p:nvSpPr>
        <p:spPr/>
        <p:txBody>
          <a:bodyPr/>
          <a:lstStyle/>
          <a:p>
            <a:fld id="{21C93249-CE25-4CA7-AE7B-08BB1DA82565}" type="slidenum">
              <a:rPr lang="en-IN" smtClean="0"/>
              <a:t>‹#›</a:t>
            </a:fld>
            <a:endParaRPr lang="en-IN"/>
          </a:p>
        </p:txBody>
      </p:sp>
    </p:spTree>
    <p:extLst>
      <p:ext uri="{BB962C8B-B14F-4D97-AF65-F5344CB8AC3E}">
        <p14:creationId xmlns:p14="http://schemas.microsoft.com/office/powerpoint/2010/main" val="348357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56506-98E7-4BC3-A1D2-B94C1BF165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1AF9E65-624E-4211-A731-A55C84CE5C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D01C39C-408D-4ADA-99FA-353950C15775}"/>
              </a:ext>
            </a:extLst>
          </p:cNvPr>
          <p:cNvSpPr>
            <a:spLocks noGrp="1"/>
          </p:cNvSpPr>
          <p:nvPr>
            <p:ph type="dt" sz="half" idx="10"/>
          </p:nvPr>
        </p:nvSpPr>
        <p:spPr/>
        <p:txBody>
          <a:bodyPr/>
          <a:lstStyle/>
          <a:p>
            <a:fld id="{636A34B6-AADB-4E12-BEC6-FEC590FE2A73}" type="datetimeFigureOut">
              <a:rPr lang="en-IN" smtClean="0"/>
              <a:t>16-08-2026</a:t>
            </a:fld>
            <a:endParaRPr lang="en-IN"/>
          </a:p>
        </p:txBody>
      </p:sp>
      <p:sp>
        <p:nvSpPr>
          <p:cNvPr id="5" name="Footer Placeholder 4">
            <a:extLst>
              <a:ext uri="{FF2B5EF4-FFF2-40B4-BE49-F238E27FC236}">
                <a16:creationId xmlns:a16="http://schemas.microsoft.com/office/drawing/2014/main" id="{08CA34CD-8A0E-4589-AE6B-040C8A0E5E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23E57A-8665-4DD4-A563-A5502F99136A}"/>
              </a:ext>
            </a:extLst>
          </p:cNvPr>
          <p:cNvSpPr>
            <a:spLocks noGrp="1"/>
          </p:cNvSpPr>
          <p:nvPr>
            <p:ph type="sldNum" sz="quarter" idx="12"/>
          </p:nvPr>
        </p:nvSpPr>
        <p:spPr/>
        <p:txBody>
          <a:bodyPr/>
          <a:lstStyle/>
          <a:p>
            <a:fld id="{21C93249-CE25-4CA7-AE7B-08BB1DA82565}" type="slidenum">
              <a:rPr lang="en-IN" smtClean="0"/>
              <a:t>‹#›</a:t>
            </a:fld>
            <a:endParaRPr lang="en-IN"/>
          </a:p>
        </p:txBody>
      </p:sp>
    </p:spTree>
    <p:extLst>
      <p:ext uri="{BB962C8B-B14F-4D97-AF65-F5344CB8AC3E}">
        <p14:creationId xmlns:p14="http://schemas.microsoft.com/office/powerpoint/2010/main" val="225262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CFA9-0737-429A-9F88-2C9ACECB3D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515C00-582C-490B-B4BC-338882B6848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3D8A73-68D9-42E3-9DB3-8C5C424B0A1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482EE42-B7AB-4DC4-A62F-848CECD13D2F}"/>
              </a:ext>
            </a:extLst>
          </p:cNvPr>
          <p:cNvSpPr>
            <a:spLocks noGrp="1"/>
          </p:cNvSpPr>
          <p:nvPr>
            <p:ph type="dt" sz="half" idx="10"/>
          </p:nvPr>
        </p:nvSpPr>
        <p:spPr/>
        <p:txBody>
          <a:bodyPr/>
          <a:lstStyle/>
          <a:p>
            <a:fld id="{636A34B6-AADB-4E12-BEC6-FEC590FE2A73}" type="datetimeFigureOut">
              <a:rPr lang="en-IN" smtClean="0"/>
              <a:t>16-08-2026</a:t>
            </a:fld>
            <a:endParaRPr lang="en-IN"/>
          </a:p>
        </p:txBody>
      </p:sp>
      <p:sp>
        <p:nvSpPr>
          <p:cNvPr id="6" name="Footer Placeholder 5">
            <a:extLst>
              <a:ext uri="{FF2B5EF4-FFF2-40B4-BE49-F238E27FC236}">
                <a16:creationId xmlns:a16="http://schemas.microsoft.com/office/drawing/2014/main" id="{C7A34AA1-486F-4868-9D35-910D86EE1E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556409-7985-4845-A4BD-2D30267F7B16}"/>
              </a:ext>
            </a:extLst>
          </p:cNvPr>
          <p:cNvSpPr>
            <a:spLocks noGrp="1"/>
          </p:cNvSpPr>
          <p:nvPr>
            <p:ph type="sldNum" sz="quarter" idx="12"/>
          </p:nvPr>
        </p:nvSpPr>
        <p:spPr/>
        <p:txBody>
          <a:bodyPr/>
          <a:lstStyle/>
          <a:p>
            <a:fld id="{21C93249-CE25-4CA7-AE7B-08BB1DA82565}" type="slidenum">
              <a:rPr lang="en-IN" smtClean="0"/>
              <a:t>‹#›</a:t>
            </a:fld>
            <a:endParaRPr lang="en-IN"/>
          </a:p>
        </p:txBody>
      </p:sp>
    </p:spTree>
    <p:extLst>
      <p:ext uri="{BB962C8B-B14F-4D97-AF65-F5344CB8AC3E}">
        <p14:creationId xmlns:p14="http://schemas.microsoft.com/office/powerpoint/2010/main" val="2468468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CAE9D-2BF1-4E5C-ACEB-D9C69F34FC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A843FC-7A35-43C8-97AE-4900E25F9D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D7BDCDD-BE7F-44A1-B38D-094217F3128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CE2129C-398F-42E5-8287-E2CC3AA955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CE88954-DDC8-421C-B983-9940DD9EA90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80B5C71-A639-49DD-B0FD-BF34E4919496}"/>
              </a:ext>
            </a:extLst>
          </p:cNvPr>
          <p:cNvSpPr>
            <a:spLocks noGrp="1"/>
          </p:cNvSpPr>
          <p:nvPr>
            <p:ph type="dt" sz="half" idx="10"/>
          </p:nvPr>
        </p:nvSpPr>
        <p:spPr/>
        <p:txBody>
          <a:bodyPr/>
          <a:lstStyle/>
          <a:p>
            <a:fld id="{636A34B6-AADB-4E12-BEC6-FEC590FE2A73}" type="datetimeFigureOut">
              <a:rPr lang="en-IN" smtClean="0"/>
              <a:t>16-08-2026</a:t>
            </a:fld>
            <a:endParaRPr lang="en-IN"/>
          </a:p>
        </p:txBody>
      </p:sp>
      <p:sp>
        <p:nvSpPr>
          <p:cNvPr id="8" name="Footer Placeholder 7">
            <a:extLst>
              <a:ext uri="{FF2B5EF4-FFF2-40B4-BE49-F238E27FC236}">
                <a16:creationId xmlns:a16="http://schemas.microsoft.com/office/drawing/2014/main" id="{785FA68A-CBE0-4F2D-ADCA-4525EBC15A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B2C88E-4FAA-4A84-BB9E-E0C5B9DA1197}"/>
              </a:ext>
            </a:extLst>
          </p:cNvPr>
          <p:cNvSpPr>
            <a:spLocks noGrp="1"/>
          </p:cNvSpPr>
          <p:nvPr>
            <p:ph type="sldNum" sz="quarter" idx="12"/>
          </p:nvPr>
        </p:nvSpPr>
        <p:spPr/>
        <p:txBody>
          <a:bodyPr/>
          <a:lstStyle/>
          <a:p>
            <a:fld id="{21C93249-CE25-4CA7-AE7B-08BB1DA82565}" type="slidenum">
              <a:rPr lang="en-IN" smtClean="0"/>
              <a:t>‹#›</a:t>
            </a:fld>
            <a:endParaRPr lang="en-IN"/>
          </a:p>
        </p:txBody>
      </p:sp>
    </p:spTree>
    <p:extLst>
      <p:ext uri="{BB962C8B-B14F-4D97-AF65-F5344CB8AC3E}">
        <p14:creationId xmlns:p14="http://schemas.microsoft.com/office/powerpoint/2010/main" val="825436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34B97-E62B-4CD9-9539-5DE90A2A0D2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DCE93C0-F270-4A88-B26B-471592FE950E}"/>
              </a:ext>
            </a:extLst>
          </p:cNvPr>
          <p:cNvSpPr>
            <a:spLocks noGrp="1"/>
          </p:cNvSpPr>
          <p:nvPr>
            <p:ph type="dt" sz="half" idx="10"/>
          </p:nvPr>
        </p:nvSpPr>
        <p:spPr/>
        <p:txBody>
          <a:bodyPr/>
          <a:lstStyle/>
          <a:p>
            <a:fld id="{636A34B6-AADB-4E12-BEC6-FEC590FE2A73}" type="datetimeFigureOut">
              <a:rPr lang="en-IN" smtClean="0"/>
              <a:t>16-08-2026</a:t>
            </a:fld>
            <a:endParaRPr lang="en-IN"/>
          </a:p>
        </p:txBody>
      </p:sp>
      <p:sp>
        <p:nvSpPr>
          <p:cNvPr id="4" name="Footer Placeholder 3">
            <a:extLst>
              <a:ext uri="{FF2B5EF4-FFF2-40B4-BE49-F238E27FC236}">
                <a16:creationId xmlns:a16="http://schemas.microsoft.com/office/drawing/2014/main" id="{2D5EADE7-64E5-420B-8990-23AF8A017DB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6531862-D00C-4E53-B707-D602357D21D7}"/>
              </a:ext>
            </a:extLst>
          </p:cNvPr>
          <p:cNvSpPr>
            <a:spLocks noGrp="1"/>
          </p:cNvSpPr>
          <p:nvPr>
            <p:ph type="sldNum" sz="quarter" idx="12"/>
          </p:nvPr>
        </p:nvSpPr>
        <p:spPr/>
        <p:txBody>
          <a:bodyPr/>
          <a:lstStyle/>
          <a:p>
            <a:fld id="{21C93249-CE25-4CA7-AE7B-08BB1DA82565}" type="slidenum">
              <a:rPr lang="en-IN" smtClean="0"/>
              <a:t>‹#›</a:t>
            </a:fld>
            <a:endParaRPr lang="en-IN"/>
          </a:p>
        </p:txBody>
      </p:sp>
    </p:spTree>
    <p:extLst>
      <p:ext uri="{BB962C8B-B14F-4D97-AF65-F5344CB8AC3E}">
        <p14:creationId xmlns:p14="http://schemas.microsoft.com/office/powerpoint/2010/main" val="899737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75D95B-CF6C-4541-8F8B-2F42256CDA46}"/>
              </a:ext>
            </a:extLst>
          </p:cNvPr>
          <p:cNvSpPr>
            <a:spLocks noGrp="1"/>
          </p:cNvSpPr>
          <p:nvPr>
            <p:ph type="dt" sz="half" idx="10"/>
          </p:nvPr>
        </p:nvSpPr>
        <p:spPr/>
        <p:txBody>
          <a:bodyPr/>
          <a:lstStyle/>
          <a:p>
            <a:fld id="{636A34B6-AADB-4E12-BEC6-FEC590FE2A73}" type="datetimeFigureOut">
              <a:rPr lang="en-IN" smtClean="0"/>
              <a:t>16-08-2026</a:t>
            </a:fld>
            <a:endParaRPr lang="en-IN"/>
          </a:p>
        </p:txBody>
      </p:sp>
      <p:sp>
        <p:nvSpPr>
          <p:cNvPr id="3" name="Footer Placeholder 2">
            <a:extLst>
              <a:ext uri="{FF2B5EF4-FFF2-40B4-BE49-F238E27FC236}">
                <a16:creationId xmlns:a16="http://schemas.microsoft.com/office/drawing/2014/main" id="{4E0DCC9E-F3BC-44D0-B77A-D9CF69961D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7D76D7-811C-4616-A1A1-8515AFF5E38D}"/>
              </a:ext>
            </a:extLst>
          </p:cNvPr>
          <p:cNvSpPr>
            <a:spLocks noGrp="1"/>
          </p:cNvSpPr>
          <p:nvPr>
            <p:ph type="sldNum" sz="quarter" idx="12"/>
          </p:nvPr>
        </p:nvSpPr>
        <p:spPr/>
        <p:txBody>
          <a:bodyPr/>
          <a:lstStyle/>
          <a:p>
            <a:fld id="{21C93249-CE25-4CA7-AE7B-08BB1DA82565}" type="slidenum">
              <a:rPr lang="en-IN" smtClean="0"/>
              <a:t>‹#›</a:t>
            </a:fld>
            <a:endParaRPr lang="en-IN"/>
          </a:p>
        </p:txBody>
      </p:sp>
    </p:spTree>
    <p:extLst>
      <p:ext uri="{BB962C8B-B14F-4D97-AF65-F5344CB8AC3E}">
        <p14:creationId xmlns:p14="http://schemas.microsoft.com/office/powerpoint/2010/main" val="2483340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A280A-830D-4122-94A6-A4255DC5D6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7939DDF-920F-4486-A9AA-8EEDAAEF2E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FE35250-481A-4BF4-BFA7-183331F7B0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CEF5BE4-7DD4-46A9-AF5A-0AEC263F4EC5}"/>
              </a:ext>
            </a:extLst>
          </p:cNvPr>
          <p:cNvSpPr>
            <a:spLocks noGrp="1"/>
          </p:cNvSpPr>
          <p:nvPr>
            <p:ph type="dt" sz="half" idx="10"/>
          </p:nvPr>
        </p:nvSpPr>
        <p:spPr/>
        <p:txBody>
          <a:bodyPr/>
          <a:lstStyle/>
          <a:p>
            <a:fld id="{636A34B6-AADB-4E12-BEC6-FEC590FE2A73}" type="datetimeFigureOut">
              <a:rPr lang="en-IN" smtClean="0"/>
              <a:t>16-08-2026</a:t>
            </a:fld>
            <a:endParaRPr lang="en-IN"/>
          </a:p>
        </p:txBody>
      </p:sp>
      <p:sp>
        <p:nvSpPr>
          <p:cNvPr id="6" name="Footer Placeholder 5">
            <a:extLst>
              <a:ext uri="{FF2B5EF4-FFF2-40B4-BE49-F238E27FC236}">
                <a16:creationId xmlns:a16="http://schemas.microsoft.com/office/drawing/2014/main" id="{3A127C27-C22A-4B1D-888F-AAB17DEAAF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043114-ED70-4AB2-9D3D-67E24B8533D9}"/>
              </a:ext>
            </a:extLst>
          </p:cNvPr>
          <p:cNvSpPr>
            <a:spLocks noGrp="1"/>
          </p:cNvSpPr>
          <p:nvPr>
            <p:ph type="sldNum" sz="quarter" idx="12"/>
          </p:nvPr>
        </p:nvSpPr>
        <p:spPr/>
        <p:txBody>
          <a:bodyPr/>
          <a:lstStyle/>
          <a:p>
            <a:fld id="{21C93249-CE25-4CA7-AE7B-08BB1DA82565}" type="slidenum">
              <a:rPr lang="en-IN" smtClean="0"/>
              <a:t>‹#›</a:t>
            </a:fld>
            <a:endParaRPr lang="en-IN"/>
          </a:p>
        </p:txBody>
      </p:sp>
    </p:spTree>
    <p:extLst>
      <p:ext uri="{BB962C8B-B14F-4D97-AF65-F5344CB8AC3E}">
        <p14:creationId xmlns:p14="http://schemas.microsoft.com/office/powerpoint/2010/main" val="988635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B8CCA-2093-4815-BEBE-80F58625F3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813C3C0-1CBA-4DF7-B6E2-7249C93369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2094219-72E0-40C3-858B-EDB7F8CE11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71C7E9E-0F42-4524-A344-C66E8EBD825B}"/>
              </a:ext>
            </a:extLst>
          </p:cNvPr>
          <p:cNvSpPr>
            <a:spLocks noGrp="1"/>
          </p:cNvSpPr>
          <p:nvPr>
            <p:ph type="dt" sz="half" idx="10"/>
          </p:nvPr>
        </p:nvSpPr>
        <p:spPr/>
        <p:txBody>
          <a:bodyPr/>
          <a:lstStyle/>
          <a:p>
            <a:fld id="{636A34B6-AADB-4E12-BEC6-FEC590FE2A73}" type="datetimeFigureOut">
              <a:rPr lang="en-IN" smtClean="0"/>
              <a:t>16-08-2026</a:t>
            </a:fld>
            <a:endParaRPr lang="en-IN"/>
          </a:p>
        </p:txBody>
      </p:sp>
      <p:sp>
        <p:nvSpPr>
          <p:cNvPr id="6" name="Footer Placeholder 5">
            <a:extLst>
              <a:ext uri="{FF2B5EF4-FFF2-40B4-BE49-F238E27FC236}">
                <a16:creationId xmlns:a16="http://schemas.microsoft.com/office/drawing/2014/main" id="{EF96B4D3-DD0D-4039-8FCE-DE34F75DB6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2A2B46-C264-4FE4-B6C1-CB0DE99E9548}"/>
              </a:ext>
            </a:extLst>
          </p:cNvPr>
          <p:cNvSpPr>
            <a:spLocks noGrp="1"/>
          </p:cNvSpPr>
          <p:nvPr>
            <p:ph type="sldNum" sz="quarter" idx="12"/>
          </p:nvPr>
        </p:nvSpPr>
        <p:spPr/>
        <p:txBody>
          <a:bodyPr/>
          <a:lstStyle/>
          <a:p>
            <a:fld id="{21C93249-CE25-4CA7-AE7B-08BB1DA82565}" type="slidenum">
              <a:rPr lang="en-IN" smtClean="0"/>
              <a:t>‹#›</a:t>
            </a:fld>
            <a:endParaRPr lang="en-IN"/>
          </a:p>
        </p:txBody>
      </p:sp>
    </p:spTree>
    <p:extLst>
      <p:ext uri="{BB962C8B-B14F-4D97-AF65-F5344CB8AC3E}">
        <p14:creationId xmlns:p14="http://schemas.microsoft.com/office/powerpoint/2010/main" val="2637249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4330E-9EB7-4461-8826-36365286FAF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E42223-BA9D-4D09-8B9D-D42A19FC27C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0391CD-DDF3-4D28-A9F8-707639637807}"/>
              </a:ext>
            </a:extLst>
          </p:cNvPr>
          <p:cNvSpPr>
            <a:spLocks noGrp="1"/>
          </p:cNvSpPr>
          <p:nvPr>
            <p:ph type="dt" sz="half" idx="10"/>
          </p:nvPr>
        </p:nvSpPr>
        <p:spPr/>
        <p:txBody>
          <a:bodyPr/>
          <a:lstStyle/>
          <a:p>
            <a:fld id="{636A34B6-AADB-4E12-BEC6-FEC590FE2A73}" type="datetimeFigureOut">
              <a:rPr lang="en-IN" smtClean="0"/>
              <a:t>16-08-2026</a:t>
            </a:fld>
            <a:endParaRPr lang="en-IN"/>
          </a:p>
        </p:txBody>
      </p:sp>
      <p:sp>
        <p:nvSpPr>
          <p:cNvPr id="5" name="Footer Placeholder 4">
            <a:extLst>
              <a:ext uri="{FF2B5EF4-FFF2-40B4-BE49-F238E27FC236}">
                <a16:creationId xmlns:a16="http://schemas.microsoft.com/office/drawing/2014/main" id="{2CD14655-7EEF-480E-AB6F-964AE1560B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7A5F99-D6B1-4F20-BF56-9DD1597F6417}"/>
              </a:ext>
            </a:extLst>
          </p:cNvPr>
          <p:cNvSpPr>
            <a:spLocks noGrp="1"/>
          </p:cNvSpPr>
          <p:nvPr>
            <p:ph type="sldNum" sz="quarter" idx="12"/>
          </p:nvPr>
        </p:nvSpPr>
        <p:spPr/>
        <p:txBody>
          <a:bodyPr/>
          <a:lstStyle/>
          <a:p>
            <a:fld id="{21C93249-CE25-4CA7-AE7B-08BB1DA82565}" type="slidenum">
              <a:rPr lang="en-IN" smtClean="0"/>
              <a:t>‹#›</a:t>
            </a:fld>
            <a:endParaRPr lang="en-IN"/>
          </a:p>
        </p:txBody>
      </p:sp>
    </p:spTree>
    <p:extLst>
      <p:ext uri="{BB962C8B-B14F-4D97-AF65-F5344CB8AC3E}">
        <p14:creationId xmlns:p14="http://schemas.microsoft.com/office/powerpoint/2010/main" val="1947889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6A7F9B-9384-421C-8771-E39B08CE14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47242D-7E15-4D28-96CA-42EB479DB06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1F68A4-BB29-4594-9915-0A7490CE99DE}"/>
              </a:ext>
            </a:extLst>
          </p:cNvPr>
          <p:cNvSpPr>
            <a:spLocks noGrp="1"/>
          </p:cNvSpPr>
          <p:nvPr>
            <p:ph type="dt" sz="half" idx="10"/>
          </p:nvPr>
        </p:nvSpPr>
        <p:spPr/>
        <p:txBody>
          <a:bodyPr/>
          <a:lstStyle/>
          <a:p>
            <a:fld id="{636A34B6-AADB-4E12-BEC6-FEC590FE2A73}" type="datetimeFigureOut">
              <a:rPr lang="en-IN" smtClean="0"/>
              <a:t>16-08-2026</a:t>
            </a:fld>
            <a:endParaRPr lang="en-IN"/>
          </a:p>
        </p:txBody>
      </p:sp>
      <p:sp>
        <p:nvSpPr>
          <p:cNvPr id="5" name="Footer Placeholder 4">
            <a:extLst>
              <a:ext uri="{FF2B5EF4-FFF2-40B4-BE49-F238E27FC236}">
                <a16:creationId xmlns:a16="http://schemas.microsoft.com/office/drawing/2014/main" id="{AAB341F2-F640-4EE1-B648-A399EEA721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842128-E47B-471D-9996-7C90767E64B9}"/>
              </a:ext>
            </a:extLst>
          </p:cNvPr>
          <p:cNvSpPr>
            <a:spLocks noGrp="1"/>
          </p:cNvSpPr>
          <p:nvPr>
            <p:ph type="sldNum" sz="quarter" idx="12"/>
          </p:nvPr>
        </p:nvSpPr>
        <p:spPr/>
        <p:txBody>
          <a:bodyPr/>
          <a:lstStyle/>
          <a:p>
            <a:fld id="{21C93249-CE25-4CA7-AE7B-08BB1DA82565}" type="slidenum">
              <a:rPr lang="en-IN" smtClean="0"/>
              <a:t>‹#›</a:t>
            </a:fld>
            <a:endParaRPr lang="en-IN"/>
          </a:p>
        </p:txBody>
      </p:sp>
    </p:spTree>
    <p:extLst>
      <p:ext uri="{BB962C8B-B14F-4D97-AF65-F5344CB8AC3E}">
        <p14:creationId xmlns:p14="http://schemas.microsoft.com/office/powerpoint/2010/main" val="3449065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F9C5BC-D352-42AD-8678-07F6C8ACC2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B2979D-3E80-4928-934F-E543011993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55E12D-5401-404B-AB2A-9C482BD3AA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6A34B6-AADB-4E12-BEC6-FEC590FE2A73}" type="datetimeFigureOut">
              <a:rPr lang="en-IN" smtClean="0"/>
              <a:t>16-08-2026</a:t>
            </a:fld>
            <a:endParaRPr lang="en-IN"/>
          </a:p>
        </p:txBody>
      </p:sp>
      <p:sp>
        <p:nvSpPr>
          <p:cNvPr id="5" name="Footer Placeholder 4">
            <a:extLst>
              <a:ext uri="{FF2B5EF4-FFF2-40B4-BE49-F238E27FC236}">
                <a16:creationId xmlns:a16="http://schemas.microsoft.com/office/drawing/2014/main" id="{E72FB433-4151-4AD3-9F90-3A4E4255EE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873EC18-B031-4E4C-B611-8043CD30FF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C93249-CE25-4CA7-AE7B-08BB1DA82565}" type="slidenum">
              <a:rPr lang="en-IN" smtClean="0"/>
              <a:t>‹#›</a:t>
            </a:fld>
            <a:endParaRPr lang="en-IN"/>
          </a:p>
        </p:txBody>
      </p:sp>
    </p:spTree>
    <p:extLst>
      <p:ext uri="{BB962C8B-B14F-4D97-AF65-F5344CB8AC3E}">
        <p14:creationId xmlns:p14="http://schemas.microsoft.com/office/powerpoint/2010/main" val="2982605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2570220"/>
            <a:ext cx="9144000" cy="2387600"/>
          </a:xfrm>
        </p:spPr>
        <p:txBody>
          <a:bodyPr>
            <a:normAutofit fontScale="90000"/>
          </a:bodyPr>
          <a:lstStyle/>
          <a:p>
            <a:br>
              <a:rPr lang="en-IN" sz="4000" dirty="0">
                <a:solidFill>
                  <a:srgbClr val="002060"/>
                </a:solidFill>
                <a:latin typeface="Arial Narrow" panose="020B0606020202030204" pitchFamily="34" charset="0"/>
              </a:rPr>
            </a:br>
            <a:br>
              <a:rPr lang="en-IN" sz="4000" dirty="0">
                <a:solidFill>
                  <a:srgbClr val="002060"/>
                </a:solidFill>
                <a:latin typeface="Arial Narrow" panose="020B0606020202030204" pitchFamily="34" charset="0"/>
              </a:rPr>
            </a:br>
            <a:br>
              <a:rPr lang="en-IN" sz="4000" dirty="0">
                <a:solidFill>
                  <a:srgbClr val="002060"/>
                </a:solidFill>
                <a:latin typeface="Arial Narrow" panose="020B0606020202030204" pitchFamily="34" charset="0"/>
              </a:rPr>
            </a:br>
            <a:br>
              <a:rPr lang="en-IN" sz="4000" dirty="0">
                <a:solidFill>
                  <a:srgbClr val="002060"/>
                </a:solidFill>
                <a:latin typeface="Arial Narrow" panose="020B0606020202030204" pitchFamily="34" charset="0"/>
              </a:rPr>
            </a:br>
            <a:br>
              <a:rPr lang="en-IN" sz="4000" dirty="0">
                <a:solidFill>
                  <a:srgbClr val="002060"/>
                </a:solidFill>
                <a:latin typeface="Arial Narrow" panose="020B0606020202030204" pitchFamily="34" charset="0"/>
              </a:rPr>
            </a:br>
            <a:r>
              <a:rPr lang="en-US" sz="4000" dirty="0">
                <a:solidFill>
                  <a:srgbClr val="002060"/>
                </a:solidFill>
                <a:latin typeface="Arial Narrow" panose="020B0606020202030204" pitchFamily="34" charset="0"/>
              </a:rPr>
              <a:t>Generative AI for Vision Tasks </a:t>
            </a:r>
            <a:r>
              <a:rPr lang="en-US" sz="4000" dirty="0">
                <a:solidFill>
                  <a:srgbClr val="002060"/>
                </a:solidFill>
                <a:latin typeface="Arial Narrow" panose="020B0606020202030204" pitchFamily="34" charset="0"/>
                <a:cs typeface="Times New Roman" panose="02020603050405020304" pitchFamily="18" charset="0"/>
              </a:rPr>
              <a:t>- II</a:t>
            </a:r>
            <a:br>
              <a:rPr lang="en-IN" sz="4000" dirty="0"/>
            </a:b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582425"/>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Lecture 7</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Part 2</a:t>
            </a:r>
          </a:p>
        </p:txBody>
      </p:sp>
    </p:spTree>
    <p:extLst>
      <p:ext uri="{BB962C8B-B14F-4D97-AF65-F5344CB8AC3E}">
        <p14:creationId xmlns:p14="http://schemas.microsoft.com/office/powerpoint/2010/main" val="250492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9F8E7F-85EE-41D9-A50F-4F96E5C82282}"/>
              </a:ext>
            </a:extLst>
          </p:cNvPr>
          <p:cNvSpPr>
            <a:spLocks noGrp="1"/>
          </p:cNvSpPr>
          <p:nvPr>
            <p:ph type="title"/>
          </p:nvPr>
        </p:nvSpPr>
        <p:spPr/>
        <p:txBody>
          <a:bodyPr>
            <a:normAutofit/>
          </a:bodyPr>
          <a:lstStyle/>
          <a:p>
            <a:r>
              <a:rPr lang="en-IN" sz="3600" dirty="0">
                <a:latin typeface="Century" panose="02040604050505020304" pitchFamily="18" charset="0"/>
              </a:rPr>
              <a:t>Content</a:t>
            </a:r>
          </a:p>
        </p:txBody>
      </p:sp>
      <p:sp>
        <p:nvSpPr>
          <p:cNvPr id="5" name="Content Placeholder 4">
            <a:extLst>
              <a:ext uri="{FF2B5EF4-FFF2-40B4-BE49-F238E27FC236}">
                <a16:creationId xmlns:a16="http://schemas.microsoft.com/office/drawing/2014/main" id="{0E12CEB0-8CD5-44DC-8C29-D676A372E37E}"/>
              </a:ext>
            </a:extLst>
          </p:cNvPr>
          <p:cNvSpPr>
            <a:spLocks noGrp="1"/>
          </p:cNvSpPr>
          <p:nvPr>
            <p:ph idx="1"/>
          </p:nvPr>
        </p:nvSpPr>
        <p:spPr/>
        <p:txBody>
          <a:bodyPr/>
          <a:lstStyle/>
          <a:p>
            <a:r>
              <a:rPr lang="en-IN" dirty="0">
                <a:latin typeface="Arial Narrow" panose="020B0606020202030204" pitchFamily="34" charset="0"/>
                <a:cs typeface="Times New Roman" panose="02020603050405020304" pitchFamily="18" charset="0"/>
              </a:rPr>
              <a:t>Generative AI for Vision Tasks</a:t>
            </a:r>
          </a:p>
          <a:p>
            <a:pPr lvl="1"/>
            <a:r>
              <a:rPr lang="en-IN" dirty="0">
                <a:latin typeface="Arial Narrow" panose="020B0606020202030204" pitchFamily="34" charset="0"/>
                <a:cs typeface="Times New Roman" panose="02020603050405020304" pitchFamily="18" charset="0"/>
              </a:rPr>
              <a:t>Image to Image Translation</a:t>
            </a:r>
          </a:p>
          <a:p>
            <a:pPr lvl="1"/>
            <a:r>
              <a:rPr lang="en-IN" dirty="0">
                <a:latin typeface="Arial Narrow" panose="020B0606020202030204" pitchFamily="34" charset="0"/>
                <a:cs typeface="Times New Roman" panose="02020603050405020304" pitchFamily="18" charset="0"/>
              </a:rPr>
              <a:t>Medical Image Synthesis</a:t>
            </a:r>
          </a:p>
          <a:p>
            <a:pPr lvl="1"/>
            <a:r>
              <a:rPr lang="en-IN" dirty="0">
                <a:latin typeface="Arial Narrow" panose="020B0606020202030204" pitchFamily="34" charset="0"/>
                <a:cs typeface="Times New Roman" panose="02020603050405020304" pitchFamily="18" charset="0"/>
              </a:rPr>
              <a:t>Anomaly Detection</a:t>
            </a:r>
          </a:p>
          <a:p>
            <a:pPr lvl="1"/>
            <a:r>
              <a:rPr lang="en-IN" dirty="0">
                <a:latin typeface="Arial Narrow" panose="020B0606020202030204" pitchFamily="34" charset="0"/>
                <a:cs typeface="Times New Roman" panose="02020603050405020304" pitchFamily="18" charset="0"/>
              </a:rPr>
              <a:t>3D Scene Generation</a:t>
            </a:r>
          </a:p>
          <a:p>
            <a:pPr lvl="1"/>
            <a:r>
              <a:rPr lang="en-IN" dirty="0">
                <a:latin typeface="Arial Narrow" panose="020B0606020202030204" pitchFamily="34" charset="0"/>
                <a:cs typeface="Times New Roman" panose="02020603050405020304" pitchFamily="18" charset="0"/>
              </a:rPr>
              <a:t>Face Synthesis</a:t>
            </a:r>
          </a:p>
          <a:p>
            <a:pPr lvl="1"/>
            <a:r>
              <a:rPr lang="en-IN" dirty="0">
                <a:latin typeface="Arial Narrow" panose="020B0606020202030204" pitchFamily="34" charset="0"/>
                <a:cs typeface="Times New Roman" panose="02020603050405020304" pitchFamily="18" charset="0"/>
              </a:rPr>
              <a:t>Style Transfer </a:t>
            </a:r>
          </a:p>
          <a:p>
            <a:pPr lvl="1"/>
            <a:r>
              <a:rPr lang="en-IN" dirty="0">
                <a:latin typeface="Arial Narrow" panose="020B0606020202030204" pitchFamily="34" charset="0"/>
                <a:cs typeface="Times New Roman" panose="02020603050405020304" pitchFamily="18" charset="0"/>
              </a:rPr>
              <a:t>Video Generation</a:t>
            </a:r>
          </a:p>
          <a:p>
            <a:pPr lvl="1"/>
            <a:endParaRPr lang="en-IN" dirty="0">
              <a:latin typeface="Arial Narrow" panose="020B0606020202030204" pitchFamily="34" charset="0"/>
              <a:cs typeface="Times New Roman" panose="02020603050405020304" pitchFamily="18" charset="0"/>
            </a:endParaRPr>
          </a:p>
          <a:p>
            <a:pPr lvl="1"/>
            <a:endParaRPr lang="en-IN" dirty="0">
              <a:latin typeface="Arial Narrow" panose="020B0606020202030204" pitchFamily="34" charset="0"/>
              <a:cs typeface="Times New Roman" panose="02020603050405020304" pitchFamily="18" charset="0"/>
            </a:endParaRPr>
          </a:p>
          <a:p>
            <a:pPr lvl="1"/>
            <a:endParaRPr lang="en-IN" dirty="0">
              <a:latin typeface="Arial Narrow" panose="020B0606020202030204" pitchFamily="34" charset="0"/>
              <a:cs typeface="Times New Roman" panose="02020603050405020304" pitchFamily="18" charset="0"/>
            </a:endParaRPr>
          </a:p>
          <a:p>
            <a:pPr lvl="1"/>
            <a:endParaRPr lang="en-IN" dirty="0">
              <a:latin typeface="Arial Narrow" panose="020B0606020202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36841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Image to Image Translation</a:t>
            </a:r>
          </a:p>
        </p:txBody>
      </p:sp>
      <p:sp>
        <p:nvSpPr>
          <p:cNvPr id="3" name="Content Placeholder 2"/>
          <p:cNvSpPr>
            <a:spLocks noGrp="1"/>
          </p:cNvSpPr>
          <p:nvPr>
            <p:ph idx="1"/>
          </p:nvPr>
        </p:nvSpPr>
        <p:spPr>
          <a:xfrm>
            <a:off x="838200" y="1690688"/>
            <a:ext cx="10515600" cy="4765675"/>
          </a:xfrm>
        </p:spPr>
        <p:txBody>
          <a:bodyPr>
            <a:normAutofit lnSpcReduction="10000"/>
          </a:bodyPr>
          <a:lstStyle/>
          <a:p>
            <a:pPr algn="just">
              <a:lnSpc>
                <a:spcPct val="100000"/>
              </a:lnSpc>
            </a:pPr>
            <a:r>
              <a:rPr lang="en-US" sz="2000" dirty="0">
                <a:solidFill>
                  <a:srgbClr val="7030A0"/>
                </a:solidFill>
                <a:latin typeface="Arial Narrow" panose="020B0606020202030204" pitchFamily="34" charset="0"/>
              </a:rPr>
              <a:t>Image-to-image translation </a:t>
            </a:r>
            <a:r>
              <a:rPr lang="en-US" sz="2000" dirty="0">
                <a:latin typeface="Arial Narrow" panose="020B0606020202030204" pitchFamily="34" charset="0"/>
              </a:rPr>
              <a:t>is a computer vision task that </a:t>
            </a:r>
            <a:r>
              <a:rPr lang="en-US" sz="2000" dirty="0">
                <a:solidFill>
                  <a:srgbClr val="7030A0"/>
                </a:solidFill>
                <a:latin typeface="Arial Narrow" panose="020B0606020202030204" pitchFamily="34" charset="0"/>
              </a:rPr>
              <a:t>transforms an</a:t>
            </a:r>
            <a:r>
              <a:rPr lang="en-US" sz="2000" dirty="0">
                <a:latin typeface="Arial Narrow" panose="020B0606020202030204" pitchFamily="34" charset="0"/>
              </a:rPr>
              <a:t> </a:t>
            </a:r>
            <a:r>
              <a:rPr lang="en-US" sz="2000" dirty="0">
                <a:solidFill>
                  <a:srgbClr val="7030A0"/>
                </a:solidFill>
                <a:latin typeface="Arial Narrow" panose="020B0606020202030204" pitchFamily="34" charset="0"/>
              </a:rPr>
              <a:t>input image from one visual domain to another while preserving its underlying semantic content and structural information</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The objective is to learn a </a:t>
            </a:r>
            <a:r>
              <a:rPr lang="en-US" sz="2000" dirty="0">
                <a:solidFill>
                  <a:srgbClr val="7030A0"/>
                </a:solidFill>
                <a:latin typeface="Arial Narrow" panose="020B0606020202030204" pitchFamily="34" charset="0"/>
              </a:rPr>
              <a:t>mapping between source and target image domains</a:t>
            </a:r>
            <a:r>
              <a:rPr lang="en-US" sz="2000" dirty="0">
                <a:latin typeface="Arial Narrow" panose="020B0606020202030204" pitchFamily="34" charset="0"/>
              </a:rPr>
              <a:t>, enabling applications such as </a:t>
            </a:r>
            <a:r>
              <a:rPr lang="en-US" sz="2000" dirty="0">
                <a:solidFill>
                  <a:srgbClr val="7030A0"/>
                </a:solidFill>
                <a:latin typeface="Arial Narrow" panose="020B0606020202030204" pitchFamily="34" charset="0"/>
              </a:rPr>
              <a:t>style transfer, image colorization, image enhancement, semantic label-to-image synthesis, day-to-night translation, sketch-to-photo generation, and medical image modality conversion</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Traditional approaches relied on </a:t>
            </a:r>
            <a:r>
              <a:rPr lang="en-US" sz="2000" dirty="0">
                <a:solidFill>
                  <a:srgbClr val="7030A0"/>
                </a:solidFill>
                <a:latin typeface="Arial Narrow" panose="020B0606020202030204" pitchFamily="34" charset="0"/>
              </a:rPr>
              <a:t>handcrafted image processing techniques</a:t>
            </a:r>
            <a:r>
              <a:rPr lang="en-US" sz="2000" dirty="0">
                <a:latin typeface="Arial Narrow" panose="020B0606020202030204" pitchFamily="34" charset="0"/>
              </a:rPr>
              <a:t>, whereas modern methods employ deep learning models, particularly Generative Artificial Intelligence (Generative AI), to produce </a:t>
            </a:r>
            <a:r>
              <a:rPr lang="en-US" sz="2000" dirty="0">
                <a:solidFill>
                  <a:srgbClr val="7030A0"/>
                </a:solidFill>
                <a:latin typeface="Arial Narrow" panose="020B0606020202030204" pitchFamily="34" charset="0"/>
              </a:rPr>
              <a:t>realistic and high-quality outputs</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Generative models such as </a:t>
            </a:r>
            <a:r>
              <a:rPr lang="en-US" sz="2000" dirty="0">
                <a:solidFill>
                  <a:srgbClr val="7030A0"/>
                </a:solidFill>
                <a:latin typeface="Arial Narrow" panose="020B0606020202030204" pitchFamily="34" charset="0"/>
              </a:rPr>
              <a:t>Generative Adversarial Networks (GANs), CycleGAN, Pix2Pix, diffusion models, and transformer-based architectures </a:t>
            </a:r>
            <a:r>
              <a:rPr lang="en-US" sz="2000" dirty="0">
                <a:latin typeface="Arial Narrow" panose="020B0606020202030204" pitchFamily="34" charset="0"/>
              </a:rPr>
              <a:t>learn </a:t>
            </a:r>
            <a:r>
              <a:rPr lang="en-US" sz="2000" dirty="0">
                <a:solidFill>
                  <a:srgbClr val="7030A0"/>
                </a:solidFill>
                <a:latin typeface="Arial Narrow" panose="020B0606020202030204" pitchFamily="34" charset="0"/>
              </a:rPr>
              <a:t>complex cross-domain relationships and generate visually consistent images</a:t>
            </a:r>
            <a:r>
              <a:rPr lang="en-US" sz="2000" dirty="0">
                <a:latin typeface="Arial Narrow" panose="020B0606020202030204" pitchFamily="34" charset="0"/>
              </a:rPr>
              <a:t> with improved texture, color fidelity, and semantic accuracy. </a:t>
            </a:r>
          </a:p>
        </p:txBody>
      </p:sp>
    </p:spTree>
    <p:extLst>
      <p:ext uri="{BB962C8B-B14F-4D97-AF65-F5344CB8AC3E}">
        <p14:creationId xmlns:p14="http://schemas.microsoft.com/office/powerpoint/2010/main" val="3395289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Image to Image Translation</a:t>
            </a:r>
            <a:endParaRPr lang="en-IN" sz="3600" dirty="0"/>
          </a:p>
        </p:txBody>
      </p:sp>
      <p:sp>
        <p:nvSpPr>
          <p:cNvPr id="3" name="Content Placeholder 2"/>
          <p:cNvSpPr>
            <a:spLocks noGrp="1"/>
          </p:cNvSpPr>
          <p:nvPr>
            <p:ph idx="1"/>
          </p:nvPr>
        </p:nvSpPr>
        <p:spPr>
          <a:xfrm>
            <a:off x="838200" y="1997076"/>
            <a:ext cx="6126018" cy="2865436"/>
          </a:xfrm>
        </p:spPr>
        <p:txBody>
          <a:bodyPr>
            <a:normAutofit/>
          </a:bodyPr>
          <a:lstStyle/>
          <a:p>
            <a:pPr algn="just">
              <a:lnSpc>
                <a:spcPct val="100000"/>
              </a:lnSpc>
            </a:pPr>
            <a:r>
              <a:rPr lang="en-US" sz="2000" dirty="0">
                <a:latin typeface="Arial Narrow" panose="020B0606020202030204" pitchFamily="34" charset="0"/>
              </a:rPr>
              <a:t>Image-to-image translation has become an essential technology in </a:t>
            </a:r>
            <a:r>
              <a:rPr lang="en-US" sz="2000" dirty="0">
                <a:solidFill>
                  <a:srgbClr val="7030A0"/>
                </a:solidFill>
                <a:latin typeface="Arial Narrow" panose="020B0606020202030204" pitchFamily="34" charset="0"/>
              </a:rPr>
              <a:t>autonomous driving, medical imaging, remote sensing, digital content creation, augmented reality, and computer graphics</a:t>
            </a:r>
            <a:r>
              <a:rPr lang="en-US" sz="2000" dirty="0">
                <a:latin typeface="Arial Narrow" panose="020B0606020202030204" pitchFamily="34" charset="0"/>
              </a:rPr>
              <a:t>, where accurate and realistic visual transformation is critical for downstream analysis and decision-making.</a:t>
            </a:r>
          </a:p>
        </p:txBody>
      </p:sp>
      <p:pic>
        <p:nvPicPr>
          <p:cNvPr id="8194" name="Picture 2" descr="https://i.sstatic.net/aAak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9050" y="1435503"/>
            <a:ext cx="3714750" cy="345558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a:spLocks/>
          </p:cNvSpPr>
          <p:nvPr/>
        </p:nvSpPr>
        <p:spPr>
          <a:xfrm>
            <a:off x="8210550" y="4891086"/>
            <a:ext cx="2609849" cy="452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800" dirty="0">
                <a:solidFill>
                  <a:srgbClr val="7030A0"/>
                </a:solidFill>
                <a:latin typeface="Arial Narrow" panose="020B0606020202030204" pitchFamily="34" charset="0"/>
              </a:rPr>
              <a:t>Image to Image Translation</a:t>
            </a:r>
          </a:p>
        </p:txBody>
      </p:sp>
      <p:sp>
        <p:nvSpPr>
          <p:cNvPr id="6" name="TextBox 5"/>
          <p:cNvSpPr txBox="1"/>
          <p:nvPr/>
        </p:nvSpPr>
        <p:spPr>
          <a:xfrm>
            <a:off x="228600" y="6550223"/>
            <a:ext cx="3158237" cy="307777"/>
          </a:xfrm>
          <a:prstGeom prst="rect">
            <a:avLst/>
          </a:prstGeom>
          <a:noFill/>
        </p:spPr>
        <p:txBody>
          <a:bodyPr wrap="none" rtlCol="0">
            <a:spAutoFit/>
          </a:bodyPr>
          <a:lstStyle/>
          <a:p>
            <a:r>
              <a:rPr lang="en-IN" sz="1400" dirty="0">
                <a:latin typeface="Arial Narrow" panose="020B0606020202030204" pitchFamily="34" charset="0"/>
              </a:rPr>
              <a:t>Image Source : </a:t>
            </a:r>
            <a:r>
              <a:rPr lang="en-IN" sz="1400" dirty="0">
                <a:solidFill>
                  <a:srgbClr val="00B0F0"/>
                </a:solidFill>
                <a:latin typeface="Arial Narrow" panose="020B0606020202030204" pitchFamily="34" charset="0"/>
              </a:rPr>
              <a:t>https://i.sstatic.net/aAakq.png</a:t>
            </a:r>
          </a:p>
        </p:txBody>
      </p:sp>
    </p:spTree>
    <p:extLst>
      <p:ext uri="{BB962C8B-B14F-4D97-AF65-F5344CB8AC3E}">
        <p14:creationId xmlns:p14="http://schemas.microsoft.com/office/powerpoint/2010/main" val="3508851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Generative AI for Image-to-Image Translation</a:t>
            </a:r>
          </a:p>
        </p:txBody>
      </p:sp>
      <p:sp>
        <p:nvSpPr>
          <p:cNvPr id="3" name="Content Placeholder 2"/>
          <p:cNvSpPr>
            <a:spLocks noGrp="1"/>
          </p:cNvSpPr>
          <p:nvPr>
            <p:ph idx="1"/>
          </p:nvPr>
        </p:nvSpPr>
        <p:spPr/>
        <p:txBody>
          <a:bodyPr>
            <a:normAutofit lnSpcReduction="10000"/>
          </a:bodyPr>
          <a:lstStyle/>
          <a:p>
            <a:pPr algn="just">
              <a:lnSpc>
                <a:spcPct val="100000"/>
              </a:lnSpc>
            </a:pPr>
            <a:r>
              <a:rPr lang="en-US" sz="2000" dirty="0">
                <a:latin typeface="Arial Narrow" panose="020B0606020202030204" pitchFamily="34" charset="0"/>
              </a:rPr>
              <a:t>Generative AI for Image-to-Image (I2I) translation is a deep learning technique that transforms an input image into a new image while </a:t>
            </a:r>
            <a:r>
              <a:rPr lang="en-US" sz="2000" dirty="0">
                <a:solidFill>
                  <a:srgbClr val="7030A0"/>
                </a:solidFill>
                <a:latin typeface="Arial Narrow" panose="020B0606020202030204" pitchFamily="34" charset="0"/>
              </a:rPr>
              <a:t>preserving its underlying structure and semantic content</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Unlike text-to-image generation, I2I models use an existing image as a conditioning input and modify attributes such as </a:t>
            </a:r>
            <a:r>
              <a:rPr lang="en-US" sz="2000" dirty="0">
                <a:solidFill>
                  <a:srgbClr val="7030A0"/>
                </a:solidFill>
                <a:latin typeface="Arial Narrow" panose="020B0606020202030204" pitchFamily="34" charset="0"/>
              </a:rPr>
              <a:t>style, color, texture, resolution, or object appearance</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Modern approaches employ architectures such as Conditional Generative Adversarial Networks (</a:t>
            </a:r>
            <a:r>
              <a:rPr lang="en-US" sz="2000" dirty="0" err="1">
                <a:latin typeface="Arial Narrow" panose="020B0606020202030204" pitchFamily="34" charset="0"/>
              </a:rPr>
              <a:t>cGANs</a:t>
            </a:r>
            <a:r>
              <a:rPr lang="en-US" sz="2000" dirty="0">
                <a:latin typeface="Arial Narrow" panose="020B0606020202030204" pitchFamily="34" charset="0"/>
              </a:rPr>
              <a:t>), Variational Autoencoders (VAEs), Diffusion Models, and Transformer-based networks to learn complex mappings between source and target image domains.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During training, these models optimize </a:t>
            </a:r>
            <a:r>
              <a:rPr lang="en-US" sz="2000" dirty="0">
                <a:solidFill>
                  <a:srgbClr val="7030A0"/>
                </a:solidFill>
                <a:latin typeface="Arial Narrow" panose="020B0606020202030204" pitchFamily="34" charset="0"/>
              </a:rPr>
              <a:t>reconstruction, adversarial, and perceptual losses</a:t>
            </a:r>
            <a:r>
              <a:rPr lang="en-US" sz="2000" dirty="0">
                <a:latin typeface="Arial Narrow" panose="020B0606020202030204" pitchFamily="34" charset="0"/>
              </a:rPr>
              <a:t> to generate realistic, high-quality outputs that maintain spatial consistency. </a:t>
            </a:r>
          </a:p>
        </p:txBody>
      </p:sp>
    </p:spTree>
    <p:extLst>
      <p:ext uri="{BB962C8B-B14F-4D97-AF65-F5344CB8AC3E}">
        <p14:creationId xmlns:p14="http://schemas.microsoft.com/office/powerpoint/2010/main" val="3626049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Generative AI for Image-to-Image Translation</a:t>
            </a:r>
            <a:endParaRPr lang="en-IN" sz="3600" dirty="0"/>
          </a:p>
        </p:txBody>
      </p:sp>
      <p:sp>
        <p:nvSpPr>
          <p:cNvPr id="3" name="Content Placeholder 2"/>
          <p:cNvSpPr>
            <a:spLocks noGrp="1"/>
          </p:cNvSpPr>
          <p:nvPr>
            <p:ph idx="1"/>
          </p:nvPr>
        </p:nvSpPr>
        <p:spPr>
          <a:xfrm>
            <a:off x="838200" y="2010353"/>
            <a:ext cx="10515600" cy="4351338"/>
          </a:xfrm>
        </p:spPr>
        <p:txBody>
          <a:bodyPr/>
          <a:lstStyle/>
          <a:p>
            <a:pPr algn="just">
              <a:lnSpc>
                <a:spcPct val="100000"/>
              </a:lnSpc>
            </a:pPr>
            <a:r>
              <a:rPr lang="en-US" sz="2000" dirty="0">
                <a:latin typeface="Arial Narrow" panose="020B0606020202030204" pitchFamily="34" charset="0"/>
              </a:rPr>
              <a:t>Image-to-image generation has wide-ranging applications, including </a:t>
            </a:r>
            <a:r>
              <a:rPr lang="en-US" sz="2000" dirty="0">
                <a:solidFill>
                  <a:srgbClr val="7030A0"/>
                </a:solidFill>
                <a:latin typeface="Arial Narrow" panose="020B0606020202030204" pitchFamily="34" charset="0"/>
              </a:rPr>
              <a:t>image restoration, super-resolution, medical image synthesis, semantic segmentation, style transfer, virtual try-on systems, satellite image enhancement, and artistic content creation</a:t>
            </a:r>
            <a:r>
              <a:rPr lang="en-US" sz="2000" dirty="0">
                <a:latin typeface="Arial Narrow" panose="020B0606020202030204" pitchFamily="34" charset="0"/>
              </a:rPr>
              <a:t>. </a:t>
            </a:r>
          </a:p>
          <a:p>
            <a:pPr algn="just">
              <a:lnSpc>
                <a:spcPct val="100000"/>
              </a:lnSpc>
            </a:pPr>
            <a:r>
              <a:rPr lang="en-US" sz="2000" dirty="0">
                <a:latin typeface="Arial Narrow" panose="020B0606020202030204" pitchFamily="34" charset="0"/>
              </a:rPr>
              <a:t>Recent advancements </a:t>
            </a:r>
            <a:r>
              <a:rPr lang="en-US" sz="2000" dirty="0">
                <a:solidFill>
                  <a:srgbClr val="7030A0"/>
                </a:solidFill>
                <a:latin typeface="Arial Narrow" panose="020B0606020202030204" pitchFamily="34" charset="0"/>
              </a:rPr>
              <a:t>in latent diffusion models</a:t>
            </a:r>
            <a:r>
              <a:rPr lang="en-US" sz="2000" dirty="0">
                <a:latin typeface="Arial Narrow" panose="020B0606020202030204" pitchFamily="34" charset="0"/>
              </a:rPr>
              <a:t> have significantly improved generation quality, computational efficiency, and controllability, making image-to-image translation a key technology in modern computer vision and generative artificial intelligence.</a:t>
            </a:r>
            <a:endParaRPr lang="en-IN" sz="2000" dirty="0">
              <a:latin typeface="Arial Narrow" panose="020B0606020202030204" pitchFamily="34" charset="0"/>
            </a:endParaRPr>
          </a:p>
        </p:txBody>
      </p:sp>
    </p:spTree>
    <p:extLst>
      <p:ext uri="{BB962C8B-B14F-4D97-AF65-F5344CB8AC3E}">
        <p14:creationId xmlns:p14="http://schemas.microsoft.com/office/powerpoint/2010/main" val="1974853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tx1">
                    <a:lumMod val="95000"/>
                    <a:lumOff val="5000"/>
                  </a:schemeClr>
                </a:solidFill>
                <a:latin typeface="Century" panose="02040604050505020304" pitchFamily="18" charset="0"/>
              </a:rPr>
              <a:t>Medical Image Synthesis</a:t>
            </a:r>
            <a:endParaRPr lang="en-IN" sz="3600" dirty="0">
              <a:solidFill>
                <a:schemeClr val="tx1">
                  <a:lumMod val="95000"/>
                  <a:lumOff val="5000"/>
                </a:schemeClr>
              </a:solidFill>
              <a:latin typeface="Century" panose="02040604050505020304" pitchFamily="18" charset="0"/>
            </a:endParaRPr>
          </a:p>
        </p:txBody>
      </p:sp>
      <p:sp>
        <p:nvSpPr>
          <p:cNvPr id="3" name="Content Placeholder 2"/>
          <p:cNvSpPr>
            <a:spLocks noGrp="1"/>
          </p:cNvSpPr>
          <p:nvPr>
            <p:ph idx="1"/>
          </p:nvPr>
        </p:nvSpPr>
        <p:spPr>
          <a:xfrm>
            <a:off x="838200" y="1601506"/>
            <a:ext cx="10515600" cy="4996518"/>
          </a:xfrm>
        </p:spPr>
        <p:txBody>
          <a:bodyPr>
            <a:normAutofit fontScale="92500" lnSpcReduction="10000"/>
          </a:bodyPr>
          <a:lstStyle/>
          <a:p>
            <a:pPr algn="just">
              <a:lnSpc>
                <a:spcPct val="100000"/>
              </a:lnSpc>
            </a:pPr>
            <a:r>
              <a:rPr lang="en-US" sz="2000" dirty="0">
                <a:latin typeface="Arial Narrow" panose="020B0606020202030204" pitchFamily="34" charset="0"/>
              </a:rPr>
              <a:t>Medical image synthesis is the </a:t>
            </a:r>
            <a:r>
              <a:rPr lang="en-US" sz="2000" dirty="0">
                <a:solidFill>
                  <a:srgbClr val="7030A0"/>
                </a:solidFill>
                <a:latin typeface="Arial Narrow" panose="020B0606020202030204" pitchFamily="34" charset="0"/>
              </a:rPr>
              <a:t>process of generating new medical images or converting one type of medical image into another</a:t>
            </a:r>
            <a:r>
              <a:rPr lang="en-US" sz="2000" dirty="0">
                <a:latin typeface="Arial Narrow" panose="020B0606020202030204" pitchFamily="34" charset="0"/>
              </a:rPr>
              <a:t> using artificial intelligence.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Generative AI models </a:t>
            </a:r>
            <a:r>
              <a:rPr lang="en-US" sz="2000" dirty="0">
                <a:solidFill>
                  <a:srgbClr val="7030A0"/>
                </a:solidFill>
                <a:latin typeface="Arial Narrow" panose="020B0606020202030204" pitchFamily="34" charset="0"/>
              </a:rPr>
              <a:t>learn patterns from existing medical images</a:t>
            </a:r>
            <a:r>
              <a:rPr lang="en-US" sz="2000" dirty="0">
                <a:latin typeface="Arial Narrow" panose="020B0606020202030204" pitchFamily="34" charset="0"/>
              </a:rPr>
              <a:t> and </a:t>
            </a:r>
            <a:r>
              <a:rPr lang="en-US" sz="2000" dirty="0">
                <a:solidFill>
                  <a:srgbClr val="7030A0"/>
                </a:solidFill>
                <a:latin typeface="Arial Narrow" panose="020B0606020202030204" pitchFamily="34" charset="0"/>
              </a:rPr>
              <a:t>create realistic synthetic images</a:t>
            </a:r>
            <a:r>
              <a:rPr lang="en-US" sz="2000" dirty="0">
                <a:latin typeface="Arial Narrow" panose="020B0606020202030204" pitchFamily="34" charset="0"/>
              </a:rPr>
              <a:t> that closely resemble real patient data.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These generated images help increase the amount of training data available for AI models, improve </a:t>
            </a:r>
            <a:r>
              <a:rPr lang="en-US" sz="2000" dirty="0">
                <a:solidFill>
                  <a:srgbClr val="7030A0"/>
                </a:solidFill>
                <a:latin typeface="Arial Narrow" panose="020B0606020202030204" pitchFamily="34" charset="0"/>
              </a:rPr>
              <a:t>image quality, and support tasks such as disease detection, image reconstruction, and image enhancement</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Medical image synthesis is widely used in applications such as </a:t>
            </a:r>
            <a:r>
              <a:rPr lang="en-US" sz="2000" dirty="0">
                <a:solidFill>
                  <a:srgbClr val="7030A0"/>
                </a:solidFill>
                <a:latin typeface="Arial Narrow" panose="020B0606020202030204" pitchFamily="34" charset="0"/>
              </a:rPr>
              <a:t>MRI-to-CT translation, low-dose CT reconstruction, tumor image generation, and medical image segmentation</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It also helps protect </a:t>
            </a:r>
            <a:r>
              <a:rPr lang="en-US" sz="2000" dirty="0">
                <a:solidFill>
                  <a:srgbClr val="7030A0"/>
                </a:solidFill>
                <a:latin typeface="Arial Narrow" panose="020B0606020202030204" pitchFamily="34" charset="0"/>
              </a:rPr>
              <a:t>patient privacy </a:t>
            </a:r>
            <a:r>
              <a:rPr lang="en-US" sz="2000" dirty="0">
                <a:latin typeface="Arial Narrow" panose="020B0606020202030204" pitchFamily="34" charset="0"/>
              </a:rPr>
              <a:t>by reducing the need to share </a:t>
            </a:r>
            <a:r>
              <a:rPr lang="en-US" sz="2000" dirty="0">
                <a:solidFill>
                  <a:srgbClr val="7030A0"/>
                </a:solidFill>
                <a:latin typeface="Arial Narrow" panose="020B0606020202030204" pitchFamily="34" charset="0"/>
              </a:rPr>
              <a:t>real medical images</a:t>
            </a:r>
            <a:r>
              <a:rPr lang="en-US" sz="2000" dirty="0">
                <a:latin typeface="Arial Narrow" panose="020B0606020202030204" pitchFamily="34" charset="0"/>
              </a:rPr>
              <a:t> while enabling researchers to develop more accurate and reliable diagnostic systems.</a:t>
            </a:r>
            <a:endParaRPr lang="en-IN" sz="2000" dirty="0">
              <a:latin typeface="Arial Narrow" panose="020B0606020202030204" pitchFamily="34" charset="0"/>
            </a:endParaRPr>
          </a:p>
          <a:p>
            <a:pPr algn="just">
              <a:lnSpc>
                <a:spcPct val="100000"/>
              </a:lnSpc>
            </a:pPr>
            <a:endParaRPr lang="en-US" sz="2000" dirty="0">
              <a:latin typeface="Arial Narrow" panose="020B0606020202030204" pitchFamily="34" charset="0"/>
            </a:endParaRPr>
          </a:p>
        </p:txBody>
      </p:sp>
    </p:spTree>
    <p:extLst>
      <p:ext uri="{BB962C8B-B14F-4D97-AF65-F5344CB8AC3E}">
        <p14:creationId xmlns:p14="http://schemas.microsoft.com/office/powerpoint/2010/main" val="1262301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Generative AI for </a:t>
            </a:r>
            <a:r>
              <a:rPr lang="en-US" sz="3600" dirty="0">
                <a:solidFill>
                  <a:schemeClr val="tx1">
                    <a:lumMod val="95000"/>
                    <a:lumOff val="5000"/>
                  </a:schemeClr>
                </a:solidFill>
                <a:latin typeface="Century" panose="02040604050505020304" pitchFamily="18" charset="0"/>
              </a:rPr>
              <a:t>Medical Image Synthesis</a:t>
            </a:r>
            <a:endParaRPr lang="en-IN" sz="3600" dirty="0">
              <a:latin typeface="Century" panose="02040604050505020304" pitchFamily="18" charset="0"/>
            </a:endParaRPr>
          </a:p>
        </p:txBody>
      </p:sp>
      <p:sp>
        <p:nvSpPr>
          <p:cNvPr id="3" name="Content Placeholder 2"/>
          <p:cNvSpPr>
            <a:spLocks noGrp="1"/>
          </p:cNvSpPr>
          <p:nvPr>
            <p:ph idx="1"/>
          </p:nvPr>
        </p:nvSpPr>
        <p:spPr>
          <a:xfrm>
            <a:off x="838200" y="1825625"/>
            <a:ext cx="10515600" cy="4639830"/>
          </a:xfrm>
        </p:spPr>
        <p:txBody>
          <a:bodyPr>
            <a:normAutofit/>
          </a:bodyPr>
          <a:lstStyle/>
          <a:p>
            <a:pPr algn="just">
              <a:lnSpc>
                <a:spcPct val="100000"/>
              </a:lnSpc>
            </a:pPr>
            <a:r>
              <a:rPr lang="en-US" sz="2000" dirty="0">
                <a:latin typeface="Arial Narrow" panose="020B0606020202030204" pitchFamily="34" charset="0"/>
              </a:rPr>
              <a:t>Generative AI for medical image synthesis leverages advanced deep learning models to </a:t>
            </a:r>
            <a:r>
              <a:rPr lang="en-US" sz="2000" dirty="0">
                <a:solidFill>
                  <a:srgbClr val="7030A0"/>
                </a:solidFill>
                <a:latin typeface="Arial Narrow" panose="020B0606020202030204" pitchFamily="34" charset="0"/>
              </a:rPr>
              <a:t>generate realistic and anatomically consistent medical images</a:t>
            </a:r>
            <a:r>
              <a:rPr lang="en-US" sz="2000" dirty="0">
                <a:latin typeface="Arial Narrow" panose="020B0606020202030204" pitchFamily="34" charset="0"/>
              </a:rPr>
              <a:t> for clinical and research applications.</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Techniques such as Generative Adversarial Networks (GANs), Variational Autoencoders (VAEs), and Diffusion Models </a:t>
            </a:r>
            <a:r>
              <a:rPr lang="en-US" sz="2000" dirty="0">
                <a:solidFill>
                  <a:srgbClr val="7030A0"/>
                </a:solidFill>
                <a:latin typeface="Arial Narrow" panose="020B0606020202030204" pitchFamily="34" charset="0"/>
              </a:rPr>
              <a:t>learn the complex distribution of medical imaging data to synthesize high-quality images across modalities</a:t>
            </a:r>
            <a:r>
              <a:rPr lang="en-US" sz="2000" dirty="0">
                <a:latin typeface="Arial Narrow" panose="020B0606020202030204" pitchFamily="34" charset="0"/>
              </a:rPr>
              <a:t>, including Magnetic Resonance Imaging (MRI), Computed Tomography (CT), Positron Emission Tomography (PET), and ultrasound.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These models </a:t>
            </a:r>
            <a:r>
              <a:rPr lang="en-US" sz="2000" dirty="0">
                <a:solidFill>
                  <a:srgbClr val="7030A0"/>
                </a:solidFill>
                <a:latin typeface="Arial Narrow" panose="020B0606020202030204" pitchFamily="34" charset="0"/>
              </a:rPr>
              <a:t>enable cross-modal image translation, image reconstruction, super-resolution, noise reduction, and data augmentation</a:t>
            </a:r>
            <a:r>
              <a:rPr lang="en-US" sz="2000" dirty="0">
                <a:latin typeface="Arial Narrow" panose="020B0606020202030204" pitchFamily="34" charset="0"/>
              </a:rPr>
              <a:t> by generating synthetic images that preserve essential anatomical and pathological features. </a:t>
            </a:r>
          </a:p>
        </p:txBody>
      </p:sp>
    </p:spTree>
    <p:extLst>
      <p:ext uri="{BB962C8B-B14F-4D97-AF65-F5344CB8AC3E}">
        <p14:creationId xmlns:p14="http://schemas.microsoft.com/office/powerpoint/2010/main" val="1389344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789"/>
            <a:ext cx="10515600" cy="1088593"/>
          </a:xfrm>
        </p:spPr>
        <p:txBody>
          <a:bodyPr>
            <a:normAutofit/>
          </a:bodyPr>
          <a:lstStyle/>
          <a:p>
            <a:r>
              <a:rPr lang="en-IN" sz="3600" dirty="0">
                <a:latin typeface="Century" panose="02040604050505020304" pitchFamily="18" charset="0"/>
              </a:rPr>
              <a:t>Generative AI for </a:t>
            </a:r>
            <a:r>
              <a:rPr lang="en-US" sz="3600" dirty="0">
                <a:solidFill>
                  <a:schemeClr val="tx1">
                    <a:lumMod val="95000"/>
                    <a:lumOff val="5000"/>
                  </a:schemeClr>
                </a:solidFill>
                <a:latin typeface="Century" panose="02040604050505020304" pitchFamily="18" charset="0"/>
              </a:rPr>
              <a:t>Medical Image Synthesis</a:t>
            </a:r>
            <a:endParaRPr lang="en-IN" sz="3600" dirty="0"/>
          </a:p>
        </p:txBody>
      </p:sp>
      <p:sp>
        <p:nvSpPr>
          <p:cNvPr id="3" name="Content Placeholder 2"/>
          <p:cNvSpPr>
            <a:spLocks noGrp="1"/>
          </p:cNvSpPr>
          <p:nvPr>
            <p:ph idx="1"/>
          </p:nvPr>
        </p:nvSpPr>
        <p:spPr>
          <a:xfrm>
            <a:off x="838200" y="1408257"/>
            <a:ext cx="6331857" cy="4162962"/>
          </a:xfrm>
        </p:spPr>
        <p:txBody>
          <a:bodyPr>
            <a:normAutofit/>
          </a:bodyPr>
          <a:lstStyle/>
          <a:p>
            <a:pPr algn="just">
              <a:lnSpc>
                <a:spcPct val="100000"/>
              </a:lnSpc>
            </a:pPr>
            <a:r>
              <a:rPr lang="en-US" sz="2000" dirty="0">
                <a:latin typeface="Arial Narrow" panose="020B0606020202030204" pitchFamily="34" charset="0"/>
              </a:rPr>
              <a:t>Medical image synthesis addresses the </a:t>
            </a:r>
            <a:r>
              <a:rPr lang="en-US" sz="2000" dirty="0">
                <a:solidFill>
                  <a:srgbClr val="7030A0"/>
                </a:solidFill>
                <a:latin typeface="Arial Narrow" panose="020B0606020202030204" pitchFamily="34" charset="0"/>
              </a:rPr>
              <a:t>challenges of limited annotated datasets, class imbalance, and patient privacy </a:t>
            </a:r>
            <a:r>
              <a:rPr lang="en-US" sz="2000" dirty="0">
                <a:latin typeface="Arial Narrow" panose="020B0606020202030204" pitchFamily="34" charset="0"/>
              </a:rPr>
              <a:t>while improving the robustness and generalization of deep learning models for disease detection, segmentation, and diagnosis.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As a result, generative AI has become a key technology for enhancing </a:t>
            </a:r>
            <a:r>
              <a:rPr lang="en-US" sz="2000" dirty="0">
                <a:solidFill>
                  <a:srgbClr val="7030A0"/>
                </a:solidFill>
                <a:latin typeface="Arial Narrow" panose="020B0606020202030204" pitchFamily="34" charset="0"/>
              </a:rPr>
              <a:t>computer-aided diagnosis, accelerating medical research, and supporting precision healthcare </a:t>
            </a:r>
            <a:r>
              <a:rPr lang="en-US" sz="2000" dirty="0">
                <a:latin typeface="Arial Narrow" panose="020B0606020202030204" pitchFamily="34" charset="0"/>
              </a:rPr>
              <a:t>through the creation of reliable and clinically meaningful synthetic medical images.</a:t>
            </a:r>
            <a:endParaRPr lang="en-IN" sz="2000" dirty="0">
              <a:latin typeface="Arial Narrow" panose="020B0606020202030204" pitchFamily="34" charset="0"/>
            </a:endParaRPr>
          </a:p>
        </p:txBody>
      </p:sp>
      <p:pic>
        <p:nvPicPr>
          <p:cNvPr id="10242" name="Picture 2" descr="Application of GANin medical image synthesis. All the figures are adapted from corresponding articles. (a) shows MR reconstruction from given reference image (Chen et al., 2018) (b) Low dose CT denoising (Shan et al., 2018) (c)shows input brain MRI used to generated equivalent CT image close to ground truth(Nie et al., 2017) (d) generation of synthetic eye fundus image from corresponding synthetic eye vessels(Costa et al., 20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5075" y="2001310"/>
            <a:ext cx="4382355" cy="26087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9028" y="6307147"/>
            <a:ext cx="11584518" cy="338554"/>
          </a:xfrm>
          <a:prstGeom prst="rect">
            <a:avLst/>
          </a:prstGeom>
          <a:noFill/>
        </p:spPr>
        <p:txBody>
          <a:bodyPr wrap="none" rtlCol="0">
            <a:spAutoFit/>
          </a:bodyPr>
          <a:lstStyle/>
          <a:p>
            <a:r>
              <a:rPr lang="en-IN" sz="1600" dirty="0">
                <a:latin typeface="Arial Narrow" panose="020B0606020202030204" pitchFamily="34" charset="0"/>
              </a:rPr>
              <a:t>Image Source : </a:t>
            </a:r>
            <a:r>
              <a:rPr lang="en-IN" sz="1600" dirty="0">
                <a:solidFill>
                  <a:srgbClr val="00B0F0"/>
                </a:solidFill>
                <a:latin typeface="Arial Narrow" panose="020B0606020202030204" pitchFamily="34" charset="0"/>
              </a:rPr>
              <a:t>Singh, </a:t>
            </a:r>
            <a:r>
              <a:rPr lang="en-IN" sz="1600" dirty="0" err="1">
                <a:solidFill>
                  <a:srgbClr val="00B0F0"/>
                </a:solidFill>
                <a:latin typeface="Arial Narrow" panose="020B0606020202030204" pitchFamily="34" charset="0"/>
              </a:rPr>
              <a:t>Nripendra</a:t>
            </a:r>
            <a:r>
              <a:rPr lang="en-IN" sz="1600" dirty="0">
                <a:solidFill>
                  <a:srgbClr val="00B0F0"/>
                </a:solidFill>
                <a:latin typeface="Arial Narrow" panose="020B0606020202030204" pitchFamily="34" charset="0"/>
              </a:rPr>
              <a:t> &amp; Raza, Khalid. (2020). Medical Image Generation using Generative Adversarial Networks. 10.48550/arXiv.2005.10687. </a:t>
            </a:r>
          </a:p>
        </p:txBody>
      </p:sp>
      <p:sp>
        <p:nvSpPr>
          <p:cNvPr id="5" name="Rectangle 4"/>
          <p:cNvSpPr/>
          <p:nvPr/>
        </p:nvSpPr>
        <p:spPr>
          <a:xfrm>
            <a:off x="7838347" y="4772423"/>
            <a:ext cx="3639278" cy="338554"/>
          </a:xfrm>
          <a:prstGeom prst="rect">
            <a:avLst/>
          </a:prstGeom>
        </p:spPr>
        <p:txBody>
          <a:bodyPr wrap="square">
            <a:spAutoFit/>
          </a:bodyPr>
          <a:lstStyle/>
          <a:p>
            <a:pPr algn="ctr"/>
            <a:r>
              <a:rPr lang="en-US" sz="1600" b="0" i="0" dirty="0">
                <a:solidFill>
                  <a:srgbClr val="7030A0"/>
                </a:solidFill>
                <a:effectLst/>
                <a:latin typeface="Arial Narrow" panose="020B0606020202030204" pitchFamily="34" charset="0"/>
              </a:rPr>
              <a:t>Application of GAN in medical image synthesis</a:t>
            </a:r>
          </a:p>
        </p:txBody>
      </p:sp>
    </p:spTree>
    <p:extLst>
      <p:ext uri="{BB962C8B-B14F-4D97-AF65-F5344CB8AC3E}">
        <p14:creationId xmlns:p14="http://schemas.microsoft.com/office/powerpoint/2010/main" val="395503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280987"/>
            <a:ext cx="10515600" cy="1325563"/>
          </a:xfrm>
        </p:spPr>
        <p:txBody>
          <a:bodyPr>
            <a:normAutofit/>
          </a:bodyPr>
          <a:lstStyle/>
          <a:p>
            <a:r>
              <a:rPr lang="en-US" sz="3600" dirty="0">
                <a:latin typeface="Century" panose="02040604050505020304" pitchFamily="18" charset="0"/>
              </a:rPr>
              <a:t>Anomaly Detection</a:t>
            </a:r>
            <a:endParaRPr lang="en-IN" sz="3600" dirty="0">
              <a:latin typeface="Century" panose="02040604050505020304" pitchFamily="18" charset="0"/>
            </a:endParaRPr>
          </a:p>
        </p:txBody>
      </p:sp>
      <p:sp>
        <p:nvSpPr>
          <p:cNvPr id="3" name="Content Placeholder 2"/>
          <p:cNvSpPr>
            <a:spLocks noGrp="1"/>
          </p:cNvSpPr>
          <p:nvPr>
            <p:ph idx="1"/>
          </p:nvPr>
        </p:nvSpPr>
        <p:spPr>
          <a:xfrm>
            <a:off x="771525" y="1730375"/>
            <a:ext cx="10515600" cy="4555093"/>
          </a:xfrm>
        </p:spPr>
        <p:txBody>
          <a:bodyPr wrap="square">
            <a:spAutoFit/>
          </a:bodyPr>
          <a:lstStyle/>
          <a:p>
            <a:pPr algn="just">
              <a:lnSpc>
                <a:spcPct val="100000"/>
              </a:lnSpc>
            </a:pPr>
            <a:r>
              <a:rPr lang="en-US" sz="2000" dirty="0">
                <a:latin typeface="Arial Narrow" panose="020B0606020202030204" pitchFamily="34" charset="0"/>
              </a:rPr>
              <a:t>Anomaly detection is a fundamental task in machine learning and data mining that aims to identify </a:t>
            </a:r>
            <a:r>
              <a:rPr lang="en-US" sz="2000" dirty="0">
                <a:solidFill>
                  <a:srgbClr val="7030A0"/>
                </a:solidFill>
                <a:latin typeface="Arial Narrow" panose="020B0606020202030204" pitchFamily="34" charset="0"/>
              </a:rPr>
              <a:t>observations, patterns, or events that deviate significantly from the expected behavior of a system</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These anomalous instances, often referred to as </a:t>
            </a:r>
            <a:r>
              <a:rPr lang="en-US" sz="2000" dirty="0">
                <a:solidFill>
                  <a:srgbClr val="7030A0"/>
                </a:solidFill>
                <a:latin typeface="Arial Narrow" panose="020B0606020202030204" pitchFamily="34" charset="0"/>
              </a:rPr>
              <a:t>outliers</a:t>
            </a:r>
            <a:r>
              <a:rPr lang="en-US" sz="2000" dirty="0">
                <a:latin typeface="Arial Narrow" panose="020B0606020202030204" pitchFamily="34" charset="0"/>
              </a:rPr>
              <a:t> or novelties, may indicate critical events such as </a:t>
            </a:r>
            <a:r>
              <a:rPr lang="en-US" sz="2000" dirty="0">
                <a:solidFill>
                  <a:srgbClr val="7030A0"/>
                </a:solidFill>
                <a:latin typeface="Arial Narrow" panose="020B0606020202030204" pitchFamily="34" charset="0"/>
              </a:rPr>
              <a:t>equipment failures, fraudulent transactions, cyberattacks, or medical abnormalities</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Depending on the availability of labeled data, anomaly detection methods are categorized into </a:t>
            </a:r>
            <a:r>
              <a:rPr lang="en-US" sz="2000" dirty="0">
                <a:solidFill>
                  <a:srgbClr val="7030A0"/>
                </a:solidFill>
                <a:latin typeface="Arial Narrow" panose="020B0606020202030204" pitchFamily="34" charset="0"/>
              </a:rPr>
              <a:t>supervised, semi-supervised, and unsupervised approaches</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Traditional techniques rely on </a:t>
            </a:r>
            <a:r>
              <a:rPr lang="en-US" sz="2000" dirty="0">
                <a:solidFill>
                  <a:srgbClr val="7030A0"/>
                </a:solidFill>
                <a:latin typeface="Arial Narrow" panose="020B0606020202030204" pitchFamily="34" charset="0"/>
              </a:rPr>
              <a:t>statistical models, distance-based methods, density estimation, and clustering algorithms</a:t>
            </a:r>
            <a:r>
              <a:rPr lang="en-US" sz="2000" dirty="0">
                <a:latin typeface="Arial Narrow" panose="020B0606020202030204" pitchFamily="34" charset="0"/>
              </a:rPr>
              <a:t>, whereas modern approaches employ machine learning algorithms such as </a:t>
            </a:r>
            <a:r>
              <a:rPr lang="en-US" sz="2000" dirty="0">
                <a:solidFill>
                  <a:srgbClr val="7030A0"/>
                </a:solidFill>
                <a:latin typeface="Arial Narrow" panose="020B0606020202030204" pitchFamily="34" charset="0"/>
              </a:rPr>
              <a:t>Isolation Forest, One-Class Support Vector Machine (SVM), Local Outlier Factor (LOF), and deep neural networks</a:t>
            </a:r>
            <a:r>
              <a:rPr lang="en-US" sz="2000" dirty="0">
                <a:latin typeface="Arial Narrow" panose="020B0606020202030204" pitchFamily="34" charset="0"/>
              </a:rPr>
              <a:t>. </a:t>
            </a:r>
          </a:p>
        </p:txBody>
      </p:sp>
    </p:spTree>
    <p:extLst>
      <p:ext uri="{BB962C8B-B14F-4D97-AF65-F5344CB8AC3E}">
        <p14:creationId xmlns:p14="http://schemas.microsoft.com/office/powerpoint/2010/main" val="1934936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Century" panose="02040604050505020304" pitchFamily="18" charset="0"/>
              </a:rPr>
              <a:t>Anomaly Detection</a:t>
            </a:r>
            <a:endParaRPr lang="en-IN" sz="3600" dirty="0"/>
          </a:p>
        </p:txBody>
      </p:sp>
      <p:sp>
        <p:nvSpPr>
          <p:cNvPr id="3" name="Content Placeholder 2"/>
          <p:cNvSpPr>
            <a:spLocks noGrp="1"/>
          </p:cNvSpPr>
          <p:nvPr>
            <p:ph idx="1"/>
          </p:nvPr>
        </p:nvSpPr>
        <p:spPr/>
        <p:txBody>
          <a:bodyPr>
            <a:normAutofit/>
          </a:bodyPr>
          <a:lstStyle/>
          <a:p>
            <a:pPr algn="just"/>
            <a:r>
              <a:rPr lang="en-US" sz="2000" dirty="0">
                <a:latin typeface="Arial Narrow" panose="020B0606020202030204" pitchFamily="34" charset="0"/>
              </a:rPr>
              <a:t>The primary objective is to accurately model </a:t>
            </a:r>
            <a:r>
              <a:rPr lang="en-US" sz="2000" dirty="0">
                <a:solidFill>
                  <a:srgbClr val="7030A0"/>
                </a:solidFill>
                <a:latin typeface="Arial Narrow" panose="020B0606020202030204" pitchFamily="34" charset="0"/>
              </a:rPr>
              <a:t>normal data distributions and detect deviations while minimizing false positives and false negatives</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Despite significant advancements, anomaly detection remains challenging due to the </a:t>
            </a:r>
            <a:r>
              <a:rPr lang="en-US" sz="2000" dirty="0">
                <a:solidFill>
                  <a:srgbClr val="7030A0"/>
                </a:solidFill>
                <a:latin typeface="Arial Narrow" panose="020B0606020202030204" pitchFamily="34" charset="0"/>
              </a:rPr>
              <a:t>rarity of anomalous events, class imbalance, high-dimensional data, evolving data distributions, and the absence of labeled anomaly samples in many real-world applications</a:t>
            </a:r>
            <a:r>
              <a:rPr lang="en-US" sz="2000" dirty="0">
                <a:latin typeface="Arial Narrow" panose="020B0606020202030204" pitchFamily="34" charset="0"/>
              </a:rPr>
              <a:t>.</a:t>
            </a:r>
            <a:endParaRPr lang="en-IN" sz="2000" dirty="0">
              <a:latin typeface="Arial Narrow" panose="020B0606020202030204" pitchFamily="34" charset="0"/>
            </a:endParaRPr>
          </a:p>
          <a:p>
            <a:pPr algn="just"/>
            <a:endParaRPr lang="en-IN" sz="2000" dirty="0">
              <a:latin typeface="Arial Narrow" panose="020B0606020202030204" pitchFamily="34" charset="0"/>
            </a:endParaRPr>
          </a:p>
        </p:txBody>
      </p:sp>
      <p:pic>
        <p:nvPicPr>
          <p:cNvPr id="11266" name="Picture 2" descr="https://www.flair-tech.com/wp-content/uploads/2020/10/anomaly_detection-1014x48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001294"/>
            <a:ext cx="4207762" cy="20208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994401" y="3889829"/>
            <a:ext cx="4309362" cy="2287134"/>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p:cNvSpPr/>
          <p:nvPr/>
        </p:nvSpPr>
        <p:spPr>
          <a:xfrm>
            <a:off x="7372350" y="4787900"/>
            <a:ext cx="692150" cy="546100"/>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a:stCxn id="5" idx="2"/>
          </p:cNvCxnSpPr>
          <p:nvPr/>
        </p:nvCxnSpPr>
        <p:spPr>
          <a:xfrm flipH="1" flipV="1">
            <a:off x="5683250" y="5048250"/>
            <a:ext cx="1689100" cy="12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761202" y="4827072"/>
            <a:ext cx="922047" cy="369332"/>
          </a:xfrm>
          <a:prstGeom prst="rect">
            <a:avLst/>
          </a:prstGeom>
          <a:noFill/>
        </p:spPr>
        <p:txBody>
          <a:bodyPr wrap="none" rtlCol="0">
            <a:spAutoFit/>
          </a:bodyPr>
          <a:lstStyle/>
          <a:p>
            <a:r>
              <a:rPr lang="en-IN" dirty="0">
                <a:solidFill>
                  <a:srgbClr val="7030A0"/>
                </a:solidFill>
                <a:latin typeface="Arial Narrow" panose="020B0606020202030204" pitchFamily="34" charset="0"/>
              </a:rPr>
              <a:t>Anomaly</a:t>
            </a:r>
          </a:p>
        </p:txBody>
      </p:sp>
      <p:sp>
        <p:nvSpPr>
          <p:cNvPr id="9" name="TextBox 8"/>
          <p:cNvSpPr txBox="1"/>
          <p:nvPr/>
        </p:nvSpPr>
        <p:spPr>
          <a:xfrm>
            <a:off x="0" y="6503690"/>
            <a:ext cx="7064691" cy="307777"/>
          </a:xfrm>
          <a:prstGeom prst="rect">
            <a:avLst/>
          </a:prstGeom>
          <a:noFill/>
        </p:spPr>
        <p:txBody>
          <a:bodyPr wrap="none" rtlCol="0">
            <a:spAutoFit/>
          </a:bodyPr>
          <a:lstStyle/>
          <a:p>
            <a:r>
              <a:rPr lang="en-IN" sz="1400" dirty="0">
                <a:latin typeface="Arial Narrow" panose="020B0606020202030204" pitchFamily="34" charset="0"/>
              </a:rPr>
              <a:t>Image Source : </a:t>
            </a:r>
            <a:r>
              <a:rPr lang="en-IN" sz="1400" dirty="0">
                <a:solidFill>
                  <a:srgbClr val="00B0F0"/>
                </a:solidFill>
                <a:latin typeface="Arial Narrow" panose="020B0606020202030204" pitchFamily="34" charset="0"/>
              </a:rPr>
              <a:t>https://www.flair-tech.com/wp-content/uploads/2020/10/anomaly_detection-1014x487.png</a:t>
            </a:r>
          </a:p>
        </p:txBody>
      </p:sp>
    </p:spTree>
    <p:extLst>
      <p:ext uri="{BB962C8B-B14F-4D97-AF65-F5344CB8AC3E}">
        <p14:creationId xmlns:p14="http://schemas.microsoft.com/office/powerpoint/2010/main" val="3774613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44600"/>
          </a:xfrm>
        </p:spPr>
        <p:txBody>
          <a:bodyPr>
            <a:noAutofit/>
          </a:bodyPr>
          <a:lstStyle/>
          <a:p>
            <a:r>
              <a:rPr lang="en-IN" sz="3600" dirty="0">
                <a:latin typeface="Century" panose="02040604050505020304" pitchFamily="18" charset="0"/>
              </a:rPr>
              <a:t>Generative AI for </a:t>
            </a:r>
            <a:r>
              <a:rPr lang="en-US" sz="3600" dirty="0">
                <a:latin typeface="Century" panose="02040604050505020304" pitchFamily="18" charset="0"/>
              </a:rPr>
              <a:t>Anomaly Detection</a:t>
            </a:r>
            <a:endParaRPr lang="en-IN" sz="3600" dirty="0">
              <a:latin typeface="Century" panose="02040604050505020304" pitchFamily="18" charset="0"/>
            </a:endParaRPr>
          </a:p>
        </p:txBody>
      </p:sp>
      <p:sp>
        <p:nvSpPr>
          <p:cNvPr id="3" name="Content Placeholder 2"/>
          <p:cNvSpPr>
            <a:spLocks noGrp="1"/>
          </p:cNvSpPr>
          <p:nvPr>
            <p:ph idx="1"/>
          </p:nvPr>
        </p:nvSpPr>
        <p:spPr>
          <a:xfrm>
            <a:off x="838200" y="1758950"/>
            <a:ext cx="10515600" cy="4079876"/>
          </a:xfrm>
        </p:spPr>
        <p:txBody>
          <a:bodyPr>
            <a:normAutofit/>
          </a:bodyPr>
          <a:lstStyle/>
          <a:p>
            <a:pPr algn="just">
              <a:lnSpc>
                <a:spcPct val="100000"/>
              </a:lnSpc>
            </a:pPr>
            <a:r>
              <a:rPr lang="en-US" sz="2000" dirty="0">
                <a:latin typeface="Arial Narrow" panose="020B0606020202030204" pitchFamily="34" charset="0"/>
              </a:rPr>
              <a:t>Generative models have emerged as a powerful approach for anomaly detection by learning the </a:t>
            </a:r>
            <a:r>
              <a:rPr lang="en-US" sz="2000" dirty="0">
                <a:solidFill>
                  <a:srgbClr val="7030A0"/>
                </a:solidFill>
                <a:latin typeface="Arial Narrow" panose="020B0606020202030204" pitchFamily="34" charset="0"/>
              </a:rPr>
              <a:t>underlying probability distribution of normal data and identifying samples that exhibit low likelihood under the learned distribution</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Unlike discriminative methods that focus on </a:t>
            </a:r>
            <a:r>
              <a:rPr lang="en-US" sz="2000" dirty="0">
                <a:solidFill>
                  <a:srgbClr val="7030A0"/>
                </a:solidFill>
                <a:latin typeface="Arial Narrow" panose="020B0606020202030204" pitchFamily="34" charset="0"/>
              </a:rPr>
              <a:t>separating normal and anomalous instances, generative models aim to reconstruct or generate data that closely resemble the training distribution</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During inference, anomalous samples typically produce </a:t>
            </a:r>
            <a:r>
              <a:rPr lang="en-US" sz="2000" dirty="0">
                <a:solidFill>
                  <a:srgbClr val="7030A0"/>
                </a:solidFill>
                <a:latin typeface="Arial Narrow" panose="020B0606020202030204" pitchFamily="34" charset="0"/>
              </a:rPr>
              <a:t>higher reconstruction errors or lower generation probabilities</a:t>
            </a:r>
            <a:r>
              <a:rPr lang="en-US" sz="2000" dirty="0">
                <a:latin typeface="Arial Narrow" panose="020B0606020202030204" pitchFamily="34" charset="0"/>
              </a:rPr>
              <a:t> because they differ from the learned representation of normal data. </a:t>
            </a:r>
          </a:p>
        </p:txBody>
      </p:sp>
    </p:spTree>
    <p:extLst>
      <p:ext uri="{BB962C8B-B14F-4D97-AF65-F5344CB8AC3E}">
        <p14:creationId xmlns:p14="http://schemas.microsoft.com/office/powerpoint/2010/main" val="3017252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58875"/>
          </a:xfrm>
        </p:spPr>
        <p:txBody>
          <a:bodyPr>
            <a:normAutofit/>
          </a:bodyPr>
          <a:lstStyle/>
          <a:p>
            <a:r>
              <a:rPr lang="en-IN" sz="3600" dirty="0">
                <a:latin typeface="Century" panose="02040604050505020304" pitchFamily="18" charset="0"/>
              </a:rPr>
              <a:t>Generative AI for </a:t>
            </a:r>
            <a:r>
              <a:rPr lang="en-US" sz="3600" dirty="0">
                <a:latin typeface="Century" panose="02040604050505020304" pitchFamily="18" charset="0"/>
              </a:rPr>
              <a:t>Anomaly Detection</a:t>
            </a:r>
            <a:endParaRPr lang="en-IN" sz="3600" dirty="0"/>
          </a:p>
        </p:txBody>
      </p:sp>
      <p:sp>
        <p:nvSpPr>
          <p:cNvPr id="3" name="Content Placeholder 2"/>
          <p:cNvSpPr>
            <a:spLocks noGrp="1"/>
          </p:cNvSpPr>
          <p:nvPr>
            <p:ph idx="1"/>
          </p:nvPr>
        </p:nvSpPr>
        <p:spPr/>
        <p:txBody>
          <a:bodyPr>
            <a:normAutofit/>
          </a:bodyPr>
          <a:lstStyle/>
          <a:p>
            <a:pPr algn="just">
              <a:lnSpc>
                <a:spcPct val="100000"/>
              </a:lnSpc>
            </a:pPr>
            <a:r>
              <a:rPr lang="en-US" sz="2000" dirty="0">
                <a:latin typeface="Arial Narrow" panose="020B0606020202030204" pitchFamily="34" charset="0"/>
              </a:rPr>
              <a:t>Deep generative models, including </a:t>
            </a:r>
            <a:r>
              <a:rPr lang="en-US" sz="2000" dirty="0">
                <a:solidFill>
                  <a:srgbClr val="7030A0"/>
                </a:solidFill>
                <a:latin typeface="Arial Narrow" panose="020B0606020202030204" pitchFamily="34" charset="0"/>
              </a:rPr>
              <a:t>Variational Autoencoders (VAEs), Generative Adversarial Networks (GANs), Diffusion Models, and Normalizing Flows</a:t>
            </a:r>
            <a:r>
              <a:rPr lang="en-US" sz="2000" dirty="0">
                <a:latin typeface="Arial Narrow" panose="020B0606020202030204" pitchFamily="34" charset="0"/>
              </a:rPr>
              <a:t>, have demonstrated remarkable performance in detecting anomalies across </a:t>
            </a:r>
            <a:r>
              <a:rPr lang="en-US" sz="2000" dirty="0">
                <a:solidFill>
                  <a:srgbClr val="7030A0"/>
                </a:solidFill>
                <a:latin typeface="Arial Narrow" panose="020B0606020202030204" pitchFamily="34" charset="0"/>
              </a:rPr>
              <a:t>image analysis, industrial inspection, cybersecurity, healthcare, and time-series monitoring</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These models </a:t>
            </a:r>
            <a:r>
              <a:rPr lang="en-US" sz="2000" dirty="0">
                <a:solidFill>
                  <a:srgbClr val="7030A0"/>
                </a:solidFill>
                <a:latin typeface="Arial Narrow" panose="020B0606020202030204" pitchFamily="34" charset="0"/>
              </a:rPr>
              <a:t>leverage latent representations to capture complex nonlinear patterns and semantic features, enabling robust detection in high-dimensional datasets</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Recent advances have further improved anomaly detection by integrating </a:t>
            </a:r>
            <a:r>
              <a:rPr lang="en-US" sz="2000" dirty="0">
                <a:solidFill>
                  <a:srgbClr val="7030A0"/>
                </a:solidFill>
                <a:latin typeface="Arial Narrow" panose="020B0606020202030204" pitchFamily="34" charset="0"/>
              </a:rPr>
              <a:t>attention mechanisms, self-supervised learning, contrastive representation learning, and transformer-based architectures </a:t>
            </a:r>
            <a:r>
              <a:rPr lang="en-US" sz="2000" dirty="0">
                <a:latin typeface="Arial Narrow" panose="020B0606020202030204" pitchFamily="34" charset="0"/>
              </a:rPr>
              <a:t>with generative frameworks, leading to </a:t>
            </a:r>
            <a:r>
              <a:rPr lang="en-US" sz="2000" dirty="0">
                <a:solidFill>
                  <a:srgbClr val="7030A0"/>
                </a:solidFill>
                <a:latin typeface="Arial Narrow" panose="020B0606020202030204" pitchFamily="34" charset="0"/>
              </a:rPr>
              <a:t>enhanced detection accuracy, robustness, and generalization across diverse application domains</a:t>
            </a:r>
            <a:r>
              <a:rPr lang="en-US" sz="2000" dirty="0">
                <a:latin typeface="Arial Narrow" panose="020B0606020202030204" pitchFamily="34" charset="0"/>
              </a:rPr>
              <a:t>.</a:t>
            </a:r>
            <a:endParaRPr lang="en-IN" sz="2000" dirty="0">
              <a:latin typeface="Arial Narrow" panose="020B0606020202030204" pitchFamily="34" charset="0"/>
            </a:endParaRPr>
          </a:p>
        </p:txBody>
      </p:sp>
    </p:spTree>
    <p:extLst>
      <p:ext uri="{BB962C8B-B14F-4D97-AF65-F5344CB8AC3E}">
        <p14:creationId xmlns:p14="http://schemas.microsoft.com/office/powerpoint/2010/main" val="4026341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2750"/>
            <a:ext cx="10515600" cy="1092200"/>
          </a:xfrm>
        </p:spPr>
        <p:txBody>
          <a:bodyPr>
            <a:normAutofit/>
          </a:bodyPr>
          <a:lstStyle/>
          <a:p>
            <a:r>
              <a:rPr lang="en-IN" sz="3600" dirty="0">
                <a:latin typeface="Century" panose="02040604050505020304" pitchFamily="18" charset="0"/>
              </a:rPr>
              <a:t>3D Scene Generation</a:t>
            </a:r>
          </a:p>
        </p:txBody>
      </p:sp>
      <p:sp>
        <p:nvSpPr>
          <p:cNvPr id="3" name="Content Placeholder 2"/>
          <p:cNvSpPr>
            <a:spLocks noGrp="1"/>
          </p:cNvSpPr>
          <p:nvPr>
            <p:ph idx="1"/>
          </p:nvPr>
        </p:nvSpPr>
        <p:spPr>
          <a:xfrm>
            <a:off x="838200" y="1638301"/>
            <a:ext cx="10515600" cy="4476750"/>
          </a:xfrm>
        </p:spPr>
        <p:txBody>
          <a:bodyPr>
            <a:normAutofit/>
          </a:bodyPr>
          <a:lstStyle/>
          <a:p>
            <a:pPr algn="just">
              <a:lnSpc>
                <a:spcPct val="100000"/>
              </a:lnSpc>
            </a:pPr>
            <a:r>
              <a:rPr lang="en-US" sz="2000" dirty="0">
                <a:latin typeface="Arial Narrow" panose="020B0606020202030204" pitchFamily="34" charset="0"/>
              </a:rPr>
              <a:t>3D scene generation is the </a:t>
            </a:r>
            <a:r>
              <a:rPr lang="en-US" sz="2000" dirty="0">
                <a:solidFill>
                  <a:srgbClr val="7030A0"/>
                </a:solidFill>
                <a:latin typeface="Arial Narrow" panose="020B0606020202030204" pitchFamily="34" charset="0"/>
              </a:rPr>
              <a:t>process of automatically creating realistic three-dimensional environments by modeling objects, their spatial relationships, geometry, textures, and lighting</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It combines techniques from </a:t>
            </a:r>
            <a:r>
              <a:rPr lang="en-US" sz="2000" dirty="0">
                <a:solidFill>
                  <a:srgbClr val="7030A0"/>
                </a:solidFill>
                <a:latin typeface="Arial Narrow" panose="020B0606020202030204" pitchFamily="34" charset="0"/>
              </a:rPr>
              <a:t>computer vision, computer graphics, and artificial intelligence</a:t>
            </a:r>
            <a:r>
              <a:rPr lang="en-US" sz="2000" dirty="0">
                <a:latin typeface="Arial Narrow" panose="020B0606020202030204" pitchFamily="34" charset="0"/>
              </a:rPr>
              <a:t> to generate </a:t>
            </a:r>
            <a:r>
              <a:rPr lang="en-US" sz="2000" dirty="0">
                <a:solidFill>
                  <a:srgbClr val="7030A0"/>
                </a:solidFill>
                <a:latin typeface="Arial Narrow" panose="020B0606020202030204" pitchFamily="34" charset="0"/>
              </a:rPr>
              <a:t>complete virtual scenes from inputs such as text, images, scene layouts, or partial 3D data</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Traditional approaches rely on procedural modeling and handcrafted rules, which often require significant manual effort and lack flexibility.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In contrast, modern deep learning methods learn </a:t>
            </a:r>
            <a:r>
              <a:rPr lang="en-US" sz="2000" dirty="0">
                <a:solidFill>
                  <a:srgbClr val="7030A0"/>
                </a:solidFill>
                <a:latin typeface="Arial Narrow" panose="020B0606020202030204" pitchFamily="34" charset="0"/>
              </a:rPr>
              <a:t>complex spatial and semantic representations from large-scale datasets</a:t>
            </a:r>
            <a:r>
              <a:rPr lang="en-US" sz="2000" dirty="0">
                <a:latin typeface="Arial Narrow" panose="020B0606020202030204" pitchFamily="34" charset="0"/>
              </a:rPr>
              <a:t>, enabling the synthesis of diverse, coherent, and high-quality 3D environments. </a:t>
            </a:r>
          </a:p>
        </p:txBody>
      </p:sp>
    </p:spTree>
    <p:extLst>
      <p:ext uri="{BB962C8B-B14F-4D97-AF65-F5344CB8AC3E}">
        <p14:creationId xmlns:p14="http://schemas.microsoft.com/office/powerpoint/2010/main" val="2595911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3D Scene Generation</a:t>
            </a:r>
            <a:endParaRPr lang="en-IN" sz="3600" dirty="0"/>
          </a:p>
        </p:txBody>
      </p:sp>
      <p:sp>
        <p:nvSpPr>
          <p:cNvPr id="3" name="Content Placeholder 2"/>
          <p:cNvSpPr>
            <a:spLocks noGrp="1"/>
          </p:cNvSpPr>
          <p:nvPr>
            <p:ph idx="1"/>
          </p:nvPr>
        </p:nvSpPr>
        <p:spPr>
          <a:xfrm>
            <a:off x="838200" y="1825625"/>
            <a:ext cx="10515600" cy="841375"/>
          </a:xfrm>
        </p:spPr>
        <p:txBody>
          <a:bodyPr>
            <a:normAutofit/>
          </a:bodyPr>
          <a:lstStyle/>
          <a:p>
            <a:pPr algn="just"/>
            <a:r>
              <a:rPr lang="en-US" sz="2000" dirty="0">
                <a:latin typeface="Arial Narrow" panose="020B0606020202030204" pitchFamily="34" charset="0"/>
              </a:rPr>
              <a:t>These techniques have become increasingly important in applications such as </a:t>
            </a:r>
            <a:r>
              <a:rPr lang="en-US" sz="2000" dirty="0">
                <a:solidFill>
                  <a:srgbClr val="7030A0"/>
                </a:solidFill>
                <a:latin typeface="Arial Narrow" panose="020B0606020202030204" pitchFamily="34" charset="0"/>
              </a:rPr>
              <a:t>virtual and augmented reality, robotics, autonomous driving, gaming, digital twins, and architectural visualization</a:t>
            </a:r>
            <a:r>
              <a:rPr lang="en-US" sz="2000" dirty="0">
                <a:latin typeface="Arial Narrow" panose="020B0606020202030204" pitchFamily="34" charset="0"/>
              </a:rPr>
              <a:t>.</a:t>
            </a:r>
            <a:endParaRPr lang="en-IN" sz="2000" dirty="0">
              <a:latin typeface="Arial Narrow" panose="020B0606020202030204" pitchFamily="34" charset="0"/>
            </a:endParaRPr>
          </a:p>
        </p:txBody>
      </p:sp>
      <p:sp>
        <p:nvSpPr>
          <p:cNvPr id="4" name="TextBox 3"/>
          <p:cNvSpPr txBox="1"/>
          <p:nvPr/>
        </p:nvSpPr>
        <p:spPr>
          <a:xfrm>
            <a:off x="120072" y="6550223"/>
            <a:ext cx="11511485" cy="307777"/>
          </a:xfrm>
          <a:prstGeom prst="rect">
            <a:avLst/>
          </a:prstGeom>
          <a:noFill/>
        </p:spPr>
        <p:txBody>
          <a:bodyPr wrap="none" rtlCol="0">
            <a:spAutoFit/>
          </a:bodyPr>
          <a:lstStyle/>
          <a:p>
            <a:r>
              <a:rPr lang="en-IN" sz="1400" dirty="0">
                <a:latin typeface="Arial Narrow" panose="020B0606020202030204" pitchFamily="34" charset="0"/>
              </a:rPr>
              <a:t>Image Source : </a:t>
            </a:r>
            <a:r>
              <a:rPr lang="en-US" sz="1400" dirty="0" err="1">
                <a:solidFill>
                  <a:srgbClr val="00B0F0"/>
                </a:solidFill>
                <a:latin typeface="Arial Narrow" panose="020B0606020202030204" pitchFamily="34" charset="0"/>
              </a:rPr>
              <a:t>Dema</a:t>
            </a:r>
            <a:r>
              <a:rPr lang="en-US" sz="1400" dirty="0">
                <a:solidFill>
                  <a:srgbClr val="00B0F0"/>
                </a:solidFill>
                <a:latin typeface="Arial Narrow" panose="020B0606020202030204" pitchFamily="34" charset="0"/>
              </a:rPr>
              <a:t>, </a:t>
            </a:r>
            <a:r>
              <a:rPr lang="en-US" sz="1400" dirty="0" err="1">
                <a:solidFill>
                  <a:srgbClr val="00B0F0"/>
                </a:solidFill>
                <a:latin typeface="Arial Narrow" panose="020B0606020202030204" pitchFamily="34" charset="0"/>
              </a:rPr>
              <a:t>Mesfin</a:t>
            </a:r>
            <a:r>
              <a:rPr lang="en-US" sz="1400" dirty="0">
                <a:solidFill>
                  <a:srgbClr val="00B0F0"/>
                </a:solidFill>
                <a:latin typeface="Arial Narrow" panose="020B0606020202030204" pitchFamily="34" charset="0"/>
              </a:rPr>
              <a:t> and </a:t>
            </a:r>
            <a:r>
              <a:rPr lang="en-US" sz="1400" dirty="0" err="1">
                <a:solidFill>
                  <a:srgbClr val="00B0F0"/>
                </a:solidFill>
                <a:latin typeface="Arial Narrow" panose="020B0606020202030204" pitchFamily="34" charset="0"/>
              </a:rPr>
              <a:t>Hamed</a:t>
            </a:r>
            <a:r>
              <a:rPr lang="en-US" sz="1400" dirty="0">
                <a:solidFill>
                  <a:srgbClr val="00B0F0"/>
                </a:solidFill>
                <a:latin typeface="Arial Narrow" panose="020B0606020202030204" pitchFamily="34" charset="0"/>
              </a:rPr>
              <a:t> Sari-</a:t>
            </a:r>
            <a:r>
              <a:rPr lang="en-US" sz="1400" dirty="0" err="1">
                <a:solidFill>
                  <a:srgbClr val="00B0F0"/>
                </a:solidFill>
                <a:latin typeface="Arial Narrow" panose="020B0606020202030204" pitchFamily="34" charset="0"/>
              </a:rPr>
              <a:t>Sarraf</a:t>
            </a:r>
            <a:r>
              <a:rPr lang="en-US" sz="1400" dirty="0">
                <a:solidFill>
                  <a:srgbClr val="00B0F0"/>
                </a:solidFill>
                <a:latin typeface="Arial Narrow" panose="020B0606020202030204" pitchFamily="34" charset="0"/>
              </a:rPr>
              <a:t>. “3D Scene Generation by Learning from Examples.” </a:t>
            </a:r>
            <a:r>
              <a:rPr lang="en-US" sz="1400" i="1" dirty="0">
                <a:solidFill>
                  <a:srgbClr val="00B0F0"/>
                </a:solidFill>
                <a:latin typeface="Arial Narrow" panose="020B0606020202030204" pitchFamily="34" charset="0"/>
              </a:rPr>
              <a:t>2012 IEEE International Symposium on Multimedia</a:t>
            </a:r>
            <a:r>
              <a:rPr lang="en-US" sz="1400" dirty="0">
                <a:solidFill>
                  <a:srgbClr val="00B0F0"/>
                </a:solidFill>
                <a:latin typeface="Arial Narrow" panose="020B0606020202030204" pitchFamily="34" charset="0"/>
              </a:rPr>
              <a:t> (2012): 58-64.</a:t>
            </a:r>
            <a:endParaRPr lang="en-IN" sz="1400" dirty="0">
              <a:solidFill>
                <a:srgbClr val="00B0F0"/>
              </a:solidFill>
              <a:latin typeface="Arial Narrow" panose="020B0606020202030204" pitchFamily="34" charset="0"/>
            </a:endParaRPr>
          </a:p>
        </p:txBody>
      </p:sp>
      <p:pic>
        <p:nvPicPr>
          <p:cNvPr id="5" name="Picture 2" descr="https://figures.semanticscholar.org/ffcd5fbf50b48c488b8603c1e5e80c2710d7790f/3-Figure1-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748" b="1601"/>
          <a:stretch/>
        </p:blipFill>
        <p:spPr bwMode="auto">
          <a:xfrm>
            <a:off x="3102552" y="2922686"/>
            <a:ext cx="5639889" cy="276138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102552" y="2855218"/>
            <a:ext cx="5639890" cy="2916932"/>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07584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Century" panose="02040604050505020304" pitchFamily="18" charset="0"/>
              </a:rPr>
              <a:t>Generative AI for 3D Scene Generation</a:t>
            </a:r>
          </a:p>
        </p:txBody>
      </p:sp>
      <p:sp>
        <p:nvSpPr>
          <p:cNvPr id="3" name="Content Placeholder 2"/>
          <p:cNvSpPr>
            <a:spLocks noGrp="1"/>
          </p:cNvSpPr>
          <p:nvPr>
            <p:ph idx="1"/>
          </p:nvPr>
        </p:nvSpPr>
        <p:spPr/>
        <p:txBody>
          <a:bodyPr>
            <a:normAutofit/>
          </a:bodyPr>
          <a:lstStyle/>
          <a:p>
            <a:pPr algn="just">
              <a:lnSpc>
                <a:spcPct val="100000"/>
              </a:lnSpc>
            </a:pPr>
            <a:r>
              <a:rPr lang="en-US" sz="2000" dirty="0">
                <a:latin typeface="Arial Narrow" panose="020B0606020202030204" pitchFamily="34" charset="0"/>
              </a:rPr>
              <a:t>Generative AI has transformed 3D scene generation by </a:t>
            </a:r>
            <a:r>
              <a:rPr lang="en-US" sz="2000" dirty="0">
                <a:solidFill>
                  <a:srgbClr val="7030A0"/>
                </a:solidFill>
                <a:latin typeface="Arial Narrow" panose="020B0606020202030204" pitchFamily="34" charset="0"/>
              </a:rPr>
              <a:t>enabling the automatic synthesis of complex and realistic virtual environments</a:t>
            </a:r>
            <a:r>
              <a:rPr lang="en-US" sz="2000" dirty="0">
                <a:latin typeface="Arial Narrow" panose="020B0606020202030204" pitchFamily="34" charset="0"/>
              </a:rPr>
              <a:t> from multimodal inputs such as text, images, sketches, or partial 3D data.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State-of-the-art generative models, including Generative Adversarial Networks (GANs), Variational Autoencoders (VAEs), Diffusion Models, and Transformer-based architectures, learn the underlying distribution of 3D data to generate geometrically accurate and semantically coherent scenes.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Recent text-to-3D and image-to-3D frameworks </a:t>
            </a:r>
            <a:r>
              <a:rPr lang="en-US" sz="2000" dirty="0">
                <a:solidFill>
                  <a:srgbClr val="7030A0"/>
                </a:solidFill>
                <a:latin typeface="Arial Narrow" panose="020B0606020202030204" pitchFamily="34" charset="0"/>
              </a:rPr>
              <a:t>leverage large vision-language models together with diffusion-based generation to produce high-quality 3D assets </a:t>
            </a:r>
            <a:r>
              <a:rPr lang="en-US" sz="2000" dirty="0">
                <a:latin typeface="Arial Narrow" panose="020B0606020202030204" pitchFamily="34" charset="0"/>
              </a:rPr>
              <a:t>with minimal human intervention. </a:t>
            </a:r>
          </a:p>
        </p:txBody>
      </p:sp>
    </p:spTree>
    <p:extLst>
      <p:ext uri="{BB962C8B-B14F-4D97-AF65-F5344CB8AC3E}">
        <p14:creationId xmlns:p14="http://schemas.microsoft.com/office/powerpoint/2010/main" val="3730571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Century" panose="02040604050505020304" pitchFamily="18" charset="0"/>
              </a:rPr>
              <a:t>Generative Models for 3D Scene Generation</a:t>
            </a:r>
            <a:endParaRPr lang="en-IN" sz="3600" dirty="0"/>
          </a:p>
        </p:txBody>
      </p:sp>
      <p:sp>
        <p:nvSpPr>
          <p:cNvPr id="3" name="Content Placeholder 2"/>
          <p:cNvSpPr>
            <a:spLocks noGrp="1"/>
          </p:cNvSpPr>
          <p:nvPr>
            <p:ph idx="1"/>
          </p:nvPr>
        </p:nvSpPr>
        <p:spPr>
          <a:xfrm>
            <a:off x="838200" y="1647754"/>
            <a:ext cx="10515600" cy="4351338"/>
          </a:xfrm>
        </p:spPr>
        <p:txBody>
          <a:bodyPr>
            <a:normAutofit/>
          </a:bodyPr>
          <a:lstStyle/>
          <a:p>
            <a:pPr algn="just">
              <a:lnSpc>
                <a:spcPct val="110000"/>
              </a:lnSpc>
            </a:pPr>
            <a:r>
              <a:rPr lang="en-US" sz="2000" dirty="0">
                <a:latin typeface="Arial Narrow" panose="020B0606020202030204" pitchFamily="34" charset="0"/>
              </a:rPr>
              <a:t>These advances improve </a:t>
            </a:r>
            <a:r>
              <a:rPr lang="en-US" sz="2000" dirty="0">
                <a:solidFill>
                  <a:srgbClr val="7030A0"/>
                </a:solidFill>
                <a:latin typeface="Arial Narrow" panose="020B0606020202030204" pitchFamily="34" charset="0"/>
              </a:rPr>
              <a:t>scene realism, diversity, scalability, and controllability </a:t>
            </a:r>
            <a:r>
              <a:rPr lang="en-US" sz="2000" dirty="0">
                <a:latin typeface="Arial Narrow" panose="020B0606020202030204" pitchFamily="34" charset="0"/>
              </a:rPr>
              <a:t>while reducing manual modeling effort. </a:t>
            </a:r>
          </a:p>
          <a:p>
            <a:pPr algn="just">
              <a:lnSpc>
                <a:spcPct val="110000"/>
              </a:lnSpc>
            </a:pPr>
            <a:endParaRPr lang="en-US" sz="2000" dirty="0">
              <a:latin typeface="Arial Narrow" panose="020B0606020202030204" pitchFamily="34" charset="0"/>
            </a:endParaRPr>
          </a:p>
          <a:p>
            <a:pPr algn="just">
              <a:lnSpc>
                <a:spcPct val="110000"/>
              </a:lnSpc>
            </a:pPr>
            <a:r>
              <a:rPr lang="en-US" sz="2000" dirty="0">
                <a:latin typeface="Arial Narrow" panose="020B0606020202030204" pitchFamily="34" charset="0"/>
              </a:rPr>
              <a:t>Despite their success, ongoing research focuses on improving </a:t>
            </a:r>
            <a:r>
              <a:rPr lang="en-US" sz="2000" dirty="0">
                <a:solidFill>
                  <a:srgbClr val="7030A0"/>
                </a:solidFill>
                <a:latin typeface="Arial Narrow" panose="020B0606020202030204" pitchFamily="34" charset="0"/>
              </a:rPr>
              <a:t>physical realism, object interactions, computational efficiency, and the generation of large-scale interactive 3D environments </a:t>
            </a:r>
            <a:r>
              <a:rPr lang="en-US" sz="2000" dirty="0">
                <a:latin typeface="Arial Narrow" panose="020B0606020202030204" pitchFamily="34" charset="0"/>
              </a:rPr>
              <a:t>for next-generation applications such as the </a:t>
            </a:r>
            <a:r>
              <a:rPr lang="en-US" sz="2000" dirty="0">
                <a:solidFill>
                  <a:srgbClr val="7030A0"/>
                </a:solidFill>
                <a:latin typeface="Arial Narrow" panose="020B0606020202030204" pitchFamily="34" charset="0"/>
              </a:rPr>
              <a:t>metaverse, immersive digital experiences, and intelligent simulation systems</a:t>
            </a:r>
            <a:r>
              <a:rPr lang="en-US" sz="2000" dirty="0">
                <a:latin typeface="Arial Narrow" panose="020B0606020202030204" pitchFamily="34" charset="0"/>
              </a:rPr>
              <a:t>.</a:t>
            </a:r>
          </a:p>
        </p:txBody>
      </p:sp>
    </p:spTree>
    <p:extLst>
      <p:ext uri="{BB962C8B-B14F-4D97-AF65-F5344CB8AC3E}">
        <p14:creationId xmlns:p14="http://schemas.microsoft.com/office/powerpoint/2010/main" val="3235341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Face Synthesis</a:t>
            </a:r>
          </a:p>
        </p:txBody>
      </p:sp>
      <p:sp>
        <p:nvSpPr>
          <p:cNvPr id="3" name="Content Placeholder 2"/>
          <p:cNvSpPr>
            <a:spLocks noGrp="1"/>
          </p:cNvSpPr>
          <p:nvPr>
            <p:ph idx="1"/>
          </p:nvPr>
        </p:nvSpPr>
        <p:spPr>
          <a:xfrm>
            <a:off x="838200" y="1610471"/>
            <a:ext cx="10515600" cy="4613275"/>
          </a:xfrm>
        </p:spPr>
        <p:txBody>
          <a:bodyPr>
            <a:normAutofit/>
          </a:bodyPr>
          <a:lstStyle/>
          <a:p>
            <a:pPr algn="just">
              <a:lnSpc>
                <a:spcPct val="100000"/>
              </a:lnSpc>
            </a:pPr>
            <a:r>
              <a:rPr lang="en-US" sz="2000" dirty="0">
                <a:latin typeface="Arial Narrow" panose="020B0606020202030204" pitchFamily="34" charset="0"/>
              </a:rPr>
              <a:t>Face synthesis is an important research area in computer vision that focuses on </a:t>
            </a:r>
            <a:r>
              <a:rPr lang="en-US" sz="2000" dirty="0">
                <a:solidFill>
                  <a:srgbClr val="7030A0"/>
                </a:solidFill>
                <a:latin typeface="Arial Narrow" panose="020B0606020202030204" pitchFamily="34" charset="0"/>
              </a:rPr>
              <a:t>generating realistic human facial images while preserving identity, facial attributes, and visual consistency</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It involves </a:t>
            </a:r>
            <a:r>
              <a:rPr lang="en-US" sz="2000" dirty="0">
                <a:solidFill>
                  <a:srgbClr val="7030A0"/>
                </a:solidFill>
                <a:latin typeface="Arial Narrow" panose="020B0606020202030204" pitchFamily="34" charset="0"/>
              </a:rPr>
              <a:t>learning discriminative and semantic facial representations </a:t>
            </a:r>
            <a:r>
              <a:rPr lang="en-US" sz="2000" dirty="0">
                <a:latin typeface="Arial Narrow" panose="020B0606020202030204" pitchFamily="34" charset="0"/>
              </a:rPr>
              <a:t>to model features such as </a:t>
            </a:r>
            <a:r>
              <a:rPr lang="en-US" sz="2000" dirty="0">
                <a:solidFill>
                  <a:srgbClr val="7030A0"/>
                </a:solidFill>
                <a:latin typeface="Arial Narrow" panose="020B0606020202030204" pitchFamily="34" charset="0"/>
              </a:rPr>
              <a:t>facial geometry, texture, expression, pose, illumination, and occlusions</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Traditional computer vision approaches employ </a:t>
            </a:r>
            <a:r>
              <a:rPr lang="en-US" sz="2000" dirty="0">
                <a:solidFill>
                  <a:srgbClr val="7030A0"/>
                </a:solidFill>
                <a:latin typeface="Arial Narrow" panose="020B0606020202030204" pitchFamily="34" charset="0"/>
              </a:rPr>
              <a:t>statistical models, 3D morphable models (3DMMs), and image-based rendering techniques</a:t>
            </a:r>
            <a:r>
              <a:rPr lang="en-US" sz="2000" dirty="0">
                <a:latin typeface="Arial Narrow" panose="020B0606020202030204" pitchFamily="34" charset="0"/>
              </a:rPr>
              <a:t> to reconstruct and synthesize facial images.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Recent advances in </a:t>
            </a:r>
            <a:r>
              <a:rPr lang="en-US" sz="2000" dirty="0">
                <a:solidFill>
                  <a:srgbClr val="7030A0"/>
                </a:solidFill>
                <a:latin typeface="Arial Narrow" panose="020B0606020202030204" pitchFamily="34" charset="0"/>
              </a:rPr>
              <a:t>deep learning have enabled end-to-end face synthesis </a:t>
            </a:r>
            <a:r>
              <a:rPr lang="en-US" sz="2000" dirty="0">
                <a:latin typeface="Arial Narrow" panose="020B0606020202030204" pitchFamily="34" charset="0"/>
              </a:rPr>
              <a:t>models that produce high-resolution and photorealistic faces with improved identity preservation and attribute manipulation. </a:t>
            </a:r>
          </a:p>
        </p:txBody>
      </p:sp>
    </p:spTree>
    <p:extLst>
      <p:ext uri="{BB962C8B-B14F-4D97-AF65-F5344CB8AC3E}">
        <p14:creationId xmlns:p14="http://schemas.microsoft.com/office/powerpoint/2010/main" val="183729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Face Synthesis</a:t>
            </a:r>
            <a:endParaRPr lang="en-IN" sz="3600" dirty="0"/>
          </a:p>
        </p:txBody>
      </p:sp>
      <p:sp>
        <p:nvSpPr>
          <p:cNvPr id="3" name="Content Placeholder 2"/>
          <p:cNvSpPr>
            <a:spLocks noGrp="1"/>
          </p:cNvSpPr>
          <p:nvPr>
            <p:ph idx="1"/>
          </p:nvPr>
        </p:nvSpPr>
        <p:spPr>
          <a:xfrm>
            <a:off x="810636" y="1567007"/>
            <a:ext cx="10515600" cy="1146175"/>
          </a:xfrm>
        </p:spPr>
        <p:txBody>
          <a:bodyPr>
            <a:normAutofit/>
          </a:bodyPr>
          <a:lstStyle/>
          <a:p>
            <a:pPr algn="just">
              <a:lnSpc>
                <a:spcPct val="100000"/>
              </a:lnSpc>
            </a:pPr>
            <a:r>
              <a:rPr lang="en-US" sz="2000" dirty="0">
                <a:latin typeface="Arial Narrow" panose="020B0606020202030204" pitchFamily="34" charset="0"/>
              </a:rPr>
              <a:t>Face synthesis has become a key component in applications including </a:t>
            </a:r>
            <a:r>
              <a:rPr lang="en-US" sz="2000" dirty="0">
                <a:solidFill>
                  <a:srgbClr val="7030A0"/>
                </a:solidFill>
                <a:latin typeface="Arial Narrow" panose="020B0606020202030204" pitchFamily="34" charset="0"/>
              </a:rPr>
              <a:t>facial recognition, virtual avatars, augmented and virtual reality, digital entertainment, facial reenactment, image restoration, and synthetic data generation</a:t>
            </a:r>
            <a:r>
              <a:rPr lang="en-US" sz="2000" dirty="0">
                <a:latin typeface="Arial Narrow" panose="020B0606020202030204" pitchFamily="34" charset="0"/>
              </a:rPr>
              <a:t> for training robust computer vision systems.</a:t>
            </a:r>
            <a:endParaRPr lang="en-IN" sz="2000" dirty="0">
              <a:latin typeface="Arial Narrow" panose="020B0606020202030204" pitchFamily="34" charset="0"/>
            </a:endParaRPr>
          </a:p>
          <a:p>
            <a:pPr algn="just">
              <a:lnSpc>
                <a:spcPct val="100000"/>
              </a:lnSpc>
            </a:pPr>
            <a:endParaRPr lang="en-IN" sz="2000" dirty="0">
              <a:latin typeface="Arial Narrow" panose="020B0606020202030204" pitchFamily="34" charset="0"/>
            </a:endParaRPr>
          </a:p>
        </p:txBody>
      </p:sp>
      <p:pic>
        <p:nvPicPr>
          <p:cNvPr id="14338" name="Picture 2" descr="Fig. 4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40175" y="2971800"/>
            <a:ext cx="5305425" cy="295079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378178" y="5922592"/>
            <a:ext cx="184731" cy="369332"/>
          </a:xfrm>
          <a:prstGeom prst="rect">
            <a:avLst/>
          </a:prstGeom>
        </p:spPr>
        <p:txBody>
          <a:bodyPr wrap="none">
            <a:spAutoFit/>
          </a:bodyPr>
          <a:lstStyle/>
          <a:p>
            <a:endParaRPr lang="en-IN" u="sng" dirty="0">
              <a:latin typeface="Arial Narrow" panose="020B0606020202030204" pitchFamily="34" charset="0"/>
            </a:endParaRPr>
          </a:p>
        </p:txBody>
      </p:sp>
      <p:sp>
        <p:nvSpPr>
          <p:cNvPr id="5" name="Rectangle 4"/>
          <p:cNvSpPr/>
          <p:nvPr/>
        </p:nvSpPr>
        <p:spPr>
          <a:xfrm>
            <a:off x="4883124" y="5922592"/>
            <a:ext cx="3419526" cy="369332"/>
          </a:xfrm>
          <a:prstGeom prst="rect">
            <a:avLst/>
          </a:prstGeom>
        </p:spPr>
        <p:txBody>
          <a:bodyPr wrap="none">
            <a:spAutoFit/>
          </a:bodyPr>
          <a:lstStyle/>
          <a:p>
            <a:r>
              <a:rPr lang="en-US" dirty="0">
                <a:solidFill>
                  <a:srgbClr val="7030A0"/>
                </a:solidFill>
                <a:latin typeface="Arial Narrow" panose="020B0606020202030204" pitchFamily="34" charset="0"/>
              </a:rPr>
              <a:t>Face image synthesis from facial parts</a:t>
            </a:r>
            <a:endParaRPr lang="en-IN" dirty="0">
              <a:solidFill>
                <a:srgbClr val="7030A0"/>
              </a:solidFill>
              <a:latin typeface="Arial Narrow" panose="020B0606020202030204" pitchFamily="34" charset="0"/>
            </a:endParaRPr>
          </a:p>
        </p:txBody>
      </p:sp>
      <p:sp>
        <p:nvSpPr>
          <p:cNvPr id="6" name="TextBox 5"/>
          <p:cNvSpPr txBox="1"/>
          <p:nvPr/>
        </p:nvSpPr>
        <p:spPr>
          <a:xfrm>
            <a:off x="48248" y="6488668"/>
            <a:ext cx="10830016" cy="307777"/>
          </a:xfrm>
          <a:prstGeom prst="rect">
            <a:avLst/>
          </a:prstGeom>
          <a:noFill/>
        </p:spPr>
        <p:txBody>
          <a:bodyPr wrap="none" rtlCol="0">
            <a:spAutoFit/>
          </a:bodyPr>
          <a:lstStyle/>
          <a:p>
            <a:r>
              <a:rPr lang="en-IN" sz="1400" dirty="0">
                <a:latin typeface="Arial Narrow" panose="020B0606020202030204" pitchFamily="34" charset="0"/>
              </a:rPr>
              <a:t>Image Source : </a:t>
            </a:r>
            <a:r>
              <a:rPr lang="en-IN" sz="1400" dirty="0">
                <a:solidFill>
                  <a:srgbClr val="00B0F0"/>
                </a:solidFill>
                <a:latin typeface="Arial Narrow" panose="020B0606020202030204" pitchFamily="34" charset="0"/>
              </a:rPr>
              <a:t>Sun, Q., </a:t>
            </a:r>
            <a:r>
              <a:rPr lang="en-IN" sz="1400" dirty="0" err="1">
                <a:solidFill>
                  <a:srgbClr val="00B0F0"/>
                </a:solidFill>
                <a:latin typeface="Arial Narrow" panose="020B0606020202030204" pitchFamily="34" charset="0"/>
              </a:rPr>
              <a:t>Guo</a:t>
            </a:r>
            <a:r>
              <a:rPr lang="en-IN" sz="1400" dirty="0">
                <a:solidFill>
                  <a:srgbClr val="00B0F0"/>
                </a:solidFill>
                <a:latin typeface="Arial Narrow" panose="020B0606020202030204" pitchFamily="34" charset="0"/>
              </a:rPr>
              <a:t>, J. &amp; Liu, Y. Face image synthesis from facial parts. </a:t>
            </a:r>
            <a:r>
              <a:rPr lang="en-IN" sz="1400" i="1" dirty="0">
                <a:solidFill>
                  <a:srgbClr val="00B0F0"/>
                </a:solidFill>
                <a:latin typeface="Arial Narrow" panose="020B0606020202030204" pitchFamily="34" charset="0"/>
              </a:rPr>
              <a:t>J Image Video Proc.</a:t>
            </a:r>
            <a:r>
              <a:rPr lang="en-IN" sz="1400" dirty="0">
                <a:solidFill>
                  <a:srgbClr val="00B0F0"/>
                </a:solidFill>
                <a:latin typeface="Arial Narrow" panose="020B0606020202030204" pitchFamily="34" charset="0"/>
              </a:rPr>
              <a:t> 2022, 7 (2022). https://doi.org/10.1186/s13640-022-00585-7 </a:t>
            </a:r>
          </a:p>
        </p:txBody>
      </p:sp>
    </p:spTree>
    <p:extLst>
      <p:ext uri="{BB962C8B-B14F-4D97-AF65-F5344CB8AC3E}">
        <p14:creationId xmlns:p14="http://schemas.microsoft.com/office/powerpoint/2010/main" val="1756100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Generative AI for Face Synthesis</a:t>
            </a:r>
          </a:p>
        </p:txBody>
      </p:sp>
      <p:sp>
        <p:nvSpPr>
          <p:cNvPr id="3" name="Content Placeholder 2"/>
          <p:cNvSpPr>
            <a:spLocks noGrp="1"/>
          </p:cNvSpPr>
          <p:nvPr>
            <p:ph idx="1"/>
          </p:nvPr>
        </p:nvSpPr>
        <p:spPr>
          <a:xfrm>
            <a:off x="838200" y="1825625"/>
            <a:ext cx="10515600" cy="4759902"/>
          </a:xfrm>
        </p:spPr>
        <p:txBody>
          <a:bodyPr>
            <a:normAutofit/>
          </a:bodyPr>
          <a:lstStyle/>
          <a:p>
            <a:pPr algn="just">
              <a:lnSpc>
                <a:spcPct val="100000"/>
              </a:lnSpc>
            </a:pPr>
            <a:r>
              <a:rPr lang="en-US" sz="2000" dirty="0">
                <a:latin typeface="Arial Narrow" panose="020B0606020202030204" pitchFamily="34" charset="0"/>
              </a:rPr>
              <a:t>Generative AI has significantly advanced face synthesis by learning the </a:t>
            </a:r>
            <a:r>
              <a:rPr lang="en-US" sz="2000" dirty="0">
                <a:solidFill>
                  <a:srgbClr val="7030A0"/>
                </a:solidFill>
                <a:latin typeface="Arial Narrow" panose="020B0606020202030204" pitchFamily="34" charset="0"/>
              </a:rPr>
              <a:t>underlying distribution of facial data to generate realistic, diverse, and controllable facial images</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State-of-the-art generative models, including Generative Adversarial Networks (GANs), Variational Autoencoders (VAEs), Diffusion Models, and Transformer-based architectures, enable high-quality face generation from text prompts, reference images, or latent representations.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These models </a:t>
            </a:r>
            <a:r>
              <a:rPr lang="en-US" sz="2000" dirty="0">
                <a:solidFill>
                  <a:srgbClr val="7030A0"/>
                </a:solidFill>
                <a:latin typeface="Arial Narrow" panose="020B0606020202030204" pitchFamily="34" charset="0"/>
              </a:rPr>
              <a:t>capture complex facial characteristics such as identity, expression, pose, age, hairstyle, and lighting while maintaining visual realism and semantic consistency</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Recent </a:t>
            </a:r>
            <a:r>
              <a:rPr lang="en-US" sz="2000" dirty="0">
                <a:solidFill>
                  <a:srgbClr val="7030A0"/>
                </a:solidFill>
                <a:latin typeface="Arial Narrow" panose="020B0606020202030204" pitchFamily="34" charset="0"/>
              </a:rPr>
              <a:t>multimodal generative frameworks combine large vision-language models with diffusion-based generation to support text-to-face, image-to-face, and face editing tasks</a:t>
            </a:r>
            <a:r>
              <a:rPr lang="en-US" sz="2000" dirty="0">
                <a:latin typeface="Arial Narrow" panose="020B0606020202030204" pitchFamily="34" charset="0"/>
              </a:rPr>
              <a:t>. </a:t>
            </a:r>
          </a:p>
        </p:txBody>
      </p:sp>
    </p:spTree>
    <p:extLst>
      <p:ext uri="{BB962C8B-B14F-4D97-AF65-F5344CB8AC3E}">
        <p14:creationId xmlns:p14="http://schemas.microsoft.com/office/powerpoint/2010/main" val="553233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Generative AI for Face Synthesis</a:t>
            </a:r>
            <a:endParaRPr lang="en-IN" sz="3600" dirty="0"/>
          </a:p>
        </p:txBody>
      </p:sp>
      <p:sp>
        <p:nvSpPr>
          <p:cNvPr id="3" name="Content Placeholder 2"/>
          <p:cNvSpPr>
            <a:spLocks noGrp="1"/>
          </p:cNvSpPr>
          <p:nvPr>
            <p:ph idx="1"/>
          </p:nvPr>
        </p:nvSpPr>
        <p:spPr/>
        <p:txBody>
          <a:bodyPr>
            <a:normAutofit/>
          </a:bodyPr>
          <a:lstStyle/>
          <a:p>
            <a:pPr algn="just">
              <a:lnSpc>
                <a:spcPct val="100000"/>
              </a:lnSpc>
            </a:pPr>
            <a:r>
              <a:rPr lang="en-US" sz="2000" dirty="0">
                <a:latin typeface="Arial Narrow" panose="020B0606020202030204" pitchFamily="34" charset="0"/>
              </a:rPr>
              <a:t>Such techniques have broad applications in </a:t>
            </a:r>
            <a:r>
              <a:rPr lang="en-US" sz="2000" dirty="0">
                <a:solidFill>
                  <a:srgbClr val="7030A0"/>
                </a:solidFill>
                <a:latin typeface="Arial Narrow" panose="020B0606020202030204" pitchFamily="34" charset="0"/>
              </a:rPr>
              <a:t>digital content creation, virtual humans, biometric research, healthcare, and human–computer interaction</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Ongoing research emphasizes </a:t>
            </a:r>
            <a:r>
              <a:rPr lang="en-US" sz="2000" dirty="0">
                <a:solidFill>
                  <a:srgbClr val="7030A0"/>
                </a:solidFill>
                <a:latin typeface="Arial Narrow" panose="020B0606020202030204" pitchFamily="34" charset="0"/>
              </a:rPr>
              <a:t>improving identity consistency, controllable attribute editing, computational efficiency, fairness across demographic groups, and the responsible deployment of generative AI through watermarking, provenance tracking, and synthetic media detection</a:t>
            </a:r>
            <a:r>
              <a:rPr lang="en-US" sz="2000" dirty="0">
                <a:latin typeface="Arial Narrow" panose="020B0606020202030204" pitchFamily="34" charset="0"/>
              </a:rPr>
              <a:t>.</a:t>
            </a:r>
            <a:endParaRPr lang="en-IN" sz="2000" dirty="0">
              <a:latin typeface="Arial Narrow" panose="020B0606020202030204" pitchFamily="34" charset="0"/>
            </a:endParaRPr>
          </a:p>
        </p:txBody>
      </p:sp>
    </p:spTree>
    <p:extLst>
      <p:ext uri="{BB962C8B-B14F-4D97-AF65-F5344CB8AC3E}">
        <p14:creationId xmlns:p14="http://schemas.microsoft.com/office/powerpoint/2010/main" val="645999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Style Transfer in Computer Vision</a:t>
            </a:r>
          </a:p>
        </p:txBody>
      </p:sp>
      <p:sp>
        <p:nvSpPr>
          <p:cNvPr id="3" name="Content Placeholder 2"/>
          <p:cNvSpPr>
            <a:spLocks noGrp="1"/>
          </p:cNvSpPr>
          <p:nvPr>
            <p:ph idx="1"/>
          </p:nvPr>
        </p:nvSpPr>
        <p:spPr>
          <a:xfrm>
            <a:off x="838200" y="1557769"/>
            <a:ext cx="10515600" cy="5046231"/>
          </a:xfrm>
        </p:spPr>
        <p:txBody>
          <a:bodyPr>
            <a:normAutofit lnSpcReduction="10000"/>
          </a:bodyPr>
          <a:lstStyle/>
          <a:p>
            <a:pPr algn="just">
              <a:lnSpc>
                <a:spcPct val="100000"/>
              </a:lnSpc>
            </a:pPr>
            <a:r>
              <a:rPr lang="en-US" sz="2000" dirty="0">
                <a:solidFill>
                  <a:srgbClr val="7030A0"/>
                </a:solidFill>
                <a:latin typeface="Arial Narrow" panose="020B0606020202030204" pitchFamily="34" charset="0"/>
              </a:rPr>
              <a:t>Style transfer </a:t>
            </a:r>
            <a:r>
              <a:rPr lang="en-US" sz="2000" dirty="0">
                <a:latin typeface="Arial Narrow" panose="020B0606020202030204" pitchFamily="34" charset="0"/>
              </a:rPr>
              <a:t>is a computer vision technique that aims to generate a new image by combining the </a:t>
            </a:r>
            <a:r>
              <a:rPr lang="en-US" sz="2000" b="1" dirty="0">
                <a:latin typeface="Arial Narrow" panose="020B0606020202030204" pitchFamily="34" charset="0"/>
              </a:rPr>
              <a:t>content</a:t>
            </a:r>
            <a:r>
              <a:rPr lang="en-US" sz="2000" dirty="0">
                <a:latin typeface="Arial Narrow" panose="020B0606020202030204" pitchFamily="34" charset="0"/>
              </a:rPr>
              <a:t> of one image with the </a:t>
            </a:r>
            <a:r>
              <a:rPr lang="en-US" sz="2000" dirty="0">
                <a:solidFill>
                  <a:srgbClr val="7030A0"/>
                </a:solidFill>
                <a:latin typeface="Arial Narrow" panose="020B0606020202030204" pitchFamily="34" charset="0"/>
              </a:rPr>
              <a:t>artistic style </a:t>
            </a:r>
            <a:r>
              <a:rPr lang="en-US" sz="2000" dirty="0">
                <a:latin typeface="Arial Narrow" panose="020B0606020202030204" pitchFamily="34" charset="0"/>
              </a:rPr>
              <a:t>of another.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It leverages feature representations learned by deep neural networks to </a:t>
            </a:r>
            <a:r>
              <a:rPr lang="en-US" sz="2000" dirty="0">
                <a:solidFill>
                  <a:srgbClr val="7030A0"/>
                </a:solidFill>
                <a:latin typeface="Arial Narrow" panose="020B0606020202030204" pitchFamily="34" charset="0"/>
              </a:rPr>
              <a:t>separate high-level semantic content from low-level visual characteristics such as color, texture, brushstrokes, and patterns</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Traditional style transfer methods rely on optimization-based algorithms and convolutional neural networks (CNNs), while recent approaches employ feed-forward neural networks for real-time performance.</a:t>
            </a:r>
          </a:p>
          <a:p>
            <a:pPr algn="just">
              <a:lnSpc>
                <a:spcPct val="100000"/>
              </a:lnSpc>
            </a:pPr>
            <a:endParaRPr lang="en-US" sz="2000" dirty="0">
              <a:latin typeface="Arial Narrow" panose="020B0606020202030204" pitchFamily="34" charset="0"/>
            </a:endParaRPr>
          </a:p>
          <a:p>
            <a:r>
              <a:rPr lang="en-US" sz="2000" dirty="0">
                <a:latin typeface="Arial Narrow" panose="020B0606020202030204" pitchFamily="34" charset="0"/>
              </a:rPr>
              <a:t>Style transfer has numerous applications in </a:t>
            </a:r>
            <a:r>
              <a:rPr lang="en-US" sz="2000" dirty="0">
                <a:solidFill>
                  <a:srgbClr val="7030A0"/>
                </a:solidFill>
                <a:latin typeface="Arial Narrow" panose="020B0606020202030204" pitchFamily="34" charset="0"/>
              </a:rPr>
              <a:t>digital art creation, image editing, photography enhancement, animation, film production, virtual reality, and creative content generation</a:t>
            </a:r>
            <a:r>
              <a:rPr lang="en-US" sz="2000" dirty="0">
                <a:latin typeface="Arial Narrow" panose="020B0606020202030204" pitchFamily="34" charset="0"/>
              </a:rPr>
              <a:t>. </a:t>
            </a:r>
          </a:p>
          <a:p>
            <a:endParaRPr lang="en-US" sz="2000" dirty="0">
              <a:latin typeface="Arial Narrow" panose="020B0606020202030204" pitchFamily="34" charset="0"/>
            </a:endParaRPr>
          </a:p>
          <a:p>
            <a:r>
              <a:rPr lang="en-US" sz="2000" dirty="0">
                <a:latin typeface="Arial Narrow" panose="020B0606020202030204" pitchFamily="34" charset="0"/>
              </a:rPr>
              <a:t>The primary challenge is to </a:t>
            </a:r>
            <a:r>
              <a:rPr lang="en-US" sz="2000" dirty="0">
                <a:solidFill>
                  <a:srgbClr val="7030A0"/>
                </a:solidFill>
                <a:latin typeface="Arial Narrow" panose="020B0606020202030204" pitchFamily="34" charset="0"/>
              </a:rPr>
              <a:t>preserve the structural integrity of the content image while accurately reproducing the desired artistic style</a:t>
            </a:r>
            <a:r>
              <a:rPr lang="en-US" sz="2000" dirty="0">
                <a:latin typeface="Arial Narrow" panose="020B0606020202030204" pitchFamily="34" charset="0"/>
              </a:rPr>
              <a:t>. </a:t>
            </a:r>
          </a:p>
        </p:txBody>
      </p:sp>
    </p:spTree>
    <p:extLst>
      <p:ext uri="{BB962C8B-B14F-4D97-AF65-F5344CB8AC3E}">
        <p14:creationId xmlns:p14="http://schemas.microsoft.com/office/powerpoint/2010/main" val="2546861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Style Transfer in Computer Vision</a:t>
            </a:r>
            <a:endParaRPr lang="en-IN" sz="3600" dirty="0"/>
          </a:p>
        </p:txBody>
      </p:sp>
      <p:pic>
        <p:nvPicPr>
          <p:cNvPr id="16386" name="Picture 2" descr="NST Exampl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71825" y="1782128"/>
            <a:ext cx="4905375" cy="333565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974477" y="5493266"/>
            <a:ext cx="3005375" cy="369332"/>
          </a:xfrm>
          <a:prstGeom prst="rect">
            <a:avLst/>
          </a:prstGeom>
        </p:spPr>
        <p:txBody>
          <a:bodyPr wrap="none">
            <a:spAutoFit/>
          </a:bodyPr>
          <a:lstStyle/>
          <a:p>
            <a:r>
              <a:rPr lang="en-IN" dirty="0">
                <a:solidFill>
                  <a:srgbClr val="7030A0"/>
                </a:solidFill>
                <a:latin typeface="Arial Narrow" panose="020B0606020202030204" pitchFamily="34" charset="0"/>
              </a:rPr>
              <a:t>Style Transfer in Computer Vision</a:t>
            </a:r>
          </a:p>
        </p:txBody>
      </p:sp>
      <p:sp>
        <p:nvSpPr>
          <p:cNvPr id="7" name="TextBox 6"/>
          <p:cNvSpPr txBox="1"/>
          <p:nvPr/>
        </p:nvSpPr>
        <p:spPr>
          <a:xfrm>
            <a:off x="-59188" y="6550223"/>
            <a:ext cx="6462025" cy="307777"/>
          </a:xfrm>
          <a:prstGeom prst="rect">
            <a:avLst/>
          </a:prstGeom>
          <a:noFill/>
        </p:spPr>
        <p:txBody>
          <a:bodyPr wrap="none" rtlCol="0">
            <a:spAutoFit/>
          </a:bodyPr>
          <a:lstStyle/>
          <a:p>
            <a:r>
              <a:rPr lang="en-IN" sz="1400" dirty="0">
                <a:latin typeface="Arial Narrow" panose="020B0606020202030204" pitchFamily="34" charset="0"/>
              </a:rPr>
              <a:t>Image Source : </a:t>
            </a:r>
            <a:r>
              <a:rPr lang="en-IN" sz="1400" dirty="0">
                <a:solidFill>
                  <a:srgbClr val="00B0F0"/>
                </a:solidFill>
                <a:latin typeface="Arial Narrow" panose="020B0606020202030204" pitchFamily="34" charset="0"/>
              </a:rPr>
              <a:t>https://miro.medium.com/v2/resize:fit:720/format:webp/0*TbzUL6q8jVLpkcrX.jpg</a:t>
            </a:r>
          </a:p>
        </p:txBody>
      </p:sp>
    </p:spTree>
    <p:extLst>
      <p:ext uri="{BB962C8B-B14F-4D97-AF65-F5344CB8AC3E}">
        <p14:creationId xmlns:p14="http://schemas.microsoft.com/office/powerpoint/2010/main" val="2955245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Century" panose="02040604050505020304" pitchFamily="18" charset="0"/>
              </a:rPr>
              <a:t>Generative AI for Style Transfer</a:t>
            </a:r>
            <a:endParaRPr lang="en-IN" sz="3600" dirty="0">
              <a:latin typeface="Century" panose="02040604050505020304" pitchFamily="18" charset="0"/>
            </a:endParaRPr>
          </a:p>
        </p:txBody>
      </p:sp>
      <p:sp>
        <p:nvSpPr>
          <p:cNvPr id="3" name="Content Placeholder 2"/>
          <p:cNvSpPr>
            <a:spLocks noGrp="1"/>
          </p:cNvSpPr>
          <p:nvPr>
            <p:ph idx="1"/>
          </p:nvPr>
        </p:nvSpPr>
        <p:spPr>
          <a:xfrm>
            <a:off x="838200" y="1825624"/>
            <a:ext cx="10515600" cy="4769140"/>
          </a:xfrm>
        </p:spPr>
        <p:txBody>
          <a:bodyPr vert="horz" lIns="91440" tIns="45720" rIns="91440" bIns="45720" rtlCol="0">
            <a:normAutofit/>
          </a:bodyPr>
          <a:lstStyle/>
          <a:p>
            <a:pPr algn="just">
              <a:lnSpc>
                <a:spcPct val="100000"/>
              </a:lnSpc>
            </a:pPr>
            <a:r>
              <a:rPr lang="en-US" sz="2000" dirty="0">
                <a:latin typeface="Arial Narrow" panose="020B0606020202030204" pitchFamily="34" charset="0"/>
              </a:rPr>
              <a:t>Generative AI has significantly advanced style transfer by enabling the </a:t>
            </a:r>
            <a:r>
              <a:rPr lang="en-US" sz="2000" dirty="0">
                <a:solidFill>
                  <a:srgbClr val="7030A0"/>
                </a:solidFill>
                <a:latin typeface="Arial Narrow" panose="020B0606020202030204" pitchFamily="34" charset="0"/>
              </a:rPr>
              <a:t>synthesis of high-quality, diverse, and controllable stylized images</a:t>
            </a:r>
            <a:r>
              <a:rPr lang="en-US" sz="2000" dirty="0">
                <a:latin typeface="Arial Narrow" panose="020B0606020202030204" pitchFamily="34" charset="0"/>
              </a:rPr>
              <a:t> through deep generative models.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Modern approaches utilize </a:t>
            </a:r>
            <a:r>
              <a:rPr lang="en-US" sz="2000" dirty="0">
                <a:solidFill>
                  <a:srgbClr val="7030A0"/>
                </a:solidFill>
                <a:latin typeface="Arial Narrow" panose="020B0606020202030204" pitchFamily="34" charset="0"/>
              </a:rPr>
              <a:t>Generative Adversarial Networks (GANs), Diffusion Models, Vision Transformers (</a:t>
            </a:r>
            <a:r>
              <a:rPr lang="en-US" sz="2000" dirty="0" err="1">
                <a:solidFill>
                  <a:srgbClr val="7030A0"/>
                </a:solidFill>
                <a:latin typeface="Arial Narrow" panose="020B0606020202030204" pitchFamily="34" charset="0"/>
              </a:rPr>
              <a:t>ViTs</a:t>
            </a:r>
            <a:r>
              <a:rPr lang="en-US" sz="2000" dirty="0">
                <a:solidFill>
                  <a:srgbClr val="7030A0"/>
                </a:solidFill>
                <a:latin typeface="Arial Narrow" panose="020B0606020202030204" pitchFamily="34" charset="0"/>
              </a:rPr>
              <a:t>), and multimodal foundation models </a:t>
            </a:r>
            <a:r>
              <a:rPr lang="en-US" sz="2000" dirty="0">
                <a:latin typeface="Arial Narrow" panose="020B0606020202030204" pitchFamily="34" charset="0"/>
              </a:rPr>
              <a:t>to learn complex style representations from large-scale image datasets.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Unlike conventional methods, generative AI supports </a:t>
            </a:r>
            <a:r>
              <a:rPr lang="en-US" sz="2000" dirty="0">
                <a:solidFill>
                  <a:srgbClr val="7030A0"/>
                </a:solidFill>
                <a:latin typeface="Arial Narrow" panose="020B0606020202030204" pitchFamily="34" charset="0"/>
              </a:rPr>
              <a:t>text-guided, image-guided, and multimodal style transfer</a:t>
            </a:r>
            <a:r>
              <a:rPr lang="en-US" sz="2000" dirty="0">
                <a:latin typeface="Arial Narrow" panose="020B0606020202030204" pitchFamily="34" charset="0"/>
              </a:rPr>
              <a:t>, allowing users to generate artistic images from natural language descriptions or reference images while preserving semantic content. </a:t>
            </a:r>
          </a:p>
        </p:txBody>
      </p:sp>
    </p:spTree>
    <p:extLst>
      <p:ext uri="{BB962C8B-B14F-4D97-AF65-F5344CB8AC3E}">
        <p14:creationId xmlns:p14="http://schemas.microsoft.com/office/powerpoint/2010/main" val="217655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Century" panose="02040604050505020304" pitchFamily="18" charset="0"/>
              </a:rPr>
              <a:t>Generative AI for Style Transfer</a:t>
            </a:r>
            <a:endParaRPr lang="en-IN" sz="3600" dirty="0"/>
          </a:p>
        </p:txBody>
      </p:sp>
      <p:sp>
        <p:nvSpPr>
          <p:cNvPr id="3" name="Content Placeholder 2"/>
          <p:cNvSpPr>
            <a:spLocks noGrp="1"/>
          </p:cNvSpPr>
          <p:nvPr>
            <p:ph idx="1"/>
          </p:nvPr>
        </p:nvSpPr>
        <p:spPr>
          <a:xfrm>
            <a:off x="736600" y="1690688"/>
            <a:ext cx="5359400" cy="4239057"/>
          </a:xfrm>
        </p:spPr>
        <p:txBody>
          <a:bodyPr>
            <a:normAutofit/>
          </a:bodyPr>
          <a:lstStyle/>
          <a:p>
            <a:pPr algn="just">
              <a:lnSpc>
                <a:spcPct val="100000"/>
              </a:lnSpc>
            </a:pPr>
            <a:r>
              <a:rPr lang="en-US" sz="2000" dirty="0">
                <a:latin typeface="Arial Narrow" panose="020B0606020202030204" pitchFamily="34" charset="0"/>
              </a:rPr>
              <a:t>These models achieve </a:t>
            </a:r>
            <a:r>
              <a:rPr lang="en-US" sz="2000" dirty="0">
                <a:solidFill>
                  <a:srgbClr val="7030A0"/>
                </a:solidFill>
                <a:latin typeface="Arial Narrow" panose="020B0606020202030204" pitchFamily="34" charset="0"/>
              </a:rPr>
              <a:t>superior visual realism, style consistency, and creative flexibility</a:t>
            </a:r>
            <a:r>
              <a:rPr lang="en-US" sz="2000" dirty="0">
                <a:latin typeface="Arial Narrow" panose="020B0606020202030204" pitchFamily="34" charset="0"/>
              </a:rPr>
              <a:t>, making them valuable for applications in </a:t>
            </a:r>
            <a:r>
              <a:rPr lang="en-US" sz="2000" dirty="0">
                <a:solidFill>
                  <a:srgbClr val="7030A0"/>
                </a:solidFill>
                <a:latin typeface="Arial Narrow" panose="020B0606020202030204" pitchFamily="34" charset="0"/>
              </a:rPr>
              <a:t>digital art, graphic design, gaming, advertising, virtual environments, and media production</a:t>
            </a:r>
            <a:r>
              <a:rPr lang="en-US" sz="2000" dirty="0">
                <a:latin typeface="Arial Narrow" panose="020B0606020202030204" pitchFamily="34" charset="0"/>
              </a:rPr>
              <a:t>. </a:t>
            </a: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Current research focuses on improving fine-grained style control, preserving </a:t>
            </a:r>
            <a:r>
              <a:rPr lang="en-US" sz="2000" dirty="0">
                <a:solidFill>
                  <a:srgbClr val="7030A0"/>
                </a:solidFill>
                <a:latin typeface="Arial Narrow" panose="020B0606020202030204" pitchFamily="34" charset="0"/>
              </a:rPr>
              <a:t>content fidelity, reducing computational complexity, enabling real-time generation, and ensuring the ethical use of AI-generated artistic content</a:t>
            </a:r>
            <a:r>
              <a:rPr lang="en-US" sz="2000" dirty="0">
                <a:latin typeface="Arial Narrow" panose="020B0606020202030204" pitchFamily="34" charset="0"/>
              </a:rPr>
              <a:t>.</a:t>
            </a:r>
          </a:p>
        </p:txBody>
      </p:sp>
      <p:pic>
        <p:nvPicPr>
          <p:cNvPr id="6" name="Picture 5"/>
          <p:cNvPicPr>
            <a:picLocks noChangeAspect="1"/>
          </p:cNvPicPr>
          <p:nvPr/>
        </p:nvPicPr>
        <p:blipFill>
          <a:blip r:embed="rId3"/>
          <a:stretch>
            <a:fillRect/>
          </a:stretch>
        </p:blipFill>
        <p:spPr>
          <a:xfrm>
            <a:off x="6692208" y="1574199"/>
            <a:ext cx="5188065" cy="2981700"/>
          </a:xfrm>
          <a:prstGeom prst="rect">
            <a:avLst/>
          </a:prstGeom>
        </p:spPr>
      </p:pic>
      <p:sp>
        <p:nvSpPr>
          <p:cNvPr id="7" name="Rectangle 6"/>
          <p:cNvSpPr/>
          <p:nvPr/>
        </p:nvSpPr>
        <p:spPr>
          <a:xfrm>
            <a:off x="7846858" y="4862344"/>
            <a:ext cx="3028393" cy="369332"/>
          </a:xfrm>
          <a:prstGeom prst="rect">
            <a:avLst/>
          </a:prstGeom>
        </p:spPr>
        <p:txBody>
          <a:bodyPr wrap="none">
            <a:spAutoFit/>
          </a:bodyPr>
          <a:lstStyle/>
          <a:p>
            <a:r>
              <a:rPr lang="en-IN" b="0" i="0" dirty="0">
                <a:solidFill>
                  <a:srgbClr val="7030A0"/>
                </a:solidFill>
                <a:effectLst/>
                <a:latin typeface="Arial Narrow" panose="020B0606020202030204" pitchFamily="34" charset="0"/>
              </a:rPr>
              <a:t>CNN-based style transfer process</a:t>
            </a:r>
            <a:endParaRPr lang="en-IN" dirty="0">
              <a:solidFill>
                <a:srgbClr val="7030A0"/>
              </a:solidFill>
              <a:latin typeface="Arial Narrow" panose="020B0606020202030204" pitchFamily="34" charset="0"/>
            </a:endParaRPr>
          </a:p>
        </p:txBody>
      </p:sp>
      <p:sp>
        <p:nvSpPr>
          <p:cNvPr id="8" name="Rectangle 7"/>
          <p:cNvSpPr/>
          <p:nvPr/>
        </p:nvSpPr>
        <p:spPr>
          <a:xfrm>
            <a:off x="6604000" y="1440872"/>
            <a:ext cx="5458691" cy="3288145"/>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0" y="6550223"/>
            <a:ext cx="3696846" cy="307777"/>
          </a:xfrm>
          <a:prstGeom prst="rect">
            <a:avLst/>
          </a:prstGeom>
          <a:noFill/>
        </p:spPr>
        <p:txBody>
          <a:bodyPr wrap="none" rtlCol="0">
            <a:spAutoFit/>
          </a:bodyPr>
          <a:lstStyle/>
          <a:p>
            <a:r>
              <a:rPr lang="en-IN" sz="1400" dirty="0">
                <a:latin typeface="Arial Narrow" panose="020B0606020202030204" pitchFamily="34" charset="0"/>
              </a:rPr>
              <a:t>Image Source : </a:t>
            </a:r>
            <a:r>
              <a:rPr lang="en-IN" sz="1400" dirty="0">
                <a:solidFill>
                  <a:srgbClr val="00B0F0"/>
                </a:solidFill>
                <a:latin typeface="Arial Narrow" panose="020B0606020202030204" pitchFamily="34" charset="0"/>
              </a:rPr>
              <a:t>https://d2l.ai/_images/neural-style.svg</a:t>
            </a:r>
          </a:p>
        </p:txBody>
      </p:sp>
    </p:spTree>
    <p:extLst>
      <p:ext uri="{BB962C8B-B14F-4D97-AF65-F5344CB8AC3E}">
        <p14:creationId xmlns:p14="http://schemas.microsoft.com/office/powerpoint/2010/main" val="1204774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Video Generation in Computer Vision</a:t>
            </a:r>
          </a:p>
        </p:txBody>
      </p:sp>
      <p:sp>
        <p:nvSpPr>
          <p:cNvPr id="3" name="Content Placeholder 2"/>
          <p:cNvSpPr>
            <a:spLocks noGrp="1"/>
          </p:cNvSpPr>
          <p:nvPr>
            <p:ph idx="1"/>
          </p:nvPr>
        </p:nvSpPr>
        <p:spPr>
          <a:xfrm>
            <a:off x="838200" y="1825625"/>
            <a:ext cx="10515600" cy="4353502"/>
          </a:xfrm>
        </p:spPr>
        <p:txBody>
          <a:bodyPr>
            <a:normAutofit/>
          </a:bodyPr>
          <a:lstStyle/>
          <a:p>
            <a:pPr algn="just">
              <a:lnSpc>
                <a:spcPct val="110000"/>
              </a:lnSpc>
            </a:pPr>
            <a:r>
              <a:rPr lang="en-US" sz="2000" dirty="0">
                <a:latin typeface="Arial Narrow" panose="020B0606020202030204" pitchFamily="34" charset="0"/>
              </a:rPr>
              <a:t>Video generation is a fundamental task in computer vision that focuses on </a:t>
            </a:r>
            <a:r>
              <a:rPr lang="en-US" sz="2000" dirty="0">
                <a:solidFill>
                  <a:srgbClr val="7030A0"/>
                </a:solidFill>
                <a:latin typeface="Arial Narrow" panose="020B0606020202030204" pitchFamily="34" charset="0"/>
              </a:rPr>
              <a:t>synthesizing realistic and temporally coherent video sequences from various inputs, including text, images, audio, or existing video frames</a:t>
            </a:r>
            <a:r>
              <a:rPr lang="en-US" sz="2000" dirty="0">
                <a:latin typeface="Arial Narrow" panose="020B0606020202030204" pitchFamily="34" charset="0"/>
              </a:rPr>
              <a:t>. </a:t>
            </a:r>
          </a:p>
          <a:p>
            <a:pPr algn="just">
              <a:lnSpc>
                <a:spcPct val="110000"/>
              </a:lnSpc>
            </a:pPr>
            <a:endParaRPr lang="en-US" sz="2000" dirty="0">
              <a:latin typeface="Arial Narrow" panose="020B0606020202030204" pitchFamily="34" charset="0"/>
            </a:endParaRPr>
          </a:p>
          <a:p>
            <a:pPr algn="just">
              <a:lnSpc>
                <a:spcPct val="110000"/>
              </a:lnSpc>
            </a:pPr>
            <a:r>
              <a:rPr lang="en-US" sz="2000" dirty="0">
                <a:latin typeface="Arial Narrow" panose="020B0606020202030204" pitchFamily="34" charset="0"/>
              </a:rPr>
              <a:t>Unlike image generation, video generation requires modeling </a:t>
            </a:r>
            <a:r>
              <a:rPr lang="en-US" sz="2000" dirty="0">
                <a:solidFill>
                  <a:srgbClr val="7030A0"/>
                </a:solidFill>
                <a:latin typeface="Arial Narrow" panose="020B0606020202030204" pitchFamily="34" charset="0"/>
              </a:rPr>
              <a:t>both the spatial appearance of individual frames and the temporal dynamics that govern motion and object interactions across consecutive frames</a:t>
            </a:r>
            <a:r>
              <a:rPr lang="en-US" sz="2000" dirty="0">
                <a:latin typeface="Arial Narrow" panose="020B0606020202030204" pitchFamily="34" charset="0"/>
              </a:rPr>
              <a:t>. </a:t>
            </a:r>
          </a:p>
          <a:p>
            <a:pPr algn="just">
              <a:lnSpc>
                <a:spcPct val="110000"/>
              </a:lnSpc>
            </a:pPr>
            <a:endParaRPr lang="en-US" sz="2000" dirty="0">
              <a:latin typeface="Arial Narrow" panose="020B0606020202030204" pitchFamily="34" charset="0"/>
            </a:endParaRPr>
          </a:p>
          <a:p>
            <a:pPr algn="just">
              <a:lnSpc>
                <a:spcPct val="110000"/>
              </a:lnSpc>
            </a:pPr>
            <a:r>
              <a:rPr lang="en-US" sz="2000" dirty="0">
                <a:latin typeface="Arial Narrow" panose="020B0606020202030204" pitchFamily="34" charset="0"/>
              </a:rPr>
              <a:t>Traditional approaches rely on </a:t>
            </a:r>
            <a:r>
              <a:rPr lang="en-US" sz="2000" dirty="0">
                <a:solidFill>
                  <a:srgbClr val="7030A0"/>
                </a:solidFill>
                <a:latin typeface="Arial Narrow" panose="020B0606020202030204" pitchFamily="34" charset="0"/>
              </a:rPr>
              <a:t>optical flow estimation, frame interpolation, and recurrent neural networks </a:t>
            </a:r>
            <a:r>
              <a:rPr lang="en-US" sz="2000" dirty="0">
                <a:latin typeface="Arial Narrow" panose="020B0606020202030204" pitchFamily="34" charset="0"/>
              </a:rPr>
              <a:t>(RNNs) to generate or predict video content. </a:t>
            </a:r>
          </a:p>
        </p:txBody>
      </p:sp>
    </p:spTree>
    <p:extLst>
      <p:ext uri="{BB962C8B-B14F-4D97-AF65-F5344CB8AC3E}">
        <p14:creationId xmlns:p14="http://schemas.microsoft.com/office/powerpoint/2010/main" val="2207084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Century" panose="02040604050505020304" pitchFamily="18" charset="0"/>
              </a:rPr>
              <a:t>Video Generation in Computer Vision</a:t>
            </a:r>
            <a:endParaRPr lang="en-IN" sz="3600" dirty="0"/>
          </a:p>
        </p:txBody>
      </p:sp>
      <p:sp>
        <p:nvSpPr>
          <p:cNvPr id="3" name="Content Placeholder 2"/>
          <p:cNvSpPr>
            <a:spLocks noGrp="1"/>
          </p:cNvSpPr>
          <p:nvPr>
            <p:ph idx="1"/>
          </p:nvPr>
        </p:nvSpPr>
        <p:spPr>
          <a:xfrm>
            <a:off x="838200" y="1825625"/>
            <a:ext cx="10515600" cy="2182957"/>
          </a:xfrm>
        </p:spPr>
        <p:txBody>
          <a:bodyPr>
            <a:normAutofit/>
          </a:bodyPr>
          <a:lstStyle/>
          <a:p>
            <a:pPr algn="just">
              <a:lnSpc>
                <a:spcPct val="100000"/>
              </a:lnSpc>
            </a:pPr>
            <a:r>
              <a:rPr lang="en-US" sz="2000" dirty="0">
                <a:latin typeface="Arial Narrow" panose="020B0606020202030204" pitchFamily="34" charset="0"/>
              </a:rPr>
              <a:t>Recent deep learning methods have significantly improved video quality by learning </a:t>
            </a:r>
            <a:r>
              <a:rPr lang="en-US" sz="2000" dirty="0">
                <a:solidFill>
                  <a:srgbClr val="7030A0"/>
                </a:solidFill>
                <a:latin typeface="Arial Narrow" panose="020B0606020202030204" pitchFamily="34" charset="0"/>
              </a:rPr>
              <a:t>complex spatiotemporal representations from large-scale video datasets</a:t>
            </a:r>
            <a:r>
              <a:rPr lang="en-US" sz="2000" dirty="0">
                <a:latin typeface="Arial Narrow" panose="020B0606020202030204" pitchFamily="34" charset="0"/>
              </a:rPr>
              <a:t>. </a:t>
            </a:r>
            <a:endParaRPr lang="en-IN" sz="2000" dirty="0">
              <a:latin typeface="Arial Narrow" panose="020B0606020202030204" pitchFamily="34" charset="0"/>
            </a:endParaRPr>
          </a:p>
          <a:p>
            <a:pPr algn="just">
              <a:lnSpc>
                <a:spcPct val="100000"/>
              </a:lnSpc>
            </a:pPr>
            <a:endParaRPr lang="en-US" sz="2000" dirty="0">
              <a:latin typeface="Arial Narrow" panose="020B0606020202030204" pitchFamily="34" charset="0"/>
            </a:endParaRPr>
          </a:p>
          <a:p>
            <a:pPr algn="just">
              <a:lnSpc>
                <a:spcPct val="100000"/>
              </a:lnSpc>
            </a:pPr>
            <a:r>
              <a:rPr lang="en-US" sz="2000" dirty="0">
                <a:latin typeface="Arial Narrow" panose="020B0606020202030204" pitchFamily="34" charset="0"/>
              </a:rPr>
              <a:t>Video generation has broad applications in </a:t>
            </a:r>
            <a:r>
              <a:rPr lang="en-US" sz="2000" dirty="0">
                <a:solidFill>
                  <a:srgbClr val="7030A0"/>
                </a:solidFill>
                <a:latin typeface="Arial Narrow" panose="020B0606020202030204" pitchFamily="34" charset="0"/>
              </a:rPr>
              <a:t>digital content creation, film production, video editing, animation, virtual reality, autonomous systems, robotics, healthcare, and video simulation</a:t>
            </a:r>
            <a:r>
              <a:rPr lang="en-US" sz="2000" dirty="0">
                <a:latin typeface="Arial Narrow" panose="020B0606020202030204" pitchFamily="34" charset="0"/>
              </a:rPr>
              <a:t>, where realistic motion and scene consistency are essential.</a:t>
            </a:r>
            <a:endParaRPr lang="en-IN" sz="2000" dirty="0">
              <a:latin typeface="Arial Narrow" panose="020B0606020202030204" pitchFamily="34" charset="0"/>
            </a:endParaRPr>
          </a:p>
        </p:txBody>
      </p:sp>
    </p:spTree>
    <p:extLst>
      <p:ext uri="{BB962C8B-B14F-4D97-AF65-F5344CB8AC3E}">
        <p14:creationId xmlns:p14="http://schemas.microsoft.com/office/powerpoint/2010/main" val="34433231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Century" panose="02040604050505020304" pitchFamily="18" charset="0"/>
              </a:rPr>
              <a:t>Generative AI for Video Generation</a:t>
            </a:r>
            <a:endParaRPr lang="en-IN" sz="3600" dirty="0">
              <a:latin typeface="Century" panose="02040604050505020304" pitchFamily="18" charset="0"/>
            </a:endParaRPr>
          </a:p>
        </p:txBody>
      </p:sp>
      <p:sp>
        <p:nvSpPr>
          <p:cNvPr id="3" name="Content Placeholder 2"/>
          <p:cNvSpPr>
            <a:spLocks noGrp="1"/>
          </p:cNvSpPr>
          <p:nvPr>
            <p:ph idx="1"/>
          </p:nvPr>
        </p:nvSpPr>
        <p:spPr>
          <a:xfrm>
            <a:off x="838200" y="1825624"/>
            <a:ext cx="10515600" cy="4778375"/>
          </a:xfrm>
        </p:spPr>
        <p:txBody>
          <a:bodyPr>
            <a:normAutofit/>
          </a:bodyPr>
          <a:lstStyle/>
          <a:p>
            <a:pPr algn="just">
              <a:lnSpc>
                <a:spcPct val="110000"/>
              </a:lnSpc>
            </a:pPr>
            <a:r>
              <a:rPr lang="en-US" sz="2000" dirty="0">
                <a:latin typeface="Arial Narrow" panose="020B0606020202030204" pitchFamily="34" charset="0"/>
              </a:rPr>
              <a:t>Generative AI has revolutionized video generation by enabling the automatic creation of high-quality and temporally consistent videos from multimodal inputs such </a:t>
            </a:r>
            <a:r>
              <a:rPr lang="en-US" sz="2000" dirty="0">
                <a:solidFill>
                  <a:srgbClr val="7030A0"/>
                </a:solidFill>
                <a:latin typeface="Arial Narrow" panose="020B0606020202030204" pitchFamily="34" charset="0"/>
              </a:rPr>
              <a:t>as text prompts, images, sketches, or short video clips</a:t>
            </a:r>
            <a:r>
              <a:rPr lang="en-US" sz="2000" dirty="0">
                <a:latin typeface="Arial Narrow" panose="020B0606020202030204" pitchFamily="34" charset="0"/>
              </a:rPr>
              <a:t>. </a:t>
            </a:r>
          </a:p>
          <a:p>
            <a:pPr algn="just">
              <a:lnSpc>
                <a:spcPct val="110000"/>
              </a:lnSpc>
            </a:pPr>
            <a:endParaRPr lang="en-US" sz="2000" dirty="0">
              <a:latin typeface="Arial Narrow" panose="020B0606020202030204" pitchFamily="34" charset="0"/>
            </a:endParaRPr>
          </a:p>
          <a:p>
            <a:pPr algn="just">
              <a:lnSpc>
                <a:spcPct val="110000"/>
              </a:lnSpc>
            </a:pPr>
            <a:r>
              <a:rPr lang="en-US" sz="2000" dirty="0">
                <a:latin typeface="Arial Narrow" panose="020B0606020202030204" pitchFamily="34" charset="0"/>
              </a:rPr>
              <a:t>State-of-the-art generative models, including Generative Adversarial Networks (GANs), Variational Autoencoders (VAEs), Diffusion Models, and Transformer-based architectures, </a:t>
            </a:r>
            <a:r>
              <a:rPr lang="en-US" sz="2000" dirty="0">
                <a:solidFill>
                  <a:srgbClr val="7030A0"/>
                </a:solidFill>
                <a:latin typeface="Arial Narrow" panose="020B0606020202030204" pitchFamily="34" charset="0"/>
              </a:rPr>
              <a:t>learn rich spatial and temporal representations to synthesize realistic motion, object interactions, and scene transitions</a:t>
            </a:r>
            <a:r>
              <a:rPr lang="en-US" sz="2000" dirty="0">
                <a:latin typeface="Arial Narrow" panose="020B0606020202030204" pitchFamily="34" charset="0"/>
              </a:rPr>
              <a:t>. </a:t>
            </a:r>
          </a:p>
          <a:p>
            <a:pPr algn="just">
              <a:lnSpc>
                <a:spcPct val="110000"/>
              </a:lnSpc>
            </a:pPr>
            <a:endParaRPr lang="en-US" sz="2000" dirty="0">
              <a:latin typeface="Arial Narrow" panose="020B0606020202030204" pitchFamily="34" charset="0"/>
            </a:endParaRPr>
          </a:p>
          <a:p>
            <a:pPr algn="just">
              <a:lnSpc>
                <a:spcPct val="110000"/>
              </a:lnSpc>
            </a:pPr>
            <a:r>
              <a:rPr lang="en-US" sz="2000" dirty="0">
                <a:latin typeface="Arial Narrow" panose="020B0606020202030204" pitchFamily="34" charset="0"/>
              </a:rPr>
              <a:t>Recent </a:t>
            </a:r>
            <a:r>
              <a:rPr lang="en-US" sz="2000" dirty="0">
                <a:solidFill>
                  <a:srgbClr val="7030A0"/>
                </a:solidFill>
                <a:latin typeface="Arial Narrow" panose="020B0606020202030204" pitchFamily="34" charset="0"/>
              </a:rPr>
              <a:t>text-to-video and image-to-video </a:t>
            </a:r>
            <a:r>
              <a:rPr lang="en-US" sz="2000" dirty="0">
                <a:latin typeface="Arial Narrow" panose="020B0606020202030204" pitchFamily="34" charset="0"/>
              </a:rPr>
              <a:t>frameworks combine </a:t>
            </a:r>
            <a:r>
              <a:rPr lang="en-US" sz="2000" dirty="0">
                <a:solidFill>
                  <a:srgbClr val="7030A0"/>
                </a:solidFill>
                <a:latin typeface="Arial Narrow" panose="020B0606020202030204" pitchFamily="34" charset="0"/>
              </a:rPr>
              <a:t>large vision-language models with diffusion-based generation to produce photorealistic videos with enhanced realism, controllability, and semantic alignment</a:t>
            </a:r>
            <a:r>
              <a:rPr lang="en-US" sz="2000" dirty="0">
                <a:latin typeface="Arial Narrow" panose="020B0606020202030204" pitchFamily="34" charset="0"/>
              </a:rPr>
              <a:t>. </a:t>
            </a:r>
          </a:p>
        </p:txBody>
      </p:sp>
    </p:spTree>
    <p:extLst>
      <p:ext uri="{BB962C8B-B14F-4D97-AF65-F5344CB8AC3E}">
        <p14:creationId xmlns:p14="http://schemas.microsoft.com/office/powerpoint/2010/main" val="2769355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4980"/>
            <a:ext cx="10515600" cy="1325563"/>
          </a:xfrm>
        </p:spPr>
        <p:txBody>
          <a:bodyPr>
            <a:normAutofit/>
          </a:bodyPr>
          <a:lstStyle/>
          <a:p>
            <a:r>
              <a:rPr lang="en-US" sz="3600" dirty="0">
                <a:latin typeface="Century" panose="02040604050505020304" pitchFamily="18" charset="0"/>
              </a:rPr>
              <a:t>Generative AI for Video Generation</a:t>
            </a:r>
            <a:endParaRPr lang="en-IN" sz="3600" dirty="0"/>
          </a:p>
        </p:txBody>
      </p:sp>
      <p:sp>
        <p:nvSpPr>
          <p:cNvPr id="3" name="Content Placeholder 2"/>
          <p:cNvSpPr>
            <a:spLocks noGrp="1"/>
          </p:cNvSpPr>
          <p:nvPr>
            <p:ph idx="1"/>
          </p:nvPr>
        </p:nvSpPr>
        <p:spPr>
          <a:xfrm>
            <a:off x="838200" y="1567007"/>
            <a:ext cx="10515600" cy="2404630"/>
          </a:xfrm>
        </p:spPr>
        <p:txBody>
          <a:bodyPr vert="horz" lIns="91440" tIns="45720" rIns="91440" bIns="45720" rtlCol="0">
            <a:normAutofit/>
          </a:bodyPr>
          <a:lstStyle/>
          <a:p>
            <a:pPr algn="just">
              <a:lnSpc>
                <a:spcPct val="110000"/>
              </a:lnSpc>
            </a:pPr>
            <a:r>
              <a:rPr lang="en-US" sz="2000" dirty="0">
                <a:latin typeface="Arial Narrow" panose="020B0606020202030204" pitchFamily="34" charset="0"/>
              </a:rPr>
              <a:t>These technologies are widely applied in </a:t>
            </a:r>
            <a:r>
              <a:rPr lang="en-US" sz="2000" dirty="0">
                <a:solidFill>
                  <a:srgbClr val="7030A0"/>
                </a:solidFill>
                <a:latin typeface="Arial Narrow" panose="020B0606020202030204" pitchFamily="34" charset="0"/>
              </a:rPr>
              <a:t>filmmaking, advertising, gaming, education, virtual assistants, simulation, and immersive media</a:t>
            </a:r>
            <a:r>
              <a:rPr lang="en-US" sz="2000" dirty="0">
                <a:latin typeface="Arial Narrow" panose="020B0606020202030204" pitchFamily="34" charset="0"/>
              </a:rPr>
              <a:t>. </a:t>
            </a:r>
          </a:p>
          <a:p>
            <a:pPr algn="just">
              <a:lnSpc>
                <a:spcPct val="110000"/>
              </a:lnSpc>
            </a:pPr>
            <a:endParaRPr lang="en-US" sz="2000" dirty="0">
              <a:latin typeface="Arial Narrow" panose="020B0606020202030204" pitchFamily="34" charset="0"/>
            </a:endParaRPr>
          </a:p>
          <a:p>
            <a:pPr algn="just">
              <a:lnSpc>
                <a:spcPct val="110000"/>
              </a:lnSpc>
            </a:pPr>
            <a:r>
              <a:rPr lang="en-US" sz="2000" dirty="0">
                <a:latin typeface="Arial Narrow" panose="020B0606020202030204" pitchFamily="34" charset="0"/>
              </a:rPr>
              <a:t>Current research focuses on improving </a:t>
            </a:r>
            <a:r>
              <a:rPr lang="en-US" sz="2000" dirty="0">
                <a:solidFill>
                  <a:srgbClr val="7030A0"/>
                </a:solidFill>
                <a:latin typeface="Arial Narrow" panose="020B0606020202030204" pitchFamily="34" charset="0"/>
              </a:rPr>
              <a:t>long-duration video generation, motion consistency, computational efficiency, interactive editing, and the responsible development of AI-generated video through techniques such as watermarking, provenance tracking, and synthetic media detection</a:t>
            </a:r>
            <a:r>
              <a:rPr lang="en-US" sz="2000" dirty="0">
                <a:latin typeface="Arial Narrow" panose="020B0606020202030204" pitchFamily="34" charset="0"/>
              </a:rPr>
              <a:t>.</a:t>
            </a:r>
          </a:p>
        </p:txBody>
      </p:sp>
    </p:spTree>
    <p:extLst>
      <p:ext uri="{BB962C8B-B14F-4D97-AF65-F5344CB8AC3E}">
        <p14:creationId xmlns:p14="http://schemas.microsoft.com/office/powerpoint/2010/main" val="940222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9F8E7F-85EE-41D9-A50F-4F96E5C82282}"/>
              </a:ext>
            </a:extLst>
          </p:cNvPr>
          <p:cNvSpPr>
            <a:spLocks noGrp="1"/>
          </p:cNvSpPr>
          <p:nvPr>
            <p:ph type="title"/>
          </p:nvPr>
        </p:nvSpPr>
        <p:spPr/>
        <p:txBody>
          <a:bodyPr>
            <a:normAutofit/>
          </a:bodyPr>
          <a:lstStyle/>
          <a:p>
            <a:r>
              <a:rPr lang="en-IN" sz="3600" dirty="0">
                <a:latin typeface="Century" panose="02040604050505020304" pitchFamily="18" charset="0"/>
              </a:rPr>
              <a:t>Summary</a:t>
            </a:r>
          </a:p>
        </p:txBody>
      </p:sp>
      <p:sp>
        <p:nvSpPr>
          <p:cNvPr id="5" name="Content Placeholder 4">
            <a:extLst>
              <a:ext uri="{FF2B5EF4-FFF2-40B4-BE49-F238E27FC236}">
                <a16:creationId xmlns:a16="http://schemas.microsoft.com/office/drawing/2014/main" id="{0E12CEB0-8CD5-44DC-8C29-D676A372E37E}"/>
              </a:ext>
            </a:extLst>
          </p:cNvPr>
          <p:cNvSpPr>
            <a:spLocks noGrp="1"/>
          </p:cNvSpPr>
          <p:nvPr>
            <p:ph idx="1"/>
          </p:nvPr>
        </p:nvSpPr>
        <p:spPr/>
        <p:txBody>
          <a:bodyPr/>
          <a:lstStyle/>
          <a:p>
            <a:r>
              <a:rPr lang="en-IN" dirty="0">
                <a:latin typeface="Arial Narrow" panose="020B0606020202030204" pitchFamily="34" charset="0"/>
                <a:cs typeface="Times New Roman" panose="02020603050405020304" pitchFamily="18" charset="0"/>
              </a:rPr>
              <a:t>Generative AI for Vision Tasks</a:t>
            </a:r>
          </a:p>
          <a:p>
            <a:pPr lvl="1"/>
            <a:r>
              <a:rPr lang="en-IN" dirty="0">
                <a:latin typeface="Arial Narrow" panose="020B0606020202030204" pitchFamily="34" charset="0"/>
                <a:cs typeface="Times New Roman" panose="02020603050405020304" pitchFamily="18" charset="0"/>
              </a:rPr>
              <a:t>Image to Image Translation</a:t>
            </a:r>
          </a:p>
          <a:p>
            <a:pPr lvl="1"/>
            <a:r>
              <a:rPr lang="en-IN" dirty="0">
                <a:latin typeface="Arial Narrow" panose="020B0606020202030204" pitchFamily="34" charset="0"/>
                <a:cs typeface="Times New Roman" panose="02020603050405020304" pitchFamily="18" charset="0"/>
              </a:rPr>
              <a:t>Medical Image Synthesis</a:t>
            </a:r>
          </a:p>
          <a:p>
            <a:pPr lvl="1"/>
            <a:r>
              <a:rPr lang="en-IN" dirty="0">
                <a:latin typeface="Arial Narrow" panose="020B0606020202030204" pitchFamily="34" charset="0"/>
                <a:cs typeface="Times New Roman" panose="02020603050405020304" pitchFamily="18" charset="0"/>
              </a:rPr>
              <a:t>Anomaly Detection</a:t>
            </a:r>
          </a:p>
          <a:p>
            <a:pPr lvl="1"/>
            <a:r>
              <a:rPr lang="en-IN" dirty="0">
                <a:latin typeface="Arial Narrow" panose="020B0606020202030204" pitchFamily="34" charset="0"/>
                <a:cs typeface="Times New Roman" panose="02020603050405020304" pitchFamily="18" charset="0"/>
              </a:rPr>
              <a:t>3D Scene Generation</a:t>
            </a:r>
          </a:p>
          <a:p>
            <a:pPr lvl="1"/>
            <a:r>
              <a:rPr lang="en-IN" dirty="0">
                <a:latin typeface="Arial Narrow" panose="020B0606020202030204" pitchFamily="34" charset="0"/>
                <a:cs typeface="Times New Roman" panose="02020603050405020304" pitchFamily="18" charset="0"/>
              </a:rPr>
              <a:t>Face Synthesis</a:t>
            </a:r>
          </a:p>
          <a:p>
            <a:pPr lvl="1"/>
            <a:r>
              <a:rPr lang="en-IN" dirty="0">
                <a:latin typeface="Arial Narrow" panose="020B0606020202030204" pitchFamily="34" charset="0"/>
                <a:cs typeface="Times New Roman" panose="02020603050405020304" pitchFamily="18" charset="0"/>
              </a:rPr>
              <a:t>Style Transfer </a:t>
            </a:r>
          </a:p>
          <a:p>
            <a:pPr lvl="1"/>
            <a:r>
              <a:rPr lang="en-IN" dirty="0">
                <a:latin typeface="Arial Narrow" panose="020B0606020202030204" pitchFamily="34" charset="0"/>
                <a:cs typeface="Times New Roman" panose="02020603050405020304" pitchFamily="18" charset="0"/>
              </a:rPr>
              <a:t>Video Generation</a:t>
            </a:r>
          </a:p>
          <a:p>
            <a:pPr lvl="1"/>
            <a:endParaRPr lang="en-IN" dirty="0">
              <a:latin typeface="Arial Narrow" panose="020B0606020202030204" pitchFamily="34" charset="0"/>
              <a:cs typeface="Times New Roman" panose="02020603050405020304" pitchFamily="18" charset="0"/>
            </a:endParaRPr>
          </a:p>
          <a:p>
            <a:pPr lvl="1"/>
            <a:endParaRPr lang="en-IN" dirty="0">
              <a:latin typeface="Arial Narrow" panose="020B0606020202030204" pitchFamily="34" charset="0"/>
              <a:cs typeface="Times New Roman" panose="02020603050405020304" pitchFamily="18" charset="0"/>
            </a:endParaRPr>
          </a:p>
          <a:p>
            <a:pPr lvl="1"/>
            <a:endParaRPr lang="en-IN" dirty="0">
              <a:latin typeface="Arial Narrow" panose="020B0606020202030204" pitchFamily="34" charset="0"/>
              <a:cs typeface="Times New Roman" panose="02020603050405020304" pitchFamily="18" charset="0"/>
            </a:endParaRPr>
          </a:p>
          <a:p>
            <a:pPr lvl="1"/>
            <a:endParaRPr lang="en-IN" dirty="0">
              <a:latin typeface="Arial Narrow" panose="020B0606020202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31857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742339"/>
            <a:ext cx="9144000" cy="2387600"/>
          </a:xfrm>
        </p:spPr>
        <p:txBody>
          <a:bodyPr>
            <a:normAutofit/>
          </a:bodyPr>
          <a:lstStyle/>
          <a:p>
            <a:r>
              <a:rPr lang="en-US" sz="4000" dirty="0">
                <a:solidFill>
                  <a:srgbClr val="002060"/>
                </a:solidFill>
                <a:latin typeface="Arial Narrow" panose="020B0606020202030204" pitchFamily="34" charset="0"/>
              </a:rPr>
              <a:t>Generative Modelling</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Next</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Lecture 8: Part 1</a:t>
            </a:r>
          </a:p>
        </p:txBody>
      </p:sp>
    </p:spTree>
    <p:extLst>
      <p:ext uri="{BB962C8B-B14F-4D97-AF65-F5344CB8AC3E}">
        <p14:creationId xmlns:p14="http://schemas.microsoft.com/office/powerpoint/2010/main" val="757281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10554</TotalTime>
  <Words>2706</Words>
  <Application>Microsoft Office PowerPoint</Application>
  <PresentationFormat>Widescreen</PresentationFormat>
  <Paragraphs>197</Paragraphs>
  <Slides>31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Arial Narrow</vt:lpstr>
      <vt:lpstr>Book Antiqua</vt:lpstr>
      <vt:lpstr>Calibri</vt:lpstr>
      <vt:lpstr>Calibri Light</vt:lpstr>
      <vt:lpstr>Century</vt:lpstr>
      <vt:lpstr>Times New Roman</vt:lpstr>
      <vt:lpstr>Office Theme</vt:lpstr>
      <vt:lpstr>     Generative AI for Vision Tasks - II  </vt:lpstr>
      <vt:lpstr>Content</vt:lpstr>
      <vt:lpstr>Image to Image Translation</vt:lpstr>
      <vt:lpstr>Image to Image Translation</vt:lpstr>
      <vt:lpstr>Generative AI for Image-to-Image Translation</vt:lpstr>
      <vt:lpstr>Generative AI for Image-to-Image Translation</vt:lpstr>
      <vt:lpstr>Medical Image Synthesis</vt:lpstr>
      <vt:lpstr>Generative AI for Medical Image Synthesis</vt:lpstr>
      <vt:lpstr>Generative AI for Medical Image Synthesis</vt:lpstr>
      <vt:lpstr>Anomaly Detection</vt:lpstr>
      <vt:lpstr>Anomaly Detection</vt:lpstr>
      <vt:lpstr>Generative AI for Anomaly Detection</vt:lpstr>
      <vt:lpstr>Generative AI for Anomaly Detection</vt:lpstr>
      <vt:lpstr>3D Scene Generation</vt:lpstr>
      <vt:lpstr>3D Scene Generation</vt:lpstr>
      <vt:lpstr>Generative AI for 3D Scene Generation</vt:lpstr>
      <vt:lpstr>Generative Models for 3D Scene Generation</vt:lpstr>
      <vt:lpstr>Face Synthesis</vt:lpstr>
      <vt:lpstr>Face Synthesis</vt:lpstr>
      <vt:lpstr>Generative AI for Face Synthesis</vt:lpstr>
      <vt:lpstr>Generative AI for Face Synthesis</vt:lpstr>
      <vt:lpstr>Style Transfer in Computer Vision</vt:lpstr>
      <vt:lpstr>Style Transfer in Computer Vision</vt:lpstr>
      <vt:lpstr>Generative AI for Style Transfer</vt:lpstr>
      <vt:lpstr>Generative AI for Style Transfer</vt:lpstr>
      <vt:lpstr>Video Generation in Computer Vision</vt:lpstr>
      <vt:lpstr>Video Generation in Computer Vision</vt:lpstr>
      <vt:lpstr>Generative AI for Video Generation</vt:lpstr>
      <vt:lpstr>Generative AI for Video Generation</vt:lpstr>
      <vt:lpstr>Summary</vt:lpstr>
      <vt:lpstr>Generative Modelling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for Vision Tasks - I</dc:title>
  <dc:creator>IITG</dc:creator>
  <cp:lastModifiedBy>HP</cp:lastModifiedBy>
  <cp:revision>15</cp:revision>
  <dcterms:created xsi:type="dcterms:W3CDTF">2026-08-03T07:32:15Z</dcterms:created>
  <dcterms:modified xsi:type="dcterms:W3CDTF">2026-08-23T14:27:09Z</dcterms:modified>
</cp:coreProperties>
</file>