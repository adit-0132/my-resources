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87" r:id="rId2"/>
    <p:sldId id="258" r:id="rId3"/>
    <p:sldId id="259" r:id="rId4"/>
    <p:sldId id="260" r:id="rId5"/>
    <p:sldId id="29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8" r:id="rId32"/>
    <p:sldId id="289" r:id="rId33"/>
    <p:sldId id="285" r:id="rId34"/>
    <p:sldId id="28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FDCFA-1CFC-48C7-A268-EE969FA7A9D3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EC11D-64E9-4D70-A194-CEA37A4916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80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C11D-64E9-4D70-A194-CEA37A49165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26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EF81-8546-42C7-801C-DA8AABD30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963A2-4C41-48D7-9B7C-74A2F45B8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86FC-3941-43D1-908C-EF2A15F2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3ECED-B563-44F5-BAD2-0C182642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922E9-96DD-4FC1-BD7B-01CA77F5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05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4F67-AD65-4C37-B0FC-9AC8D470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FA40C-4CF3-4F91-80FC-7176A77FE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5291-CF5A-4DFB-BEB2-4C13E510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1DA9C-E65A-4DBB-8597-B3C51C2A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4B1A5-7581-411A-A9D1-2E688C20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0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71D0-CD49-4E26-87B4-9F0DF2EF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9A2FE-813A-445D-8338-7B8348146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5518-631A-4385-A605-7EC7C76A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9C58C-2303-4656-B906-A78FEC00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02AC8-466F-4D35-8A10-68DBB01C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B18C-8432-46B0-B1B7-74909560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97AC-BD69-4555-B01B-C325EBC88B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8D45E-5310-4AF6-B88B-0E2E55558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9D9E9-B697-482C-BAE6-3028ACA9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734D7-08D3-46BD-99D8-EE203170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2F2D2-A920-4FF9-BA22-8EE62F5C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6AD8-BFC0-4371-B24F-D5376C95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29C89-00B7-43B7-8427-90C0953C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96B7D-A167-422F-B62A-E03BC3092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25350-466B-4699-ADE8-0BBB4D52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D893B-868E-4EBE-AD93-831841C3C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E3658-0522-4B8A-8BD9-C64B81D5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DD171-3EA7-4A0C-B2FF-180F89C0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479A1-B563-4C5C-8137-7EC7E6AD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67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2D56-C5CC-4B62-B226-F2B2F9BC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ABBE8-D8A7-4EC9-B5E7-D9FF61E49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B690E-F143-4FDD-8A90-7D30F633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29B68-8E41-4AC4-A001-DE3EF857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58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DA4A2-2997-4F27-929B-0F95EC91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F41BF-B8D4-45B3-ACCF-B0E9168E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DDB2E-5A21-43CB-B23A-B8C345AD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75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61A6-0C56-4E32-B878-1535BD5B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5EDD7-3249-4B22-8EBD-503137F3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10A26-1BD7-4AEA-BE05-C35235DAE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59CDC-A8D3-4B5A-ADD9-59398193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1533E-30B4-458F-A22E-BC1D797AF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C1181-64D3-44D5-B89A-9A4E6F9B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1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02A3-5530-41BB-BF3A-A2DA6DCD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4F455-B960-48C7-A545-BF0481937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8E055-CAB6-45A1-BE8A-C190DAF54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F60C6-1E31-4ADE-83C8-9E3E92F9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90780-ADE7-48EE-8611-F90AEB13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EDF88-B1EF-4496-BCD1-BA7157E9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8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3449-F0E4-405D-8CC5-94C93E93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20640-7A23-4DE4-AA34-7B32EF6A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438D8-CA23-489E-A376-D896EE4A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09AD7-C6C0-4B43-BDE2-32BB9458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56964-BB7B-4714-AD3F-23BA07F6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85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C3A01-31F4-46FC-97B6-3440079B8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37C18-7560-4980-BCA4-165C5966C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99E2-0BF8-4AA0-8A10-E11D01F4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C53F6-2DE5-4D1E-9D30-5B218132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75BE9-7E23-4191-B006-363277DA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0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28CC5-17FF-4A52-B4A6-F65BE341C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B5177-7921-430C-911C-13BF7FBE5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41EB7-E773-43D1-8B7E-F4E19C38E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26FE3-D876-4D08-A4A9-48FE49C0C9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659FB-6967-4176-93AA-0E379C234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0081E-5430-4E58-99BA-498EF251E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6D71A-5022-4B8A-8465-E1BC91148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6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0.png"/><Relationship Id="rId7" Type="http://schemas.openxmlformats.org/officeDocument/2006/relationships/image" Target="../media/image65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0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00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0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0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610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image" Target="../media/image60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3.png"/><Relationship Id="rId18" Type="http://schemas.openxmlformats.org/officeDocument/2006/relationships/image" Target="../media/image76.png"/><Relationship Id="rId26" Type="http://schemas.openxmlformats.org/officeDocument/2006/relationships/image" Target="../media/image101.png"/><Relationship Id="rId3" Type="http://schemas.openxmlformats.org/officeDocument/2006/relationships/image" Target="../media/image610.png"/><Relationship Id="rId21" Type="http://schemas.openxmlformats.org/officeDocument/2006/relationships/image" Target="../media/image98.png"/><Relationship Id="rId7" Type="http://schemas.openxmlformats.org/officeDocument/2006/relationships/image" Target="../media/image90.png"/><Relationship Id="rId12" Type="http://schemas.openxmlformats.org/officeDocument/2006/relationships/image" Target="../media/image70.png"/><Relationship Id="rId17" Type="http://schemas.openxmlformats.org/officeDocument/2006/relationships/image" Target="../media/image96.png"/><Relationship Id="rId25" Type="http://schemas.openxmlformats.org/officeDocument/2006/relationships/image" Target="../media/image83.png"/><Relationship Id="rId2" Type="http://schemas.openxmlformats.org/officeDocument/2006/relationships/image" Target="../media/image600.png"/><Relationship Id="rId16" Type="http://schemas.openxmlformats.org/officeDocument/2006/relationships/image" Target="../media/image74.png"/><Relationship Id="rId20" Type="http://schemas.openxmlformats.org/officeDocument/2006/relationships/image" Target="../media/image97.png"/><Relationship Id="rId29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69.png"/><Relationship Id="rId24" Type="http://schemas.openxmlformats.org/officeDocument/2006/relationships/image" Target="../media/image100.png"/><Relationship Id="rId5" Type="http://schemas.openxmlformats.org/officeDocument/2006/relationships/image" Target="../media/image63.png"/><Relationship Id="rId15" Type="http://schemas.openxmlformats.org/officeDocument/2006/relationships/image" Target="../media/image95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92.png"/><Relationship Id="rId19" Type="http://schemas.openxmlformats.org/officeDocument/2006/relationships/image" Target="../media/image77.png"/><Relationship Id="rId4" Type="http://schemas.openxmlformats.org/officeDocument/2006/relationships/image" Target="../media/image88.png"/><Relationship Id="rId9" Type="http://schemas.openxmlformats.org/officeDocument/2006/relationships/image" Target="../media/image67.png"/><Relationship Id="rId14" Type="http://schemas.openxmlformats.org/officeDocument/2006/relationships/image" Target="../media/image94.png"/><Relationship Id="rId22" Type="http://schemas.openxmlformats.org/officeDocument/2006/relationships/image" Target="../media/image99.png"/><Relationship Id="rId27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32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33" Type="http://schemas.openxmlformats.org/officeDocument/2006/relationships/image" Target="../media/image162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32" Type="http://schemas.openxmlformats.org/officeDocument/2006/relationships/image" Target="../media/image161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28" Type="http://schemas.openxmlformats.org/officeDocument/2006/relationships/image" Target="../media/image157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31" Type="http://schemas.openxmlformats.org/officeDocument/2006/relationships/image" Target="../media/image160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Relationship Id="rId27" Type="http://schemas.openxmlformats.org/officeDocument/2006/relationships/image" Target="../media/image156.png"/><Relationship Id="rId30" Type="http://schemas.openxmlformats.org/officeDocument/2006/relationships/image" Target="../media/image159.png"/><Relationship Id="rId8" Type="http://schemas.openxmlformats.org/officeDocument/2006/relationships/image" Target="../media/image137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32.png"/><Relationship Id="rId21" Type="http://schemas.openxmlformats.org/officeDocument/2006/relationships/image" Target="../media/image150.png"/><Relationship Id="rId34" Type="http://schemas.openxmlformats.org/officeDocument/2006/relationships/image" Target="../media/image163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33" Type="http://schemas.openxmlformats.org/officeDocument/2006/relationships/image" Target="../media/image162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32" Type="http://schemas.openxmlformats.org/officeDocument/2006/relationships/image" Target="../media/image161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28" Type="http://schemas.openxmlformats.org/officeDocument/2006/relationships/image" Target="../media/image157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31" Type="http://schemas.openxmlformats.org/officeDocument/2006/relationships/image" Target="../media/image160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Relationship Id="rId27" Type="http://schemas.openxmlformats.org/officeDocument/2006/relationships/image" Target="../media/image156.png"/><Relationship Id="rId30" Type="http://schemas.openxmlformats.org/officeDocument/2006/relationships/image" Target="../media/image159.png"/><Relationship Id="rId8" Type="http://schemas.openxmlformats.org/officeDocument/2006/relationships/image" Target="../media/image1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8.png"/><Relationship Id="rId18" Type="http://schemas.openxmlformats.org/officeDocument/2006/relationships/image" Target="../media/image125.png"/><Relationship Id="rId3" Type="http://schemas.openxmlformats.org/officeDocument/2006/relationships/image" Target="../media/image105.png"/><Relationship Id="rId21" Type="http://schemas.openxmlformats.org/officeDocument/2006/relationships/image" Target="../media/image128.png"/><Relationship Id="rId7" Type="http://schemas.openxmlformats.org/officeDocument/2006/relationships/image" Target="../media/image110.png"/><Relationship Id="rId12" Type="http://schemas.openxmlformats.org/officeDocument/2006/relationships/image" Target="../media/image117.png"/><Relationship Id="rId17" Type="http://schemas.openxmlformats.org/officeDocument/2006/relationships/image" Target="../media/image124.png"/><Relationship Id="rId2" Type="http://schemas.openxmlformats.org/officeDocument/2006/relationships/image" Target="../media/image103.png"/><Relationship Id="rId16" Type="http://schemas.openxmlformats.org/officeDocument/2006/relationships/image" Target="../media/image122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5.png"/><Relationship Id="rId5" Type="http://schemas.openxmlformats.org/officeDocument/2006/relationships/image" Target="../media/image107.png"/><Relationship Id="rId15" Type="http://schemas.openxmlformats.org/officeDocument/2006/relationships/image" Target="../media/image121.png"/><Relationship Id="rId23" Type="http://schemas.openxmlformats.org/officeDocument/2006/relationships/image" Target="../media/image130.png"/><Relationship Id="rId10" Type="http://schemas.openxmlformats.org/officeDocument/2006/relationships/image" Target="../media/image114.png"/><Relationship Id="rId19" Type="http://schemas.openxmlformats.org/officeDocument/2006/relationships/image" Target="../media/image126.png"/><Relationship Id="rId4" Type="http://schemas.openxmlformats.org/officeDocument/2006/relationships/image" Target="../media/image106.png"/><Relationship Id="rId9" Type="http://schemas.openxmlformats.org/officeDocument/2006/relationships/image" Target="../media/image112.png"/><Relationship Id="rId14" Type="http://schemas.openxmlformats.org/officeDocument/2006/relationships/image" Target="../media/image119.png"/><Relationship Id="rId22" Type="http://schemas.openxmlformats.org/officeDocument/2006/relationships/image" Target="../media/image16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8.png"/><Relationship Id="rId18" Type="http://schemas.openxmlformats.org/officeDocument/2006/relationships/image" Target="../media/image125.png"/><Relationship Id="rId3" Type="http://schemas.openxmlformats.org/officeDocument/2006/relationships/image" Target="../media/image105.png"/><Relationship Id="rId21" Type="http://schemas.openxmlformats.org/officeDocument/2006/relationships/image" Target="../media/image128.png"/><Relationship Id="rId7" Type="http://schemas.openxmlformats.org/officeDocument/2006/relationships/image" Target="../media/image165.png"/><Relationship Id="rId12" Type="http://schemas.openxmlformats.org/officeDocument/2006/relationships/image" Target="../media/image166.png"/><Relationship Id="rId17" Type="http://schemas.openxmlformats.org/officeDocument/2006/relationships/image" Target="../media/image167.png"/><Relationship Id="rId2" Type="http://schemas.openxmlformats.org/officeDocument/2006/relationships/image" Target="../media/image103.png"/><Relationship Id="rId16" Type="http://schemas.openxmlformats.org/officeDocument/2006/relationships/image" Target="../media/image122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5.png"/><Relationship Id="rId5" Type="http://schemas.openxmlformats.org/officeDocument/2006/relationships/image" Target="../media/image107.png"/><Relationship Id="rId15" Type="http://schemas.openxmlformats.org/officeDocument/2006/relationships/image" Target="../media/image121.png"/><Relationship Id="rId23" Type="http://schemas.openxmlformats.org/officeDocument/2006/relationships/image" Target="../media/image130.png"/><Relationship Id="rId10" Type="http://schemas.openxmlformats.org/officeDocument/2006/relationships/image" Target="../media/image114.png"/><Relationship Id="rId19" Type="http://schemas.openxmlformats.org/officeDocument/2006/relationships/image" Target="../media/image126.png"/><Relationship Id="rId4" Type="http://schemas.openxmlformats.org/officeDocument/2006/relationships/image" Target="../media/image106.png"/><Relationship Id="rId9" Type="http://schemas.openxmlformats.org/officeDocument/2006/relationships/image" Target="../media/image112.png"/><Relationship Id="rId14" Type="http://schemas.openxmlformats.org/officeDocument/2006/relationships/image" Target="../media/image119.png"/><Relationship Id="rId22" Type="http://schemas.openxmlformats.org/officeDocument/2006/relationships/image" Target="../media/image16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68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69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7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7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72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69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7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72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73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7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72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73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7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7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72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73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74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7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57022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Sequential Modelling</a:t>
            </a:r>
            <a:br>
              <a:rPr lang="en-IN" sz="4000" dirty="0"/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6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Sequence Modelling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Recurrent Neural Network  (RNN) – Basics and Applications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RNN Architecture</a:t>
            </a:r>
          </a:p>
          <a:p>
            <a:pPr marL="457200" indent="-457200">
              <a:lnSpc>
                <a:spcPct val="150000"/>
              </a:lnSpc>
            </a:pPr>
            <a:r>
              <a:rPr lang="en-US">
                <a:latin typeface="Arial Narrow" panose="020B0606020202030204" pitchFamily="34" charset="0"/>
                <a:cs typeface="Times New Roman" panose="02020603050405020304" pitchFamily="18" charset="0"/>
              </a:rPr>
              <a:t>RNN Architectures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for Different RNN Models</a:t>
            </a:r>
          </a:p>
        </p:txBody>
      </p:sp>
    </p:spTree>
    <p:extLst>
      <p:ext uri="{BB962C8B-B14F-4D97-AF65-F5344CB8AC3E}">
        <p14:creationId xmlns:p14="http://schemas.microsoft.com/office/powerpoint/2010/main" val="222108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74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Sequence Modelling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72864"/>
            <a:ext cx="10515600" cy="480599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Sequence modeling is a fundamental task in machine learning that involves learning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temporal dependencies from ordered data such as text, speech, and time-series signals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Sequential models in machine learning are algorithms designed to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process and learn from ordered or time-dependent data</a:t>
            </a:r>
            <a:r>
              <a:rPr lang="en-US" dirty="0">
                <a:latin typeface="Arial Narrow" panose="020B0606020202030204" pitchFamily="34" charset="0"/>
              </a:rPr>
              <a:t>, where 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sequence of observations contains meaningful information which is modelled by capturing dependencies between previous and current elements to make accurate predictions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Popular Sequential models includes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Recurrent Neural Network (RNN), Long Short-Term Memory (LSTM), Gated Recurrent Unit (GRU), Transformer</a:t>
            </a:r>
            <a:r>
              <a:rPr lang="en-US" dirty="0">
                <a:latin typeface="Arial Narrow" panose="020B0606020202030204" pitchFamily="34" charset="0"/>
              </a:rPr>
              <a:t>, etc.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58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87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Why sequential modeling is important?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661" y="1499809"/>
            <a:ext cx="10941358" cy="535348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Many real-world data sources are inherently ordered</a:t>
            </a:r>
            <a:r>
              <a:rPr lang="en-US" sz="2200" dirty="0">
                <a:latin typeface="Arial Narrow" panose="020B0606020202030204" pitchFamily="34" charset="0"/>
              </a:rPr>
              <a:t>, and the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meaning of each element often depends on what came before it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Unlike traditional machine learning methods that treat each input independently, sequence learning models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capture temporal and contextual relationships between consecutive data points</a:t>
            </a:r>
            <a:r>
              <a:rPr lang="en-US" sz="2200" dirty="0">
                <a:latin typeface="Arial Narrow" panose="020B0606020202030204" pitchFamily="34" charset="0"/>
              </a:rPr>
              <a:t>, leading to more accurate predictions and better understanding of patterns.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Some key reasons sequence learning is important include:</a:t>
            </a:r>
          </a:p>
          <a:p>
            <a:pPr lvl="1" algn="just"/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Captures temporal dependencies</a:t>
            </a:r>
            <a:r>
              <a:rPr lang="en-US" sz="2200" b="1" dirty="0">
                <a:latin typeface="Arial Narrow" panose="020B0606020202030204" pitchFamily="34" charset="0"/>
              </a:rPr>
              <a:t>:</a:t>
            </a:r>
            <a:r>
              <a:rPr lang="en-US" sz="2200" dirty="0">
                <a:latin typeface="Arial Narrow" panose="020B0606020202030204" pitchFamily="34" charset="0"/>
              </a:rPr>
              <a:t> It learns relationships between past and current observations, which is essential for time-series forecasting, speech recognition, and video analysis. </a:t>
            </a:r>
          </a:p>
          <a:p>
            <a:pPr marL="457200" lvl="1" indent="0" algn="just">
              <a:buNone/>
            </a:pPr>
            <a:endParaRPr lang="en-US" sz="2200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Preserves context</a:t>
            </a:r>
            <a:r>
              <a:rPr lang="en-US" sz="2200" b="1" dirty="0">
                <a:latin typeface="Arial Narrow" panose="020B0606020202030204" pitchFamily="34" charset="0"/>
              </a:rPr>
              <a:t>:</a:t>
            </a:r>
            <a:r>
              <a:rPr lang="en-US" sz="2200" dirty="0">
                <a:latin typeface="Arial Narrow" panose="020B0606020202030204" pitchFamily="34" charset="0"/>
              </a:rPr>
              <a:t> In natural language processing (NLP), the meaning of a word often depends on the surrounding words. Sequence models use context to improve tasks such as machine translation, sentiment analysis, and text generation. </a:t>
            </a:r>
          </a:p>
          <a:p>
            <a:pPr lvl="1" algn="just"/>
            <a:endParaRPr lang="en-US" sz="2200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Handles variable-length inputs: </a:t>
            </a:r>
            <a:r>
              <a:rPr lang="en-US" sz="2200" dirty="0">
                <a:latin typeface="Arial Narrow" panose="020B0606020202030204" pitchFamily="34" charset="0"/>
              </a:rPr>
              <a:t>Sequence learning models such as RNNs and LSTMs can process sequences of different lengths without requiring a fixed-size input. </a:t>
            </a:r>
          </a:p>
        </p:txBody>
      </p:sp>
    </p:spTree>
    <p:extLst>
      <p:ext uri="{BB962C8B-B14F-4D97-AF65-F5344CB8AC3E}">
        <p14:creationId xmlns:p14="http://schemas.microsoft.com/office/powerpoint/2010/main" val="406221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57683-B36D-484F-93B3-28EC4301C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Models long-term relationships</a:t>
            </a:r>
            <a:r>
              <a:rPr lang="en-US" dirty="0">
                <a:latin typeface="Arial Narrow" panose="020B0606020202030204" pitchFamily="34" charset="0"/>
              </a:rPr>
              <a:t>: Advanced sequence models like LSTMs can retain important information over long intervals, enabling them to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recognize long-range dependencies</a:t>
            </a:r>
            <a:r>
              <a:rPr lang="en-US" dirty="0">
                <a:latin typeface="Arial Narrow" panose="020B0606020202030204" pitchFamily="34" charset="0"/>
              </a:rPr>
              <a:t> that standard neural networks struggle to capture.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Improves prediction accuracy</a:t>
            </a:r>
            <a:r>
              <a:rPr lang="en-US" dirty="0">
                <a:latin typeface="Arial Narrow" panose="020B0606020202030204" pitchFamily="34" charset="0"/>
              </a:rPr>
              <a:t>: By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leveraging historical information </a:t>
            </a:r>
            <a:r>
              <a:rPr lang="en-US" dirty="0">
                <a:latin typeface="Arial Narrow" panose="020B0606020202030204" pitchFamily="34" charset="0"/>
              </a:rPr>
              <a:t>instead of treating observations independently, sequence models generally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achieve better performance on sequential data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In summary, sequence learning is essential because it enables machine learning models to understand 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order, context, and temporal dynamics of data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This capability is critical for applications such as language modeling,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video summarization</a:t>
            </a:r>
            <a:r>
              <a:rPr lang="en-US" dirty="0">
                <a:latin typeface="Arial Narrow" panose="020B0606020202030204" pitchFamily="34" charset="0"/>
              </a:rPr>
              <a:t>, handwriting recognition, machine translation, stock price prediction,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weather forecasting</a:t>
            </a:r>
            <a:r>
              <a:rPr lang="en-US" dirty="0">
                <a:latin typeface="Arial Narrow" panose="020B0606020202030204" pitchFamily="34" charset="0"/>
              </a:rPr>
              <a:t>, and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healthcare monitoring</a:t>
            </a:r>
            <a:r>
              <a:rPr lang="en-US" dirty="0">
                <a:latin typeface="Arial Narrow" panose="020B0606020202030204" pitchFamily="34" charset="0"/>
              </a:rPr>
              <a:t>, where the sequence of events carries important information.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DF2DCB-666A-452B-9731-6B1D3704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87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Why sequential modeling is important?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97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839"/>
            <a:ext cx="10515600" cy="93101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Applications of Sequence Modelling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930202" y="3238846"/>
            <a:ext cx="1911928" cy="1275695"/>
          </a:xfrm>
          <a:prstGeom prst="roundRect">
            <a:avLst>
              <a:gd name="adj" fmla="val 49932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Applications of Sequence Modelling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8526" y="5033788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Music Generation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780987" y="5052262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Named Entity Recognition</a:t>
            </a:r>
            <a:endParaRPr lang="en-IN" dirty="0">
              <a:solidFill>
                <a:srgbClr val="0070C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368136" y="5052262"/>
            <a:ext cx="1935879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Sentiment Classification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516065" y="5052348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Time Series Analysis</a:t>
            </a:r>
            <a:endParaRPr lang="en-IN" dirty="0">
              <a:solidFill>
                <a:srgbClr val="0070C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780986" y="1221706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DNA Sequence Analysis</a:t>
            </a:r>
            <a:endParaRPr lang="en-IN" dirty="0">
              <a:solidFill>
                <a:srgbClr val="0070C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413448" y="1221707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Video Activity Detection</a:t>
            </a:r>
            <a:endParaRPr lang="en-IN" dirty="0">
              <a:solidFill>
                <a:srgbClr val="0070C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148526" y="1228479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Speech Recognition</a:t>
            </a:r>
            <a:endParaRPr lang="en-IN" dirty="0">
              <a:solidFill>
                <a:srgbClr val="0070C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516064" y="1293134"/>
            <a:ext cx="1852467" cy="1360167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Machine Translation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8" name="Elbow Connector 97"/>
          <p:cNvCxnSpPr>
            <a:stCxn id="22" idx="0"/>
            <a:endCxn id="54" idx="2"/>
          </p:cNvCxnSpPr>
          <p:nvPr/>
        </p:nvCxnSpPr>
        <p:spPr>
          <a:xfrm rot="16200000" flipV="1">
            <a:off x="3784438" y="1137118"/>
            <a:ext cx="656972" cy="3546484"/>
          </a:xfrm>
          <a:prstGeom prst="bentConnector3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/>
          <p:cNvCxnSpPr>
            <a:stCxn id="22" idx="0"/>
            <a:endCxn id="56" idx="2"/>
          </p:cNvCxnSpPr>
          <p:nvPr/>
        </p:nvCxnSpPr>
        <p:spPr>
          <a:xfrm rot="5400000" flipH="1" flipV="1">
            <a:off x="7371460" y="1168008"/>
            <a:ext cx="585545" cy="3556132"/>
          </a:xfrm>
          <a:prstGeom prst="bentConnector3">
            <a:avLst>
              <a:gd name="adj1" fmla="val 55694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22" idx="0"/>
            <a:endCxn id="53" idx="2"/>
          </p:cNvCxnSpPr>
          <p:nvPr/>
        </p:nvCxnSpPr>
        <p:spPr>
          <a:xfrm rot="16200000" flipV="1">
            <a:off x="4968207" y="2320887"/>
            <a:ext cx="656973" cy="1178946"/>
          </a:xfrm>
          <a:prstGeom prst="bentConnector3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/>
          <p:cNvCxnSpPr>
            <a:stCxn id="22" idx="0"/>
            <a:endCxn id="55" idx="2"/>
          </p:cNvCxnSpPr>
          <p:nvPr/>
        </p:nvCxnSpPr>
        <p:spPr>
          <a:xfrm rot="5400000" flipH="1" flipV="1">
            <a:off x="6155363" y="2319449"/>
            <a:ext cx="650200" cy="1188594"/>
          </a:xfrm>
          <a:prstGeom prst="bentConnector3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/>
          <p:cNvCxnSpPr>
            <a:stCxn id="22" idx="2"/>
            <a:endCxn id="51" idx="0"/>
          </p:cNvCxnSpPr>
          <p:nvPr/>
        </p:nvCxnSpPr>
        <p:spPr>
          <a:xfrm rot="5400000">
            <a:off x="3842261" y="3008356"/>
            <a:ext cx="537721" cy="3550090"/>
          </a:xfrm>
          <a:prstGeom prst="bentConnector3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/>
          <p:cNvCxnSpPr>
            <a:stCxn id="22" idx="2"/>
            <a:endCxn id="52" idx="0"/>
          </p:cNvCxnSpPr>
          <p:nvPr/>
        </p:nvCxnSpPr>
        <p:spPr>
          <a:xfrm rot="16200000" flipH="1">
            <a:off x="7395329" y="3005377"/>
            <a:ext cx="537807" cy="3556133"/>
          </a:xfrm>
          <a:prstGeom prst="bentConnector3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>
            <a:stCxn id="22" idx="2"/>
            <a:endCxn id="50" idx="0"/>
          </p:cNvCxnSpPr>
          <p:nvPr/>
        </p:nvCxnSpPr>
        <p:spPr>
          <a:xfrm rot="5400000">
            <a:off x="5027834" y="4193929"/>
            <a:ext cx="537721" cy="1178945"/>
          </a:xfrm>
          <a:prstGeom prst="bentConnector3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stCxn id="22" idx="2"/>
            <a:endCxn id="46" idx="0"/>
          </p:cNvCxnSpPr>
          <p:nvPr/>
        </p:nvCxnSpPr>
        <p:spPr>
          <a:xfrm rot="16200000" flipH="1">
            <a:off x="6220840" y="4179867"/>
            <a:ext cx="519247" cy="1188594"/>
          </a:xfrm>
          <a:prstGeom prst="bentConnector3">
            <a:avLst>
              <a:gd name="adj1" fmla="val 52447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08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Recurrent Neural Network (RNN)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0980" y="4491182"/>
            <a:ext cx="1114425" cy="457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6" name="Straight Arrow Connector 5"/>
          <p:cNvCxnSpPr>
            <a:stCxn id="4" idx="3"/>
            <a:endCxn id="7" idx="4"/>
          </p:cNvCxnSpPr>
          <p:nvPr/>
        </p:nvCxnSpPr>
        <p:spPr>
          <a:xfrm flipV="1">
            <a:off x="2255405" y="4713373"/>
            <a:ext cx="1732062" cy="640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eptagon 6"/>
          <p:cNvSpPr/>
          <p:nvPr/>
        </p:nvSpPr>
        <p:spPr>
          <a:xfrm>
            <a:off x="3987469" y="4223326"/>
            <a:ext cx="819150" cy="762000"/>
          </a:xfrm>
          <a:prstGeom prst="heptag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RNN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923" y="5411253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RNN without Output</a:t>
            </a:r>
          </a:p>
        </p:txBody>
      </p:sp>
      <p:sp>
        <p:nvSpPr>
          <p:cNvPr id="14" name="Freeform 13"/>
          <p:cNvSpPr/>
          <p:nvPr/>
        </p:nvSpPr>
        <p:spPr>
          <a:xfrm rot="294639">
            <a:off x="3616519" y="3466814"/>
            <a:ext cx="1491482" cy="1147036"/>
          </a:xfrm>
          <a:custGeom>
            <a:avLst/>
            <a:gdLst>
              <a:gd name="connsiteX0" fmla="*/ 447150 w 1491482"/>
              <a:gd name="connsiteY0" fmla="*/ 1147036 h 1147036"/>
              <a:gd name="connsiteX1" fmla="*/ 47100 w 1491482"/>
              <a:gd name="connsiteY1" fmla="*/ 188186 h 1147036"/>
              <a:gd name="connsiteX2" fmla="*/ 1412350 w 1491482"/>
              <a:gd name="connsiteY2" fmla="*/ 80236 h 1147036"/>
              <a:gd name="connsiteX3" fmla="*/ 1209150 w 1491482"/>
              <a:gd name="connsiteY3" fmla="*/ 1108936 h 1147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82" h="1147036">
                <a:moveTo>
                  <a:pt x="447150" y="1147036"/>
                </a:moveTo>
                <a:cubicBezTo>
                  <a:pt x="166691" y="756511"/>
                  <a:pt x="-113767" y="365986"/>
                  <a:pt x="47100" y="188186"/>
                </a:cubicBezTo>
                <a:cubicBezTo>
                  <a:pt x="207967" y="10386"/>
                  <a:pt x="1218675" y="-73222"/>
                  <a:pt x="1412350" y="80236"/>
                </a:cubicBezTo>
                <a:cubicBezTo>
                  <a:pt x="1606025" y="233694"/>
                  <a:pt x="1407587" y="671315"/>
                  <a:pt x="1209150" y="1108936"/>
                </a:cubicBezTo>
              </a:path>
            </a:pathLst>
          </a:custGeom>
          <a:noFill/>
          <a:ln w="22225">
            <a:solidFill>
              <a:srgbClr val="FF0000">
                <a:alpha val="60000"/>
              </a:srgbClr>
            </a:solidFill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6537686" y="2826584"/>
            <a:ext cx="33224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 Narrow" panose="020B0606020202030204" pitchFamily="34" charset="0"/>
              </a:rPr>
              <a:t>RNNs maintain an “Internal State” that is updated as each element of the sequence is processed.</a:t>
            </a:r>
            <a:endParaRPr lang="en-IN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06356" y="2699281"/>
            <a:ext cx="3253769" cy="108385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/>
          <p:cNvCxnSpPr>
            <a:stCxn id="15" idx="1"/>
            <a:endCxn id="14" idx="2"/>
          </p:cNvCxnSpPr>
          <p:nvPr/>
        </p:nvCxnSpPr>
        <p:spPr>
          <a:xfrm flipH="1">
            <a:off x="5068648" y="3288249"/>
            <a:ext cx="1469038" cy="317675"/>
          </a:xfrm>
          <a:prstGeom prst="straightConnector1">
            <a:avLst/>
          </a:prstGeom>
          <a:ln w="19050" cmpd="dbl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17D86F-D21F-402F-ADE3-1E0CBF088B7E}"/>
              </a:ext>
            </a:extLst>
          </p:cNvPr>
          <p:cNvSpPr txBox="1"/>
          <p:nvPr/>
        </p:nvSpPr>
        <p:spPr>
          <a:xfrm>
            <a:off x="7807083" y="6550223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3708042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Recurrent Neural Network (RNN)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0980" y="4491182"/>
            <a:ext cx="1114425" cy="457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6" name="Straight Arrow Connector 5"/>
          <p:cNvCxnSpPr>
            <a:stCxn id="4" idx="3"/>
            <a:endCxn id="7" idx="4"/>
          </p:cNvCxnSpPr>
          <p:nvPr/>
        </p:nvCxnSpPr>
        <p:spPr>
          <a:xfrm flipV="1">
            <a:off x="2255405" y="4713373"/>
            <a:ext cx="1732062" cy="640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eptagon 6"/>
          <p:cNvSpPr/>
          <p:nvPr/>
        </p:nvSpPr>
        <p:spPr>
          <a:xfrm>
            <a:off x="3987469" y="4223326"/>
            <a:ext cx="819150" cy="762000"/>
          </a:xfrm>
          <a:prstGeom prst="heptag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RNN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742" y="5451048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RNN with Output</a:t>
            </a:r>
          </a:p>
        </p:txBody>
      </p:sp>
      <p:sp>
        <p:nvSpPr>
          <p:cNvPr id="14" name="Freeform 13"/>
          <p:cNvSpPr/>
          <p:nvPr/>
        </p:nvSpPr>
        <p:spPr>
          <a:xfrm rot="294639">
            <a:off x="3616519" y="3466814"/>
            <a:ext cx="1491482" cy="1147036"/>
          </a:xfrm>
          <a:custGeom>
            <a:avLst/>
            <a:gdLst>
              <a:gd name="connsiteX0" fmla="*/ 447150 w 1491482"/>
              <a:gd name="connsiteY0" fmla="*/ 1147036 h 1147036"/>
              <a:gd name="connsiteX1" fmla="*/ 47100 w 1491482"/>
              <a:gd name="connsiteY1" fmla="*/ 188186 h 1147036"/>
              <a:gd name="connsiteX2" fmla="*/ 1412350 w 1491482"/>
              <a:gd name="connsiteY2" fmla="*/ 80236 h 1147036"/>
              <a:gd name="connsiteX3" fmla="*/ 1209150 w 1491482"/>
              <a:gd name="connsiteY3" fmla="*/ 1108936 h 1147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1482" h="1147036">
                <a:moveTo>
                  <a:pt x="447150" y="1147036"/>
                </a:moveTo>
                <a:cubicBezTo>
                  <a:pt x="166691" y="756511"/>
                  <a:pt x="-113767" y="365986"/>
                  <a:pt x="47100" y="188186"/>
                </a:cubicBezTo>
                <a:cubicBezTo>
                  <a:pt x="207967" y="10386"/>
                  <a:pt x="1218675" y="-73222"/>
                  <a:pt x="1412350" y="80236"/>
                </a:cubicBezTo>
                <a:cubicBezTo>
                  <a:pt x="1606025" y="233694"/>
                  <a:pt x="1407587" y="671315"/>
                  <a:pt x="1209150" y="1108936"/>
                </a:cubicBezTo>
              </a:path>
            </a:pathLst>
          </a:custGeom>
          <a:noFill/>
          <a:ln w="22225">
            <a:solidFill>
              <a:srgbClr val="FF0000">
                <a:alpha val="60000"/>
              </a:srgbClr>
            </a:solidFill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2773265" y="2066414"/>
            <a:ext cx="3329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 Narrow" panose="020B0606020202030204" pitchFamily="34" charset="0"/>
              </a:rPr>
              <a:t>Output is optional; an RNN can produce an output at any time step. </a:t>
            </a:r>
            <a:endParaRPr lang="en-IN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73265" y="1847653"/>
            <a:ext cx="3253769" cy="108385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17D86F-D21F-402F-ADE3-1E0CBF088B7E}"/>
              </a:ext>
            </a:extLst>
          </p:cNvPr>
          <p:cNvSpPr txBox="1"/>
          <p:nvPr/>
        </p:nvSpPr>
        <p:spPr>
          <a:xfrm>
            <a:off x="7807083" y="6550223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8725" y="4464282"/>
            <a:ext cx="1114425" cy="457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17" name="Straight Arrow Connector 16"/>
          <p:cNvCxnSpPr>
            <a:endCxn id="13" idx="1"/>
          </p:cNvCxnSpPr>
          <p:nvPr/>
        </p:nvCxnSpPr>
        <p:spPr>
          <a:xfrm flipV="1">
            <a:off x="4820759" y="4692882"/>
            <a:ext cx="1487966" cy="20068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664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54" y="124979"/>
            <a:ext cx="10515600" cy="8540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Recurrent Neural Network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2124364" y="2863273"/>
            <a:ext cx="748145" cy="748146"/>
          </a:xfrm>
          <a:prstGeom prst="ellipse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Elbow Connector 5"/>
          <p:cNvCxnSpPr>
            <a:stCxn id="4" idx="6"/>
            <a:endCxn id="17" idx="0"/>
          </p:cNvCxnSpPr>
          <p:nvPr/>
        </p:nvCxnSpPr>
        <p:spPr>
          <a:xfrm flipH="1" flipV="1">
            <a:off x="2589260" y="2638501"/>
            <a:ext cx="283249" cy="598845"/>
          </a:xfrm>
          <a:prstGeom prst="bentConnector4">
            <a:avLst>
              <a:gd name="adj1" fmla="val -80706"/>
              <a:gd name="adj2" fmla="val 100449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EC02A7E6-C0AB-4221-B5D5-56929376C037}"/>
              </a:ext>
            </a:extLst>
          </p:cNvPr>
          <p:cNvSpPr/>
          <p:nvPr/>
        </p:nvSpPr>
        <p:spPr>
          <a:xfrm rot="7739477">
            <a:off x="2365412" y="2416742"/>
            <a:ext cx="236107" cy="272231"/>
          </a:xfrm>
          <a:prstGeom prst="arc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37F227-A3AD-4027-A4F9-01B5993A962E}"/>
              </a:ext>
            </a:extLst>
          </p:cNvPr>
          <p:cNvCxnSpPr>
            <a:cxnSpLocks/>
            <a:endCxn id="4" idx="4"/>
          </p:cNvCxnSpPr>
          <p:nvPr/>
        </p:nvCxnSpPr>
        <p:spPr>
          <a:xfrm flipH="1" flipV="1">
            <a:off x="2498437" y="3611419"/>
            <a:ext cx="3090" cy="42370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23C6A79-D8EA-4301-97D4-EB6BB4A1483A}"/>
              </a:ext>
            </a:extLst>
          </p:cNvPr>
          <p:cNvSpPr txBox="1"/>
          <p:nvPr/>
        </p:nvSpPr>
        <p:spPr>
          <a:xfrm>
            <a:off x="2342206" y="1995882"/>
            <a:ext cx="354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9E888B-AF2C-4426-A1CA-E84AE17159D6}"/>
                  </a:ext>
                </a:extLst>
              </p:cNvPr>
              <p:cNvSpPr txBox="1"/>
              <p:nvPr/>
            </p:nvSpPr>
            <p:spPr>
              <a:xfrm>
                <a:off x="2325273" y="3967364"/>
                <a:ext cx="3382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9E888B-AF2C-4426-A1CA-E84AE171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273" y="3967364"/>
                <a:ext cx="3382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3481202" y="3232902"/>
            <a:ext cx="444226" cy="7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7214BD-54A6-40FE-86FC-F2049250C04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498437" y="2375457"/>
            <a:ext cx="338" cy="48781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489748" y="3052680"/>
                <a:ext cx="342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748" y="3052680"/>
                <a:ext cx="342584" cy="369332"/>
              </a:xfrm>
              <a:prstGeom prst="rect">
                <a:avLst/>
              </a:prstGeom>
              <a:blipFill>
                <a:blip r:embed="rId3"/>
                <a:stretch>
                  <a:fillRect r="-28070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951358" y="2304042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358" y="2304042"/>
                <a:ext cx="255187" cy="369332"/>
              </a:xfrm>
              <a:prstGeom prst="rect">
                <a:avLst/>
              </a:prstGeom>
              <a:blipFill>
                <a:blip r:embed="rId4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Elbow Connector 28"/>
          <p:cNvCxnSpPr>
            <a:stCxn id="4" idx="2"/>
            <a:endCxn id="17" idx="2"/>
          </p:cNvCxnSpPr>
          <p:nvPr/>
        </p:nvCxnSpPr>
        <p:spPr>
          <a:xfrm rot="10800000" flipH="1">
            <a:off x="2124364" y="2644614"/>
            <a:ext cx="284822" cy="592733"/>
          </a:xfrm>
          <a:prstGeom prst="bentConnector3">
            <a:avLst>
              <a:gd name="adj1" fmla="val -80261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839832" y="345393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832" y="3453939"/>
                <a:ext cx="255187" cy="369332"/>
              </a:xfrm>
              <a:prstGeom prst="rect">
                <a:avLst/>
              </a:prstGeom>
              <a:blipFill>
                <a:blip r:embed="rId5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251382" y="2971292"/>
                <a:ext cx="4641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280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82" y="2971292"/>
                <a:ext cx="46416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3311AA0-2D10-4495-A62A-65D0E4FD44CB}"/>
              </a:ext>
            </a:extLst>
          </p:cNvPr>
          <p:cNvSpPr txBox="1"/>
          <p:nvPr/>
        </p:nvSpPr>
        <p:spPr>
          <a:xfrm>
            <a:off x="3277492" y="2673374"/>
            <a:ext cx="85164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Unfold</a:t>
            </a:r>
          </a:p>
        </p:txBody>
      </p:sp>
      <p:sp>
        <p:nvSpPr>
          <p:cNvPr id="40" name="Oval 39"/>
          <p:cNvSpPr/>
          <p:nvPr/>
        </p:nvSpPr>
        <p:spPr>
          <a:xfrm>
            <a:off x="4307660" y="2872853"/>
            <a:ext cx="748145" cy="748146"/>
          </a:xfrm>
          <a:prstGeom prst="ellipse">
            <a:avLst/>
          </a:prstGeom>
          <a:solidFill>
            <a:schemeClr val="accent2">
              <a:lumMod val="40000"/>
              <a:lumOff val="60000"/>
              <a:alpha val="36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40" idx="6"/>
            <a:endCxn id="42" idx="2"/>
          </p:cNvCxnSpPr>
          <p:nvPr/>
        </p:nvCxnSpPr>
        <p:spPr>
          <a:xfrm>
            <a:off x="5055805" y="3246926"/>
            <a:ext cx="387073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442878" y="2872853"/>
            <a:ext cx="748145" cy="748146"/>
          </a:xfrm>
          <a:prstGeom prst="ellipse">
            <a:avLst/>
          </a:prstGeom>
          <a:solidFill>
            <a:schemeClr val="accent2">
              <a:lumMod val="40000"/>
              <a:lumOff val="60000"/>
              <a:alpha val="36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6191023" y="3246926"/>
            <a:ext cx="396599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587622" y="2872853"/>
            <a:ext cx="748145" cy="748146"/>
          </a:xfrm>
          <a:prstGeom prst="ellipse">
            <a:avLst/>
          </a:prstGeom>
          <a:solidFill>
            <a:schemeClr val="accent2">
              <a:lumMod val="40000"/>
              <a:lumOff val="60000"/>
              <a:alpha val="36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44" idx="6"/>
          </p:cNvCxnSpPr>
          <p:nvPr/>
        </p:nvCxnSpPr>
        <p:spPr>
          <a:xfrm>
            <a:off x="7335767" y="3246926"/>
            <a:ext cx="455683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831455" y="3228257"/>
            <a:ext cx="68580" cy="4571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/>
          <p:cNvSpPr/>
          <p:nvPr/>
        </p:nvSpPr>
        <p:spPr>
          <a:xfrm>
            <a:off x="7979093" y="3224066"/>
            <a:ext cx="68580" cy="4571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/>
          <p:cNvSpPr/>
          <p:nvPr/>
        </p:nvSpPr>
        <p:spPr>
          <a:xfrm>
            <a:off x="8126731" y="3224330"/>
            <a:ext cx="68580" cy="4571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endCxn id="57" idx="2"/>
          </p:cNvCxnSpPr>
          <p:nvPr/>
        </p:nvCxnSpPr>
        <p:spPr>
          <a:xfrm>
            <a:off x="8232488" y="3251208"/>
            <a:ext cx="396599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629087" y="2877135"/>
            <a:ext cx="748145" cy="748146"/>
          </a:xfrm>
          <a:prstGeom prst="ellipse">
            <a:avLst/>
          </a:prstGeom>
          <a:solidFill>
            <a:schemeClr val="accent1">
              <a:lumMod val="40000"/>
              <a:lumOff val="60000"/>
              <a:alpha val="6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>
            <a:off x="9377232" y="3251208"/>
            <a:ext cx="586794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964026" y="2877135"/>
            <a:ext cx="748145" cy="748146"/>
          </a:xfrm>
          <a:prstGeom prst="ellipse">
            <a:avLst/>
          </a:prstGeom>
          <a:solidFill>
            <a:schemeClr val="accent1">
              <a:lumMod val="40000"/>
              <a:lumOff val="60000"/>
              <a:alpha val="6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5" name="Straight Arrow Connector 64"/>
          <p:cNvCxnSpPr>
            <a:endCxn id="40" idx="4"/>
          </p:cNvCxnSpPr>
          <p:nvPr/>
        </p:nvCxnSpPr>
        <p:spPr>
          <a:xfrm flipV="1">
            <a:off x="4679950" y="3620999"/>
            <a:ext cx="1783" cy="34457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0" idx="0"/>
          </p:cNvCxnSpPr>
          <p:nvPr/>
        </p:nvCxnSpPr>
        <p:spPr>
          <a:xfrm flipH="1" flipV="1">
            <a:off x="4679950" y="2447925"/>
            <a:ext cx="1783" cy="424928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endCxn id="42" idx="4"/>
          </p:cNvCxnSpPr>
          <p:nvPr/>
        </p:nvCxnSpPr>
        <p:spPr>
          <a:xfrm flipV="1">
            <a:off x="5816951" y="3620999"/>
            <a:ext cx="0" cy="34457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42" idx="0"/>
          </p:cNvCxnSpPr>
          <p:nvPr/>
        </p:nvCxnSpPr>
        <p:spPr>
          <a:xfrm flipV="1">
            <a:off x="5816951" y="2447925"/>
            <a:ext cx="0" cy="424928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44" idx="4"/>
          </p:cNvCxnSpPr>
          <p:nvPr/>
        </p:nvCxnSpPr>
        <p:spPr>
          <a:xfrm flipV="1">
            <a:off x="6961695" y="3620999"/>
            <a:ext cx="0" cy="34457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4" idx="0"/>
          </p:cNvCxnSpPr>
          <p:nvPr/>
        </p:nvCxnSpPr>
        <p:spPr>
          <a:xfrm flipV="1">
            <a:off x="6961695" y="2447925"/>
            <a:ext cx="0" cy="424928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57" idx="0"/>
          </p:cNvCxnSpPr>
          <p:nvPr/>
        </p:nvCxnSpPr>
        <p:spPr>
          <a:xfrm flipV="1">
            <a:off x="9003160" y="2439899"/>
            <a:ext cx="7132" cy="43723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60" idx="0"/>
          </p:cNvCxnSpPr>
          <p:nvPr/>
        </p:nvCxnSpPr>
        <p:spPr>
          <a:xfrm flipV="1">
            <a:off x="10338099" y="2439899"/>
            <a:ext cx="7131" cy="43723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endCxn id="57" idx="4"/>
          </p:cNvCxnSpPr>
          <p:nvPr/>
        </p:nvCxnSpPr>
        <p:spPr>
          <a:xfrm flipV="1">
            <a:off x="9003158" y="3625281"/>
            <a:ext cx="2" cy="3402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60" idx="4"/>
          </p:cNvCxnSpPr>
          <p:nvPr/>
        </p:nvCxnSpPr>
        <p:spPr>
          <a:xfrm flipH="1" flipV="1">
            <a:off x="10338099" y="3625281"/>
            <a:ext cx="7131" cy="3402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4467877" y="303900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877" y="3039000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614853" y="306202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853" y="3062029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380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754687" y="306202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687" y="3062029"/>
                <a:ext cx="255187" cy="369332"/>
              </a:xfrm>
              <a:prstGeom prst="rect">
                <a:avLst/>
              </a:prstGeom>
              <a:blipFill>
                <a:blip r:embed="rId9"/>
                <a:stretch>
                  <a:fillRect r="-404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136129" y="3062029"/>
                <a:ext cx="340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129" y="3062029"/>
                <a:ext cx="340316" cy="369332"/>
              </a:xfrm>
              <a:prstGeom prst="rect">
                <a:avLst/>
              </a:prstGeom>
              <a:blipFill>
                <a:blip r:embed="rId10"/>
                <a:stretch>
                  <a:fillRect r="-7143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729335" y="303900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335" y="3039000"/>
                <a:ext cx="255187" cy="369332"/>
              </a:xfrm>
              <a:prstGeom prst="rect">
                <a:avLst/>
              </a:prstGeom>
              <a:blipFill>
                <a:blip r:embed="rId11"/>
                <a:stretch>
                  <a:fillRect r="-128571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4268444" y="252827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444" y="2528277"/>
                <a:ext cx="255187" cy="369332"/>
              </a:xfrm>
              <a:prstGeom prst="rect">
                <a:avLst/>
              </a:prstGeom>
              <a:blipFill>
                <a:blip r:embed="rId12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336693" y="25528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693" y="2552857"/>
                <a:ext cx="255187" cy="369332"/>
              </a:xfrm>
              <a:prstGeom prst="rect">
                <a:avLst/>
              </a:prstGeom>
              <a:blipFill>
                <a:blip r:embed="rId13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892717" y="256859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717" y="2568591"/>
                <a:ext cx="255187" cy="369332"/>
              </a:xfrm>
              <a:prstGeom prst="rect">
                <a:avLst/>
              </a:prstGeom>
              <a:blipFill>
                <a:blip r:embed="rId14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508207" y="254402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07" y="2544026"/>
                <a:ext cx="255187" cy="369332"/>
              </a:xfrm>
              <a:prstGeom prst="rect">
                <a:avLst/>
              </a:prstGeom>
              <a:blipFill>
                <a:blip r:embed="rId15"/>
                <a:stretch>
                  <a:fillRect r="-60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501493" y="256859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493" y="2568591"/>
                <a:ext cx="255187" cy="369332"/>
              </a:xfrm>
              <a:prstGeom prst="rect">
                <a:avLst/>
              </a:prstGeom>
              <a:blipFill>
                <a:blip r:embed="rId16"/>
                <a:stretch>
                  <a:fillRect r="-60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9892717" y="356449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717" y="3564494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8507906" y="357759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906" y="3577595"/>
                <a:ext cx="255187" cy="369332"/>
              </a:xfrm>
              <a:prstGeom prst="rect">
                <a:avLst/>
              </a:prstGeom>
              <a:blipFill>
                <a:blip r:embed="rId18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6478586" y="356449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586" y="3564494"/>
                <a:ext cx="255187" cy="369332"/>
              </a:xfrm>
              <a:prstGeom prst="rect">
                <a:avLst/>
              </a:prstGeom>
              <a:blipFill>
                <a:blip r:embed="rId19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5334941" y="355460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941" y="3554601"/>
                <a:ext cx="255187" cy="369332"/>
              </a:xfrm>
              <a:prstGeom prst="rect">
                <a:avLst/>
              </a:prstGeom>
              <a:blipFill>
                <a:blip r:embed="rId20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4169215" y="355460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215" y="3554601"/>
                <a:ext cx="255187" cy="369332"/>
              </a:xfrm>
              <a:prstGeom prst="rect">
                <a:avLst/>
              </a:prstGeom>
              <a:blipFill>
                <a:blip r:embed="rId21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/>
              <p:nvPr/>
            </p:nvSpPr>
            <p:spPr>
              <a:xfrm>
                <a:off x="8856928" y="3982985"/>
                <a:ext cx="528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928" y="3982985"/>
                <a:ext cx="528543" cy="276999"/>
              </a:xfrm>
              <a:prstGeom prst="rect">
                <a:avLst/>
              </a:prstGeom>
              <a:blipFill>
                <a:blip r:embed="rId22"/>
                <a:stretch>
                  <a:fillRect l="-4598" r="-1149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/>
              <p:nvPr/>
            </p:nvSpPr>
            <p:spPr>
              <a:xfrm>
                <a:off x="10294365" y="3968434"/>
                <a:ext cx="291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365" y="3968434"/>
                <a:ext cx="291169" cy="276999"/>
              </a:xfrm>
              <a:prstGeom prst="rect">
                <a:avLst/>
              </a:prstGeom>
              <a:blipFill>
                <a:blip r:embed="rId23"/>
                <a:stretch>
                  <a:fillRect l="-12766" r="-8511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E136585-F541-46A6-B1FD-D38B2B0DAE12}"/>
                  </a:ext>
                </a:extLst>
              </p:cNvPr>
              <p:cNvSpPr txBox="1"/>
              <p:nvPr/>
            </p:nvSpPr>
            <p:spPr>
              <a:xfrm>
                <a:off x="4523537" y="399802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E136585-F541-46A6-B1FD-D38B2B0DA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537" y="3998023"/>
                <a:ext cx="281424" cy="276999"/>
              </a:xfrm>
              <a:prstGeom prst="rect">
                <a:avLst/>
              </a:prstGeom>
              <a:blipFill>
                <a:blip r:embed="rId24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/>
              <p:nvPr/>
            </p:nvSpPr>
            <p:spPr>
              <a:xfrm>
                <a:off x="5614304" y="3986527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304" y="3986527"/>
                <a:ext cx="276101" cy="276999"/>
              </a:xfrm>
              <a:prstGeom prst="rect">
                <a:avLst/>
              </a:prstGeom>
              <a:blipFill>
                <a:blip r:embed="rId25"/>
                <a:stretch>
                  <a:fillRect l="-13333" r="-6667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/>
              <p:nvPr/>
            </p:nvSpPr>
            <p:spPr>
              <a:xfrm>
                <a:off x="6869162" y="3980694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162" y="3980694"/>
                <a:ext cx="281424" cy="276999"/>
              </a:xfrm>
              <a:prstGeom prst="rect">
                <a:avLst/>
              </a:prstGeom>
              <a:blipFill>
                <a:blip r:embed="rId26"/>
                <a:stretch>
                  <a:fillRect l="-13043" r="-652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4503234" y="206236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234" y="2062369"/>
                <a:ext cx="255187" cy="369332"/>
              </a:xfrm>
              <a:prstGeom prst="rect">
                <a:avLst/>
              </a:prstGeom>
              <a:blipFill>
                <a:blip r:embed="rId27"/>
                <a:stretch>
                  <a:fillRect r="-452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590128" y="205359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128" y="2053597"/>
                <a:ext cx="255187" cy="369332"/>
              </a:xfrm>
              <a:prstGeom prst="rect">
                <a:avLst/>
              </a:prstGeom>
              <a:blipFill>
                <a:blip r:embed="rId28"/>
                <a:stretch>
                  <a:fillRect r="-52381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754687" y="2062348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687" y="2062348"/>
                <a:ext cx="395899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006849" y="2053597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6849" y="2053597"/>
                <a:ext cx="395899" cy="369332"/>
              </a:xfrm>
              <a:prstGeom prst="rect">
                <a:avLst/>
              </a:prstGeom>
              <a:blipFill>
                <a:blip r:embed="rId30"/>
                <a:stretch>
                  <a:fillRect r="-3125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764755" y="2061862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755" y="2061862"/>
                <a:ext cx="395899" cy="369332"/>
              </a:xfrm>
              <a:prstGeom prst="rect">
                <a:avLst/>
              </a:prstGeom>
              <a:blipFill>
                <a:blip r:embed="rId31"/>
                <a:stretch>
                  <a:fillRect r="-55385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/>
              <p:nvPr/>
            </p:nvSpPr>
            <p:spPr>
              <a:xfrm>
                <a:off x="5081902" y="2949385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902" y="2949385"/>
                <a:ext cx="288477" cy="276999"/>
              </a:xfrm>
              <a:prstGeom prst="rect">
                <a:avLst/>
              </a:prstGeom>
              <a:blipFill>
                <a:blip r:embed="rId32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/>
              <p:nvPr/>
            </p:nvSpPr>
            <p:spPr>
              <a:xfrm>
                <a:off x="6321345" y="2943432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345" y="2943432"/>
                <a:ext cx="288477" cy="276999"/>
              </a:xfrm>
              <a:prstGeom prst="rect">
                <a:avLst/>
              </a:prstGeom>
              <a:blipFill>
                <a:blip r:embed="rId33"/>
                <a:stretch>
                  <a:fillRect l="-19149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BEC409E8-9766-41BA-82F2-58C12F9029BF}"/>
                  </a:ext>
                </a:extLst>
              </p:cNvPr>
              <p:cNvSpPr txBox="1"/>
              <p:nvPr/>
            </p:nvSpPr>
            <p:spPr>
              <a:xfrm>
                <a:off x="5065378" y="325166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BEC409E8-9766-41BA-82F2-58C12F902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378" y="3251667"/>
                <a:ext cx="255187" cy="369332"/>
              </a:xfrm>
              <a:prstGeom prst="rect">
                <a:avLst/>
              </a:prstGeom>
              <a:blipFill>
                <a:blip r:embed="rId34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/>
              <p:nvPr/>
            </p:nvSpPr>
            <p:spPr>
              <a:xfrm>
                <a:off x="6210397" y="324496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97" y="3244965"/>
                <a:ext cx="255187" cy="369332"/>
              </a:xfrm>
              <a:prstGeom prst="rect">
                <a:avLst/>
              </a:prstGeom>
              <a:blipFill>
                <a:blip r:embed="rId35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/>
              <p:nvPr/>
            </p:nvSpPr>
            <p:spPr>
              <a:xfrm>
                <a:off x="8107267" y="2913049"/>
                <a:ext cx="517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267" y="2913049"/>
                <a:ext cx="517834" cy="276999"/>
              </a:xfrm>
              <a:prstGeom prst="rect">
                <a:avLst/>
              </a:prstGeom>
              <a:blipFill>
                <a:blip r:embed="rId36"/>
                <a:stretch>
                  <a:fillRect l="-10588" r="-3529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9366704" y="2924833"/>
                <a:ext cx="517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704" y="2924833"/>
                <a:ext cx="517834" cy="276999"/>
              </a:xfrm>
              <a:prstGeom prst="rect">
                <a:avLst/>
              </a:prstGeom>
              <a:blipFill>
                <a:blip r:embed="rId37"/>
                <a:stretch>
                  <a:fillRect l="-10714" r="-476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/>
              <p:nvPr/>
            </p:nvSpPr>
            <p:spPr>
              <a:xfrm>
                <a:off x="8195200" y="3228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200" y="3228257"/>
                <a:ext cx="255187" cy="369332"/>
              </a:xfrm>
              <a:prstGeom prst="rect">
                <a:avLst/>
              </a:prstGeom>
              <a:blipFill>
                <a:blip r:embed="rId38"/>
                <a:stretch>
                  <a:fillRect r="-73810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9431750" y="322278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750" y="3222786"/>
                <a:ext cx="255187" cy="369332"/>
              </a:xfrm>
              <a:prstGeom prst="rect">
                <a:avLst/>
              </a:prstGeom>
              <a:blipFill>
                <a:blip r:embed="rId39"/>
                <a:stretch>
                  <a:fillRect r="-73810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94863" y="6476559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352439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395127" y="2973559"/>
            <a:ext cx="2903017" cy="777758"/>
          </a:xfrm>
          <a:prstGeom prst="roundRect">
            <a:avLst>
              <a:gd name="adj" fmla="val 42652"/>
            </a:avLst>
          </a:prstGeom>
          <a:solidFill>
            <a:srgbClr val="00B050">
              <a:alpha val="26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336896" y="2960521"/>
            <a:ext cx="757988" cy="792187"/>
          </a:xfrm>
          <a:prstGeom prst="ellipse">
            <a:avLst/>
          </a:prstGeom>
          <a:solidFill>
            <a:srgbClr val="FFFF00">
              <a:alpha val="4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66545" y="2872853"/>
            <a:ext cx="1006764" cy="1034129"/>
          </a:xfrm>
          <a:prstGeom prst="rect">
            <a:avLst/>
          </a:prstGeom>
          <a:solidFill>
            <a:schemeClr val="accent1">
              <a:lumMod val="60000"/>
              <a:lumOff val="40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395127" y="2733963"/>
            <a:ext cx="751345" cy="1173019"/>
          </a:xfrm>
          <a:prstGeom prst="ellipse">
            <a:avLst/>
          </a:prstGeom>
          <a:solidFill>
            <a:srgbClr val="FF0000">
              <a:alpha val="2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227" y="2959131"/>
            <a:ext cx="762000" cy="777758"/>
          </a:xfrm>
          <a:prstGeom prst="roundRect">
            <a:avLst>
              <a:gd name="adj" fmla="val 42652"/>
            </a:avLst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775"/>
            <a:ext cx="10515600" cy="7969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Recurrent Neural Network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7627" y="1385319"/>
                <a:ext cx="10515600" cy="9937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IN" sz="2200" dirty="0">
                    <a:latin typeface="Arial Narrow" panose="020B0606020202030204" pitchFamily="34" charset="0"/>
                  </a:rPr>
                  <a:t>In a RNN, an input sequence of vector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 . . . ,</m:t>
                        </m:r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. . .</m:t>
                        </m:r>
                      </m:e>
                    </m:d>
                  </m:oMath>
                </a14:m>
                <a:r>
                  <a:rPr lang="en-IN" sz="2200" dirty="0">
                    <a:latin typeface="Arial Narrow" panose="020B0606020202030204" pitchFamily="34" charset="0"/>
                  </a:rPr>
                  <a:t> is processed one time step at a time by applying the same recurrence formula at each step.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627" y="1385319"/>
                <a:ext cx="10515600" cy="993775"/>
              </a:xfrm>
              <a:blipFill>
                <a:blip r:embed="rId2"/>
                <a:stretch>
                  <a:fillRect l="-638" t="-1840" r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2AD393-0DA6-4951-8E78-7D0877152DBD}"/>
                  </a:ext>
                </a:extLst>
              </p:cNvPr>
              <p:cNvSpPr txBox="1"/>
              <p:nvPr/>
            </p:nvSpPr>
            <p:spPr>
              <a:xfrm>
                <a:off x="6300034" y="2992609"/>
                <a:ext cx="391530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IN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4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2AD393-0DA6-4951-8E78-7D0877152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34" y="2992609"/>
                <a:ext cx="391530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6D2EE7-5B97-474F-B954-CD8E1DD3CFA9}"/>
              </a:ext>
            </a:extLst>
          </p:cNvPr>
          <p:cNvCxnSpPr>
            <a:stCxn id="18" idx="6"/>
            <a:endCxn id="10" idx="1"/>
          </p:cNvCxnSpPr>
          <p:nvPr/>
        </p:nvCxnSpPr>
        <p:spPr>
          <a:xfrm flipV="1">
            <a:off x="5446715" y="3348010"/>
            <a:ext cx="770512" cy="6808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001833" y="2872853"/>
            <a:ext cx="1444882" cy="963929"/>
          </a:xfrm>
          <a:prstGeom prst="ellipse">
            <a:avLst/>
          </a:prstGeom>
          <a:solidFill>
            <a:schemeClr val="accent6">
              <a:lumMod val="40000"/>
              <a:lumOff val="60000"/>
              <a:alpha val="59000"/>
            </a:scheme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State output at time t</a:t>
            </a:r>
          </a:p>
        </p:txBody>
      </p:sp>
      <p:sp>
        <p:nvSpPr>
          <p:cNvPr id="25" name="Oval 24"/>
          <p:cNvSpPr/>
          <p:nvPr/>
        </p:nvSpPr>
        <p:spPr>
          <a:xfrm>
            <a:off x="4941451" y="4311939"/>
            <a:ext cx="2309091" cy="1182255"/>
          </a:xfrm>
          <a:prstGeom prst="ellipse">
            <a:avLst/>
          </a:prstGeom>
          <a:solidFill>
            <a:srgbClr val="7030A0">
              <a:alpha val="38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Function at node S</a:t>
            </a:r>
            <a:r>
              <a:rPr lang="en-IN" baseline="-250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with parameters </a:t>
            </a:r>
            <a:r>
              <a:rPr lang="en-IN" dirty="0" err="1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Ws</a:t>
            </a:r>
            <a:endParaRPr lang="en-IN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6D2EE7-5B97-474F-B954-CD8E1DD3CFA9}"/>
              </a:ext>
            </a:extLst>
          </p:cNvPr>
          <p:cNvCxnSpPr>
            <a:stCxn id="25" idx="0"/>
            <a:endCxn id="24" idx="3"/>
          </p:cNvCxnSpPr>
          <p:nvPr/>
        </p:nvCxnSpPr>
        <p:spPr>
          <a:xfrm flipV="1">
            <a:off x="6095997" y="3735197"/>
            <a:ext cx="1409162" cy="576742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707745" y="4396509"/>
            <a:ext cx="2124364" cy="1634836"/>
          </a:xfrm>
          <a:prstGeom prst="ellipse">
            <a:avLst/>
          </a:prstGeom>
          <a:solidFill>
            <a:schemeClr val="accent4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State input from previous state at time instance (t-1)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6D2EE7-5B97-474F-B954-CD8E1DD3CFA9}"/>
              </a:ext>
            </a:extLst>
          </p:cNvPr>
          <p:cNvCxnSpPr>
            <a:stCxn id="31" idx="0"/>
            <a:endCxn id="33" idx="2"/>
          </p:cNvCxnSpPr>
          <p:nvPr/>
        </p:nvCxnSpPr>
        <p:spPr>
          <a:xfrm flipV="1">
            <a:off x="8769927" y="3906982"/>
            <a:ext cx="0" cy="489527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919393" y="4151745"/>
            <a:ext cx="2106352" cy="1457992"/>
          </a:xfrm>
          <a:prstGeom prst="ellipse">
            <a:avLst/>
          </a:prstGeom>
          <a:solidFill>
            <a:schemeClr val="accent1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Function at node S</a:t>
            </a:r>
            <a:r>
              <a:rPr lang="en-IN" baseline="-250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with parameters </a:t>
            </a:r>
            <a:r>
              <a:rPr lang="en-IN" dirty="0" err="1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Ws</a:t>
            </a:r>
            <a:endParaRPr lang="en-IN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6D2EE7-5B97-474F-B954-CD8E1DD3CFA9}"/>
              </a:ext>
            </a:extLst>
          </p:cNvPr>
          <p:cNvCxnSpPr>
            <a:stCxn id="42" idx="0"/>
            <a:endCxn id="41" idx="5"/>
          </p:cNvCxnSpPr>
          <p:nvPr/>
        </p:nvCxnSpPr>
        <p:spPr>
          <a:xfrm flipH="1" flipV="1">
            <a:off x="9983879" y="3636695"/>
            <a:ext cx="988690" cy="51505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0E1353D-ACE8-49AC-B163-2438A506D309}"/>
              </a:ext>
            </a:extLst>
          </p:cNvPr>
          <p:cNvCxnSpPr>
            <a:cxnSpLocks/>
            <a:stCxn id="66" idx="0"/>
          </p:cNvCxnSpPr>
          <p:nvPr/>
        </p:nvCxnSpPr>
        <p:spPr>
          <a:xfrm flipH="1" flipV="1">
            <a:off x="1917003" y="2856903"/>
            <a:ext cx="3832" cy="350458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FA432AB-0865-4A29-BAF4-38FE4BA18F0F}"/>
              </a:ext>
            </a:extLst>
          </p:cNvPr>
          <p:cNvCxnSpPr>
            <a:cxnSpLocks/>
            <a:endCxn id="66" idx="4"/>
          </p:cNvCxnSpPr>
          <p:nvPr/>
        </p:nvCxnSpPr>
        <p:spPr>
          <a:xfrm flipV="1">
            <a:off x="1917003" y="3884679"/>
            <a:ext cx="3832" cy="388816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6B3392-AA79-4B70-8D36-2523352817C9}"/>
              </a:ext>
            </a:extLst>
          </p:cNvPr>
          <p:cNvCxnSpPr>
            <a:cxnSpLocks/>
            <a:stCxn id="66" idx="6"/>
          </p:cNvCxnSpPr>
          <p:nvPr/>
        </p:nvCxnSpPr>
        <p:spPr>
          <a:xfrm>
            <a:off x="2265133" y="3546020"/>
            <a:ext cx="348050" cy="17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E6C1AD-C356-4E89-823C-26A0951D2753}"/>
                  </a:ext>
                </a:extLst>
              </p:cNvPr>
              <p:cNvSpPr txBox="1"/>
              <p:nvPr/>
            </p:nvSpPr>
            <p:spPr>
              <a:xfrm>
                <a:off x="1797576" y="2497954"/>
                <a:ext cx="2510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E6C1AD-C356-4E89-823C-26A0951D2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576" y="2497954"/>
                <a:ext cx="251030" cy="276999"/>
              </a:xfrm>
              <a:prstGeom prst="rect">
                <a:avLst/>
              </a:prstGeom>
              <a:blipFill>
                <a:blip r:embed="rId4"/>
                <a:stretch>
                  <a:fillRect l="-24390" r="-7317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EDFCBD3-FD22-4F55-BD67-E4EC8BC4F244}"/>
                  </a:ext>
                </a:extLst>
              </p:cNvPr>
              <p:cNvSpPr txBox="1"/>
              <p:nvPr/>
            </p:nvSpPr>
            <p:spPr>
              <a:xfrm>
                <a:off x="922511" y="3203296"/>
                <a:ext cx="4885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EDFCBD3-FD22-4F55-BD67-E4EC8BC4F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11" y="3203296"/>
                <a:ext cx="488532" cy="276999"/>
              </a:xfrm>
              <a:prstGeom prst="rect">
                <a:avLst/>
              </a:prstGeom>
              <a:blipFill>
                <a:blip r:embed="rId5"/>
                <a:stretch>
                  <a:fillRect l="-11250" r="-500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1626C0D-FE3F-44A4-B868-20A6A5F82F61}"/>
                  </a:ext>
                </a:extLst>
              </p:cNvPr>
              <p:cNvSpPr txBox="1"/>
              <p:nvPr/>
            </p:nvSpPr>
            <p:spPr>
              <a:xfrm>
                <a:off x="1816067" y="4262068"/>
                <a:ext cx="261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1626C0D-FE3F-44A4-B868-20A6A5F82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067" y="4262068"/>
                <a:ext cx="261867" cy="276999"/>
              </a:xfrm>
              <a:prstGeom prst="rect">
                <a:avLst/>
              </a:prstGeom>
              <a:blipFill>
                <a:blip r:embed="rId6"/>
                <a:stretch>
                  <a:fillRect l="-13953" r="-4651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EA6655B-A751-436A-AA9E-827505C00F96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1121351" y="3546020"/>
            <a:ext cx="455186" cy="5128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51CE07E-677A-4148-9E40-0B3C14685F6C}"/>
                  </a:ext>
                </a:extLst>
              </p:cNvPr>
              <p:cNvSpPr txBox="1"/>
              <p:nvPr/>
            </p:nvSpPr>
            <p:spPr>
              <a:xfrm>
                <a:off x="2351498" y="3203295"/>
                <a:ext cx="268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51CE07E-677A-4148-9E40-0B3C14685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498" y="3203295"/>
                <a:ext cx="268920" cy="276999"/>
              </a:xfrm>
              <a:prstGeom prst="rect">
                <a:avLst/>
              </a:prstGeom>
              <a:blipFill>
                <a:blip r:embed="rId7"/>
                <a:stretch>
                  <a:fillRect l="-22727" r="-4545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EE8FEC57-140C-4162-8525-7FA9C87E18AB}"/>
              </a:ext>
            </a:extLst>
          </p:cNvPr>
          <p:cNvSpPr/>
          <p:nvPr/>
        </p:nvSpPr>
        <p:spPr>
          <a:xfrm>
            <a:off x="1328077" y="4507217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At time step t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DA19F7-9446-4701-AD4A-CF85836BBDAB}"/>
                  </a:ext>
                </a:extLst>
              </p:cNvPr>
              <p:cNvSpPr txBox="1"/>
              <p:nvPr/>
            </p:nvSpPr>
            <p:spPr>
              <a:xfrm>
                <a:off x="1886681" y="385206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DA19F7-9446-4701-AD4A-CF85836BB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81" y="3852064"/>
                <a:ext cx="323850" cy="369332"/>
              </a:xfrm>
              <a:prstGeom prst="rect">
                <a:avLst/>
              </a:prstGeom>
              <a:blipFill>
                <a:blip r:embed="rId8"/>
                <a:stretch>
                  <a:fillRect r="-25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839EE7-0C8B-4D59-A524-E8788D710C1F}"/>
                  </a:ext>
                </a:extLst>
              </p:cNvPr>
              <p:cNvSpPr txBox="1"/>
              <p:nvPr/>
            </p:nvSpPr>
            <p:spPr>
              <a:xfrm>
                <a:off x="1008039" y="3521202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839EE7-0C8B-4D59-A524-E8788D710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039" y="3521202"/>
                <a:ext cx="255187" cy="369332"/>
              </a:xfrm>
              <a:prstGeom prst="rect">
                <a:avLst/>
              </a:prstGeom>
              <a:blipFill>
                <a:blip r:embed="rId9"/>
                <a:stretch>
                  <a:fillRect r="-73810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33B9406-A649-4CBD-90E5-8CCB3DA5BE43}"/>
                  </a:ext>
                </a:extLst>
              </p:cNvPr>
              <p:cNvSpPr txBox="1"/>
              <p:nvPr/>
            </p:nvSpPr>
            <p:spPr>
              <a:xfrm>
                <a:off x="1501103" y="2815094"/>
                <a:ext cx="291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33B9406-A649-4CBD-90E5-8CCB3DA5B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103" y="2815094"/>
                <a:ext cx="291305" cy="369332"/>
              </a:xfrm>
              <a:prstGeom prst="rect">
                <a:avLst/>
              </a:prstGeom>
              <a:blipFill>
                <a:blip r:embed="rId10"/>
                <a:stretch>
                  <a:fillRect r="-395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65"/>
              <p:cNvSpPr/>
              <p:nvPr/>
            </p:nvSpPr>
            <p:spPr>
              <a:xfrm>
                <a:off x="1576537" y="3207361"/>
                <a:ext cx="688596" cy="677318"/>
              </a:xfrm>
              <a:prstGeom prst="ellipse">
                <a:avLst/>
              </a:prstGeom>
              <a:solidFill>
                <a:srgbClr val="C00000">
                  <a:alpha val="35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6" name="Oval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37" y="3207361"/>
                <a:ext cx="688596" cy="67731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/>
          <p:cNvSpPr/>
          <p:nvPr/>
        </p:nvSpPr>
        <p:spPr>
          <a:xfrm>
            <a:off x="355083" y="5211250"/>
            <a:ext cx="3820100" cy="914400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same parameters and function are used at every time step.</a:t>
            </a:r>
            <a:endParaRPr lang="en-IN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0ED2BB-76F1-48A6-BF04-CFBCA4CF4B7F}"/>
              </a:ext>
            </a:extLst>
          </p:cNvPr>
          <p:cNvSpPr txBox="1"/>
          <p:nvPr/>
        </p:nvSpPr>
        <p:spPr>
          <a:xfrm>
            <a:off x="6634065" y="6504734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235638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80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Recurrent Neural Network</a:t>
            </a:r>
            <a:endParaRPr lang="en-IN" sz="3600" dirty="0">
              <a:latin typeface="Century" panose="02040604050505020304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9115166" y="2691917"/>
            <a:ext cx="1697907" cy="2041113"/>
            <a:chOff x="1301202" y="2756572"/>
            <a:chExt cx="1697907" cy="2041113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0E1353D-ACE8-49AC-B163-2438A506D309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2295694" y="3115521"/>
              <a:ext cx="3832" cy="350458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FA432AB-0865-4A29-BAF4-38FE4BA18F0F}"/>
                </a:ext>
              </a:extLst>
            </p:cNvPr>
            <p:cNvCxnSpPr>
              <a:cxnSpLocks/>
              <a:endCxn id="16" idx="4"/>
            </p:cNvCxnSpPr>
            <p:nvPr/>
          </p:nvCxnSpPr>
          <p:spPr>
            <a:xfrm flipV="1">
              <a:off x="2295694" y="4143297"/>
              <a:ext cx="3832" cy="388816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F6B3392-AA79-4B70-8D36-2523352817C9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>
              <a:off x="2643824" y="3804638"/>
              <a:ext cx="348050" cy="171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3E6C1AD-C356-4E89-823C-26A0951D2753}"/>
                    </a:ext>
                  </a:extLst>
                </p:cNvPr>
                <p:cNvSpPr txBox="1"/>
                <p:nvPr/>
              </p:nvSpPr>
              <p:spPr>
                <a:xfrm>
                  <a:off x="2176267" y="2756572"/>
                  <a:ext cx="2510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3E6C1AD-C356-4E89-823C-26A0951D2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6267" y="2756572"/>
                  <a:ext cx="25103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4390" r="-7317" b="-2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EDFCBD3-FD22-4F55-BD67-E4EC8BC4F244}"/>
                    </a:ext>
                  </a:extLst>
                </p:cNvPr>
                <p:cNvSpPr txBox="1"/>
                <p:nvPr/>
              </p:nvSpPr>
              <p:spPr>
                <a:xfrm>
                  <a:off x="1301202" y="3461914"/>
                  <a:ext cx="4885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EDFCBD3-FD22-4F55-BD67-E4EC8BC4F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1202" y="3461914"/>
                  <a:ext cx="48853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1250" r="-500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626C0D-FE3F-44A4-B868-20A6A5F82F61}"/>
                    </a:ext>
                  </a:extLst>
                </p:cNvPr>
                <p:cNvSpPr txBox="1"/>
                <p:nvPr/>
              </p:nvSpPr>
              <p:spPr>
                <a:xfrm>
                  <a:off x="2194758" y="4520686"/>
                  <a:ext cx="2618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626C0D-FE3F-44A4-B868-20A6A5F82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4758" y="4520686"/>
                  <a:ext cx="26186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953" r="-4651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EA6655B-A751-436A-AA9E-827505C00F96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1500042" y="3804638"/>
              <a:ext cx="455186" cy="5128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1CE07E-677A-4148-9E40-0B3C14685F6C}"/>
                    </a:ext>
                  </a:extLst>
                </p:cNvPr>
                <p:cNvSpPr txBox="1"/>
                <p:nvPr/>
              </p:nvSpPr>
              <p:spPr>
                <a:xfrm>
                  <a:off x="2730189" y="3461913"/>
                  <a:ext cx="2689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1CE07E-677A-4148-9E40-0B3C14685F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189" y="3461913"/>
                  <a:ext cx="2689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2727" r="-4545" b="-130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7DA19F7-9446-4701-AD4A-CF85836BBDAB}"/>
                    </a:ext>
                  </a:extLst>
                </p:cNvPr>
                <p:cNvSpPr txBox="1"/>
                <p:nvPr/>
              </p:nvSpPr>
              <p:spPr>
                <a:xfrm>
                  <a:off x="2265372" y="4110682"/>
                  <a:ext cx="3238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7DA19F7-9446-4701-AD4A-CF85836BB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5372" y="4110682"/>
                  <a:ext cx="32385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59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6839EE7-0C8B-4D59-A524-E8788D710C1F}"/>
                    </a:ext>
                  </a:extLst>
                </p:cNvPr>
                <p:cNvSpPr txBox="1"/>
                <p:nvPr/>
              </p:nvSpPr>
              <p:spPr>
                <a:xfrm>
                  <a:off x="1386730" y="377982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6839EE7-0C8B-4D59-A524-E8788D710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6730" y="3779820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33B9406-A649-4CBD-90E5-8CCB3DA5BE43}"/>
                    </a:ext>
                  </a:extLst>
                </p:cNvPr>
                <p:cNvSpPr txBox="1"/>
                <p:nvPr/>
              </p:nvSpPr>
              <p:spPr>
                <a:xfrm>
                  <a:off x="1879794" y="3073712"/>
                  <a:ext cx="2913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33B9406-A649-4CBD-90E5-8CCB3DA5B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794" y="3073712"/>
                  <a:ext cx="29130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3958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/>
                <p:cNvSpPr/>
                <p:nvPr/>
              </p:nvSpPr>
              <p:spPr>
                <a:xfrm>
                  <a:off x="1955228" y="3465979"/>
                  <a:ext cx="688596" cy="677318"/>
                </a:xfrm>
                <a:prstGeom prst="ellipse">
                  <a:avLst/>
                </a:prstGeom>
                <a:solidFill>
                  <a:srgbClr val="C00000">
                    <a:alpha val="35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5228" y="3465979"/>
                  <a:ext cx="688596" cy="677318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F128D0-9F67-4F87-AD8E-98213FA06363}"/>
                  </a:ext>
                </a:extLst>
              </p:cNvPr>
              <p:cNvSpPr txBox="1"/>
              <p:nvPr/>
            </p:nvSpPr>
            <p:spPr>
              <a:xfrm>
                <a:off x="433128" y="3024556"/>
                <a:ext cx="2920872" cy="4308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42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F128D0-9F67-4F87-AD8E-98213FA06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28" y="3024556"/>
                <a:ext cx="292087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978A0E-29A5-4390-A60A-DAD347B47D50}"/>
                  </a:ext>
                </a:extLst>
              </p:cNvPr>
              <p:cNvSpPr txBox="1"/>
              <p:nvPr/>
            </p:nvSpPr>
            <p:spPr>
              <a:xfrm>
                <a:off x="3958316" y="3029221"/>
                <a:ext cx="4319139" cy="4308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42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978A0E-29A5-4390-A60A-DAD347B47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316" y="3029221"/>
                <a:ext cx="4319139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6A6276-2400-4B41-852A-D29CD92E5865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354000" y="3240000"/>
            <a:ext cx="604316" cy="4665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2C3E33-B20F-463B-977C-555FF8C96423}"/>
                  </a:ext>
                </a:extLst>
              </p:cNvPr>
              <p:cNvSpPr txBox="1"/>
              <p:nvPr/>
            </p:nvSpPr>
            <p:spPr>
              <a:xfrm>
                <a:off x="1893564" y="4036571"/>
                <a:ext cx="4108537" cy="43088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7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2C3E33-B20F-463B-977C-555FF8C96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564" y="4036571"/>
                <a:ext cx="4108537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E8FEC57-140C-4162-8525-7FA9C87E18AB}"/>
              </a:ext>
            </a:extLst>
          </p:cNvPr>
          <p:cNvSpPr/>
          <p:nvPr/>
        </p:nvSpPr>
        <p:spPr>
          <a:xfrm>
            <a:off x="9541599" y="4792748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At time step t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9F44CA-5A5B-48C7-8907-962E755D851A}"/>
              </a:ext>
            </a:extLst>
          </p:cNvPr>
          <p:cNvSpPr txBox="1"/>
          <p:nvPr/>
        </p:nvSpPr>
        <p:spPr>
          <a:xfrm>
            <a:off x="6634065" y="6504734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52752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709" y="115744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436" y="1481663"/>
            <a:ext cx="10515600" cy="7209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 main types of Recurrent Neural Network (RNN) models are classified based on the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relationship between input and output sequences</a:t>
            </a:r>
            <a:r>
              <a:rPr lang="en-US" sz="2600" dirty="0">
                <a:latin typeface="Arial Narrow" panose="020B0606020202030204" pitchFamily="34" charset="0"/>
              </a:rPr>
              <a:t>. These architectures are designed to handle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different sequence modeling tasks</a:t>
            </a:r>
            <a:r>
              <a:rPr lang="en-US" sz="2600" dirty="0">
                <a:latin typeface="Arial Narrow" panose="020B060602020203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D50A7-BB74-4B22-946B-2769162FBED7}"/>
              </a:ext>
            </a:extLst>
          </p:cNvPr>
          <p:cNvSpPr txBox="1"/>
          <p:nvPr/>
        </p:nvSpPr>
        <p:spPr>
          <a:xfrm>
            <a:off x="138158" y="3755577"/>
            <a:ext cx="2540524" cy="2585323"/>
          </a:xfrm>
          <a:prstGeom prst="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One-to-One</a:t>
            </a:r>
          </a:p>
          <a:p>
            <a:pPr algn="ctr">
              <a:lnSpc>
                <a:spcPct val="10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Not a typical sequential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One input → One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Example: Vanilla Neural Network. 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4551B-6393-4E82-86D9-F7A80482E39B}"/>
              </a:ext>
            </a:extLst>
          </p:cNvPr>
          <p:cNvSpPr/>
          <p:nvPr/>
        </p:nvSpPr>
        <p:spPr>
          <a:xfrm>
            <a:off x="2741630" y="3755578"/>
            <a:ext cx="3007417" cy="2585323"/>
          </a:xfrm>
          <a:prstGeom prst="rect">
            <a:avLst/>
          </a:prstGeom>
          <a:solidFill>
            <a:schemeClr val="accent6">
              <a:lumMod val="20000"/>
              <a:lumOff val="80000"/>
              <a:alpha val="32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One-to-Many</a:t>
            </a:r>
          </a:p>
          <a:p>
            <a:pPr algn="ctr">
              <a:lnSpc>
                <a:spcPct val="10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One input → Multiple outputs (a sequence).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The RNN generates an output sequence from a single input.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Example: Image captioning (input: image, output: sentence).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B654BF-1B1F-44F8-A50A-E7FB295789B9}"/>
              </a:ext>
            </a:extLst>
          </p:cNvPr>
          <p:cNvSpPr/>
          <p:nvPr/>
        </p:nvSpPr>
        <p:spPr>
          <a:xfrm>
            <a:off x="5861550" y="3755577"/>
            <a:ext cx="2885879" cy="2862322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Many-to-One</a:t>
            </a:r>
          </a:p>
          <a:p>
            <a:pPr algn="ctr">
              <a:lnSpc>
                <a:spcPct val="10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Multiple inputs (a sequence) → One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The RNN processes an input sequence and produces a single prediction.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Example: Sentiment analysis, video activity recognition.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9A07B-4319-4A9F-AA70-B1E0F6E0D71E}"/>
              </a:ext>
            </a:extLst>
          </p:cNvPr>
          <p:cNvSpPr/>
          <p:nvPr/>
        </p:nvSpPr>
        <p:spPr>
          <a:xfrm>
            <a:off x="8848934" y="3755577"/>
            <a:ext cx="3204908" cy="2862322"/>
          </a:xfrm>
          <a:prstGeom prst="rect">
            <a:avLst/>
          </a:prstGeom>
          <a:solidFill>
            <a:srgbClr val="7030A0">
              <a:alpha val="13000"/>
            </a:srgbClr>
          </a:solidFill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Many-to-Many</a:t>
            </a:r>
          </a:p>
          <a:p>
            <a:pPr algn="ctr">
              <a:lnSpc>
                <a:spcPct val="10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Multiple inputs (a sequence) → Multiple outputs (a sequence).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The RNN maps an input sequence to an output sequence.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Example: Neural machine translation, video summarization.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9F53B-CC4C-4DE8-900D-BCFDAB8A9900}"/>
              </a:ext>
            </a:extLst>
          </p:cNvPr>
          <p:cNvSpPr txBox="1"/>
          <p:nvPr/>
        </p:nvSpPr>
        <p:spPr>
          <a:xfrm>
            <a:off x="4777509" y="2286583"/>
            <a:ext cx="2286000" cy="461665"/>
          </a:xfrm>
          <a:prstGeom prst="rect">
            <a:avLst/>
          </a:prstGeom>
          <a:solidFill>
            <a:schemeClr val="accent4">
              <a:lumMod val="40000"/>
              <a:lumOff val="60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rial Narrow" panose="020B0606020202030204" pitchFamily="34" charset="0"/>
              </a:rPr>
              <a:t>RNN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17F577-52BC-40E9-8038-1A6BF0D2ED97}"/>
              </a:ext>
            </a:extLst>
          </p:cNvPr>
          <p:cNvCxnSpPr>
            <a:cxnSpLocks/>
          </p:cNvCxnSpPr>
          <p:nvPr/>
        </p:nvCxnSpPr>
        <p:spPr>
          <a:xfrm>
            <a:off x="5920509" y="2748248"/>
            <a:ext cx="0" cy="57861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8433B1-9884-4844-ADB9-D282BDB54AA3}"/>
              </a:ext>
            </a:extLst>
          </p:cNvPr>
          <p:cNvCxnSpPr/>
          <p:nvPr/>
        </p:nvCxnSpPr>
        <p:spPr>
          <a:xfrm>
            <a:off x="1418148" y="3326860"/>
            <a:ext cx="0" cy="428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7FFA15-8912-457A-BD54-117B585FCD0E}"/>
              </a:ext>
            </a:extLst>
          </p:cNvPr>
          <p:cNvCxnSpPr/>
          <p:nvPr/>
        </p:nvCxnSpPr>
        <p:spPr>
          <a:xfrm>
            <a:off x="4245338" y="3326859"/>
            <a:ext cx="0" cy="428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9DFD02-1116-4C92-BE94-0CF1DBC43D0B}"/>
              </a:ext>
            </a:extLst>
          </p:cNvPr>
          <p:cNvCxnSpPr/>
          <p:nvPr/>
        </p:nvCxnSpPr>
        <p:spPr>
          <a:xfrm>
            <a:off x="7183407" y="3326859"/>
            <a:ext cx="0" cy="428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57EDD9-9ECC-4B1F-B0FC-EAD8FBB282CA}"/>
              </a:ext>
            </a:extLst>
          </p:cNvPr>
          <p:cNvCxnSpPr/>
          <p:nvPr/>
        </p:nvCxnSpPr>
        <p:spPr>
          <a:xfrm>
            <a:off x="10451388" y="3326858"/>
            <a:ext cx="0" cy="428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5C960E-3FDF-4F65-A178-7EB0E2B58DE1}"/>
              </a:ext>
            </a:extLst>
          </p:cNvPr>
          <p:cNvCxnSpPr/>
          <p:nvPr/>
        </p:nvCxnSpPr>
        <p:spPr>
          <a:xfrm>
            <a:off x="1418148" y="3326859"/>
            <a:ext cx="903324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22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382552" y="4440832"/>
            <a:ext cx="2937165" cy="647700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596508" y="4568837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/>
          <p:cNvCxnSpPr>
            <a:stCxn id="31" idx="3"/>
            <a:endCxn id="7" idx="2"/>
          </p:cNvCxnSpPr>
          <p:nvPr/>
        </p:nvCxnSpPr>
        <p:spPr>
          <a:xfrm flipV="1">
            <a:off x="5186826" y="4765185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6"/>
            <a:endCxn id="32" idx="1"/>
          </p:cNvCxnSpPr>
          <p:nvPr/>
        </p:nvCxnSpPr>
        <p:spPr>
          <a:xfrm>
            <a:off x="6024317" y="4765185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74059" y="5470175"/>
            <a:ext cx="1367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One to One</a:t>
            </a:r>
          </a:p>
        </p:txBody>
      </p:sp>
      <p:sp>
        <p:nvSpPr>
          <p:cNvPr id="31" name="Diamond 30"/>
          <p:cNvSpPr/>
          <p:nvPr/>
        </p:nvSpPr>
        <p:spPr>
          <a:xfrm>
            <a:off x="4468567" y="4530704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Diamond 31"/>
          <p:cNvSpPr/>
          <p:nvPr/>
        </p:nvSpPr>
        <p:spPr>
          <a:xfrm>
            <a:off x="6403667" y="4530704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847436" y="1265382"/>
            <a:ext cx="10445404" cy="262716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One-to-One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Standard neural network with one input and one output;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not a true sequential model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Single input → Single output.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Example: Vanilla Neural Network.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 Applications</a:t>
            </a:r>
            <a:r>
              <a:rPr lang="en-US" dirty="0">
                <a:latin typeface="Arial Narrow" panose="020B0606020202030204" pitchFamily="34" charset="0"/>
              </a:rPr>
              <a:t>:</a:t>
            </a:r>
            <a:r>
              <a:rPr lang="en-IN" dirty="0">
                <a:latin typeface="Arial Narrow" panose="020B0606020202030204" pitchFamily="34" charset="0"/>
              </a:rPr>
              <a:t>Image classification, regression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94863" y="6476559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AE5228-A9D2-4170-9CB4-A50D78FCC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09998"/>
              </p:ext>
            </p:extLst>
          </p:nvPr>
        </p:nvGraphicFramePr>
        <p:xfrm>
          <a:off x="1809947" y="4075072"/>
          <a:ext cx="5414913" cy="365760"/>
        </p:xfrm>
        <a:graphic>
          <a:graphicData uri="http://schemas.openxmlformats.org/drawingml/2006/table">
            <a:tbl>
              <a:tblPr/>
              <a:tblGrid>
                <a:gridCol w="5414913">
                  <a:extLst>
                    <a:ext uri="{9D8B030D-6E8A-4147-A177-3AD203B41FA5}">
                      <a16:colId xmlns:a16="http://schemas.microsoft.com/office/drawing/2014/main" val="3233718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377059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6FD1A6D0-EF26-4ECA-95D3-0F0CB508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115744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32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199" y="1200728"/>
            <a:ext cx="7134226" cy="15793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One-to-Many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B0F0"/>
                </a:solidFill>
                <a:latin typeface="Arial Narrow" panose="020B0606020202030204" pitchFamily="34" charset="0"/>
              </a:rPr>
              <a:t>Single input → Sequence of outputs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The RNN generates an output sequence from a single input.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Example: Image captioning (input: image, output: sentence). </a:t>
            </a:r>
          </a:p>
          <a:p>
            <a:pPr>
              <a:lnSpc>
                <a:spcPct val="100000"/>
              </a:lnSpc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611952" y="3372716"/>
            <a:ext cx="2937165" cy="2284556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2825908" y="3507899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/>
          <p:cNvCxnSpPr>
            <a:stCxn id="28" idx="3"/>
            <a:endCxn id="24" idx="2"/>
          </p:cNvCxnSpPr>
          <p:nvPr/>
        </p:nvCxnSpPr>
        <p:spPr>
          <a:xfrm flipV="1">
            <a:off x="2416226" y="3704247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4" idx="6"/>
            <a:endCxn id="29" idx="1"/>
          </p:cNvCxnSpPr>
          <p:nvPr/>
        </p:nvCxnSpPr>
        <p:spPr>
          <a:xfrm>
            <a:off x="3253717" y="3704247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96910" y="5821140"/>
            <a:ext cx="1443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One to many</a:t>
            </a:r>
          </a:p>
        </p:txBody>
      </p:sp>
      <p:sp>
        <p:nvSpPr>
          <p:cNvPr id="28" name="Diamond 27"/>
          <p:cNvSpPr/>
          <p:nvPr/>
        </p:nvSpPr>
        <p:spPr>
          <a:xfrm>
            <a:off x="1697967" y="3469766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iamond 28"/>
          <p:cNvSpPr/>
          <p:nvPr/>
        </p:nvSpPr>
        <p:spPr>
          <a:xfrm>
            <a:off x="3633067" y="3469766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2825908" y="4176385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/>
          <p:cNvCxnSpPr>
            <a:stCxn id="30" idx="6"/>
            <a:endCxn id="32" idx="1"/>
          </p:cNvCxnSpPr>
          <p:nvPr/>
        </p:nvCxnSpPr>
        <p:spPr>
          <a:xfrm>
            <a:off x="3253717" y="4372733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3633067" y="4138252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/>
          <p:cNvCxnSpPr>
            <a:stCxn id="24" idx="4"/>
            <a:endCxn id="30" idx="0"/>
          </p:cNvCxnSpPr>
          <p:nvPr/>
        </p:nvCxnSpPr>
        <p:spPr>
          <a:xfrm>
            <a:off x="3039813" y="3900594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825908" y="4838537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6" idx="6"/>
            <a:endCxn id="38" idx="1"/>
          </p:cNvCxnSpPr>
          <p:nvPr/>
        </p:nvCxnSpPr>
        <p:spPr>
          <a:xfrm>
            <a:off x="3253717" y="5034885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3633067" y="4800404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Arrow Connector 38"/>
          <p:cNvCxnSpPr>
            <a:endCxn id="36" idx="0"/>
          </p:cNvCxnSpPr>
          <p:nvPr/>
        </p:nvCxnSpPr>
        <p:spPr>
          <a:xfrm>
            <a:off x="3039813" y="4562746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9E56B66-4D21-4B0E-9A7B-BFF308C3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115744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EE69D9-E0C0-4CE6-AF61-F2B821BEE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232" y="3469766"/>
            <a:ext cx="1247949" cy="18455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EFA92D-073C-4578-9200-C6478512C0C6}"/>
              </a:ext>
            </a:extLst>
          </p:cNvPr>
          <p:cNvSpPr/>
          <p:nvPr/>
        </p:nvSpPr>
        <p:spPr>
          <a:xfrm>
            <a:off x="6599578" y="5341944"/>
            <a:ext cx="1218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input: image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C18B6D-34B1-411F-A8C0-D5DCF878A549}"/>
              </a:ext>
            </a:extLst>
          </p:cNvPr>
          <p:cNvCxnSpPr/>
          <p:nvPr/>
        </p:nvCxnSpPr>
        <p:spPr>
          <a:xfrm>
            <a:off x="7972425" y="4372732"/>
            <a:ext cx="10396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78603F-1D10-4F19-9E97-8E9C77F7C685}"/>
              </a:ext>
            </a:extLst>
          </p:cNvPr>
          <p:cNvSpPr txBox="1"/>
          <p:nvPr/>
        </p:nvSpPr>
        <p:spPr>
          <a:xfrm>
            <a:off x="9219414" y="4138252"/>
            <a:ext cx="2507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</a:rPr>
              <a:t>This is a famous painting named “Monalisa”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0DC36-24C6-4CC6-8F04-CBBBD7920CC6}"/>
              </a:ext>
            </a:extLst>
          </p:cNvPr>
          <p:cNvSpPr/>
          <p:nvPr/>
        </p:nvSpPr>
        <p:spPr>
          <a:xfrm>
            <a:off x="9130422" y="5334430"/>
            <a:ext cx="2380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output: caption (sentence)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68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199" y="1200729"/>
            <a:ext cx="9839037" cy="15619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Many-to-One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B0F0"/>
                </a:solidFill>
                <a:latin typeface="Arial Narrow" panose="020B0606020202030204" pitchFamily="34" charset="0"/>
              </a:rPr>
              <a:t>Sequence of inputs → Single output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The RNN processes an input sequence and produces a single prediction.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Example: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Sentiment Analysis (Input :Text or Speech Sequence, Output : Sentiment)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24047" y="3215422"/>
            <a:ext cx="2937165" cy="2284556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/>
          <p:cNvSpPr/>
          <p:nvPr/>
        </p:nvSpPr>
        <p:spPr>
          <a:xfrm>
            <a:off x="3238003" y="3350605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Arrow Connector 39"/>
          <p:cNvCxnSpPr>
            <a:stCxn id="43" idx="3"/>
            <a:endCxn id="35" idx="2"/>
          </p:cNvCxnSpPr>
          <p:nvPr/>
        </p:nvCxnSpPr>
        <p:spPr>
          <a:xfrm flipV="1">
            <a:off x="2828321" y="3546953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44" idx="1"/>
          </p:cNvCxnSpPr>
          <p:nvPr/>
        </p:nvCxnSpPr>
        <p:spPr>
          <a:xfrm>
            <a:off x="3665732" y="4905587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09005" y="5663846"/>
            <a:ext cx="1443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Many to One</a:t>
            </a:r>
          </a:p>
        </p:txBody>
      </p:sp>
      <p:sp>
        <p:nvSpPr>
          <p:cNvPr id="43" name="Diamond 42"/>
          <p:cNvSpPr/>
          <p:nvPr/>
        </p:nvSpPr>
        <p:spPr>
          <a:xfrm>
            <a:off x="2110062" y="3312472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Diamond 43"/>
          <p:cNvSpPr/>
          <p:nvPr/>
        </p:nvSpPr>
        <p:spPr>
          <a:xfrm>
            <a:off x="4045082" y="4671106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/>
          <p:cNvSpPr/>
          <p:nvPr/>
        </p:nvSpPr>
        <p:spPr>
          <a:xfrm>
            <a:off x="3238003" y="4015914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Straight Arrow Connector 53"/>
          <p:cNvCxnSpPr>
            <a:stCxn id="55" idx="3"/>
            <a:endCxn id="53" idx="2"/>
          </p:cNvCxnSpPr>
          <p:nvPr/>
        </p:nvCxnSpPr>
        <p:spPr>
          <a:xfrm flipV="1">
            <a:off x="2828321" y="4212262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Diamond 54"/>
          <p:cNvSpPr/>
          <p:nvPr/>
        </p:nvSpPr>
        <p:spPr>
          <a:xfrm>
            <a:off x="2110062" y="3977781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/>
          <p:cNvSpPr/>
          <p:nvPr/>
        </p:nvSpPr>
        <p:spPr>
          <a:xfrm>
            <a:off x="3238003" y="4719356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/>
          <p:cNvCxnSpPr>
            <a:stCxn id="58" idx="3"/>
            <a:endCxn id="56" idx="2"/>
          </p:cNvCxnSpPr>
          <p:nvPr/>
        </p:nvCxnSpPr>
        <p:spPr>
          <a:xfrm flipV="1">
            <a:off x="2828321" y="4915704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Diamond 57"/>
          <p:cNvSpPr/>
          <p:nvPr/>
        </p:nvSpPr>
        <p:spPr>
          <a:xfrm>
            <a:off x="2110062" y="4681223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Arrow Connector 58"/>
          <p:cNvCxnSpPr>
            <a:stCxn id="56" idx="0"/>
            <a:endCxn id="53" idx="4"/>
          </p:cNvCxnSpPr>
          <p:nvPr/>
        </p:nvCxnSpPr>
        <p:spPr>
          <a:xfrm flipV="1">
            <a:off x="3451908" y="4408609"/>
            <a:ext cx="0" cy="31074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3" idx="0"/>
          </p:cNvCxnSpPr>
          <p:nvPr/>
        </p:nvCxnSpPr>
        <p:spPr>
          <a:xfrm flipH="1" flipV="1">
            <a:off x="3451907" y="3746350"/>
            <a:ext cx="1" cy="26956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C601DD03-0794-4FB1-B129-DB88BA20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115744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F438D-C001-41B8-A26F-3973038E2A43}"/>
              </a:ext>
            </a:extLst>
          </p:cNvPr>
          <p:cNvSpPr/>
          <p:nvPr/>
        </p:nvSpPr>
        <p:spPr>
          <a:xfrm>
            <a:off x="5773070" y="3194750"/>
            <a:ext cx="31213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D0D0D"/>
                </a:solidFill>
                <a:latin typeface="Arial Narrow" panose="020B0606020202030204" pitchFamily="34" charset="0"/>
              </a:rPr>
              <a:t>"I absolutely love this smartphone. </a:t>
            </a:r>
          </a:p>
          <a:p>
            <a:r>
              <a:rPr lang="en-GB" dirty="0">
                <a:solidFill>
                  <a:srgbClr val="0D0D0D"/>
                </a:solidFill>
                <a:latin typeface="Arial Narrow" panose="020B0606020202030204" pitchFamily="34" charset="0"/>
              </a:rPr>
              <a:t>The camera is amazing!"</a:t>
            </a:r>
            <a:endParaRPr lang="en-GB" dirty="0">
              <a:latin typeface="Arial Narrow" panose="020B0606020202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C5A68C-883A-4376-A5DE-83A119209D36}"/>
              </a:ext>
            </a:extLst>
          </p:cNvPr>
          <p:cNvCxnSpPr/>
          <p:nvPr/>
        </p:nvCxnSpPr>
        <p:spPr>
          <a:xfrm>
            <a:off x="9363679" y="3441587"/>
            <a:ext cx="7182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EE261-4424-4454-9BCD-0FF971687FDF}"/>
              </a:ext>
            </a:extLst>
          </p:cNvPr>
          <p:cNvSpPr/>
          <p:nvPr/>
        </p:nvSpPr>
        <p:spPr>
          <a:xfrm>
            <a:off x="10501021" y="3259394"/>
            <a:ext cx="848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Arial Narrow" panose="020B0606020202030204" pitchFamily="34" charset="0"/>
              </a:rPr>
              <a:t>Positive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9B99E-B2A1-4BA7-A4C8-54DBEF750D5D}"/>
              </a:ext>
            </a:extLst>
          </p:cNvPr>
          <p:cNvSpPr/>
          <p:nvPr/>
        </p:nvSpPr>
        <p:spPr>
          <a:xfrm>
            <a:off x="5757717" y="4165313"/>
            <a:ext cx="35224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D0D0D"/>
                </a:solidFill>
                <a:latin typeface="Arial Narrow" panose="020B0606020202030204" pitchFamily="34" charset="0"/>
              </a:rPr>
              <a:t>"The product stopped working after</a:t>
            </a:r>
          </a:p>
          <a:p>
            <a:r>
              <a:rPr lang="en-GB" dirty="0">
                <a:solidFill>
                  <a:srgbClr val="0D0D0D"/>
                </a:solidFill>
                <a:latin typeface="Arial Narrow" panose="020B0606020202030204" pitchFamily="34" charset="0"/>
              </a:rPr>
              <a:t> two days. Very disappointing."</a:t>
            </a:r>
            <a:endParaRPr lang="en-GB" dirty="0">
              <a:latin typeface="Arial Narrow" panose="020B0606020202030204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32BB5F-4EC1-4D72-ADDF-30DE28D6B128}"/>
              </a:ext>
            </a:extLst>
          </p:cNvPr>
          <p:cNvCxnSpPr/>
          <p:nvPr/>
        </p:nvCxnSpPr>
        <p:spPr>
          <a:xfrm>
            <a:off x="9401054" y="4427568"/>
            <a:ext cx="7182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85283AD1-C3BC-44D3-ABE8-5812B79DB6E1}"/>
              </a:ext>
            </a:extLst>
          </p:cNvPr>
          <p:cNvSpPr/>
          <p:nvPr/>
        </p:nvSpPr>
        <p:spPr>
          <a:xfrm>
            <a:off x="10489756" y="4245375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 Narrow" panose="020B0606020202030204" pitchFamily="34" charset="0"/>
              </a:rPr>
              <a:t>Negative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BD2FE-4D18-4DA4-90AF-57726F35D852}"/>
              </a:ext>
            </a:extLst>
          </p:cNvPr>
          <p:cNvSpPr/>
          <p:nvPr/>
        </p:nvSpPr>
        <p:spPr>
          <a:xfrm>
            <a:off x="6570287" y="5035425"/>
            <a:ext cx="1165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 :Text </a:t>
            </a:r>
          </a:p>
          <a:p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(Sequence)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FD3790-21A7-4430-9E12-FF239AFF0687}"/>
              </a:ext>
            </a:extLst>
          </p:cNvPr>
          <p:cNvSpPr/>
          <p:nvPr/>
        </p:nvSpPr>
        <p:spPr>
          <a:xfrm>
            <a:off x="10167953" y="4968583"/>
            <a:ext cx="18213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Output : Sentiment </a:t>
            </a:r>
          </a:p>
          <a:p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(Sigle word)</a:t>
            </a:r>
            <a:endParaRPr lang="en-GB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29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88336" y="946215"/>
            <a:ext cx="8987260" cy="152220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Many-to-Many (Same Length)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B0F0"/>
                </a:solidFill>
                <a:latin typeface="Arial Narrow" panose="020B0606020202030204" pitchFamily="34" charset="0"/>
              </a:rPr>
              <a:t>Sequence of inputs → Sequence of outputs (same length)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The RNN maps an input sequence to an output sequence of same length.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Example: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Video frame labeling (Input : video sequence, Output : word/other sequence).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107049" y="6443906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7821CB45-3DE6-405F-961D-9A2544BC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106317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2BB97EA-6008-4BC3-BF32-79534CF19AAE}"/>
              </a:ext>
            </a:extLst>
          </p:cNvPr>
          <p:cNvSpPr/>
          <p:nvPr/>
        </p:nvSpPr>
        <p:spPr>
          <a:xfrm>
            <a:off x="1135833" y="2963495"/>
            <a:ext cx="2841758" cy="2003491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F40D1AE-D2F7-4CC7-9E79-7033DC589C25}"/>
              </a:ext>
            </a:extLst>
          </p:cNvPr>
          <p:cNvSpPr/>
          <p:nvPr/>
        </p:nvSpPr>
        <p:spPr>
          <a:xfrm>
            <a:off x="2349788" y="3098678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3D132CB-E150-48E3-A382-C5A416DC314D}"/>
              </a:ext>
            </a:extLst>
          </p:cNvPr>
          <p:cNvCxnSpPr>
            <a:stCxn id="88" idx="3"/>
            <a:endCxn id="84" idx="2"/>
          </p:cNvCxnSpPr>
          <p:nvPr/>
        </p:nvCxnSpPr>
        <p:spPr>
          <a:xfrm flipV="1">
            <a:off x="1940106" y="3295026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12D57C0-DFBC-44C7-A969-4E7FFE425A1B}"/>
              </a:ext>
            </a:extLst>
          </p:cNvPr>
          <p:cNvCxnSpPr>
            <a:stCxn id="84" idx="6"/>
            <a:endCxn id="89" idx="1"/>
          </p:cNvCxnSpPr>
          <p:nvPr/>
        </p:nvCxnSpPr>
        <p:spPr>
          <a:xfrm>
            <a:off x="2777597" y="3295026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85D5C6AD-91AA-42B8-BB82-C3B183B64FE8}"/>
              </a:ext>
            </a:extLst>
          </p:cNvPr>
          <p:cNvSpPr txBox="1"/>
          <p:nvPr/>
        </p:nvSpPr>
        <p:spPr>
          <a:xfrm>
            <a:off x="1135833" y="5217965"/>
            <a:ext cx="3037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Many to Many (Same Length)</a:t>
            </a:r>
          </a:p>
        </p:txBody>
      </p:sp>
      <p:sp>
        <p:nvSpPr>
          <p:cNvPr id="88" name="Diamond 87">
            <a:extLst>
              <a:ext uri="{FF2B5EF4-FFF2-40B4-BE49-F238E27FC236}">
                <a16:creationId xmlns:a16="http://schemas.microsoft.com/office/drawing/2014/main" id="{9E9D2576-5D46-4AB3-8A53-B3A7E8B268DC}"/>
              </a:ext>
            </a:extLst>
          </p:cNvPr>
          <p:cNvSpPr/>
          <p:nvPr/>
        </p:nvSpPr>
        <p:spPr>
          <a:xfrm>
            <a:off x="1221847" y="3060545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Diamond 88">
            <a:extLst>
              <a:ext uri="{FF2B5EF4-FFF2-40B4-BE49-F238E27FC236}">
                <a16:creationId xmlns:a16="http://schemas.microsoft.com/office/drawing/2014/main" id="{C82021B9-01D7-4F54-934D-358A43395B6F}"/>
              </a:ext>
            </a:extLst>
          </p:cNvPr>
          <p:cNvSpPr/>
          <p:nvPr/>
        </p:nvSpPr>
        <p:spPr>
          <a:xfrm>
            <a:off x="3156947" y="3060545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BD355DC-7C7C-46EB-ABCA-A4472D21FD34}"/>
              </a:ext>
            </a:extLst>
          </p:cNvPr>
          <p:cNvSpPr/>
          <p:nvPr/>
        </p:nvSpPr>
        <p:spPr>
          <a:xfrm>
            <a:off x="2349788" y="3763987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FBE08D0-723B-448A-88C2-912D470D1628}"/>
              </a:ext>
            </a:extLst>
          </p:cNvPr>
          <p:cNvCxnSpPr>
            <a:stCxn id="92" idx="3"/>
            <a:endCxn id="90" idx="2"/>
          </p:cNvCxnSpPr>
          <p:nvPr/>
        </p:nvCxnSpPr>
        <p:spPr>
          <a:xfrm flipV="1">
            <a:off x="1940106" y="3960335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Diamond 91">
            <a:extLst>
              <a:ext uri="{FF2B5EF4-FFF2-40B4-BE49-F238E27FC236}">
                <a16:creationId xmlns:a16="http://schemas.microsoft.com/office/drawing/2014/main" id="{4585D59E-9607-4DC3-B3DB-9B375F326CF2}"/>
              </a:ext>
            </a:extLst>
          </p:cNvPr>
          <p:cNvSpPr/>
          <p:nvPr/>
        </p:nvSpPr>
        <p:spPr>
          <a:xfrm>
            <a:off x="1221847" y="3725854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67D4A98-6E37-49BF-9408-DD8F4D2B4D66}"/>
              </a:ext>
            </a:extLst>
          </p:cNvPr>
          <p:cNvSpPr/>
          <p:nvPr/>
        </p:nvSpPr>
        <p:spPr>
          <a:xfrm>
            <a:off x="2349788" y="4467429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BAA24AD-197F-4F60-9644-106436C2B323}"/>
              </a:ext>
            </a:extLst>
          </p:cNvPr>
          <p:cNvCxnSpPr>
            <a:stCxn id="104" idx="3"/>
            <a:endCxn id="93" idx="2"/>
          </p:cNvCxnSpPr>
          <p:nvPr/>
        </p:nvCxnSpPr>
        <p:spPr>
          <a:xfrm flipV="1">
            <a:off x="1940106" y="4663777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Diamond 103">
            <a:extLst>
              <a:ext uri="{FF2B5EF4-FFF2-40B4-BE49-F238E27FC236}">
                <a16:creationId xmlns:a16="http://schemas.microsoft.com/office/drawing/2014/main" id="{6FC6324D-CD8F-4711-B38D-35CE82A81734}"/>
              </a:ext>
            </a:extLst>
          </p:cNvPr>
          <p:cNvSpPr/>
          <p:nvPr/>
        </p:nvSpPr>
        <p:spPr>
          <a:xfrm>
            <a:off x="1221847" y="4429296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F75D31E-C987-44D7-8C32-9349CBAC62B0}"/>
              </a:ext>
            </a:extLst>
          </p:cNvPr>
          <p:cNvCxnSpPr>
            <a:stCxn id="93" idx="0"/>
            <a:endCxn id="90" idx="4"/>
          </p:cNvCxnSpPr>
          <p:nvPr/>
        </p:nvCxnSpPr>
        <p:spPr>
          <a:xfrm flipV="1">
            <a:off x="2563693" y="4156682"/>
            <a:ext cx="0" cy="31074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747AB46-598B-4497-A3AA-03D2A75F9BD1}"/>
              </a:ext>
            </a:extLst>
          </p:cNvPr>
          <p:cNvCxnSpPr>
            <a:stCxn id="90" idx="0"/>
          </p:cNvCxnSpPr>
          <p:nvPr/>
        </p:nvCxnSpPr>
        <p:spPr>
          <a:xfrm flipH="1" flipV="1">
            <a:off x="2563692" y="3494423"/>
            <a:ext cx="1" cy="26956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849E784-F9A9-4060-B317-BF411A028183}"/>
              </a:ext>
            </a:extLst>
          </p:cNvPr>
          <p:cNvCxnSpPr>
            <a:endCxn id="108" idx="1"/>
          </p:cNvCxnSpPr>
          <p:nvPr/>
        </p:nvCxnSpPr>
        <p:spPr>
          <a:xfrm>
            <a:off x="2778541" y="3954001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iamond 107">
            <a:extLst>
              <a:ext uri="{FF2B5EF4-FFF2-40B4-BE49-F238E27FC236}">
                <a16:creationId xmlns:a16="http://schemas.microsoft.com/office/drawing/2014/main" id="{2B6FE205-3527-4BFE-A1DB-5F088B5F1FCF}"/>
              </a:ext>
            </a:extLst>
          </p:cNvPr>
          <p:cNvSpPr/>
          <p:nvPr/>
        </p:nvSpPr>
        <p:spPr>
          <a:xfrm>
            <a:off x="3157891" y="3719520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209DE2F-FC4C-4EB3-95AD-6F5CACFCF3C9}"/>
              </a:ext>
            </a:extLst>
          </p:cNvPr>
          <p:cNvCxnSpPr>
            <a:endCxn id="110" idx="1"/>
          </p:cNvCxnSpPr>
          <p:nvPr/>
        </p:nvCxnSpPr>
        <p:spPr>
          <a:xfrm>
            <a:off x="2777597" y="4657443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Diamond 109">
            <a:extLst>
              <a:ext uri="{FF2B5EF4-FFF2-40B4-BE49-F238E27FC236}">
                <a16:creationId xmlns:a16="http://schemas.microsoft.com/office/drawing/2014/main" id="{73A998D7-A218-4DC6-A154-348F8DCD6014}"/>
              </a:ext>
            </a:extLst>
          </p:cNvPr>
          <p:cNvSpPr/>
          <p:nvPr/>
        </p:nvSpPr>
        <p:spPr>
          <a:xfrm>
            <a:off x="3156947" y="4422962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E94971-CACD-4799-A728-16E1DBD3C252}"/>
              </a:ext>
            </a:extLst>
          </p:cNvPr>
          <p:cNvSpPr/>
          <p:nvPr/>
        </p:nvSpPr>
        <p:spPr>
          <a:xfrm>
            <a:off x="4730439" y="6260675"/>
            <a:ext cx="73545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Arial Narrow" panose="020B0606020202030204" pitchFamily="34" charset="0"/>
              </a:rPr>
              <a:t>Image Source: Greenspan, H. &amp; Goldberger, Jacob &amp; Mayer, Arnaldo. (2004). Probabilistic space-time video </a:t>
            </a:r>
            <a:r>
              <a:rPr lang="en-GB" sz="1200" dirty="0" err="1">
                <a:latin typeface="Arial Narrow" panose="020B0606020202030204" pitchFamily="34" charset="0"/>
              </a:rPr>
              <a:t>modeling</a:t>
            </a:r>
            <a:r>
              <a:rPr lang="en-GB" sz="1200" dirty="0">
                <a:latin typeface="Arial Narrow" panose="020B0606020202030204" pitchFamily="34" charset="0"/>
              </a:rPr>
              <a:t> via piecewise </a:t>
            </a:r>
            <a:r>
              <a:rPr lang="en-GB" sz="1200" dirty="0" err="1">
                <a:latin typeface="Arial Narrow" panose="020B0606020202030204" pitchFamily="34" charset="0"/>
              </a:rPr>
              <a:t>gmm</a:t>
            </a:r>
            <a:r>
              <a:rPr lang="en-GB" sz="1200" dirty="0">
                <a:latin typeface="Arial Narrow" panose="020B0606020202030204" pitchFamily="34" charset="0"/>
              </a:rPr>
              <a:t>. IEEE Transactions on Pattern Analysis and Machine Intelligence. 26. 384-396. 10.1109/TPAMI.2004.1262334.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25926-661F-487B-B0D4-9B9BBA86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388" y="2813456"/>
            <a:ext cx="4098683" cy="248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171271-99D0-4F21-A1DF-47ECEFE05535}"/>
              </a:ext>
            </a:extLst>
          </p:cNvPr>
          <p:cNvSpPr/>
          <p:nvPr/>
        </p:nvSpPr>
        <p:spPr>
          <a:xfrm>
            <a:off x="9432200" y="3172842"/>
            <a:ext cx="20970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: video sequence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63FC9-403B-4886-85F6-F5E77CA5D7A3}"/>
              </a:ext>
            </a:extLst>
          </p:cNvPr>
          <p:cNvSpPr/>
          <p:nvPr/>
        </p:nvSpPr>
        <p:spPr>
          <a:xfrm>
            <a:off x="9432200" y="4490792"/>
            <a:ext cx="18918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: frame-wise </a:t>
            </a:r>
          </a:p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segmentation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614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88335" y="946215"/>
            <a:ext cx="9863553" cy="152220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Many-to-Many (Different Length / Seq2Seq)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Multiple inputs (a sequence) → Multiple outputs (a sequence).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The RNN maps an input sequence to an output sequence (may be of different length).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Example: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Machine translation (Input: text in Hindi Output: text in English)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606493" y="2512171"/>
            <a:ext cx="2840290" cy="4171433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/>
          <p:cNvSpPr/>
          <p:nvPr/>
        </p:nvSpPr>
        <p:spPr>
          <a:xfrm>
            <a:off x="2820448" y="2647355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0" name="Straight Arrow Connector 69"/>
          <p:cNvCxnSpPr>
            <a:stCxn id="73" idx="3"/>
            <a:endCxn id="69" idx="2"/>
          </p:cNvCxnSpPr>
          <p:nvPr/>
        </p:nvCxnSpPr>
        <p:spPr>
          <a:xfrm flipV="1">
            <a:off x="2410766" y="2843703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8" idx="6"/>
            <a:endCxn id="74" idx="1"/>
          </p:cNvCxnSpPr>
          <p:nvPr/>
        </p:nvCxnSpPr>
        <p:spPr>
          <a:xfrm flipV="1">
            <a:off x="3248257" y="4211944"/>
            <a:ext cx="373345" cy="51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660688" y="4176860"/>
            <a:ext cx="2540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Many-to-Many (Different Length / Seq2Seq)</a:t>
            </a:r>
          </a:p>
        </p:txBody>
      </p:sp>
      <p:sp>
        <p:nvSpPr>
          <p:cNvPr id="73" name="Diamond 72"/>
          <p:cNvSpPr/>
          <p:nvPr/>
        </p:nvSpPr>
        <p:spPr>
          <a:xfrm>
            <a:off x="1692507" y="2609222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Diamond 73"/>
          <p:cNvSpPr/>
          <p:nvPr/>
        </p:nvSpPr>
        <p:spPr>
          <a:xfrm>
            <a:off x="3621602" y="3971129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/>
          <p:cNvSpPr/>
          <p:nvPr/>
        </p:nvSpPr>
        <p:spPr>
          <a:xfrm>
            <a:off x="2820448" y="3312664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6" name="Straight Arrow Connector 75"/>
          <p:cNvCxnSpPr>
            <a:stCxn id="77" idx="3"/>
            <a:endCxn id="75" idx="2"/>
          </p:cNvCxnSpPr>
          <p:nvPr/>
        </p:nvCxnSpPr>
        <p:spPr>
          <a:xfrm flipV="1">
            <a:off x="2410766" y="3509012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Diamond 76"/>
          <p:cNvSpPr/>
          <p:nvPr/>
        </p:nvSpPr>
        <p:spPr>
          <a:xfrm>
            <a:off x="1692507" y="3274531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/>
          <p:cNvSpPr/>
          <p:nvPr/>
        </p:nvSpPr>
        <p:spPr>
          <a:xfrm>
            <a:off x="2820448" y="4016106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Straight Arrow Connector 78"/>
          <p:cNvCxnSpPr>
            <a:stCxn id="80" idx="3"/>
            <a:endCxn id="78" idx="2"/>
          </p:cNvCxnSpPr>
          <p:nvPr/>
        </p:nvCxnSpPr>
        <p:spPr>
          <a:xfrm flipV="1">
            <a:off x="2410766" y="4212454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Diamond 79"/>
          <p:cNvSpPr/>
          <p:nvPr/>
        </p:nvSpPr>
        <p:spPr>
          <a:xfrm>
            <a:off x="1692507" y="3977973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1" name="Straight Arrow Connector 80"/>
          <p:cNvCxnSpPr>
            <a:stCxn id="78" idx="0"/>
            <a:endCxn id="75" idx="4"/>
          </p:cNvCxnSpPr>
          <p:nvPr/>
        </p:nvCxnSpPr>
        <p:spPr>
          <a:xfrm flipV="1">
            <a:off x="3034353" y="3705359"/>
            <a:ext cx="0" cy="31074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5" idx="0"/>
          </p:cNvCxnSpPr>
          <p:nvPr/>
        </p:nvCxnSpPr>
        <p:spPr>
          <a:xfrm flipH="1" flipV="1">
            <a:off x="3034352" y="3043100"/>
            <a:ext cx="1" cy="26956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2797956" y="4696256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6" name="Straight Arrow Connector 95"/>
          <p:cNvCxnSpPr>
            <a:stCxn id="95" idx="6"/>
            <a:endCxn id="97" idx="1"/>
          </p:cNvCxnSpPr>
          <p:nvPr/>
        </p:nvCxnSpPr>
        <p:spPr>
          <a:xfrm>
            <a:off x="3225765" y="4892604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Diamond 96"/>
          <p:cNvSpPr/>
          <p:nvPr/>
        </p:nvSpPr>
        <p:spPr>
          <a:xfrm>
            <a:off x="3605115" y="4658123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8" name="Straight Arrow Connector 97"/>
          <p:cNvCxnSpPr>
            <a:endCxn id="95" idx="0"/>
          </p:cNvCxnSpPr>
          <p:nvPr/>
        </p:nvCxnSpPr>
        <p:spPr>
          <a:xfrm>
            <a:off x="3011861" y="4420465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2797956" y="5358408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0" name="Straight Arrow Connector 99"/>
          <p:cNvCxnSpPr>
            <a:cxnSpLocks/>
          </p:cNvCxnSpPr>
          <p:nvPr/>
        </p:nvCxnSpPr>
        <p:spPr>
          <a:xfrm>
            <a:off x="3225765" y="5564183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iamond 100"/>
          <p:cNvSpPr/>
          <p:nvPr/>
        </p:nvSpPr>
        <p:spPr>
          <a:xfrm>
            <a:off x="3605115" y="5320275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2" name="Straight Arrow Connector 101"/>
          <p:cNvCxnSpPr>
            <a:endCxn id="99" idx="0"/>
          </p:cNvCxnSpPr>
          <p:nvPr/>
        </p:nvCxnSpPr>
        <p:spPr>
          <a:xfrm>
            <a:off x="3011861" y="5082617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C4713F1-F74D-4789-8D6E-9B83B82F7C7D}"/>
              </a:ext>
            </a:extLst>
          </p:cNvPr>
          <p:cNvSpPr/>
          <p:nvPr/>
        </p:nvSpPr>
        <p:spPr>
          <a:xfrm>
            <a:off x="2816810" y="6028523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3BAC904-2700-4698-8774-C6EE3F58C37D}"/>
              </a:ext>
            </a:extLst>
          </p:cNvPr>
          <p:cNvCxnSpPr>
            <a:stCxn id="123" idx="6"/>
            <a:endCxn id="125" idx="1"/>
          </p:cNvCxnSpPr>
          <p:nvPr/>
        </p:nvCxnSpPr>
        <p:spPr>
          <a:xfrm>
            <a:off x="3244619" y="6224871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Diamond 124">
            <a:extLst>
              <a:ext uri="{FF2B5EF4-FFF2-40B4-BE49-F238E27FC236}">
                <a16:creationId xmlns:a16="http://schemas.microsoft.com/office/drawing/2014/main" id="{EBD576E9-DFEB-4386-B208-001096FF8803}"/>
              </a:ext>
            </a:extLst>
          </p:cNvPr>
          <p:cNvSpPr/>
          <p:nvPr/>
        </p:nvSpPr>
        <p:spPr>
          <a:xfrm>
            <a:off x="3623969" y="5990390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A24CEBC-5356-4AA6-A803-B3A7F94AF176}"/>
              </a:ext>
            </a:extLst>
          </p:cNvPr>
          <p:cNvCxnSpPr>
            <a:endCxn id="123" idx="0"/>
          </p:cNvCxnSpPr>
          <p:nvPr/>
        </p:nvCxnSpPr>
        <p:spPr>
          <a:xfrm>
            <a:off x="3030715" y="5752732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itle 1">
            <a:extLst>
              <a:ext uri="{FF2B5EF4-FFF2-40B4-BE49-F238E27FC236}">
                <a16:creationId xmlns:a16="http://schemas.microsoft.com/office/drawing/2014/main" id="{AABF3B78-B0C2-4D95-9682-B42FAD6E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106317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60440D-A187-4EE8-AC3C-853002D3296D}"/>
              </a:ext>
            </a:extLst>
          </p:cNvPr>
          <p:cNvSpPr/>
          <p:nvPr/>
        </p:nvSpPr>
        <p:spPr>
          <a:xfrm>
            <a:off x="7349340" y="3030133"/>
            <a:ext cx="2880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>
                <a:solidFill>
                  <a:schemeClr val="accent2"/>
                </a:solidFill>
              </a:rPr>
              <a:t>मुझे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 err="1">
                <a:solidFill>
                  <a:schemeClr val="accent2"/>
                </a:solidFill>
              </a:rPr>
              <a:t>गण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 err="1">
                <a:solidFill>
                  <a:schemeClr val="accent2"/>
                </a:solidFill>
              </a:rPr>
              <a:t>सुन्ना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 err="1">
                <a:solidFill>
                  <a:schemeClr val="accent2"/>
                </a:solidFill>
              </a:rPr>
              <a:t>अच्छा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 err="1">
                <a:solidFill>
                  <a:schemeClr val="accent2"/>
                </a:solidFill>
              </a:rPr>
              <a:t>लगता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 err="1">
                <a:solidFill>
                  <a:schemeClr val="accent2"/>
                </a:solidFill>
              </a:rPr>
              <a:t>हैं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3D8CB-89B8-4897-B6E1-78A14446C249}"/>
              </a:ext>
            </a:extLst>
          </p:cNvPr>
          <p:cNvSpPr/>
          <p:nvPr/>
        </p:nvSpPr>
        <p:spPr>
          <a:xfrm>
            <a:off x="7525943" y="4420465"/>
            <a:ext cx="2263761" cy="4035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dirty="0">
                <a:solidFill>
                  <a:srgbClr val="7030A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I enjoy listening to songs</a:t>
            </a:r>
            <a:endParaRPr lang="en-GB" sz="1000" dirty="0">
              <a:solidFill>
                <a:srgbClr val="7030A0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046CA-E3B5-474A-8BCF-01570D2B8B3C}"/>
              </a:ext>
            </a:extLst>
          </p:cNvPr>
          <p:cNvSpPr/>
          <p:nvPr/>
        </p:nvSpPr>
        <p:spPr>
          <a:xfrm>
            <a:off x="7800586" y="2721519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Input: text in Hindi 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58419-8CBC-4870-BC0D-0C9DEF192B79}"/>
              </a:ext>
            </a:extLst>
          </p:cNvPr>
          <p:cNvSpPr/>
          <p:nvPr/>
        </p:nvSpPr>
        <p:spPr>
          <a:xfrm>
            <a:off x="7657919" y="4851180"/>
            <a:ext cx="2042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Output: text in English</a:t>
            </a:r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6FE930-B39A-4E6B-995C-4F988D1892FF}"/>
              </a:ext>
            </a:extLst>
          </p:cNvPr>
          <p:cNvCxnSpPr>
            <a:cxnSpLocks/>
          </p:cNvCxnSpPr>
          <p:nvPr/>
        </p:nvCxnSpPr>
        <p:spPr>
          <a:xfrm>
            <a:off x="8664355" y="3635906"/>
            <a:ext cx="1" cy="71510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38DAB2-8107-4BBD-966E-2F78651EB553}"/>
              </a:ext>
            </a:extLst>
          </p:cNvPr>
          <p:cNvSpPr txBox="1"/>
          <p:nvPr/>
        </p:nvSpPr>
        <p:spPr>
          <a:xfrm>
            <a:off x="6445405" y="5564183"/>
            <a:ext cx="533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Arial Narrow" panose="020B0606020202030204" pitchFamily="34" charset="0"/>
              </a:rPr>
              <a:t>Number of words are different in input and output sequence</a:t>
            </a:r>
          </a:p>
        </p:txBody>
      </p:sp>
    </p:spTree>
    <p:extLst>
      <p:ext uri="{BB962C8B-B14F-4D97-AF65-F5344CB8AC3E}">
        <p14:creationId xmlns:p14="http://schemas.microsoft.com/office/powerpoint/2010/main" val="176279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58382" y="880598"/>
            <a:ext cx="2986686" cy="5747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Arial Narrow" panose="020B0606020202030204" pitchFamily="34" charset="0"/>
              </a:rPr>
              <a:t>All in one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3302" y="4595414"/>
            <a:ext cx="2937165" cy="647700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217258" y="4723419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/>
          <p:cNvCxnSpPr>
            <a:stCxn id="21" idx="3"/>
            <a:endCxn id="17" idx="2"/>
          </p:cNvCxnSpPr>
          <p:nvPr/>
        </p:nvCxnSpPr>
        <p:spPr>
          <a:xfrm flipV="1">
            <a:off x="2807576" y="4919767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6"/>
            <a:endCxn id="22" idx="1"/>
          </p:cNvCxnSpPr>
          <p:nvPr/>
        </p:nvCxnSpPr>
        <p:spPr>
          <a:xfrm>
            <a:off x="3645067" y="4919767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88261" y="5243114"/>
            <a:ext cx="1367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One to One</a:t>
            </a:r>
          </a:p>
        </p:txBody>
      </p:sp>
      <p:sp>
        <p:nvSpPr>
          <p:cNvPr id="21" name="Diamond 20"/>
          <p:cNvSpPr/>
          <p:nvPr/>
        </p:nvSpPr>
        <p:spPr>
          <a:xfrm>
            <a:off x="2089317" y="4685286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iamond 21"/>
          <p:cNvSpPr/>
          <p:nvPr/>
        </p:nvSpPr>
        <p:spPr>
          <a:xfrm>
            <a:off x="4024417" y="4685286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29094" y="1735219"/>
            <a:ext cx="2861461" cy="2003491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1443050" y="1870402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/>
          <p:cNvCxnSpPr>
            <a:stCxn id="28" idx="3"/>
            <a:endCxn id="24" idx="2"/>
          </p:cNvCxnSpPr>
          <p:nvPr/>
        </p:nvCxnSpPr>
        <p:spPr>
          <a:xfrm flipV="1">
            <a:off x="1033368" y="2066750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4" idx="6"/>
            <a:endCxn id="29" idx="1"/>
          </p:cNvCxnSpPr>
          <p:nvPr/>
        </p:nvCxnSpPr>
        <p:spPr>
          <a:xfrm>
            <a:off x="1870859" y="2066750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4052" y="3850268"/>
            <a:ext cx="1443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One to Many</a:t>
            </a:r>
          </a:p>
        </p:txBody>
      </p:sp>
      <p:sp>
        <p:nvSpPr>
          <p:cNvPr id="28" name="Diamond 27"/>
          <p:cNvSpPr/>
          <p:nvPr/>
        </p:nvSpPr>
        <p:spPr>
          <a:xfrm>
            <a:off x="315109" y="1832269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iamond 28"/>
          <p:cNvSpPr/>
          <p:nvPr/>
        </p:nvSpPr>
        <p:spPr>
          <a:xfrm>
            <a:off x="2250209" y="1832269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1443050" y="2538888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/>
          <p:cNvCxnSpPr>
            <a:stCxn id="30" idx="6"/>
            <a:endCxn id="32" idx="1"/>
          </p:cNvCxnSpPr>
          <p:nvPr/>
        </p:nvCxnSpPr>
        <p:spPr>
          <a:xfrm>
            <a:off x="1870859" y="2735236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2250209" y="2500755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/>
          <p:cNvCxnSpPr>
            <a:stCxn id="24" idx="4"/>
            <a:endCxn id="30" idx="0"/>
          </p:cNvCxnSpPr>
          <p:nvPr/>
        </p:nvCxnSpPr>
        <p:spPr>
          <a:xfrm>
            <a:off x="1656955" y="2263097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443050" y="3201040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6" idx="6"/>
            <a:endCxn id="38" idx="1"/>
          </p:cNvCxnSpPr>
          <p:nvPr/>
        </p:nvCxnSpPr>
        <p:spPr>
          <a:xfrm>
            <a:off x="1870859" y="3397388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2250209" y="3162907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Arrow Connector 38"/>
          <p:cNvCxnSpPr>
            <a:endCxn id="36" idx="0"/>
          </p:cNvCxnSpPr>
          <p:nvPr/>
        </p:nvCxnSpPr>
        <p:spPr>
          <a:xfrm>
            <a:off x="1656955" y="2925249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9224030" y="1832269"/>
            <a:ext cx="2841758" cy="2003491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/>
          <p:cNvSpPr/>
          <p:nvPr/>
        </p:nvSpPr>
        <p:spPr>
          <a:xfrm>
            <a:off x="10437985" y="1967452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Arrow Connector 65"/>
          <p:cNvCxnSpPr>
            <a:stCxn id="84" idx="3"/>
            <a:endCxn id="65" idx="2"/>
          </p:cNvCxnSpPr>
          <p:nvPr/>
        </p:nvCxnSpPr>
        <p:spPr>
          <a:xfrm flipV="1">
            <a:off x="10028303" y="2163800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5" idx="6"/>
            <a:endCxn id="85" idx="1"/>
          </p:cNvCxnSpPr>
          <p:nvPr/>
        </p:nvCxnSpPr>
        <p:spPr>
          <a:xfrm>
            <a:off x="10865794" y="2163800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008987" y="3947318"/>
            <a:ext cx="155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Many to Many</a:t>
            </a:r>
          </a:p>
        </p:txBody>
      </p:sp>
      <p:sp>
        <p:nvSpPr>
          <p:cNvPr id="84" name="Diamond 83"/>
          <p:cNvSpPr/>
          <p:nvPr/>
        </p:nvSpPr>
        <p:spPr>
          <a:xfrm>
            <a:off x="9310044" y="1929319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Diamond 84"/>
          <p:cNvSpPr/>
          <p:nvPr/>
        </p:nvSpPr>
        <p:spPr>
          <a:xfrm>
            <a:off x="11245144" y="1929319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/>
          <p:cNvSpPr/>
          <p:nvPr/>
        </p:nvSpPr>
        <p:spPr>
          <a:xfrm>
            <a:off x="10437985" y="2632761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7" name="Straight Arrow Connector 86"/>
          <p:cNvCxnSpPr>
            <a:stCxn id="88" idx="3"/>
            <a:endCxn id="86" idx="2"/>
          </p:cNvCxnSpPr>
          <p:nvPr/>
        </p:nvCxnSpPr>
        <p:spPr>
          <a:xfrm flipV="1">
            <a:off x="10028303" y="2829109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Diamond 87"/>
          <p:cNvSpPr/>
          <p:nvPr/>
        </p:nvSpPr>
        <p:spPr>
          <a:xfrm>
            <a:off x="9310044" y="2594628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Oval 88"/>
          <p:cNvSpPr/>
          <p:nvPr/>
        </p:nvSpPr>
        <p:spPr>
          <a:xfrm>
            <a:off x="10437985" y="3336203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0" name="Straight Arrow Connector 89"/>
          <p:cNvCxnSpPr>
            <a:stCxn id="91" idx="3"/>
            <a:endCxn id="89" idx="2"/>
          </p:cNvCxnSpPr>
          <p:nvPr/>
        </p:nvCxnSpPr>
        <p:spPr>
          <a:xfrm flipV="1">
            <a:off x="10028303" y="3532551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Diamond 90"/>
          <p:cNvSpPr/>
          <p:nvPr/>
        </p:nvSpPr>
        <p:spPr>
          <a:xfrm>
            <a:off x="9310044" y="3298070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2" name="Straight Arrow Connector 91"/>
          <p:cNvCxnSpPr>
            <a:stCxn id="89" idx="0"/>
            <a:endCxn id="86" idx="4"/>
          </p:cNvCxnSpPr>
          <p:nvPr/>
        </p:nvCxnSpPr>
        <p:spPr>
          <a:xfrm flipV="1">
            <a:off x="10651890" y="3025456"/>
            <a:ext cx="0" cy="31074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86" idx="0"/>
          </p:cNvCxnSpPr>
          <p:nvPr/>
        </p:nvCxnSpPr>
        <p:spPr>
          <a:xfrm flipH="1" flipV="1">
            <a:off x="10651889" y="2363197"/>
            <a:ext cx="1" cy="26956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103" idx="1"/>
          </p:cNvCxnSpPr>
          <p:nvPr/>
        </p:nvCxnSpPr>
        <p:spPr>
          <a:xfrm>
            <a:off x="10866738" y="2822775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Diamond 102"/>
          <p:cNvSpPr/>
          <p:nvPr/>
        </p:nvSpPr>
        <p:spPr>
          <a:xfrm>
            <a:off x="11246088" y="2588294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4" name="Straight Arrow Connector 103"/>
          <p:cNvCxnSpPr>
            <a:endCxn id="105" idx="1"/>
          </p:cNvCxnSpPr>
          <p:nvPr/>
        </p:nvCxnSpPr>
        <p:spPr>
          <a:xfrm>
            <a:off x="10865794" y="3526217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Diamond 104"/>
          <p:cNvSpPr/>
          <p:nvPr/>
        </p:nvSpPr>
        <p:spPr>
          <a:xfrm>
            <a:off x="11245144" y="3291736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1640" y="648788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96824" y="1731285"/>
            <a:ext cx="2868166" cy="2049126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/>
          <p:cNvSpPr/>
          <p:nvPr/>
        </p:nvSpPr>
        <p:spPr>
          <a:xfrm>
            <a:off x="4410779" y="1894176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9" name="Straight Arrow Connector 108"/>
          <p:cNvCxnSpPr>
            <a:stCxn id="112" idx="3"/>
            <a:endCxn id="108" idx="2"/>
          </p:cNvCxnSpPr>
          <p:nvPr/>
        </p:nvCxnSpPr>
        <p:spPr>
          <a:xfrm flipV="1">
            <a:off x="4001097" y="2090524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endCxn id="113" idx="1"/>
          </p:cNvCxnSpPr>
          <p:nvPr/>
        </p:nvCxnSpPr>
        <p:spPr>
          <a:xfrm>
            <a:off x="4838508" y="3449158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754277" y="3911861"/>
            <a:ext cx="1443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Many to One</a:t>
            </a:r>
          </a:p>
        </p:txBody>
      </p:sp>
      <p:sp>
        <p:nvSpPr>
          <p:cNvPr id="112" name="Diamond 111"/>
          <p:cNvSpPr/>
          <p:nvPr/>
        </p:nvSpPr>
        <p:spPr>
          <a:xfrm>
            <a:off x="3282838" y="1856043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Diamond 112"/>
          <p:cNvSpPr/>
          <p:nvPr/>
        </p:nvSpPr>
        <p:spPr>
          <a:xfrm>
            <a:off x="5217858" y="3214677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val 113"/>
          <p:cNvSpPr/>
          <p:nvPr/>
        </p:nvSpPr>
        <p:spPr>
          <a:xfrm>
            <a:off x="4410779" y="2559485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5" name="Straight Arrow Connector 114"/>
          <p:cNvCxnSpPr>
            <a:stCxn id="116" idx="3"/>
            <a:endCxn id="114" idx="2"/>
          </p:cNvCxnSpPr>
          <p:nvPr/>
        </p:nvCxnSpPr>
        <p:spPr>
          <a:xfrm flipV="1">
            <a:off x="4001097" y="2755833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Diamond 115"/>
          <p:cNvSpPr/>
          <p:nvPr/>
        </p:nvSpPr>
        <p:spPr>
          <a:xfrm>
            <a:off x="3282838" y="2521352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Oval 116"/>
          <p:cNvSpPr/>
          <p:nvPr/>
        </p:nvSpPr>
        <p:spPr>
          <a:xfrm>
            <a:off x="4410779" y="3262927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8" name="Straight Arrow Connector 117"/>
          <p:cNvCxnSpPr>
            <a:stCxn id="119" idx="3"/>
            <a:endCxn id="117" idx="2"/>
          </p:cNvCxnSpPr>
          <p:nvPr/>
        </p:nvCxnSpPr>
        <p:spPr>
          <a:xfrm flipV="1">
            <a:off x="4001097" y="3459275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Diamond 118"/>
          <p:cNvSpPr/>
          <p:nvPr/>
        </p:nvSpPr>
        <p:spPr>
          <a:xfrm>
            <a:off x="3282838" y="3224794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0" name="Straight Arrow Connector 119"/>
          <p:cNvCxnSpPr>
            <a:stCxn id="117" idx="0"/>
            <a:endCxn id="114" idx="4"/>
          </p:cNvCxnSpPr>
          <p:nvPr/>
        </p:nvCxnSpPr>
        <p:spPr>
          <a:xfrm flipV="1">
            <a:off x="4624684" y="2952180"/>
            <a:ext cx="0" cy="31074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4" idx="0"/>
          </p:cNvCxnSpPr>
          <p:nvPr/>
        </p:nvCxnSpPr>
        <p:spPr>
          <a:xfrm flipH="1" flipV="1">
            <a:off x="4624683" y="2289921"/>
            <a:ext cx="1" cy="26956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itle 1">
            <a:extLst>
              <a:ext uri="{FF2B5EF4-FFF2-40B4-BE49-F238E27FC236}">
                <a16:creationId xmlns:a16="http://schemas.microsoft.com/office/drawing/2014/main" id="{90FD5BF8-C0DF-47D4-92D7-2EA9CA13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87464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Different Recurrent Neural Networks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9B46E82-C8D7-45E1-AD2D-B8AE5B337CB5}"/>
              </a:ext>
            </a:extLst>
          </p:cNvPr>
          <p:cNvSpPr/>
          <p:nvPr/>
        </p:nvSpPr>
        <p:spPr>
          <a:xfrm>
            <a:off x="6249595" y="1731285"/>
            <a:ext cx="2840290" cy="4171433"/>
          </a:xfrm>
          <a:prstGeom prst="rect">
            <a:avLst/>
          </a:prstGeom>
          <a:solidFill>
            <a:srgbClr val="7030A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B5CA32CE-4369-475B-AEAD-5D22A44F0042}"/>
              </a:ext>
            </a:extLst>
          </p:cNvPr>
          <p:cNvSpPr/>
          <p:nvPr/>
        </p:nvSpPr>
        <p:spPr>
          <a:xfrm>
            <a:off x="7463550" y="1866469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8DF01C9-957A-49EA-BF3A-D29D7EB46F4B}"/>
              </a:ext>
            </a:extLst>
          </p:cNvPr>
          <p:cNvCxnSpPr>
            <a:stCxn id="128" idx="3"/>
            <a:endCxn id="124" idx="2"/>
          </p:cNvCxnSpPr>
          <p:nvPr/>
        </p:nvCxnSpPr>
        <p:spPr>
          <a:xfrm flipV="1">
            <a:off x="7053868" y="2062817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AF4C3AB-6D9C-485C-B829-EACE42373843}"/>
              </a:ext>
            </a:extLst>
          </p:cNvPr>
          <p:cNvCxnSpPr>
            <a:stCxn id="133" idx="6"/>
            <a:endCxn id="129" idx="1"/>
          </p:cNvCxnSpPr>
          <p:nvPr/>
        </p:nvCxnSpPr>
        <p:spPr>
          <a:xfrm flipV="1">
            <a:off x="7891359" y="3431058"/>
            <a:ext cx="373345" cy="51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2907B13C-8E0D-4773-B0BB-7FB699A2AC9B}"/>
              </a:ext>
            </a:extLst>
          </p:cNvPr>
          <p:cNvSpPr txBox="1"/>
          <p:nvPr/>
        </p:nvSpPr>
        <p:spPr>
          <a:xfrm>
            <a:off x="6550044" y="5966925"/>
            <a:ext cx="2540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Many-to-Many (Different Length / Seq2Seq)</a:t>
            </a: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53D83BE4-43CD-4740-B25D-7B8FB59554DE}"/>
              </a:ext>
            </a:extLst>
          </p:cNvPr>
          <p:cNvSpPr/>
          <p:nvPr/>
        </p:nvSpPr>
        <p:spPr>
          <a:xfrm>
            <a:off x="6335609" y="1828336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1B1087D4-E770-4B26-8348-6F142F502067}"/>
              </a:ext>
            </a:extLst>
          </p:cNvPr>
          <p:cNvSpPr/>
          <p:nvPr/>
        </p:nvSpPr>
        <p:spPr>
          <a:xfrm>
            <a:off x="8264704" y="3190243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683069E1-2FE1-4C9F-8DC0-C968FBF6FC70}"/>
              </a:ext>
            </a:extLst>
          </p:cNvPr>
          <p:cNvSpPr/>
          <p:nvPr/>
        </p:nvSpPr>
        <p:spPr>
          <a:xfrm>
            <a:off x="7463550" y="2531778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7718412-9852-47F3-ACFC-82270D918362}"/>
              </a:ext>
            </a:extLst>
          </p:cNvPr>
          <p:cNvCxnSpPr>
            <a:stCxn id="132" idx="3"/>
            <a:endCxn id="130" idx="2"/>
          </p:cNvCxnSpPr>
          <p:nvPr/>
        </p:nvCxnSpPr>
        <p:spPr>
          <a:xfrm flipV="1">
            <a:off x="7053868" y="2728126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Diamond 131">
            <a:extLst>
              <a:ext uri="{FF2B5EF4-FFF2-40B4-BE49-F238E27FC236}">
                <a16:creationId xmlns:a16="http://schemas.microsoft.com/office/drawing/2014/main" id="{D5A6C0D0-8B9B-4F5E-8650-CF394E27F33C}"/>
              </a:ext>
            </a:extLst>
          </p:cNvPr>
          <p:cNvSpPr/>
          <p:nvPr/>
        </p:nvSpPr>
        <p:spPr>
          <a:xfrm>
            <a:off x="6335609" y="2493645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024263CB-5CB7-4935-9E0E-D0F8D2B731B7}"/>
              </a:ext>
            </a:extLst>
          </p:cNvPr>
          <p:cNvSpPr/>
          <p:nvPr/>
        </p:nvSpPr>
        <p:spPr>
          <a:xfrm>
            <a:off x="7463550" y="3235220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85F4DC5-9C35-4A3D-8493-8360D95512EF}"/>
              </a:ext>
            </a:extLst>
          </p:cNvPr>
          <p:cNvCxnSpPr>
            <a:stCxn id="135" idx="3"/>
            <a:endCxn id="133" idx="2"/>
          </p:cNvCxnSpPr>
          <p:nvPr/>
        </p:nvCxnSpPr>
        <p:spPr>
          <a:xfrm flipV="1">
            <a:off x="7053868" y="3431568"/>
            <a:ext cx="409682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Diamond 134">
            <a:extLst>
              <a:ext uri="{FF2B5EF4-FFF2-40B4-BE49-F238E27FC236}">
                <a16:creationId xmlns:a16="http://schemas.microsoft.com/office/drawing/2014/main" id="{2F23C312-84E2-4BFE-8D96-2F9836DE3BCC}"/>
              </a:ext>
            </a:extLst>
          </p:cNvPr>
          <p:cNvSpPr/>
          <p:nvPr/>
        </p:nvSpPr>
        <p:spPr>
          <a:xfrm>
            <a:off x="6335609" y="3197087"/>
            <a:ext cx="718259" cy="481629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0104506-33F2-46D5-AFF0-C6924EC46D1F}"/>
              </a:ext>
            </a:extLst>
          </p:cNvPr>
          <p:cNvCxnSpPr>
            <a:stCxn id="133" idx="0"/>
            <a:endCxn id="130" idx="4"/>
          </p:cNvCxnSpPr>
          <p:nvPr/>
        </p:nvCxnSpPr>
        <p:spPr>
          <a:xfrm flipV="1">
            <a:off x="7677455" y="2924473"/>
            <a:ext cx="0" cy="31074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83AF229-FAE0-428D-B23D-663CE31B4482}"/>
              </a:ext>
            </a:extLst>
          </p:cNvPr>
          <p:cNvCxnSpPr>
            <a:stCxn id="130" idx="0"/>
          </p:cNvCxnSpPr>
          <p:nvPr/>
        </p:nvCxnSpPr>
        <p:spPr>
          <a:xfrm flipH="1" flipV="1">
            <a:off x="7677454" y="2262214"/>
            <a:ext cx="1" cy="26956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B70363E6-2E0E-477C-AF23-1776B18FD343}"/>
              </a:ext>
            </a:extLst>
          </p:cNvPr>
          <p:cNvSpPr/>
          <p:nvPr/>
        </p:nvSpPr>
        <p:spPr>
          <a:xfrm>
            <a:off x="7441058" y="3915370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FD459C7-E0B3-40C5-BD8C-07475EF64621}"/>
              </a:ext>
            </a:extLst>
          </p:cNvPr>
          <p:cNvCxnSpPr>
            <a:stCxn id="138" idx="6"/>
            <a:endCxn id="140" idx="1"/>
          </p:cNvCxnSpPr>
          <p:nvPr/>
        </p:nvCxnSpPr>
        <p:spPr>
          <a:xfrm>
            <a:off x="7868867" y="4111718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Diamond 139">
            <a:extLst>
              <a:ext uri="{FF2B5EF4-FFF2-40B4-BE49-F238E27FC236}">
                <a16:creationId xmlns:a16="http://schemas.microsoft.com/office/drawing/2014/main" id="{7A9EAC05-7342-400A-B977-4928B34991B0}"/>
              </a:ext>
            </a:extLst>
          </p:cNvPr>
          <p:cNvSpPr/>
          <p:nvPr/>
        </p:nvSpPr>
        <p:spPr>
          <a:xfrm>
            <a:off x="8248217" y="3877237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C07E859-83F7-463B-81E5-F2F5C1A1C799}"/>
              </a:ext>
            </a:extLst>
          </p:cNvPr>
          <p:cNvCxnSpPr>
            <a:endCxn id="138" idx="0"/>
          </p:cNvCxnSpPr>
          <p:nvPr/>
        </p:nvCxnSpPr>
        <p:spPr>
          <a:xfrm>
            <a:off x="7654963" y="3639579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6812BF08-3033-4B3E-A6D1-0420CBE6AC4B}"/>
              </a:ext>
            </a:extLst>
          </p:cNvPr>
          <p:cNvSpPr/>
          <p:nvPr/>
        </p:nvSpPr>
        <p:spPr>
          <a:xfrm>
            <a:off x="7441058" y="4577522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74E27C81-8484-4185-9CE0-E0C15C178839}"/>
              </a:ext>
            </a:extLst>
          </p:cNvPr>
          <p:cNvCxnSpPr>
            <a:cxnSpLocks/>
          </p:cNvCxnSpPr>
          <p:nvPr/>
        </p:nvCxnSpPr>
        <p:spPr>
          <a:xfrm>
            <a:off x="7868867" y="4783297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Diamond 143">
            <a:extLst>
              <a:ext uri="{FF2B5EF4-FFF2-40B4-BE49-F238E27FC236}">
                <a16:creationId xmlns:a16="http://schemas.microsoft.com/office/drawing/2014/main" id="{D6C73DA8-8D4F-4AF5-B316-CC09FCE2895E}"/>
              </a:ext>
            </a:extLst>
          </p:cNvPr>
          <p:cNvSpPr/>
          <p:nvPr/>
        </p:nvSpPr>
        <p:spPr>
          <a:xfrm>
            <a:off x="8248217" y="4539389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FC86253-EF16-4974-8E4A-A44284B46FF8}"/>
              </a:ext>
            </a:extLst>
          </p:cNvPr>
          <p:cNvCxnSpPr>
            <a:endCxn id="142" idx="0"/>
          </p:cNvCxnSpPr>
          <p:nvPr/>
        </p:nvCxnSpPr>
        <p:spPr>
          <a:xfrm>
            <a:off x="7654963" y="4301731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3A12EF5E-7C89-490D-8F44-55E9C7DA5A31}"/>
              </a:ext>
            </a:extLst>
          </p:cNvPr>
          <p:cNvSpPr/>
          <p:nvPr/>
        </p:nvSpPr>
        <p:spPr>
          <a:xfrm>
            <a:off x="7459912" y="5247637"/>
            <a:ext cx="427809" cy="39269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C482DF6-BD4E-4A8B-B54D-B4F570B60ED8}"/>
              </a:ext>
            </a:extLst>
          </p:cNvPr>
          <p:cNvCxnSpPr>
            <a:stCxn id="146" idx="6"/>
            <a:endCxn id="148" idx="1"/>
          </p:cNvCxnSpPr>
          <p:nvPr/>
        </p:nvCxnSpPr>
        <p:spPr>
          <a:xfrm>
            <a:off x="7887721" y="5443985"/>
            <a:ext cx="379350" cy="6334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Diamond 147">
            <a:extLst>
              <a:ext uri="{FF2B5EF4-FFF2-40B4-BE49-F238E27FC236}">
                <a16:creationId xmlns:a16="http://schemas.microsoft.com/office/drawing/2014/main" id="{9A7F9341-4E28-4145-B75D-F1563DDE11C8}"/>
              </a:ext>
            </a:extLst>
          </p:cNvPr>
          <p:cNvSpPr/>
          <p:nvPr/>
        </p:nvSpPr>
        <p:spPr>
          <a:xfrm>
            <a:off x="8267071" y="5209504"/>
            <a:ext cx="744600" cy="481630"/>
          </a:xfrm>
          <a:prstGeom prst="diamond">
            <a:avLst/>
          </a:prstGeom>
          <a:solidFill>
            <a:schemeClr val="accent6">
              <a:lumMod val="75000"/>
              <a:alpha val="54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25354C1-1D9D-48B6-963B-BB17E90EC2C8}"/>
              </a:ext>
            </a:extLst>
          </p:cNvPr>
          <p:cNvCxnSpPr>
            <a:endCxn id="146" idx="0"/>
          </p:cNvCxnSpPr>
          <p:nvPr/>
        </p:nvCxnSpPr>
        <p:spPr>
          <a:xfrm>
            <a:off x="7673817" y="4971846"/>
            <a:ext cx="0" cy="275791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304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17"/>
            <a:ext cx="10515600" cy="78942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2365805" y="5524253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2365805" y="1314065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55262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17"/>
            <a:ext cx="10515600" cy="78942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2365805" y="5524253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2365805" y="1314065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76840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27129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64048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53921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51268" y="5524253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51268" y="1314065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45254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17"/>
            <a:ext cx="10515600" cy="78942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2365805" y="5524253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2365805" y="1314065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76840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27129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64048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53921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51268" y="5524253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51268" y="1314065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10816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75734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76840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27129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64048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17438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53921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936731" y="5524253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936731" y="1314065"/>
            <a:ext cx="81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21446" y="503872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03872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03872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115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694918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68717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17"/>
            <a:ext cx="10515600" cy="78942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76840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27129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53671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64048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53921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76840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27129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64048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53921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5772863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10816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75734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76840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76840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399485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27129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27129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6404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64048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17438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53921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53921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03872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03872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03872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53671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53671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53671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20379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20379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2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56141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56141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10816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76512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76512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393195"/>
            <a:ext cx="5956" cy="714971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05141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42074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484242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63727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63727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003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925825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32660" y="168717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17"/>
            <a:ext cx="10515600" cy="78942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10816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75734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99310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99310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3994857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19978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56268" y="4189639"/>
                <a:ext cx="383468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268" y="4189639"/>
                <a:ext cx="383468" cy="369332"/>
              </a:xfrm>
              <a:prstGeom prst="rect">
                <a:avLst/>
              </a:prstGeom>
              <a:blipFill>
                <a:blip r:embed="rId6"/>
                <a:stretch>
                  <a:fillRect r="-4615"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01369"/>
                <a:ext cx="443955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01369"/>
                <a:ext cx="443955" cy="369332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5515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55158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17438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03865"/>
                <a:ext cx="406093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03865"/>
                <a:ext cx="406093" cy="369332"/>
              </a:xfrm>
              <a:prstGeom prst="rect">
                <a:avLst/>
              </a:prstGeom>
              <a:blipFill>
                <a:blip r:embed="rId10"/>
                <a:stretch>
                  <a:fillRect r="-7246"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10816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75734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99310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99310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3994857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03764" y="4207231"/>
                <a:ext cx="421434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764" y="4207231"/>
                <a:ext cx="42143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5515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55158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17438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03865"/>
                <a:ext cx="397290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03865"/>
                <a:ext cx="397290" cy="369332"/>
              </a:xfrm>
              <a:prstGeom prst="rect">
                <a:avLst/>
              </a:prstGeom>
              <a:blipFill>
                <a:blip r:embed="rId17"/>
                <a:stretch>
                  <a:fillRect r="-10448"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6003770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10816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75734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75734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99310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99310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3994857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385422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05674" y="4209819"/>
                <a:ext cx="403952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674" y="4209819"/>
                <a:ext cx="40395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55158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55158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17438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17438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35732" y="3603865"/>
                <a:ext cx="408843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732" y="3603865"/>
                <a:ext cx="408843" cy="369332"/>
              </a:xfrm>
              <a:prstGeom prst="rect">
                <a:avLst/>
              </a:prstGeom>
              <a:blipFill>
                <a:blip r:embed="rId24"/>
                <a:stretch>
                  <a:fillRect r="-7246"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269632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244575" y="5269632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67704" y="5269632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751767" y="353671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74896" y="353671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998025" y="353671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55151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20379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20379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2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26066"/>
                <a:ext cx="442809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26066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10816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10816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76512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76512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393195"/>
            <a:ext cx="5956" cy="714971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05141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42074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715149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54837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54837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542794" y="2968953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12" name="Elbow Connector 11"/>
          <p:cNvCxnSpPr>
            <a:stCxn id="3" idx="1"/>
            <a:endCxn id="19" idx="2"/>
          </p:cNvCxnSpPr>
          <p:nvPr/>
        </p:nvCxnSpPr>
        <p:spPr>
          <a:xfrm rot="10800000">
            <a:off x="2538956" y="2920913"/>
            <a:ext cx="8003838" cy="23270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35" idx="2"/>
          </p:cNvCxnSpPr>
          <p:nvPr/>
        </p:nvCxnSpPr>
        <p:spPr>
          <a:xfrm flipV="1">
            <a:off x="4324419" y="2920912"/>
            <a:ext cx="0" cy="232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45" idx="2"/>
          </p:cNvCxnSpPr>
          <p:nvPr/>
        </p:nvCxnSpPr>
        <p:spPr>
          <a:xfrm flipV="1">
            <a:off x="6109882" y="2920912"/>
            <a:ext cx="0" cy="232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68" idx="2"/>
          </p:cNvCxnSpPr>
          <p:nvPr/>
        </p:nvCxnSpPr>
        <p:spPr>
          <a:xfrm flipV="1">
            <a:off x="9154597" y="2917708"/>
            <a:ext cx="0" cy="2359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005060" y="3988464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77" name="Elbow Connector 76"/>
          <p:cNvCxnSpPr>
            <a:stCxn id="76" idx="1"/>
            <a:endCxn id="18" idx="2"/>
          </p:cNvCxnSpPr>
          <p:nvPr/>
        </p:nvCxnSpPr>
        <p:spPr>
          <a:xfrm rot="10800000">
            <a:off x="2010684" y="3970702"/>
            <a:ext cx="7994377" cy="202429"/>
          </a:xfrm>
          <a:prstGeom prst="bentConnector2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21" idx="2"/>
          </p:cNvCxnSpPr>
          <p:nvPr/>
        </p:nvCxnSpPr>
        <p:spPr>
          <a:xfrm flipV="1">
            <a:off x="3435743" y="3973197"/>
            <a:ext cx="4402" cy="1887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37" idx="2"/>
          </p:cNvCxnSpPr>
          <p:nvPr/>
        </p:nvCxnSpPr>
        <p:spPr>
          <a:xfrm flipV="1">
            <a:off x="5221206" y="3973197"/>
            <a:ext cx="0" cy="206326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endCxn id="57" idx="2"/>
          </p:cNvCxnSpPr>
          <p:nvPr/>
        </p:nvCxnSpPr>
        <p:spPr>
          <a:xfrm flipV="1">
            <a:off x="8519709" y="3995398"/>
            <a:ext cx="1" cy="184125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47" idx="2"/>
          </p:cNvCxnSpPr>
          <p:nvPr/>
        </p:nvCxnSpPr>
        <p:spPr>
          <a:xfrm flipV="1">
            <a:off x="7040153" y="3973197"/>
            <a:ext cx="1" cy="1887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7908" y="4640626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106" name="Elbow Connector 105"/>
          <p:cNvCxnSpPr>
            <a:stCxn id="104" idx="3"/>
            <a:endCxn id="44" idx="2"/>
          </p:cNvCxnSpPr>
          <p:nvPr/>
        </p:nvCxnSpPr>
        <p:spPr>
          <a:xfrm flipV="1">
            <a:off x="1556133" y="4579151"/>
            <a:ext cx="4551517" cy="246141"/>
          </a:xfrm>
          <a:prstGeom prst="bentConnector2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33" idx="2"/>
          </p:cNvCxnSpPr>
          <p:nvPr/>
        </p:nvCxnSpPr>
        <p:spPr>
          <a:xfrm flipV="1">
            <a:off x="4314481" y="4576563"/>
            <a:ext cx="0" cy="24872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endCxn id="17" idx="2"/>
          </p:cNvCxnSpPr>
          <p:nvPr/>
        </p:nvCxnSpPr>
        <p:spPr>
          <a:xfrm flipV="1">
            <a:off x="2548002" y="4558971"/>
            <a:ext cx="0" cy="26632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67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82571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Many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5911403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18995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55928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622782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67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5129017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32660" y="1890368"/>
            <a:ext cx="883158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311358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960541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960541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5202502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5202502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98049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88614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40297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402978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56268" y="4392831"/>
                <a:ext cx="383468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268" y="4392831"/>
                <a:ext cx="383468" cy="369332"/>
              </a:xfrm>
              <a:prstGeom prst="rect">
                <a:avLst/>
              </a:prstGeom>
              <a:blipFill>
                <a:blip r:embed="rId6"/>
                <a:stretch>
                  <a:fillRect r="-4615"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804561"/>
                <a:ext cx="443955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804561"/>
                <a:ext cx="443955" cy="369332"/>
              </a:xfrm>
              <a:prstGeom prst="rect">
                <a:avLst/>
              </a:prstGeom>
              <a:blipFill>
                <a:blip r:embed="rId7"/>
                <a:stretch>
                  <a:fillRect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54772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54772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77581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77581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807057"/>
                <a:ext cx="406093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807057"/>
                <a:ext cx="406093" cy="369332"/>
              </a:xfrm>
              <a:prstGeom prst="rect">
                <a:avLst/>
              </a:prstGeom>
              <a:blipFill>
                <a:blip r:embed="rId10"/>
                <a:stretch>
                  <a:fillRect r="-7246"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311358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960541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960541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5202502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5202502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98049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88614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03764" y="4410423"/>
                <a:ext cx="421434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764" y="4410423"/>
                <a:ext cx="42143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54772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54772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775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77581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807057"/>
                <a:ext cx="397290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807057"/>
                <a:ext cx="397290" cy="369332"/>
              </a:xfrm>
              <a:prstGeom prst="rect">
                <a:avLst/>
              </a:prstGeom>
              <a:blipFill>
                <a:blip r:embed="rId17"/>
                <a:stretch>
                  <a:fillRect r="-10448"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6206962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311358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960541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960541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5202502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5202502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98049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88614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05674" y="4413011"/>
                <a:ext cx="403952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674" y="4413011"/>
                <a:ext cx="40395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54772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54772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775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77581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35732" y="3807057"/>
                <a:ext cx="408843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732" y="3807057"/>
                <a:ext cx="408843" cy="369332"/>
              </a:xfrm>
              <a:prstGeom prst="rect">
                <a:avLst/>
              </a:prstGeom>
              <a:blipFill>
                <a:blip r:embed="rId24"/>
                <a:stretch>
                  <a:fillRect r="-7246"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472824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244575" y="5472824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67704" y="5472824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751767" y="3739909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74896" y="3739909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998025" y="3739909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406982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406982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2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829258"/>
                <a:ext cx="442809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829258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311358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68314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68314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96387"/>
            <a:ext cx="5956" cy="714971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6240351" y="1144690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 flipH="1">
            <a:off x="6648450" y="1514022"/>
            <a:ext cx="1294" cy="37634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918341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51568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51568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542794" y="3172145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12" name="Elbow Connector 11"/>
          <p:cNvCxnSpPr>
            <a:stCxn id="3" idx="1"/>
            <a:endCxn id="19" idx="2"/>
          </p:cNvCxnSpPr>
          <p:nvPr/>
        </p:nvCxnSpPr>
        <p:spPr>
          <a:xfrm rot="10800000">
            <a:off x="2538956" y="3124105"/>
            <a:ext cx="8003838" cy="23270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35" idx="2"/>
          </p:cNvCxnSpPr>
          <p:nvPr/>
        </p:nvCxnSpPr>
        <p:spPr>
          <a:xfrm flipV="1">
            <a:off x="4324419" y="3124104"/>
            <a:ext cx="0" cy="232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45" idx="2"/>
          </p:cNvCxnSpPr>
          <p:nvPr/>
        </p:nvCxnSpPr>
        <p:spPr>
          <a:xfrm flipV="1">
            <a:off x="6109882" y="3124104"/>
            <a:ext cx="0" cy="232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68" idx="2"/>
          </p:cNvCxnSpPr>
          <p:nvPr/>
        </p:nvCxnSpPr>
        <p:spPr>
          <a:xfrm flipV="1">
            <a:off x="9154597" y="3120900"/>
            <a:ext cx="0" cy="2359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005060" y="4191656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77" name="Elbow Connector 76"/>
          <p:cNvCxnSpPr>
            <a:stCxn id="76" idx="1"/>
            <a:endCxn id="18" idx="2"/>
          </p:cNvCxnSpPr>
          <p:nvPr/>
        </p:nvCxnSpPr>
        <p:spPr>
          <a:xfrm rot="10800000">
            <a:off x="2010684" y="4173894"/>
            <a:ext cx="7994377" cy="202429"/>
          </a:xfrm>
          <a:prstGeom prst="bentConnector2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21" idx="2"/>
          </p:cNvCxnSpPr>
          <p:nvPr/>
        </p:nvCxnSpPr>
        <p:spPr>
          <a:xfrm flipV="1">
            <a:off x="3435743" y="4176389"/>
            <a:ext cx="4402" cy="1887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37" idx="2"/>
          </p:cNvCxnSpPr>
          <p:nvPr/>
        </p:nvCxnSpPr>
        <p:spPr>
          <a:xfrm flipV="1">
            <a:off x="5221206" y="4176389"/>
            <a:ext cx="0" cy="206326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endCxn id="57" idx="2"/>
          </p:cNvCxnSpPr>
          <p:nvPr/>
        </p:nvCxnSpPr>
        <p:spPr>
          <a:xfrm flipV="1">
            <a:off x="8519709" y="4198590"/>
            <a:ext cx="1" cy="184125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47" idx="2"/>
          </p:cNvCxnSpPr>
          <p:nvPr/>
        </p:nvCxnSpPr>
        <p:spPr>
          <a:xfrm flipV="1">
            <a:off x="7040153" y="4176389"/>
            <a:ext cx="1" cy="1887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7908" y="4843818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106" name="Elbow Connector 105"/>
          <p:cNvCxnSpPr>
            <a:stCxn id="104" idx="3"/>
            <a:endCxn id="44" idx="2"/>
          </p:cNvCxnSpPr>
          <p:nvPr/>
        </p:nvCxnSpPr>
        <p:spPr>
          <a:xfrm flipV="1">
            <a:off x="1556133" y="4782343"/>
            <a:ext cx="4551517" cy="246141"/>
          </a:xfrm>
          <a:prstGeom prst="bentConnector2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33" idx="2"/>
          </p:cNvCxnSpPr>
          <p:nvPr/>
        </p:nvCxnSpPr>
        <p:spPr>
          <a:xfrm flipV="1">
            <a:off x="4314481" y="4779755"/>
            <a:ext cx="0" cy="24872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endCxn id="17" idx="2"/>
          </p:cNvCxnSpPr>
          <p:nvPr/>
        </p:nvCxnSpPr>
        <p:spPr>
          <a:xfrm flipV="1">
            <a:off x="2548002" y="4762163"/>
            <a:ext cx="0" cy="26632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/>
          <p:cNvSpPr txBox="1">
            <a:spLocks/>
          </p:cNvSpPr>
          <p:nvPr/>
        </p:nvSpPr>
        <p:spPr>
          <a:xfrm>
            <a:off x="861060" y="218082"/>
            <a:ext cx="10515600" cy="789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Many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/>
              <p:cNvSpPr/>
              <p:nvPr/>
            </p:nvSpPr>
            <p:spPr>
              <a:xfrm>
                <a:off x="3408943" y="2053179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3" name="Oval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943" y="2053179"/>
                <a:ext cx="421677" cy="431488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5" idx="6"/>
            <a:endCxn id="73" idx="2"/>
          </p:cNvCxnSpPr>
          <p:nvPr/>
        </p:nvCxnSpPr>
        <p:spPr>
          <a:xfrm flipV="1">
            <a:off x="3110346" y="2268923"/>
            <a:ext cx="298597" cy="5655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val 80"/>
              <p:cNvSpPr/>
              <p:nvPr/>
            </p:nvSpPr>
            <p:spPr>
              <a:xfrm>
                <a:off x="5193789" y="2059631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1" name="Oval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789" y="2059631"/>
                <a:ext cx="421677" cy="431488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>
            <a:stCxn id="26" idx="6"/>
            <a:endCxn id="81" idx="2"/>
          </p:cNvCxnSpPr>
          <p:nvPr/>
        </p:nvCxnSpPr>
        <p:spPr>
          <a:xfrm>
            <a:off x="4895809" y="2274578"/>
            <a:ext cx="297980" cy="79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/>
              <p:cNvSpPr/>
              <p:nvPr/>
            </p:nvSpPr>
            <p:spPr>
              <a:xfrm>
                <a:off x="6943561" y="2059301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3" name="Oval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561" y="2059301"/>
                <a:ext cx="421677" cy="431488"/>
              </a:xfrm>
              <a:prstGeom prst="ellipse">
                <a:avLst/>
              </a:prstGeom>
              <a:blipFill>
                <a:blip r:embed="rId32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/>
          <p:cNvCxnSpPr>
            <a:stCxn id="34" idx="6"/>
            <a:endCxn id="83" idx="2"/>
          </p:cNvCxnSpPr>
          <p:nvPr/>
        </p:nvCxnSpPr>
        <p:spPr>
          <a:xfrm>
            <a:off x="6681272" y="2274578"/>
            <a:ext cx="262289" cy="46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10092201" y="2069263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201" y="2069263"/>
                <a:ext cx="421677" cy="431488"/>
              </a:xfrm>
              <a:prstGeom prst="ellipse">
                <a:avLst/>
              </a:prstGeom>
              <a:blipFill>
                <a:blip r:embed="rId33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/>
          <p:cNvCxnSpPr>
            <a:stCxn id="59" idx="6"/>
            <a:endCxn id="98" idx="2"/>
          </p:cNvCxnSpPr>
          <p:nvPr/>
        </p:nvCxnSpPr>
        <p:spPr>
          <a:xfrm>
            <a:off x="9819615" y="2282351"/>
            <a:ext cx="272586" cy="265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9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5129017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32660" y="1890368"/>
            <a:ext cx="883158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311358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960541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960541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5202502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5202502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98049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88614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40297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402978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56268" y="4392831"/>
                <a:ext cx="383468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268" y="4392831"/>
                <a:ext cx="383468" cy="369332"/>
              </a:xfrm>
              <a:prstGeom prst="rect">
                <a:avLst/>
              </a:prstGeom>
              <a:blipFill>
                <a:blip r:embed="rId6"/>
                <a:stretch>
                  <a:fillRect r="-4615"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804561"/>
                <a:ext cx="443955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804561"/>
                <a:ext cx="443955" cy="369332"/>
              </a:xfrm>
              <a:prstGeom prst="rect">
                <a:avLst/>
              </a:prstGeom>
              <a:blipFill>
                <a:blip r:embed="rId7"/>
                <a:stretch>
                  <a:fillRect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54772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54772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77581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77581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807057"/>
                <a:ext cx="406093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807057"/>
                <a:ext cx="406093" cy="369332"/>
              </a:xfrm>
              <a:prstGeom prst="rect">
                <a:avLst/>
              </a:prstGeom>
              <a:blipFill>
                <a:blip r:embed="rId10"/>
                <a:stretch>
                  <a:fillRect r="-7246"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311358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960541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960541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5202502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5202502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98049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88614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03764" y="4410423"/>
                <a:ext cx="421434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764" y="4410423"/>
                <a:ext cx="42143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54772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54772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775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77581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807057"/>
                <a:ext cx="397290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807057"/>
                <a:ext cx="397290" cy="369332"/>
              </a:xfrm>
              <a:prstGeom prst="rect">
                <a:avLst/>
              </a:prstGeom>
              <a:blipFill>
                <a:blip r:embed="rId17"/>
                <a:stretch>
                  <a:fillRect r="-10448"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6206962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311358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960541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960541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5202502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5202502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98049"/>
            <a:ext cx="0" cy="100445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88614"/>
            <a:ext cx="0" cy="72274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05674" y="4413011"/>
                <a:ext cx="403952" cy="369332"/>
              </a:xfrm>
              <a:prstGeom prst="rect">
                <a:avLst/>
              </a:prstGeom>
              <a:noFill/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674" y="4413011"/>
                <a:ext cx="40395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5875">
                <a:solidFill>
                  <a:srgbClr val="FF0000">
                    <a:alpha val="61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54772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54772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775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77581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35732" y="3807057"/>
                <a:ext cx="408843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732" y="3807057"/>
                <a:ext cx="408843" cy="369332"/>
              </a:xfrm>
              <a:prstGeom prst="rect">
                <a:avLst/>
              </a:prstGeom>
              <a:blipFill>
                <a:blip r:embed="rId24"/>
                <a:stretch>
                  <a:fillRect r="-7246" b="-1613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472824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244575" y="5472824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67704" y="5472824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751767" y="3739909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74896" y="3739909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998025" y="3739909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754703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406982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406982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2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829258"/>
                <a:ext cx="442809" cy="369332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829258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587"/>
                </a:stretch>
              </a:blipFill>
              <a:ln w="12700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311358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311358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68314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68314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96387"/>
            <a:ext cx="5956" cy="714971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6239057" y="1216019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648450" y="1585351"/>
            <a:ext cx="0" cy="30501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918341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51568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51568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542794" y="3172145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12" name="Elbow Connector 11"/>
          <p:cNvCxnSpPr>
            <a:stCxn id="3" idx="1"/>
            <a:endCxn id="19" idx="2"/>
          </p:cNvCxnSpPr>
          <p:nvPr/>
        </p:nvCxnSpPr>
        <p:spPr>
          <a:xfrm rot="10800000">
            <a:off x="2538956" y="3124105"/>
            <a:ext cx="8003838" cy="232707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35" idx="2"/>
          </p:cNvCxnSpPr>
          <p:nvPr/>
        </p:nvCxnSpPr>
        <p:spPr>
          <a:xfrm flipV="1">
            <a:off x="4324419" y="3124104"/>
            <a:ext cx="0" cy="232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45" idx="2"/>
          </p:cNvCxnSpPr>
          <p:nvPr/>
        </p:nvCxnSpPr>
        <p:spPr>
          <a:xfrm flipV="1">
            <a:off x="6109882" y="3124104"/>
            <a:ext cx="0" cy="232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68" idx="2"/>
          </p:cNvCxnSpPr>
          <p:nvPr/>
        </p:nvCxnSpPr>
        <p:spPr>
          <a:xfrm flipV="1">
            <a:off x="9154597" y="3120900"/>
            <a:ext cx="0" cy="2359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005060" y="4191656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77" name="Elbow Connector 76"/>
          <p:cNvCxnSpPr>
            <a:stCxn id="76" idx="1"/>
            <a:endCxn id="18" idx="2"/>
          </p:cNvCxnSpPr>
          <p:nvPr/>
        </p:nvCxnSpPr>
        <p:spPr>
          <a:xfrm rot="10800000">
            <a:off x="2010684" y="4173894"/>
            <a:ext cx="7994377" cy="202429"/>
          </a:xfrm>
          <a:prstGeom prst="bentConnector2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21" idx="2"/>
          </p:cNvCxnSpPr>
          <p:nvPr/>
        </p:nvCxnSpPr>
        <p:spPr>
          <a:xfrm flipV="1">
            <a:off x="3435743" y="4176389"/>
            <a:ext cx="4402" cy="1887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37" idx="2"/>
          </p:cNvCxnSpPr>
          <p:nvPr/>
        </p:nvCxnSpPr>
        <p:spPr>
          <a:xfrm flipV="1">
            <a:off x="5221206" y="4176389"/>
            <a:ext cx="0" cy="206326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endCxn id="57" idx="2"/>
          </p:cNvCxnSpPr>
          <p:nvPr/>
        </p:nvCxnSpPr>
        <p:spPr>
          <a:xfrm flipV="1">
            <a:off x="8519709" y="4198590"/>
            <a:ext cx="1" cy="184125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47" idx="2"/>
          </p:cNvCxnSpPr>
          <p:nvPr/>
        </p:nvCxnSpPr>
        <p:spPr>
          <a:xfrm flipV="1">
            <a:off x="7040153" y="4176389"/>
            <a:ext cx="1" cy="1887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7908" y="4843818"/>
            <a:ext cx="14782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Weight Sharing</a:t>
            </a:r>
          </a:p>
        </p:txBody>
      </p:sp>
      <p:cxnSp>
        <p:nvCxnSpPr>
          <p:cNvPr id="106" name="Elbow Connector 105"/>
          <p:cNvCxnSpPr>
            <a:stCxn id="104" idx="3"/>
            <a:endCxn id="44" idx="2"/>
          </p:cNvCxnSpPr>
          <p:nvPr/>
        </p:nvCxnSpPr>
        <p:spPr>
          <a:xfrm flipV="1">
            <a:off x="1556133" y="4782343"/>
            <a:ext cx="4551517" cy="246141"/>
          </a:xfrm>
          <a:prstGeom prst="bentConnector2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endCxn id="33" idx="2"/>
          </p:cNvCxnSpPr>
          <p:nvPr/>
        </p:nvCxnSpPr>
        <p:spPr>
          <a:xfrm flipV="1">
            <a:off x="4314481" y="4779755"/>
            <a:ext cx="0" cy="24872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endCxn id="17" idx="2"/>
          </p:cNvCxnSpPr>
          <p:nvPr/>
        </p:nvCxnSpPr>
        <p:spPr>
          <a:xfrm flipV="1">
            <a:off x="2548002" y="4762163"/>
            <a:ext cx="0" cy="26632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/>
          <p:cNvSpPr txBox="1">
            <a:spLocks/>
          </p:cNvSpPr>
          <p:nvPr/>
        </p:nvSpPr>
        <p:spPr>
          <a:xfrm>
            <a:off x="861060" y="218082"/>
            <a:ext cx="10515600" cy="789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Many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/>
              <p:cNvSpPr/>
              <p:nvPr/>
            </p:nvSpPr>
            <p:spPr>
              <a:xfrm>
                <a:off x="3408943" y="2053179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3" name="Oval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943" y="2053179"/>
                <a:ext cx="421677" cy="431488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5" idx="6"/>
            <a:endCxn id="73" idx="2"/>
          </p:cNvCxnSpPr>
          <p:nvPr/>
        </p:nvCxnSpPr>
        <p:spPr>
          <a:xfrm flipV="1">
            <a:off x="3110346" y="2268923"/>
            <a:ext cx="298597" cy="5655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val 80"/>
              <p:cNvSpPr/>
              <p:nvPr/>
            </p:nvSpPr>
            <p:spPr>
              <a:xfrm>
                <a:off x="5193789" y="2059631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1" name="Oval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789" y="2059631"/>
                <a:ext cx="421677" cy="431488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>
            <a:stCxn id="26" idx="6"/>
            <a:endCxn id="81" idx="2"/>
          </p:cNvCxnSpPr>
          <p:nvPr/>
        </p:nvCxnSpPr>
        <p:spPr>
          <a:xfrm>
            <a:off x="4895809" y="2274578"/>
            <a:ext cx="297980" cy="79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/>
              <p:cNvSpPr/>
              <p:nvPr/>
            </p:nvSpPr>
            <p:spPr>
              <a:xfrm>
                <a:off x="6943561" y="2059301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3" name="Oval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561" y="2059301"/>
                <a:ext cx="421677" cy="431488"/>
              </a:xfrm>
              <a:prstGeom prst="ellipse">
                <a:avLst/>
              </a:prstGeom>
              <a:blipFill>
                <a:blip r:embed="rId32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/>
          <p:cNvCxnSpPr>
            <a:stCxn id="34" idx="6"/>
            <a:endCxn id="83" idx="2"/>
          </p:cNvCxnSpPr>
          <p:nvPr/>
        </p:nvCxnSpPr>
        <p:spPr>
          <a:xfrm>
            <a:off x="6681272" y="2274578"/>
            <a:ext cx="262289" cy="46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10092201" y="2069263"/>
                <a:ext cx="421677" cy="4314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201" y="2069263"/>
                <a:ext cx="421677" cy="431488"/>
              </a:xfrm>
              <a:prstGeom prst="ellipse">
                <a:avLst/>
              </a:prstGeom>
              <a:blipFill>
                <a:blip r:embed="rId33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/>
          <p:cNvCxnSpPr>
            <a:stCxn id="59" idx="6"/>
            <a:endCxn id="98" idx="2"/>
          </p:cNvCxnSpPr>
          <p:nvPr/>
        </p:nvCxnSpPr>
        <p:spPr>
          <a:xfrm>
            <a:off x="9819615" y="2282351"/>
            <a:ext cx="272586" cy="265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/>
              <p:cNvSpPr/>
              <p:nvPr/>
            </p:nvSpPr>
            <p:spPr>
              <a:xfrm>
                <a:off x="8317487" y="211691"/>
                <a:ext cx="634466" cy="625893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68000"/>
                </a:schemeClr>
              </a:solid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5" name="Oval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211691"/>
                <a:ext cx="634466" cy="625893"/>
              </a:xfrm>
              <a:prstGeom prst="ellipse">
                <a:avLst/>
              </a:prstGeom>
              <a:blipFill>
                <a:blip r:embed="rId34"/>
                <a:stretch>
                  <a:fillRect/>
                </a:stretch>
              </a:blipFill>
              <a:ln w="22225">
                <a:solidFill>
                  <a:schemeClr val="accent1">
                    <a:lumMod val="75000"/>
                    <a:alpha val="73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85" idx="4"/>
            <a:endCxn id="73" idx="0"/>
          </p:cNvCxnSpPr>
          <p:nvPr/>
        </p:nvCxnSpPr>
        <p:spPr>
          <a:xfrm rot="5400000">
            <a:off x="5519454" y="-1062088"/>
            <a:ext cx="1215595" cy="5014938"/>
          </a:xfrm>
          <a:prstGeom prst="bentConnector3">
            <a:avLst>
              <a:gd name="adj1" fmla="val 73194"/>
            </a:avLst>
          </a:prstGeom>
          <a:ln w="15875">
            <a:solidFill>
              <a:schemeClr val="tx2">
                <a:lumMod val="60000"/>
                <a:lumOff val="4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85" idx="4"/>
            <a:endCxn id="98" idx="0"/>
          </p:cNvCxnSpPr>
          <p:nvPr/>
        </p:nvCxnSpPr>
        <p:spPr>
          <a:xfrm rot="16200000" flipH="1">
            <a:off x="8853041" y="619263"/>
            <a:ext cx="1231679" cy="1668320"/>
          </a:xfrm>
          <a:prstGeom prst="bentConnector3">
            <a:avLst>
              <a:gd name="adj1" fmla="val 72220"/>
            </a:avLst>
          </a:prstGeom>
          <a:ln w="15875">
            <a:solidFill>
              <a:schemeClr val="tx2">
                <a:lumMod val="60000"/>
                <a:lumOff val="40000"/>
              </a:schemeClr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404627" y="1735931"/>
            <a:ext cx="0" cy="317248"/>
          </a:xfrm>
          <a:prstGeom prst="straightConnector1">
            <a:avLst/>
          </a:prstGeom>
          <a:ln w="15875">
            <a:solidFill>
              <a:schemeClr val="tx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83" idx="0"/>
          </p:cNvCxnSpPr>
          <p:nvPr/>
        </p:nvCxnSpPr>
        <p:spPr>
          <a:xfrm>
            <a:off x="7154399" y="1735931"/>
            <a:ext cx="1" cy="323370"/>
          </a:xfrm>
          <a:prstGeom prst="straightConnector1">
            <a:avLst/>
          </a:prstGeom>
          <a:ln w="15875">
            <a:solidFill>
              <a:schemeClr val="tx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632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Many to One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4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5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6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7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9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3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5911403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16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17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18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19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9077713" y="1249075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59" idx="0"/>
          </p:cNvCxnSpPr>
          <p:nvPr/>
        </p:nvCxnSpPr>
        <p:spPr>
          <a:xfrm>
            <a:off x="9487106" y="1618407"/>
            <a:ext cx="0" cy="28525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622782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823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4767185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Many to One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4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5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6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7"/>
                <a:stretch>
                  <a:fillRect l="-16000" r="-2000" b="-14000"/>
                </a:stretch>
              </a:blipFill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9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15686" r="-1961" b="-14000"/>
                </a:stretch>
              </a:blipFill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3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4128408" y="5911403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16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17"/>
                <a:stretch>
                  <a:fillRect l="-15686" r="-1961" b="-14000"/>
                </a:stretch>
              </a:blipFill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18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19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9077713" y="1249075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59" idx="0"/>
          </p:cNvCxnSpPr>
          <p:nvPr/>
        </p:nvCxnSpPr>
        <p:spPr>
          <a:xfrm>
            <a:off x="9487106" y="1618407"/>
            <a:ext cx="0" cy="28525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4537801" y="5622782"/>
            <a:ext cx="5186" cy="28862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/>
          <p:cNvCxnSpPr>
            <a:stCxn id="59" idx="2"/>
            <a:endCxn id="20" idx="0"/>
          </p:cNvCxnSpPr>
          <p:nvPr/>
        </p:nvCxnSpPr>
        <p:spPr>
          <a:xfrm rot="10800000" flipV="1">
            <a:off x="3408943" y="2217699"/>
            <a:ext cx="5745654" cy="1095230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36" idx="0"/>
          </p:cNvCxnSpPr>
          <p:nvPr/>
        </p:nvCxnSpPr>
        <p:spPr>
          <a:xfrm flipH="1">
            <a:off x="5197068" y="2217698"/>
            <a:ext cx="8345" cy="10952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46" idx="0"/>
          </p:cNvCxnSpPr>
          <p:nvPr/>
        </p:nvCxnSpPr>
        <p:spPr>
          <a:xfrm flipH="1">
            <a:off x="6982531" y="2217698"/>
            <a:ext cx="4057" cy="10952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524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7845666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82571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One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672834" y="5922572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18995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55928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6082227" y="5622782"/>
            <a:ext cx="0" cy="29979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63" idx="0"/>
            <a:endCxn id="58" idx="2"/>
          </p:cNvCxnSpPr>
          <p:nvPr/>
        </p:nvCxnSpPr>
        <p:spPr>
          <a:xfrm flipH="1" flipV="1">
            <a:off x="9493062" y="4133397"/>
            <a:ext cx="3998" cy="77555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blipFill>
                <a:blip r:embed="rId3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563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7845666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82571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One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672834" y="5922572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18995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55928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6082227" y="5622782"/>
            <a:ext cx="0" cy="29979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63" idx="0"/>
            <a:endCxn id="58" idx="2"/>
          </p:cNvCxnSpPr>
          <p:nvPr/>
        </p:nvCxnSpPr>
        <p:spPr>
          <a:xfrm flipH="1" flipV="1">
            <a:off x="9493062" y="4133397"/>
            <a:ext cx="3998" cy="77555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blipFill>
                <a:blip r:embed="rId3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5" idx="0"/>
            <a:endCxn id="27" idx="4"/>
          </p:cNvCxnSpPr>
          <p:nvPr/>
        </p:nvCxnSpPr>
        <p:spPr>
          <a:xfrm rot="16200000" flipH="1">
            <a:off x="1851004" y="2822721"/>
            <a:ext cx="3639127" cy="1785463"/>
          </a:xfrm>
          <a:prstGeom prst="bentConnector5">
            <a:avLst>
              <a:gd name="adj1" fmla="val -8566"/>
              <a:gd name="adj2" fmla="val 50000"/>
              <a:gd name="adj3" fmla="val 1098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304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7845666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82571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One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672834" y="5978361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18995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55928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6082227" y="5622782"/>
            <a:ext cx="0" cy="35557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63" idx="0"/>
            <a:endCxn id="58" idx="2"/>
          </p:cNvCxnSpPr>
          <p:nvPr/>
        </p:nvCxnSpPr>
        <p:spPr>
          <a:xfrm flipH="1" flipV="1">
            <a:off x="9493062" y="4133397"/>
            <a:ext cx="3998" cy="77555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blipFill>
                <a:blip r:embed="rId3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5" idx="0"/>
            <a:endCxn id="27" idx="4"/>
          </p:cNvCxnSpPr>
          <p:nvPr/>
        </p:nvCxnSpPr>
        <p:spPr>
          <a:xfrm rot="16200000" flipH="1">
            <a:off x="1851004" y="2822721"/>
            <a:ext cx="3639127" cy="1785463"/>
          </a:xfrm>
          <a:prstGeom prst="bentConnector5">
            <a:avLst>
              <a:gd name="adj1" fmla="val -8566"/>
              <a:gd name="adj2" fmla="val 50000"/>
              <a:gd name="adj3" fmla="val 1098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26" idx="0"/>
            <a:endCxn id="40" idx="4"/>
          </p:cNvCxnSpPr>
          <p:nvPr/>
        </p:nvCxnSpPr>
        <p:spPr>
          <a:xfrm rot="16200000" flipH="1">
            <a:off x="3636467" y="2822721"/>
            <a:ext cx="3639127" cy="1785463"/>
          </a:xfrm>
          <a:prstGeom prst="bentConnector5">
            <a:avLst>
              <a:gd name="adj1" fmla="val -8550"/>
              <a:gd name="adj2" fmla="val 50000"/>
              <a:gd name="adj3" fmla="val 109248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028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7845666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82571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One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672834" y="5978361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18995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55928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6082227" y="5622782"/>
            <a:ext cx="0" cy="35557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551" y="4908947"/>
                <a:ext cx="665018" cy="628073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63" idx="0"/>
            <a:endCxn id="58" idx="2"/>
          </p:cNvCxnSpPr>
          <p:nvPr/>
        </p:nvCxnSpPr>
        <p:spPr>
          <a:xfrm flipH="1" flipV="1">
            <a:off x="9493062" y="4133397"/>
            <a:ext cx="3998" cy="77555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blipFill>
                <a:blip r:embed="rId3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5" idx="0"/>
            <a:endCxn id="27" idx="4"/>
          </p:cNvCxnSpPr>
          <p:nvPr/>
        </p:nvCxnSpPr>
        <p:spPr>
          <a:xfrm rot="16200000" flipH="1">
            <a:off x="1851004" y="2822721"/>
            <a:ext cx="3639127" cy="1785463"/>
          </a:xfrm>
          <a:prstGeom prst="bentConnector5">
            <a:avLst>
              <a:gd name="adj1" fmla="val -8566"/>
              <a:gd name="adj2" fmla="val 50000"/>
              <a:gd name="adj3" fmla="val 1098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26" idx="0"/>
            <a:endCxn id="40" idx="4"/>
          </p:cNvCxnSpPr>
          <p:nvPr/>
        </p:nvCxnSpPr>
        <p:spPr>
          <a:xfrm rot="16200000" flipH="1">
            <a:off x="3636467" y="2822721"/>
            <a:ext cx="3639127" cy="1785463"/>
          </a:xfrm>
          <a:prstGeom prst="bentConnector5">
            <a:avLst>
              <a:gd name="adj1" fmla="val -8550"/>
              <a:gd name="adj2" fmla="val 50000"/>
              <a:gd name="adj3" fmla="val 109248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stCxn id="34" idx="0"/>
          </p:cNvCxnSpPr>
          <p:nvPr/>
        </p:nvCxnSpPr>
        <p:spPr>
          <a:xfrm rot="16200000" flipH="1">
            <a:off x="5427523" y="2817129"/>
            <a:ext cx="3623712" cy="1781232"/>
          </a:xfrm>
          <a:prstGeom prst="bentConnector5">
            <a:avLst>
              <a:gd name="adj1" fmla="val -6308"/>
              <a:gd name="adj2" fmla="val 50000"/>
              <a:gd name="adj3" fmla="val 106308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41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159394" y="4833458"/>
            <a:ext cx="7845666" cy="78932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232660" y="1825716"/>
            <a:ext cx="7772400" cy="789324"/>
          </a:xfrm>
          <a:prstGeom prst="rect">
            <a:avLst/>
          </a:prstGeom>
          <a:solidFill>
            <a:schemeClr val="bg1">
              <a:lumMod val="7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218082"/>
            <a:ext cx="10515600" cy="7894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RNN Architecture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rgbClr val="0070C0"/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One to Many</a:t>
            </a:r>
            <a:endParaRPr lang="en-IN" sz="2700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10" y="3246706"/>
                <a:ext cx="877454" cy="886691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1895889"/>
                <a:ext cx="665018" cy="62807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63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28" y="4906943"/>
                <a:ext cx="665018" cy="62807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V="1">
            <a:off x="2777837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0"/>
            <a:endCxn id="5" idx="4"/>
          </p:cNvCxnSpPr>
          <p:nvPr/>
        </p:nvCxnSpPr>
        <p:spPr>
          <a:xfrm flipV="1">
            <a:off x="2777837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1"/>
          </p:cNvCxnSpPr>
          <p:nvPr/>
        </p:nvCxnSpPr>
        <p:spPr>
          <a:xfrm>
            <a:off x="142494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16564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/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2C8440-1B3C-44B7-B591-8AF5F6E0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18" y="3338326"/>
                <a:ext cx="288477" cy="276999"/>
              </a:xfrm>
              <a:prstGeom prst="rect">
                <a:avLst/>
              </a:prstGeom>
              <a:blipFill>
                <a:blip r:embed="rId5"/>
                <a:stretch>
                  <a:fillRect l="-21277" r="-6383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805" y="4409834"/>
                <a:ext cx="323850" cy="369332"/>
              </a:xfrm>
              <a:prstGeom prst="rect">
                <a:avLst/>
              </a:prstGeom>
              <a:blipFill>
                <a:blip r:embed="rId6"/>
                <a:stretch>
                  <a:fillRect r="-28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/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C603D-4D4F-4A83-BBEE-AA3EE027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705" y="3675257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73810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12" y="2779020"/>
                <a:ext cx="3994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6" y="3312929"/>
                <a:ext cx="283154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98" y="3677753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D2C02C-2304-4449-B7C3-16F0A662C136}"/>
              </a:ext>
            </a:extLst>
          </p:cNvPr>
          <p:cNvSpPr txBox="1"/>
          <p:nvPr/>
        </p:nvSpPr>
        <p:spPr>
          <a:xfrm>
            <a:off x="7657919" y="6476559"/>
            <a:ext cx="4497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573" y="3246706"/>
                <a:ext cx="877454" cy="886691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1895889"/>
                <a:ext cx="665018" cy="62807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791" y="4906943"/>
                <a:ext cx="665018" cy="62807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7" idx="0"/>
            <a:endCxn id="25" idx="2"/>
          </p:cNvCxnSpPr>
          <p:nvPr/>
        </p:nvCxnSpPr>
        <p:spPr>
          <a:xfrm flipV="1">
            <a:off x="4563300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0"/>
            <a:endCxn id="26" idx="4"/>
          </p:cNvCxnSpPr>
          <p:nvPr/>
        </p:nvCxnSpPr>
        <p:spPr>
          <a:xfrm flipV="1">
            <a:off x="4563300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02027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68" y="4409834"/>
                <a:ext cx="323850" cy="369332"/>
              </a:xfrm>
              <a:prstGeom prst="rect">
                <a:avLst/>
              </a:prstGeom>
              <a:blipFill>
                <a:blip r:embed="rId14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75" y="2779020"/>
                <a:ext cx="3994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29" y="3312929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61" y="367775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672834" y="5962946"/>
            <a:ext cx="8187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F0000">
                <a:alpha val="50000"/>
              </a:srgb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Input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iamond 31"/>
              <p:cNvSpPr/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Diamond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036" y="3246706"/>
                <a:ext cx="877454" cy="886691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1895889"/>
                <a:ext cx="665018" cy="62807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86000"/>
                </a:schemeClr>
              </a:solidFill>
              <a:ln w="22225">
                <a:solidFill>
                  <a:srgbClr val="7030A0">
                    <a:alpha val="64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54" y="4906943"/>
                <a:ext cx="665018" cy="62807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22225">
                <a:solidFill>
                  <a:srgbClr val="7030A0">
                    <a:alpha val="64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40" idx="0"/>
            <a:endCxn id="32" idx="2"/>
          </p:cNvCxnSpPr>
          <p:nvPr/>
        </p:nvCxnSpPr>
        <p:spPr>
          <a:xfrm flipV="1">
            <a:off x="6348763" y="4133397"/>
            <a:ext cx="0" cy="77354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2" idx="0"/>
            <a:endCxn id="34" idx="4"/>
          </p:cNvCxnSpPr>
          <p:nvPr/>
        </p:nvCxnSpPr>
        <p:spPr>
          <a:xfrm flipV="1">
            <a:off x="6348763" y="2523962"/>
            <a:ext cx="0" cy="72274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87490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31" y="4409834"/>
                <a:ext cx="323850" cy="369332"/>
              </a:xfrm>
              <a:prstGeom prst="rect">
                <a:avLst/>
              </a:prstGeom>
              <a:blipFill>
                <a:blip r:embed="rId21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38" y="2779020"/>
                <a:ext cx="399488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2" y="331292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24" y="3677753"/>
                <a:ext cx="255187" cy="369332"/>
              </a:xfrm>
              <a:prstGeom prst="rect">
                <a:avLst/>
              </a:prstGeom>
              <a:blipFill>
                <a:blip r:embed="rId24"/>
                <a:stretch>
                  <a:fillRect r="-73810" b="-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21446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7244575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7367704" y="5177265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7751767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7874896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7998025" y="3675257"/>
            <a:ext cx="45719" cy="457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146326" y="3690051"/>
            <a:ext cx="9141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/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66ED64-4FFC-4958-8BAC-FC1072A7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87" y="3342330"/>
                <a:ext cx="575607" cy="307777"/>
              </a:xfrm>
              <a:prstGeom prst="rect">
                <a:avLst/>
              </a:prstGeom>
              <a:blipFill>
                <a:blip r:embed="rId25"/>
                <a:stretch>
                  <a:fillRect l="-10526" r="-3158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/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EC885A-06E5-40CB-A3F0-E066260CB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5" y="3699954"/>
                <a:ext cx="442809" cy="369332"/>
              </a:xfrm>
              <a:prstGeom prst="rect">
                <a:avLst/>
              </a:prstGeom>
              <a:blipFill>
                <a:blip r:embed="rId2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Diamond 57"/>
              <p:cNvSpPr/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solidFill>
                <a:schemeClr val="accent2">
                  <a:lumMod val="75000"/>
                  <a:alpha val="64000"/>
                </a:schemeClr>
              </a:solidFill>
              <a:ln w="22225">
                <a:solidFill>
                  <a:srgbClr val="FF0000">
                    <a:alpha val="3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8" name="Diamond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35" y="3246706"/>
                <a:ext cx="877454" cy="886691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rgbClr val="FF0000">
                    <a:alpha val="36000"/>
                  </a:srgb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/>
              <p:cNvSpPr/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9" name="Oval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597" y="1903662"/>
                <a:ext cx="665018" cy="628073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22225">
                <a:solidFill>
                  <a:srgbClr val="FF0000">
                    <a:alpha val="38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58" idx="0"/>
            <a:endCxn id="59" idx="4"/>
          </p:cNvCxnSpPr>
          <p:nvPr/>
        </p:nvCxnSpPr>
        <p:spPr>
          <a:xfrm flipH="1" flipV="1">
            <a:off x="9487106" y="2531735"/>
            <a:ext cx="5956" cy="71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ED47FCA-C992-4735-BA0E-92EFBCFD0DEC}"/>
              </a:ext>
            </a:extLst>
          </p:cNvPr>
          <p:cNvSpPr/>
          <p:nvPr/>
        </p:nvSpPr>
        <p:spPr>
          <a:xfrm>
            <a:off x="5709467" y="1189954"/>
            <a:ext cx="81878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cxnSp>
        <p:nvCxnSpPr>
          <p:cNvPr id="62" name="Straight Arrow Connector 61"/>
          <p:cNvCxnSpPr>
            <a:stCxn id="61" idx="2"/>
            <a:endCxn id="11" idx="0"/>
          </p:cNvCxnSpPr>
          <p:nvPr/>
        </p:nvCxnSpPr>
        <p:spPr>
          <a:xfrm>
            <a:off x="6118860" y="1559286"/>
            <a:ext cx="0" cy="26643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8" idx="0"/>
            <a:endCxn id="64" idx="2"/>
          </p:cNvCxnSpPr>
          <p:nvPr/>
        </p:nvCxnSpPr>
        <p:spPr>
          <a:xfrm flipV="1">
            <a:off x="6082227" y="5622782"/>
            <a:ext cx="0" cy="34016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/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2DA4BE7-BE7B-474C-82A6-7A9DCE2B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853" y="2775816"/>
                <a:ext cx="39948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158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/>
          <p:cNvSpPr/>
          <p:nvPr/>
        </p:nvSpPr>
        <p:spPr>
          <a:xfrm>
            <a:off x="9164551" y="4908947"/>
            <a:ext cx="665018" cy="628073"/>
          </a:xfrm>
          <a:prstGeom prst="ellipse">
            <a:avLst/>
          </a:prstGeom>
          <a:solidFill>
            <a:schemeClr val="accent1">
              <a:lumMod val="60000"/>
              <a:lumOff val="40000"/>
              <a:alpha val="86000"/>
            </a:schemeClr>
          </a:solidFill>
          <a:ln w="22225">
            <a:solidFill>
              <a:srgbClr val="7030A0">
                <a:alpha val="6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66" name="Straight Arrow Connector 65"/>
          <p:cNvCxnSpPr>
            <a:stCxn id="63" idx="0"/>
            <a:endCxn id="58" idx="2"/>
          </p:cNvCxnSpPr>
          <p:nvPr/>
        </p:nvCxnSpPr>
        <p:spPr>
          <a:xfrm flipH="1" flipV="1">
            <a:off x="9493062" y="4133397"/>
            <a:ext cx="3998" cy="77555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/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FA6DBA-5FB3-45C9-AD1C-09471F69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853" y="4409834"/>
                <a:ext cx="323850" cy="369332"/>
              </a:xfrm>
              <a:prstGeom prst="rect">
                <a:avLst/>
              </a:prstGeom>
              <a:blipFill>
                <a:blip r:embed="rId30"/>
                <a:stretch>
                  <a:fillRect r="-26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5" idx="0"/>
            <a:endCxn id="27" idx="4"/>
          </p:cNvCxnSpPr>
          <p:nvPr/>
        </p:nvCxnSpPr>
        <p:spPr>
          <a:xfrm rot="16200000" flipH="1">
            <a:off x="1851004" y="2822721"/>
            <a:ext cx="3639127" cy="1785463"/>
          </a:xfrm>
          <a:prstGeom prst="bentConnector5">
            <a:avLst>
              <a:gd name="adj1" fmla="val -8566"/>
              <a:gd name="adj2" fmla="val 50000"/>
              <a:gd name="adj3" fmla="val 1098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26" idx="0"/>
            <a:endCxn id="40" idx="4"/>
          </p:cNvCxnSpPr>
          <p:nvPr/>
        </p:nvCxnSpPr>
        <p:spPr>
          <a:xfrm rot="16200000" flipH="1">
            <a:off x="3636467" y="2822721"/>
            <a:ext cx="3639127" cy="1785463"/>
          </a:xfrm>
          <a:prstGeom prst="bentConnector5">
            <a:avLst>
              <a:gd name="adj1" fmla="val -8550"/>
              <a:gd name="adj2" fmla="val 50000"/>
              <a:gd name="adj3" fmla="val 109248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stCxn id="34" idx="0"/>
          </p:cNvCxnSpPr>
          <p:nvPr/>
        </p:nvCxnSpPr>
        <p:spPr>
          <a:xfrm rot="16200000" flipH="1">
            <a:off x="5427523" y="2817129"/>
            <a:ext cx="3623712" cy="1781232"/>
          </a:xfrm>
          <a:prstGeom prst="bentConnector5">
            <a:avLst>
              <a:gd name="adj1" fmla="val -6308"/>
              <a:gd name="adj2" fmla="val 50000"/>
              <a:gd name="adj3" fmla="val 106308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endCxn id="63" idx="4"/>
          </p:cNvCxnSpPr>
          <p:nvPr/>
        </p:nvCxnSpPr>
        <p:spPr>
          <a:xfrm rot="16200000" flipH="1">
            <a:off x="6819735" y="2859695"/>
            <a:ext cx="3584251" cy="1770398"/>
          </a:xfrm>
          <a:prstGeom prst="bentConnector5">
            <a:avLst>
              <a:gd name="adj1" fmla="val -6378"/>
              <a:gd name="adj2" fmla="val 50000"/>
              <a:gd name="adj3" fmla="val 106378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9149870" y="4994234"/>
                <a:ext cx="7457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870" y="4994234"/>
                <a:ext cx="745717" cy="400110"/>
              </a:xfrm>
              <a:prstGeom prst="rect">
                <a:avLst/>
              </a:prstGeom>
              <a:blipFill>
                <a:blip r:embed="rId31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783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Sequence Modelling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Recurrent Neural Network  (RNN) – Basics and Applications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RNN Architecture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RNN Architectures for Different RNN Models</a:t>
            </a:r>
          </a:p>
        </p:txBody>
      </p:sp>
    </p:spTree>
    <p:extLst>
      <p:ext uri="{BB962C8B-B14F-4D97-AF65-F5344CB8AC3E}">
        <p14:creationId xmlns:p14="http://schemas.microsoft.com/office/powerpoint/2010/main" val="327602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2183</Words>
  <Application>Microsoft Office PowerPoint</Application>
  <PresentationFormat>Widescreen</PresentationFormat>
  <Paragraphs>693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Courier New</vt:lpstr>
      <vt:lpstr>Times New Roman</vt:lpstr>
      <vt:lpstr>Office Theme</vt:lpstr>
      <vt:lpstr>     Sequential Modelling  </vt:lpstr>
      <vt:lpstr>Content</vt:lpstr>
      <vt:lpstr>Sequence Modelling</vt:lpstr>
      <vt:lpstr>Why sequential modeling is important?</vt:lpstr>
      <vt:lpstr>Why sequential modeling is important?</vt:lpstr>
      <vt:lpstr>Applications of Sequence Modelling</vt:lpstr>
      <vt:lpstr>Recurrent Neural Network (RNN)</vt:lpstr>
      <vt:lpstr>Recurrent Neural Network (RNN)</vt:lpstr>
      <vt:lpstr>Recurrent Neural Network</vt:lpstr>
      <vt:lpstr>Recurrent Neural Network</vt:lpstr>
      <vt:lpstr>Recurrent Neural Network</vt:lpstr>
      <vt:lpstr>Different Recurrent Neural Networks</vt:lpstr>
      <vt:lpstr>Different Recurrent Neural Networks</vt:lpstr>
      <vt:lpstr>Different Recurrent Neural Networks</vt:lpstr>
      <vt:lpstr>Different Recurrent Neural Networks</vt:lpstr>
      <vt:lpstr>Different Recurrent Neural Networks</vt:lpstr>
      <vt:lpstr>Different Recurrent Neural Networks</vt:lpstr>
      <vt:lpstr>Different Recurrent Neural Networks</vt:lpstr>
      <vt:lpstr>RNN Architecture</vt:lpstr>
      <vt:lpstr>RNN Architecture</vt:lpstr>
      <vt:lpstr>RNN Architecture</vt:lpstr>
      <vt:lpstr>RNN Architecture</vt:lpstr>
      <vt:lpstr>RNN Architecture</vt:lpstr>
      <vt:lpstr>RNN Architecture Many to Many</vt:lpstr>
      <vt:lpstr>PowerPoint Presentation</vt:lpstr>
      <vt:lpstr>PowerPoint Presentation</vt:lpstr>
      <vt:lpstr>RNN Architecture Many to One</vt:lpstr>
      <vt:lpstr>RNN Architecture Many to One</vt:lpstr>
      <vt:lpstr>RNN Architecture One to Many</vt:lpstr>
      <vt:lpstr>RNN Architecture One to Many</vt:lpstr>
      <vt:lpstr>RNN Architecture One to Many</vt:lpstr>
      <vt:lpstr>RNN Architecture One to Many</vt:lpstr>
      <vt:lpstr>RNN Architecture One to Many</vt:lpstr>
      <vt:lpstr>Summery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HP</cp:lastModifiedBy>
  <cp:revision>29</cp:revision>
  <dcterms:created xsi:type="dcterms:W3CDTF">2026-07-28T07:51:34Z</dcterms:created>
  <dcterms:modified xsi:type="dcterms:W3CDTF">2026-08-01T07:38:52Z</dcterms:modified>
</cp:coreProperties>
</file>