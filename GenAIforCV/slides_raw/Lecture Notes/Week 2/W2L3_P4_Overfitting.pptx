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68" r:id="rId2"/>
    <p:sldId id="258" r:id="rId3"/>
    <p:sldId id="275" r:id="rId4"/>
    <p:sldId id="276" r:id="rId5"/>
    <p:sldId id="269" r:id="rId6"/>
    <p:sldId id="270" r:id="rId7"/>
    <p:sldId id="271" r:id="rId8"/>
    <p:sldId id="277" r:id="rId9"/>
    <p:sldId id="272" r:id="rId10"/>
    <p:sldId id="273" r:id="rId11"/>
    <p:sldId id="274" r:id="rId12"/>
    <p:sldId id="278" r:id="rId13"/>
    <p:sldId id="279" r:id="rId14"/>
    <p:sldId id="280" r:id="rId15"/>
    <p:sldId id="281" r:id="rId16"/>
    <p:sldId id="282" r:id="rId17"/>
    <p:sldId id="287" r:id="rId18"/>
    <p:sldId id="288" r:id="rId19"/>
    <p:sldId id="267" r:id="rId20"/>
    <p:sldId id="283" r:id="rId21"/>
    <p:sldId id="284" r:id="rId22"/>
    <p:sldId id="285" r:id="rId23"/>
    <p:sldId id="28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AF88CC-8CF8-4432-A44E-DEE071B2D80D}" type="datetimeFigureOut">
              <a:rPr lang="en-IN" smtClean="0"/>
              <a:t>11-07-2026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4E55C8-16BA-49CB-A245-960CC6C663E1}" type="slidenum">
              <a:rPr lang="en-IN" smtClean="0"/>
              <a:t>‹#›</a:t>
            </a:fld>
            <a:endParaRPr lang="en-IN"/>
          </a:p>
        </p:txBody>
      </p:sp>
    </p:spTree>
    <p:extLst>
      <p:ext uri="{BB962C8B-B14F-4D97-AF65-F5344CB8AC3E}">
        <p14:creationId xmlns:p14="http://schemas.microsoft.com/office/powerpoint/2010/main" val="2487154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16E550F-1338-4546-9897-83585DA42741}" type="slidenum">
              <a:rPr lang="en-IN" smtClean="0"/>
              <a:t>10</a:t>
            </a:fld>
            <a:endParaRPr lang="en-IN"/>
          </a:p>
        </p:txBody>
      </p:sp>
    </p:spTree>
    <p:extLst>
      <p:ext uri="{BB962C8B-B14F-4D97-AF65-F5344CB8AC3E}">
        <p14:creationId xmlns:p14="http://schemas.microsoft.com/office/powerpoint/2010/main" val="1882045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16E550F-1338-4546-9897-83585DA42741}" type="slidenum">
              <a:rPr lang="en-IN" smtClean="0"/>
              <a:t>15</a:t>
            </a:fld>
            <a:endParaRPr lang="en-IN"/>
          </a:p>
        </p:txBody>
      </p:sp>
    </p:spTree>
    <p:extLst>
      <p:ext uri="{BB962C8B-B14F-4D97-AF65-F5344CB8AC3E}">
        <p14:creationId xmlns:p14="http://schemas.microsoft.com/office/powerpoint/2010/main" val="1292076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6DE31-E7F3-450D-81A0-D4C7108ED1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AE3FAF-AB31-4897-97A6-54FA513F8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0304CC-509E-4A02-99C1-FA149EA1BF50}"/>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5" name="Footer Placeholder 4">
            <a:extLst>
              <a:ext uri="{FF2B5EF4-FFF2-40B4-BE49-F238E27FC236}">
                <a16:creationId xmlns:a16="http://schemas.microsoft.com/office/drawing/2014/main" id="{FB25F2FD-4450-4C54-A747-9D386FD372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2BA99F-05EF-4569-8CF7-2EF94C4AE16F}"/>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3952962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1733-8C0C-4B72-B756-065F285A21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5884AD-90DC-4E37-A7F3-87C4C18835C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E164A5-0C03-4E6C-8F0E-A847D475DF16}"/>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5" name="Footer Placeholder 4">
            <a:extLst>
              <a:ext uri="{FF2B5EF4-FFF2-40B4-BE49-F238E27FC236}">
                <a16:creationId xmlns:a16="http://schemas.microsoft.com/office/drawing/2014/main" id="{2F8AE067-B603-48F9-BDD9-1D5A931C45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C6884A-3E23-42CF-A7A7-6123B01F1FA8}"/>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3091277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8E19-539D-4210-BD97-EF0CED4090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343C56F-2FF6-41C8-8DA9-250B499DBB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9620EF1-7C02-419A-ADC4-EC0DAF7BB8F0}"/>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5" name="Footer Placeholder 4">
            <a:extLst>
              <a:ext uri="{FF2B5EF4-FFF2-40B4-BE49-F238E27FC236}">
                <a16:creationId xmlns:a16="http://schemas.microsoft.com/office/drawing/2014/main" id="{B36B648F-8DF5-406C-892E-0C49ED5EE3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55E2A3-9FFC-475B-A465-6964DAD13E6B}"/>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1141931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8030-DCA3-4B06-91AB-AA4E345BCC4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969851-0ECF-4908-B70F-B4CB94532A5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445D805-4F77-4FC1-A3B8-E98EF702710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211C02-6244-48A8-B87F-A5EE398D562C}"/>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6" name="Footer Placeholder 5">
            <a:extLst>
              <a:ext uri="{FF2B5EF4-FFF2-40B4-BE49-F238E27FC236}">
                <a16:creationId xmlns:a16="http://schemas.microsoft.com/office/drawing/2014/main" id="{1070FF2B-BE87-4309-9239-CD5CFD6732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EC22B7-68FA-4C4F-9C37-1728A3A9451E}"/>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4234953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1189F-D61F-49CF-B2B8-9793383D54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D99659-463D-46B8-B67C-3709A3E805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6922F50-9410-411C-9771-9F899CE805A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5D3704B-83B8-41BE-91C9-96D55CEDF6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4B33B69-D6A6-4E08-BD38-DDF34D96B60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8E8B78-D039-4E43-BC5F-5A78BD45B6DE}"/>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8" name="Footer Placeholder 7">
            <a:extLst>
              <a:ext uri="{FF2B5EF4-FFF2-40B4-BE49-F238E27FC236}">
                <a16:creationId xmlns:a16="http://schemas.microsoft.com/office/drawing/2014/main" id="{50D6CDDE-CBB0-4A76-8790-4670E9DD8B1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CF70C94-4B81-455B-B760-1F3795A5097B}"/>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3394052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20F6-9217-446D-B651-BBFF7A23FC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18C734-48EC-4EF4-B507-3B4FE64B78F7}"/>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4" name="Footer Placeholder 3">
            <a:extLst>
              <a:ext uri="{FF2B5EF4-FFF2-40B4-BE49-F238E27FC236}">
                <a16:creationId xmlns:a16="http://schemas.microsoft.com/office/drawing/2014/main" id="{8701C466-8D19-4CDB-967E-D895FC7FA1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0A60AB-25A2-4614-8163-FAD80BE6F5A9}"/>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400623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527141-6C4B-426C-A06E-A78DECF43BDA}"/>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3" name="Footer Placeholder 2">
            <a:extLst>
              <a:ext uri="{FF2B5EF4-FFF2-40B4-BE49-F238E27FC236}">
                <a16:creationId xmlns:a16="http://schemas.microsoft.com/office/drawing/2014/main" id="{E359B821-54A7-480D-88BA-B138C28E927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131823-2F5F-43BE-BBB6-31E0AEBE60A4}"/>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2629957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C8AED-EAD5-49E5-965D-1F8ACB443C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0E7B8D-CA4E-4C5C-B2DC-12956351E9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D69401-74DB-41CD-83B1-6EA786C4B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1A1202-881E-44E7-AE7E-C4B7EAC35951}"/>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6" name="Footer Placeholder 5">
            <a:extLst>
              <a:ext uri="{FF2B5EF4-FFF2-40B4-BE49-F238E27FC236}">
                <a16:creationId xmlns:a16="http://schemas.microsoft.com/office/drawing/2014/main" id="{68EAA619-EF7F-4564-ADF3-9A9BBB2760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56565C-9072-42B4-967C-95B152F1B201}"/>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3310961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28CDE-FB9B-482A-BA07-AF39262B84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95B599-4A20-478D-A18D-107ECA6B0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C80C523-97CF-4E1F-87FF-8BA2D16AFE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6437FFD-EF0F-4F07-BB4B-113552B9E02B}"/>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6" name="Footer Placeholder 5">
            <a:extLst>
              <a:ext uri="{FF2B5EF4-FFF2-40B4-BE49-F238E27FC236}">
                <a16:creationId xmlns:a16="http://schemas.microsoft.com/office/drawing/2014/main" id="{E94F8244-5B76-4726-9E2D-B78DD0E848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F60FDD-EE8C-42FE-8E39-9EDD87ECFF1B}"/>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418467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8A372-C158-401E-B620-AF6C3E0E46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5D0F89-BDC4-4ADA-BA64-97D18DE34C6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C6F6E-B479-4DD6-BE13-0B5FD8A10972}"/>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5" name="Footer Placeholder 4">
            <a:extLst>
              <a:ext uri="{FF2B5EF4-FFF2-40B4-BE49-F238E27FC236}">
                <a16:creationId xmlns:a16="http://schemas.microsoft.com/office/drawing/2014/main" id="{7E33C281-198B-49C9-B109-C09F54B353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54782-42B9-4FD6-8084-785BC32B5863}"/>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1621505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48530-48FD-444C-B30D-6343239FF9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F257E2-6DA7-41C6-94A8-F153973D767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DB4221-8871-49E4-995C-0B87FA5C5744}"/>
              </a:ext>
            </a:extLst>
          </p:cNvPr>
          <p:cNvSpPr>
            <a:spLocks noGrp="1"/>
          </p:cNvSpPr>
          <p:nvPr>
            <p:ph type="dt" sz="half" idx="10"/>
          </p:nvPr>
        </p:nvSpPr>
        <p:spPr/>
        <p:txBody>
          <a:bodyPr/>
          <a:lstStyle/>
          <a:p>
            <a:fld id="{89BA8A97-2E2E-4947-9066-BEE2CB97D4D7}" type="datetimeFigureOut">
              <a:rPr lang="en-IN" smtClean="0"/>
              <a:t>11-07-2026</a:t>
            </a:fld>
            <a:endParaRPr lang="en-IN"/>
          </a:p>
        </p:txBody>
      </p:sp>
      <p:sp>
        <p:nvSpPr>
          <p:cNvPr id="5" name="Footer Placeholder 4">
            <a:extLst>
              <a:ext uri="{FF2B5EF4-FFF2-40B4-BE49-F238E27FC236}">
                <a16:creationId xmlns:a16="http://schemas.microsoft.com/office/drawing/2014/main" id="{82148935-B194-40DB-87E8-E6043F89BB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1861D4-42A2-4FB2-B4D2-5E3BACB018A1}"/>
              </a:ext>
            </a:extLst>
          </p:cNvPr>
          <p:cNvSpPr>
            <a:spLocks noGrp="1"/>
          </p:cNvSpPr>
          <p:nvPr>
            <p:ph type="sldNum" sz="quarter" idx="12"/>
          </p:nvPr>
        </p:nvSpPr>
        <p:spPr/>
        <p:txBody>
          <a:bodyPr/>
          <a:lstStyle/>
          <a:p>
            <a:fld id="{E11707A4-E1B1-41CB-B0B6-3A2C821CDC90}" type="slidenum">
              <a:rPr lang="en-IN" smtClean="0"/>
              <a:t>‹#›</a:t>
            </a:fld>
            <a:endParaRPr lang="en-IN"/>
          </a:p>
        </p:txBody>
      </p:sp>
    </p:spTree>
    <p:extLst>
      <p:ext uri="{BB962C8B-B14F-4D97-AF65-F5344CB8AC3E}">
        <p14:creationId xmlns:p14="http://schemas.microsoft.com/office/powerpoint/2010/main" val="1871080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7654B9-955F-4DAF-9DEA-2DAE52E805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CF1F279-17B3-406C-88FF-7742AD3964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B58FCA-67B4-4358-84E8-BB593C0D91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A8A97-2E2E-4947-9066-BEE2CB97D4D7}" type="datetimeFigureOut">
              <a:rPr lang="en-IN" smtClean="0"/>
              <a:t>11-07-2026</a:t>
            </a:fld>
            <a:endParaRPr lang="en-IN"/>
          </a:p>
        </p:txBody>
      </p:sp>
      <p:sp>
        <p:nvSpPr>
          <p:cNvPr id="5" name="Footer Placeholder 4">
            <a:extLst>
              <a:ext uri="{FF2B5EF4-FFF2-40B4-BE49-F238E27FC236}">
                <a16:creationId xmlns:a16="http://schemas.microsoft.com/office/drawing/2014/main" id="{8978135E-B0A4-4B7F-88C7-F3BBB6BF42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C218AEF-8B52-431D-9A1D-829019E185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1707A4-E1B1-41CB-B0B6-3A2C821CDC90}" type="slidenum">
              <a:rPr lang="en-IN" smtClean="0"/>
              <a:t>‹#›</a:t>
            </a:fld>
            <a:endParaRPr lang="en-IN"/>
          </a:p>
        </p:txBody>
      </p:sp>
    </p:spTree>
    <p:extLst>
      <p:ext uri="{BB962C8B-B14F-4D97-AF65-F5344CB8AC3E}">
        <p14:creationId xmlns:p14="http://schemas.microsoft.com/office/powerpoint/2010/main" val="264470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61661" y="1939600"/>
            <a:ext cx="9144000" cy="2387600"/>
          </a:xfrm>
        </p:spPr>
        <p:txBody>
          <a:bodyPr>
            <a:normAutofit/>
          </a:bodyPr>
          <a:lstStyle/>
          <a:p>
            <a:r>
              <a:rPr lang="en-IN" sz="4000" dirty="0">
                <a:solidFill>
                  <a:srgbClr val="002060"/>
                </a:solidFill>
                <a:latin typeface="Arial Narrow" panose="020B0606020202030204" pitchFamily="34" charset="0"/>
              </a:rPr>
              <a:t>Neural Network Fundamentals</a:t>
            </a:r>
            <a:br>
              <a:rPr lang="en-IN" sz="4000" dirty="0">
                <a:solidFill>
                  <a:srgbClr val="002060"/>
                </a:solidFill>
                <a:latin typeface="Arial Narrow" panose="020B0606020202030204" pitchFamily="34" charset="0"/>
              </a:rPr>
            </a:br>
            <a:r>
              <a:rPr lang="en-IN" sz="3200" dirty="0">
                <a:solidFill>
                  <a:srgbClr val="002060"/>
                </a:solidFill>
                <a:latin typeface="Arial Narrow" panose="020B0606020202030204" pitchFamily="34" charset="0"/>
              </a:rPr>
              <a:t>Overfitting</a:t>
            </a:r>
            <a:br>
              <a:rPr lang="en-IN" sz="4000" dirty="0">
                <a:solidFill>
                  <a:srgbClr val="002060"/>
                </a:solidFill>
                <a:latin typeface="Arial Narrow" panose="020B0606020202030204" pitchFamily="34" charset="0"/>
              </a:rPr>
            </a:b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3600" dirty="0">
                <a:solidFill>
                  <a:srgbClr val="00B050"/>
                </a:solidFill>
                <a:latin typeface="Book Antiqua" panose="02040602050305030304" pitchFamily="18" charset="0"/>
              </a:rPr>
              <a:t>Generative AI for Computer Vision</a:t>
            </a:r>
            <a:endParaRPr lang="en-IN" sz="36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751865"/>
            <a:ext cx="3796748" cy="1384995"/>
          </a:xfrm>
          <a:prstGeom prst="rect">
            <a:avLst/>
          </a:prstGeom>
          <a:noFill/>
        </p:spPr>
        <p:txBody>
          <a:bodyPr wrap="square" rtlCol="0">
            <a:spAutoFit/>
          </a:bodyPr>
          <a:lstStyle/>
          <a:p>
            <a:pPr algn="ctr"/>
            <a:r>
              <a:rPr lang="en-IN" sz="2800" dirty="0">
                <a:latin typeface="Arial Narrow" panose="020B0606020202030204" pitchFamily="34" charset="0"/>
              </a:rPr>
              <a:t>Lecture 3</a:t>
            </a:r>
          </a:p>
          <a:p>
            <a:pPr algn="ctr"/>
            <a:endParaRPr lang="en-IN" sz="2800" dirty="0">
              <a:latin typeface="Arial Narrow" panose="020B0606020202030204" pitchFamily="34" charset="0"/>
            </a:endParaRPr>
          </a:p>
          <a:p>
            <a:pPr algn="ctr"/>
            <a:r>
              <a:rPr lang="en-IN" sz="2800" dirty="0">
                <a:latin typeface="Arial Narrow" panose="020B0606020202030204" pitchFamily="34" charset="0"/>
              </a:rPr>
              <a:t>Part 4</a:t>
            </a:r>
          </a:p>
        </p:txBody>
      </p:sp>
    </p:spTree>
    <p:extLst>
      <p:ext uri="{BB962C8B-B14F-4D97-AF65-F5344CB8AC3E}">
        <p14:creationId xmlns:p14="http://schemas.microsoft.com/office/powerpoint/2010/main" val="2504929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877B3-BB0C-E8EF-D796-A0B6C8D4107F}"/>
              </a:ext>
            </a:extLst>
          </p:cNvPr>
          <p:cNvSpPr>
            <a:spLocks noGrp="1"/>
          </p:cNvSpPr>
          <p:nvPr>
            <p:ph type="title"/>
          </p:nvPr>
        </p:nvSpPr>
        <p:spPr/>
        <p:txBody>
          <a:bodyPr/>
          <a:lstStyle/>
          <a:p>
            <a:r>
              <a:rPr lang="en-US" dirty="0">
                <a:latin typeface="Century" panose="02040604050505020304" pitchFamily="18" charset="0"/>
                <a:ea typeface="Calibri Light"/>
                <a:cs typeface="Calibri Light"/>
              </a:rPr>
              <a:t>Content</a:t>
            </a:r>
          </a:p>
        </p:txBody>
      </p:sp>
      <p:sp>
        <p:nvSpPr>
          <p:cNvPr id="3" name="Content Placeholder 2">
            <a:extLst>
              <a:ext uri="{FF2B5EF4-FFF2-40B4-BE49-F238E27FC236}">
                <a16:creationId xmlns:a16="http://schemas.microsoft.com/office/drawing/2014/main" id="{79001286-9349-A4FD-CF1F-79D5D7F990F7}"/>
              </a:ext>
            </a:extLst>
          </p:cNvPr>
          <p:cNvSpPr>
            <a:spLocks noGrp="1"/>
          </p:cNvSpPr>
          <p:nvPr>
            <p:ph idx="1"/>
          </p:nvPr>
        </p:nvSpPr>
        <p:spPr>
          <a:xfrm>
            <a:off x="838200" y="1690688"/>
            <a:ext cx="10515600" cy="4351338"/>
          </a:xfrm>
        </p:spPr>
        <p:txBody>
          <a:bodyPr vert="horz" lIns="91440" tIns="45720" rIns="91440" bIns="45720" rtlCol="0" anchor="t">
            <a:normAutofit lnSpcReduction="10000"/>
          </a:bodyPr>
          <a:lstStyle/>
          <a:p>
            <a:pPr marL="457200" indent="-457200" algn="just">
              <a:lnSpc>
                <a:spcPct val="150000"/>
              </a:lnSpc>
            </a:pPr>
            <a:r>
              <a:rPr lang="en-US" sz="2400" dirty="0">
                <a:latin typeface="Arial Narrow" panose="020B0606020202030204" pitchFamily="34" charset="0"/>
                <a:cs typeface="Times New Roman" panose="02020603050405020304" pitchFamily="18" charset="0"/>
              </a:rPr>
              <a:t>Concept of Overfitting</a:t>
            </a:r>
          </a:p>
          <a:p>
            <a:pPr marL="457200" indent="-457200" algn="just">
              <a:lnSpc>
                <a:spcPct val="150000"/>
              </a:lnSpc>
            </a:pPr>
            <a:r>
              <a:rPr lang="en-US" sz="2400" dirty="0">
                <a:latin typeface="Arial Narrow" panose="020B0606020202030204" pitchFamily="34" charset="0"/>
                <a:cs typeface="Times New Roman" panose="02020603050405020304" pitchFamily="18" charset="0"/>
              </a:rPr>
              <a:t>Bias &amp; Variance </a:t>
            </a:r>
          </a:p>
          <a:p>
            <a:pPr marL="457200" indent="-457200" algn="just">
              <a:lnSpc>
                <a:spcPct val="150000"/>
              </a:lnSpc>
            </a:pPr>
            <a:r>
              <a:rPr lang="en-US" sz="2400" dirty="0">
                <a:latin typeface="Arial Narrow" panose="020B0606020202030204" pitchFamily="34" charset="0"/>
                <a:cs typeface="Times New Roman" panose="02020603050405020304" pitchFamily="18" charset="0"/>
              </a:rPr>
              <a:t>Bias Variance Trade off</a:t>
            </a:r>
          </a:p>
          <a:p>
            <a:pPr marL="457200" indent="-457200" algn="just">
              <a:lnSpc>
                <a:spcPct val="150000"/>
              </a:lnSpc>
            </a:pPr>
            <a:r>
              <a:rPr lang="en-US" sz="2400" dirty="0">
                <a:latin typeface="Arial Narrow" panose="020B0606020202030204" pitchFamily="34" charset="0"/>
                <a:cs typeface="Times New Roman" panose="02020603050405020304" pitchFamily="18" charset="0"/>
              </a:rPr>
              <a:t>Solutions of overfitting</a:t>
            </a:r>
          </a:p>
          <a:p>
            <a:pPr marL="914400" lvl="1" indent="-457200" algn="just">
              <a:lnSpc>
                <a:spcPct val="150000"/>
              </a:lnSpc>
            </a:pPr>
            <a:r>
              <a:rPr lang="en-US" sz="2200" dirty="0">
                <a:latin typeface="Arial Narrow" panose="020B0606020202030204" pitchFamily="34" charset="0"/>
                <a:cs typeface="Times New Roman" panose="02020603050405020304" pitchFamily="18" charset="0"/>
              </a:rPr>
              <a:t>K-fold Cross Validation</a:t>
            </a:r>
          </a:p>
          <a:p>
            <a:pPr marL="914400" lvl="1" indent="-457200" algn="just">
              <a:lnSpc>
                <a:spcPct val="150000"/>
              </a:lnSpc>
            </a:pPr>
            <a:r>
              <a:rPr lang="en-US" sz="2200" dirty="0">
                <a:latin typeface="Arial Narrow" panose="020B0606020202030204" pitchFamily="34" charset="0"/>
                <a:cs typeface="Times New Roman" panose="02020603050405020304" pitchFamily="18" charset="0"/>
              </a:rPr>
              <a:t>Regularization</a:t>
            </a:r>
          </a:p>
          <a:p>
            <a:pPr marL="914400" lvl="1" indent="-457200" algn="just">
              <a:lnSpc>
                <a:spcPct val="150000"/>
              </a:lnSpc>
            </a:pPr>
            <a:r>
              <a:rPr lang="en-US" sz="2200" dirty="0">
                <a:latin typeface="Arial Narrow" panose="020B0606020202030204" pitchFamily="34" charset="0"/>
                <a:cs typeface="Times New Roman" panose="02020603050405020304" pitchFamily="18" charset="0"/>
              </a:rPr>
              <a:t>Early Stopping </a:t>
            </a:r>
          </a:p>
          <a:p>
            <a:endParaRPr lang="en-US" dirty="0">
              <a:latin typeface="Arial Narrow" panose="020B0606020202030204" pitchFamily="34" charset="0"/>
              <a:ea typeface="+mn-lt"/>
              <a:cs typeface="+mn-lt"/>
            </a:endParaRPr>
          </a:p>
        </p:txBody>
      </p:sp>
    </p:spTree>
    <p:extLst>
      <p:ext uri="{BB962C8B-B14F-4D97-AF65-F5344CB8AC3E}">
        <p14:creationId xmlns:p14="http://schemas.microsoft.com/office/powerpoint/2010/main" val="15706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979" y="331746"/>
            <a:ext cx="10515600" cy="1325563"/>
          </a:xfrm>
        </p:spPr>
        <p:txBody>
          <a:bodyPr>
            <a:normAutofit/>
          </a:bodyPr>
          <a:lstStyle/>
          <a:p>
            <a:r>
              <a:rPr lang="en-IN" sz="4000" dirty="0">
                <a:latin typeface="Century" panose="02040604050505020304" pitchFamily="18" charset="0"/>
              </a:rPr>
              <a:t>Overfitting</a:t>
            </a:r>
          </a:p>
        </p:txBody>
      </p:sp>
      <p:sp>
        <p:nvSpPr>
          <p:cNvPr id="3" name="Content Placeholder 2"/>
          <p:cNvSpPr>
            <a:spLocks noGrp="1"/>
          </p:cNvSpPr>
          <p:nvPr>
            <p:ph idx="1"/>
          </p:nvPr>
        </p:nvSpPr>
        <p:spPr>
          <a:xfrm>
            <a:off x="838200" y="1791256"/>
            <a:ext cx="10515600" cy="4072216"/>
          </a:xfrm>
        </p:spPr>
        <p:txBody>
          <a:bodyPr>
            <a:normAutofit/>
          </a:bodyPr>
          <a:lstStyle/>
          <a:p>
            <a:r>
              <a:rPr lang="en-US" sz="2000" dirty="0">
                <a:solidFill>
                  <a:srgbClr val="00B0F0"/>
                </a:solidFill>
                <a:latin typeface="Arial Narrow" panose="020B0606020202030204" pitchFamily="34" charset="0"/>
              </a:rPr>
              <a:t>Overfitting</a:t>
            </a:r>
            <a:r>
              <a:rPr lang="en-US" sz="2000" b="1" dirty="0">
                <a:latin typeface="Arial Narrow" panose="020B0606020202030204" pitchFamily="34" charset="0"/>
              </a:rPr>
              <a:t>:</a:t>
            </a:r>
            <a:r>
              <a:rPr lang="en-US" sz="2000" dirty="0">
                <a:latin typeface="Arial Narrow" panose="020B0606020202030204" pitchFamily="34" charset="0"/>
              </a:rPr>
              <a:t> A hypothesis function </a:t>
            </a:r>
            <a:r>
              <a:rPr lang="en-US" sz="2000" dirty="0">
                <a:solidFill>
                  <a:srgbClr val="7030A0"/>
                </a:solidFill>
                <a:latin typeface="Arial Narrow" panose="020B0606020202030204" pitchFamily="34" charset="0"/>
              </a:rPr>
              <a:t>h</a:t>
            </a:r>
            <a:r>
              <a:rPr lang="en-US" sz="2000" dirty="0">
                <a:latin typeface="Arial Narrow" panose="020B0606020202030204" pitchFamily="34" charset="0"/>
              </a:rPr>
              <a:t> is said to </a:t>
            </a:r>
            <a:r>
              <a:rPr lang="en-US" sz="2000" dirty="0" err="1">
                <a:solidFill>
                  <a:srgbClr val="00B0F0"/>
                </a:solidFill>
                <a:latin typeface="Arial Narrow" panose="020B0606020202030204" pitchFamily="34" charset="0"/>
              </a:rPr>
              <a:t>overfit</a:t>
            </a:r>
            <a:r>
              <a:rPr lang="en-US" sz="2000" dirty="0">
                <a:latin typeface="Arial Narrow" panose="020B0606020202030204" pitchFamily="34" charset="0"/>
              </a:rPr>
              <a:t> if there exists another hypothesis </a:t>
            </a:r>
            <a:r>
              <a:rPr lang="en-US" sz="2000" dirty="0">
                <a:solidFill>
                  <a:srgbClr val="7030A0"/>
                </a:solidFill>
                <a:latin typeface="Arial Narrow" panose="020B0606020202030204" pitchFamily="34" charset="0"/>
              </a:rPr>
              <a:t>h′ </a:t>
            </a:r>
            <a:r>
              <a:rPr lang="en-US" sz="2000" dirty="0">
                <a:latin typeface="Arial Narrow" panose="020B0606020202030204" pitchFamily="34" charset="0"/>
              </a:rPr>
              <a:t>with </a:t>
            </a:r>
            <a:r>
              <a:rPr lang="en-US" sz="2000" dirty="0">
                <a:solidFill>
                  <a:srgbClr val="00B0F0"/>
                </a:solidFill>
                <a:latin typeface="Arial Narrow" panose="020B0606020202030204" pitchFamily="34" charset="0"/>
              </a:rPr>
              <a:t>higher training error but lower testing error</a:t>
            </a:r>
            <a:r>
              <a:rPr lang="en-US" sz="2000" dirty="0">
                <a:latin typeface="Arial Narrow" panose="020B0606020202030204" pitchFamily="34" charset="0"/>
              </a:rPr>
              <a:t>, indicating that </a:t>
            </a:r>
            <a:r>
              <a:rPr lang="en-US" sz="2000" dirty="0">
                <a:solidFill>
                  <a:srgbClr val="7030A0"/>
                </a:solidFill>
                <a:latin typeface="Arial Narrow" panose="020B0606020202030204" pitchFamily="34" charset="0"/>
              </a:rPr>
              <a:t>h</a:t>
            </a:r>
            <a:r>
              <a:rPr lang="en-US" sz="2000" dirty="0">
                <a:latin typeface="Arial Narrow" panose="020B0606020202030204" pitchFamily="34" charset="0"/>
              </a:rPr>
              <a:t> generalizes poorly to unseen data.</a:t>
            </a:r>
          </a:p>
          <a:p>
            <a:endParaRPr lang="en-US" sz="2000" dirty="0">
              <a:latin typeface="Arial Narrow" panose="020B0606020202030204" pitchFamily="34" charset="0"/>
            </a:endParaRPr>
          </a:p>
          <a:p>
            <a:r>
              <a:rPr lang="en-US" sz="2000" dirty="0">
                <a:latin typeface="Arial Narrow" panose="020B0606020202030204" pitchFamily="34" charset="0"/>
              </a:rPr>
              <a:t>A classifier that perfectly classifies the training data may not generalize well because:</a:t>
            </a:r>
          </a:p>
          <a:p>
            <a:pPr marL="504000"/>
            <a:r>
              <a:rPr lang="en-US" sz="2000" dirty="0">
                <a:solidFill>
                  <a:srgbClr val="00B0F0"/>
                </a:solidFill>
                <a:latin typeface="Arial Narrow" panose="020B0606020202030204" pitchFamily="34" charset="0"/>
              </a:rPr>
              <a:t>Training data may contain noise</a:t>
            </a:r>
            <a:r>
              <a:rPr lang="en-US" sz="2000" dirty="0">
                <a:latin typeface="Arial Narrow" panose="020B0606020202030204" pitchFamily="34" charset="0"/>
              </a:rPr>
              <a:t>, causing the model to learn irrelevant patterns. </a:t>
            </a:r>
          </a:p>
          <a:p>
            <a:pPr marL="504000"/>
            <a:r>
              <a:rPr lang="en-US" sz="2000" dirty="0">
                <a:solidFill>
                  <a:srgbClr val="00B0F0"/>
                </a:solidFill>
                <a:latin typeface="Arial Narrow" panose="020B0606020202030204" pitchFamily="34" charset="0"/>
              </a:rPr>
              <a:t>The training dataset may be too small</a:t>
            </a:r>
            <a:r>
              <a:rPr lang="en-US" sz="2000" dirty="0">
                <a:latin typeface="Arial Narrow" panose="020B0606020202030204" pitchFamily="34" charset="0"/>
              </a:rPr>
              <a:t>, making it unrepresentative of the true data distribution.</a:t>
            </a:r>
          </a:p>
          <a:p>
            <a:endParaRPr lang="en-US" sz="2000" dirty="0">
              <a:latin typeface="Arial Narrow" panose="020B0606020202030204" pitchFamily="34" charset="0"/>
            </a:endParaRPr>
          </a:p>
          <a:p>
            <a:r>
              <a:rPr lang="en-US" sz="2000" dirty="0">
                <a:latin typeface="Arial Narrow" panose="020B0606020202030204" pitchFamily="34" charset="0"/>
              </a:rPr>
              <a:t>Simply put, a model that is too complex tends to </a:t>
            </a:r>
            <a:r>
              <a:rPr lang="en-US" sz="2000" dirty="0" err="1">
                <a:solidFill>
                  <a:srgbClr val="00B0F0"/>
                </a:solidFill>
                <a:latin typeface="Arial Narrow" panose="020B0606020202030204" pitchFamily="34" charset="0"/>
              </a:rPr>
              <a:t>overfit</a:t>
            </a:r>
            <a:r>
              <a:rPr lang="en-US" sz="2000" dirty="0">
                <a:latin typeface="Arial Narrow" panose="020B0606020202030204" pitchFamily="34" charset="0"/>
              </a:rPr>
              <a:t>, whereas a model that is too simple tends to </a:t>
            </a:r>
            <a:r>
              <a:rPr lang="en-US" sz="2000" dirty="0" err="1">
                <a:solidFill>
                  <a:srgbClr val="00B0F0"/>
                </a:solidFill>
                <a:latin typeface="Arial Narrow" panose="020B0606020202030204" pitchFamily="34" charset="0"/>
              </a:rPr>
              <a:t>underfit</a:t>
            </a:r>
            <a:r>
              <a:rPr lang="en-US" sz="2000" dirty="0">
                <a:solidFill>
                  <a:srgbClr val="7030A0"/>
                </a:solidFill>
                <a:latin typeface="Arial Narrow" panose="020B0606020202030204" pitchFamily="34" charset="0"/>
              </a:rPr>
              <a:t>.</a:t>
            </a:r>
          </a:p>
          <a:p>
            <a:endParaRPr lang="en-IN" sz="2000" dirty="0">
              <a:latin typeface="Arial Narrow" panose="020B0606020202030204" pitchFamily="34" charset="0"/>
              <a:cs typeface="Times New Roman" panose="02020603050405020304" pitchFamily="18" charset="0"/>
            </a:endParaRPr>
          </a:p>
          <a:p>
            <a:r>
              <a:rPr lang="en-IN" sz="2000" dirty="0">
                <a:latin typeface="Arial Narrow" panose="020B0606020202030204" pitchFamily="34" charset="0"/>
                <a:cs typeface="Times New Roman" panose="02020603050405020304" pitchFamily="18" charset="0"/>
              </a:rPr>
              <a:t>Note: </a:t>
            </a:r>
            <a:r>
              <a:rPr lang="en-IN" sz="2000" dirty="0">
                <a:solidFill>
                  <a:srgbClr val="00B0F0"/>
                </a:solidFill>
                <a:latin typeface="Arial Narrow" panose="020B0606020202030204" pitchFamily="34" charset="0"/>
                <a:cs typeface="Times New Roman" panose="02020603050405020304" pitchFamily="18" charset="0"/>
              </a:rPr>
              <a:t>Training error is not a good predictor for the testing error.</a:t>
            </a:r>
            <a:endParaRPr lang="en-US" sz="2000" dirty="0">
              <a:solidFill>
                <a:srgbClr val="00B0F0"/>
              </a:solidFill>
              <a:latin typeface="Arial Narrow" panose="020B0606020202030204" pitchFamily="34" charset="0"/>
            </a:endParaRPr>
          </a:p>
        </p:txBody>
      </p:sp>
    </p:spTree>
    <p:extLst>
      <p:ext uri="{BB962C8B-B14F-4D97-AF65-F5344CB8AC3E}">
        <p14:creationId xmlns:p14="http://schemas.microsoft.com/office/powerpoint/2010/main" val="3998569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73545" y="1311276"/>
                <a:ext cx="10515600" cy="5329670"/>
              </a:xfrm>
            </p:spPr>
            <p:txBody>
              <a:bodyPr>
                <a:normAutofit/>
              </a:bodyPr>
              <a:lstStyle/>
              <a:p>
                <a:pPr algn="just"/>
                <a:r>
                  <a:rPr lang="en-GB" sz="2000" dirty="0">
                    <a:latin typeface="Arial Narrow" panose="020B0606020202030204" pitchFamily="34" charset="0"/>
                  </a:rPr>
                  <a:t>Let </a:t>
                </a:r>
                <a:r>
                  <a:rPr lang="en-GB" sz="2000" dirty="0">
                    <a:solidFill>
                      <a:srgbClr val="00B0F0"/>
                    </a:solidFill>
                    <a:latin typeface="Arial Narrow" panose="020B0606020202030204" pitchFamily="34" charset="0"/>
                  </a:rPr>
                  <a:t>D</a:t>
                </a:r>
                <a:r>
                  <a:rPr lang="en-GB" sz="2000" dirty="0">
                    <a:latin typeface="Arial Narrow" panose="020B0606020202030204" pitchFamily="34" charset="0"/>
                  </a:rPr>
                  <a:t> represent the entire </a:t>
                </a:r>
                <a:r>
                  <a:rPr lang="en-GB" sz="2000" dirty="0">
                    <a:solidFill>
                      <a:srgbClr val="00B0F0"/>
                    </a:solidFill>
                    <a:latin typeface="Arial Narrow" panose="020B0606020202030204" pitchFamily="34" charset="0"/>
                  </a:rPr>
                  <a:t>data distribution </a:t>
                </a:r>
                <a:r>
                  <a:rPr lang="en-GB" sz="2000" dirty="0">
                    <a:latin typeface="Arial Narrow" panose="020B0606020202030204" pitchFamily="34" charset="0"/>
                  </a:rPr>
                  <a:t>and </a:t>
                </a:r>
                <a:r>
                  <a:rPr lang="en-GB" sz="2000" dirty="0">
                    <a:solidFill>
                      <a:srgbClr val="00B0F0"/>
                    </a:solidFill>
                    <a:latin typeface="Arial Narrow" panose="020B0606020202030204" pitchFamily="34" charset="0"/>
                  </a:rPr>
                  <a:t>T</a:t>
                </a:r>
                <a:r>
                  <a:rPr lang="en-GB" sz="2000" dirty="0">
                    <a:latin typeface="Arial Narrow" panose="020B0606020202030204" pitchFamily="34" charset="0"/>
                  </a:rPr>
                  <a:t> represent the training set. </a:t>
                </a:r>
              </a:p>
              <a:p>
                <a:pPr algn="just"/>
                <a:r>
                  <a:rPr lang="en-GB" sz="2000" dirty="0">
                    <a:latin typeface="Arial Narrow" panose="020B0606020202030204" pitchFamily="34" charset="0"/>
                  </a:rPr>
                  <a:t>A hypothesis (</a:t>
                </a:r>
                <a14:m>
                  <m:oMath xmlns:m="http://schemas.openxmlformats.org/officeDocument/2006/math">
                    <m:r>
                      <a:rPr lang="en-GB" sz="2000" b="0" i="1" dirty="0" smtClean="0">
                        <a:solidFill>
                          <a:srgbClr val="00B0F0"/>
                        </a:solidFill>
                        <a:latin typeface="Cambria Math" panose="02040503050406030204" pitchFamily="18" charset="0"/>
                      </a:rPr>
                      <m:t>h</m:t>
                    </m:r>
                    <m:r>
                      <a:rPr lang="en-GB" sz="2000" b="0" i="1" dirty="0" smtClean="0">
                        <a:solidFill>
                          <a:srgbClr val="00B0F0"/>
                        </a:solidFill>
                        <a:latin typeface="Cambria Math" panose="02040503050406030204" pitchFamily="18" charset="0"/>
                        <a:ea typeface="Cambria Math" panose="02040503050406030204" pitchFamily="18" charset="0"/>
                      </a:rPr>
                      <m:t>∈</m:t>
                    </m:r>
                    <m:r>
                      <a:rPr lang="en-GB" sz="2000" b="0" i="1" dirty="0" smtClean="0">
                        <a:solidFill>
                          <a:srgbClr val="00B0F0"/>
                        </a:solidFill>
                        <a:latin typeface="Cambria Math" panose="02040503050406030204" pitchFamily="18" charset="0"/>
                        <a:ea typeface="Cambria Math" panose="02040503050406030204" pitchFamily="18" charset="0"/>
                      </a:rPr>
                      <m:t>𝐻</m:t>
                    </m:r>
                  </m:oMath>
                </a14:m>
                <a:r>
                  <a:rPr lang="en-GB" sz="2000" dirty="0">
                    <a:latin typeface="Arial Narrow" panose="020B0606020202030204" pitchFamily="34" charset="0"/>
                  </a:rPr>
                  <a:t>) is said to overfit when there exists another hypothesis (</a:t>
                </a:r>
                <a14:m>
                  <m:oMath xmlns:m="http://schemas.openxmlformats.org/officeDocument/2006/math">
                    <m:r>
                      <a:rPr lang="en-GB" sz="2000" b="0" i="1" smtClean="0">
                        <a:latin typeface="Cambria Math" panose="02040503050406030204" pitchFamily="18" charset="0"/>
                      </a:rPr>
                      <m:t>h</m:t>
                    </m:r>
                    <m:r>
                      <a:rPr lang="en-GB" sz="2000" b="0" i="1" smtClean="0">
                        <a:latin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h</m:t>
                    </m:r>
                  </m:oMath>
                </a14:m>
                <a:r>
                  <a:rPr lang="en-GB" sz="2000" dirty="0">
                    <a:latin typeface="Arial Narrow" panose="020B0606020202030204" pitchFamily="34" charset="0"/>
                  </a:rPr>
                  <a:t>) such that </a:t>
                </a:r>
                <a:r>
                  <a:rPr lang="en-GB" sz="2000" dirty="0">
                    <a:solidFill>
                      <a:srgbClr val="00B0F0"/>
                    </a:solidFill>
                    <a:latin typeface="Arial Narrow" panose="020B0606020202030204" pitchFamily="34" charset="0"/>
                  </a:rPr>
                  <a:t>h</a:t>
                </a:r>
                <a:r>
                  <a:rPr lang="en-GB" sz="2000" dirty="0">
                    <a:latin typeface="Arial Narrow" panose="020B0606020202030204" pitchFamily="34" charset="0"/>
                  </a:rPr>
                  <a:t> achieves a lower training error than </a:t>
                </a:r>
                <a:r>
                  <a:rPr lang="en-GB" sz="2000" dirty="0">
                    <a:solidFill>
                      <a:srgbClr val="00B0F0"/>
                    </a:solidFill>
                    <a:latin typeface="Arial Narrow" panose="020B0606020202030204" pitchFamily="34" charset="0"/>
                  </a:rPr>
                  <a:t>h’</a:t>
                </a:r>
                <a:r>
                  <a:rPr lang="en-GB" sz="2000" dirty="0">
                    <a:latin typeface="Arial Narrow" panose="020B0606020202030204" pitchFamily="34" charset="0"/>
                  </a:rPr>
                  <a:t> that means </a:t>
                </a:r>
              </a:p>
              <a:p>
                <a:pPr marL="0" indent="0" algn="just">
                  <a:buNone/>
                </a:pPr>
                <a:r>
                  <a:rPr lang="en-GB" sz="2000" b="0" dirty="0">
                    <a:latin typeface="Arial Narrow" panose="020B0606020202030204" pitchFamily="34" charset="0"/>
                  </a:rPr>
                  <a:t>                                            </a:t>
                </a:r>
                <a14:m>
                  <m:oMath xmlns:m="http://schemas.openxmlformats.org/officeDocument/2006/math">
                    <m:sSub>
                      <m:sSubPr>
                        <m:ctrlPr>
                          <a:rPr lang="en-GB" sz="2000" b="0" i="1" smtClean="0">
                            <a:solidFill>
                              <a:srgbClr val="00B0F0"/>
                            </a:solidFill>
                            <a:latin typeface="Cambria Math" panose="02040503050406030204" pitchFamily="18" charset="0"/>
                          </a:rPr>
                        </m:ctrlPr>
                      </m:sSubPr>
                      <m:e>
                        <m:r>
                          <a:rPr lang="en-GB" sz="2000" b="0" i="1" smtClean="0">
                            <a:solidFill>
                              <a:srgbClr val="00B0F0"/>
                            </a:solidFill>
                            <a:latin typeface="Cambria Math" panose="02040503050406030204" pitchFamily="18" charset="0"/>
                          </a:rPr>
                          <m:t>𝐸𝑟𝑟𝑜𝑟</m:t>
                        </m:r>
                      </m:e>
                      <m:sub>
                        <m:r>
                          <a:rPr lang="en-GB" sz="2000" b="0" i="1" smtClean="0">
                            <a:solidFill>
                              <a:srgbClr val="00B0F0"/>
                            </a:solidFill>
                            <a:latin typeface="Cambria Math" panose="02040503050406030204" pitchFamily="18" charset="0"/>
                          </a:rPr>
                          <m:t>𝑇</m:t>
                        </m:r>
                      </m:sub>
                    </m:sSub>
                    <m:d>
                      <m:dPr>
                        <m:ctrlPr>
                          <a:rPr lang="en-GB" sz="2000" b="0" i="1" smtClean="0">
                            <a:solidFill>
                              <a:srgbClr val="00B0F0"/>
                            </a:solidFill>
                            <a:latin typeface="Cambria Math" panose="02040503050406030204" pitchFamily="18" charset="0"/>
                          </a:rPr>
                        </m:ctrlPr>
                      </m:dPr>
                      <m:e>
                        <m:r>
                          <a:rPr lang="en-GB" sz="2000" b="0" i="1" smtClean="0">
                            <a:solidFill>
                              <a:srgbClr val="00B0F0"/>
                            </a:solidFill>
                            <a:latin typeface="Cambria Math" panose="02040503050406030204" pitchFamily="18" charset="0"/>
                          </a:rPr>
                          <m:t>h</m:t>
                        </m:r>
                      </m:e>
                    </m:d>
                    <m:r>
                      <a:rPr lang="en-GB" sz="2000" b="0" i="1" smtClean="0">
                        <a:solidFill>
                          <a:srgbClr val="00B0F0"/>
                        </a:solidFill>
                        <a:latin typeface="Cambria Math" panose="02040503050406030204" pitchFamily="18" charset="0"/>
                      </a:rPr>
                      <m:t>&lt;</m:t>
                    </m:r>
                    <m:sSub>
                      <m:sSubPr>
                        <m:ctrlPr>
                          <a:rPr lang="en-GB" sz="2000" b="0" i="1" smtClean="0">
                            <a:solidFill>
                              <a:srgbClr val="00B0F0"/>
                            </a:solidFill>
                            <a:latin typeface="Cambria Math" panose="02040503050406030204" pitchFamily="18" charset="0"/>
                          </a:rPr>
                        </m:ctrlPr>
                      </m:sSubPr>
                      <m:e>
                        <m:r>
                          <a:rPr lang="en-GB" sz="2000" b="0" i="1" smtClean="0">
                            <a:solidFill>
                              <a:srgbClr val="00B0F0"/>
                            </a:solidFill>
                            <a:latin typeface="Cambria Math" panose="02040503050406030204" pitchFamily="18" charset="0"/>
                          </a:rPr>
                          <m:t>𝐸𝑟𝑟𝑜𝑟</m:t>
                        </m:r>
                      </m:e>
                      <m:sub>
                        <m:r>
                          <a:rPr lang="en-GB" sz="2000" b="0" i="1" smtClean="0">
                            <a:solidFill>
                              <a:srgbClr val="00B0F0"/>
                            </a:solidFill>
                            <a:latin typeface="Cambria Math" panose="02040503050406030204" pitchFamily="18" charset="0"/>
                          </a:rPr>
                          <m:t>𝑇</m:t>
                        </m:r>
                      </m:sub>
                    </m:sSub>
                    <m:d>
                      <m:dPr>
                        <m:ctrlPr>
                          <a:rPr lang="en-GB" sz="2000" b="0" i="1" smtClean="0">
                            <a:solidFill>
                              <a:srgbClr val="00B0F0"/>
                            </a:solidFill>
                            <a:latin typeface="Cambria Math" panose="02040503050406030204" pitchFamily="18" charset="0"/>
                          </a:rPr>
                        </m:ctrlPr>
                      </m:dPr>
                      <m:e>
                        <m:sSup>
                          <m:sSupPr>
                            <m:ctrlPr>
                              <a:rPr lang="en-GB" sz="2000" b="0" i="1" smtClean="0">
                                <a:solidFill>
                                  <a:srgbClr val="00B0F0"/>
                                </a:solidFill>
                                <a:latin typeface="Cambria Math" panose="02040503050406030204" pitchFamily="18" charset="0"/>
                              </a:rPr>
                            </m:ctrlPr>
                          </m:sSupPr>
                          <m:e>
                            <m:r>
                              <a:rPr lang="en-GB" sz="2000" b="0" i="1" smtClean="0">
                                <a:solidFill>
                                  <a:srgbClr val="00B0F0"/>
                                </a:solidFill>
                                <a:latin typeface="Cambria Math" panose="02040503050406030204" pitchFamily="18" charset="0"/>
                              </a:rPr>
                              <m:t>h</m:t>
                            </m:r>
                          </m:e>
                          <m:sup>
                            <m:r>
                              <a:rPr lang="en-GB" sz="2000" b="0" i="1" smtClean="0">
                                <a:solidFill>
                                  <a:srgbClr val="00B0F0"/>
                                </a:solidFill>
                                <a:latin typeface="Cambria Math" panose="02040503050406030204" pitchFamily="18" charset="0"/>
                              </a:rPr>
                              <m:t>′</m:t>
                            </m:r>
                          </m:sup>
                        </m:sSup>
                      </m:e>
                    </m:d>
                  </m:oMath>
                </a14:m>
                <a:endParaRPr lang="en-GB" sz="2000" dirty="0">
                  <a:latin typeface="Arial Narrow" panose="020B0606020202030204" pitchFamily="34" charset="0"/>
                </a:endParaRPr>
              </a:p>
              <a:p>
                <a:pPr algn="just"/>
                <a:r>
                  <a:rPr lang="en-GB" sz="2000" dirty="0">
                    <a:latin typeface="Arial Narrow" panose="020B0606020202030204" pitchFamily="34" charset="0"/>
                  </a:rPr>
                  <a:t>but a higher error on the overall data distribution </a:t>
                </a:r>
              </a:p>
              <a:p>
                <a:pPr marL="0" indent="0" algn="just">
                  <a:buNone/>
                </a:pPr>
                <a:r>
                  <a:rPr lang="en-GB" sz="2000" dirty="0">
                    <a:latin typeface="Arial Narrow" panose="020B0606020202030204" pitchFamily="34" charset="0"/>
                  </a:rPr>
                  <a:t>                                           </a:t>
                </a:r>
                <a14:m>
                  <m:oMath xmlns:m="http://schemas.openxmlformats.org/officeDocument/2006/math">
                    <m:sSub>
                      <m:sSubPr>
                        <m:ctrlPr>
                          <a:rPr lang="en-GB" sz="2000" i="1" smtClean="0">
                            <a:solidFill>
                              <a:srgbClr val="00B0F0"/>
                            </a:solidFill>
                            <a:latin typeface="Cambria Math" panose="02040503050406030204" pitchFamily="18" charset="0"/>
                          </a:rPr>
                        </m:ctrlPr>
                      </m:sSubPr>
                      <m:e>
                        <m:r>
                          <a:rPr lang="en-GB" sz="2000" i="1">
                            <a:solidFill>
                              <a:srgbClr val="00B0F0"/>
                            </a:solidFill>
                            <a:latin typeface="Cambria Math" panose="02040503050406030204" pitchFamily="18" charset="0"/>
                          </a:rPr>
                          <m:t>𝐸𝑟𝑟𝑜𝑟</m:t>
                        </m:r>
                      </m:e>
                      <m:sub>
                        <m:r>
                          <a:rPr lang="en-GB" sz="2000" b="0" i="1" smtClean="0">
                            <a:solidFill>
                              <a:srgbClr val="00B0F0"/>
                            </a:solidFill>
                            <a:latin typeface="Cambria Math" panose="02040503050406030204" pitchFamily="18" charset="0"/>
                          </a:rPr>
                          <m:t>𝐷</m:t>
                        </m:r>
                      </m:sub>
                    </m:sSub>
                    <m:d>
                      <m:dPr>
                        <m:ctrlPr>
                          <a:rPr lang="en-GB" sz="2000" i="1">
                            <a:solidFill>
                              <a:srgbClr val="00B0F0"/>
                            </a:solidFill>
                            <a:latin typeface="Cambria Math" panose="02040503050406030204" pitchFamily="18" charset="0"/>
                          </a:rPr>
                        </m:ctrlPr>
                      </m:dPr>
                      <m:e>
                        <m:r>
                          <a:rPr lang="en-GB" sz="2000" i="1">
                            <a:solidFill>
                              <a:srgbClr val="00B0F0"/>
                            </a:solidFill>
                            <a:latin typeface="Cambria Math" panose="02040503050406030204" pitchFamily="18" charset="0"/>
                          </a:rPr>
                          <m:t>h</m:t>
                        </m:r>
                      </m:e>
                    </m:d>
                    <m:r>
                      <a:rPr lang="en-GB" sz="2000" b="0" i="1" smtClean="0">
                        <a:solidFill>
                          <a:srgbClr val="00B0F0"/>
                        </a:solidFill>
                        <a:latin typeface="Cambria Math" panose="02040503050406030204" pitchFamily="18" charset="0"/>
                      </a:rPr>
                      <m:t>&gt;</m:t>
                    </m:r>
                    <m:sSub>
                      <m:sSubPr>
                        <m:ctrlPr>
                          <a:rPr lang="en-GB" sz="2000" i="1">
                            <a:solidFill>
                              <a:srgbClr val="00B0F0"/>
                            </a:solidFill>
                            <a:latin typeface="Cambria Math" panose="02040503050406030204" pitchFamily="18" charset="0"/>
                          </a:rPr>
                        </m:ctrlPr>
                      </m:sSubPr>
                      <m:e>
                        <m:r>
                          <a:rPr lang="en-GB" sz="2000" i="1">
                            <a:solidFill>
                              <a:srgbClr val="00B0F0"/>
                            </a:solidFill>
                            <a:latin typeface="Cambria Math" panose="02040503050406030204" pitchFamily="18" charset="0"/>
                          </a:rPr>
                          <m:t>𝐸𝑟𝑟𝑜𝑟</m:t>
                        </m:r>
                      </m:e>
                      <m:sub>
                        <m:r>
                          <a:rPr lang="en-GB" sz="2000" b="0" i="1" smtClean="0">
                            <a:solidFill>
                              <a:srgbClr val="00B0F0"/>
                            </a:solidFill>
                            <a:latin typeface="Cambria Math" panose="02040503050406030204" pitchFamily="18" charset="0"/>
                          </a:rPr>
                          <m:t>𝐷</m:t>
                        </m:r>
                      </m:sub>
                    </m:sSub>
                    <m:d>
                      <m:dPr>
                        <m:ctrlPr>
                          <a:rPr lang="en-GB" sz="2000" i="1">
                            <a:solidFill>
                              <a:srgbClr val="00B0F0"/>
                            </a:solidFill>
                            <a:latin typeface="Cambria Math" panose="02040503050406030204" pitchFamily="18" charset="0"/>
                          </a:rPr>
                        </m:ctrlPr>
                      </m:dPr>
                      <m:e>
                        <m:sSup>
                          <m:sSupPr>
                            <m:ctrlPr>
                              <a:rPr lang="en-GB" sz="2000" i="1">
                                <a:solidFill>
                                  <a:srgbClr val="00B0F0"/>
                                </a:solidFill>
                                <a:latin typeface="Cambria Math" panose="02040503050406030204" pitchFamily="18" charset="0"/>
                              </a:rPr>
                            </m:ctrlPr>
                          </m:sSupPr>
                          <m:e>
                            <m:r>
                              <a:rPr lang="en-GB" sz="2000" i="1">
                                <a:solidFill>
                                  <a:srgbClr val="00B0F0"/>
                                </a:solidFill>
                                <a:latin typeface="Cambria Math" panose="02040503050406030204" pitchFamily="18" charset="0"/>
                              </a:rPr>
                              <m:t>h</m:t>
                            </m:r>
                          </m:e>
                          <m:sup>
                            <m:r>
                              <a:rPr lang="en-GB" sz="2000" i="1">
                                <a:solidFill>
                                  <a:srgbClr val="00B0F0"/>
                                </a:solidFill>
                                <a:latin typeface="Cambria Math" panose="02040503050406030204" pitchFamily="18" charset="0"/>
                              </a:rPr>
                              <m:t>′</m:t>
                            </m:r>
                          </m:sup>
                        </m:sSup>
                      </m:e>
                    </m:d>
                  </m:oMath>
                </a14:m>
                <a:endParaRPr lang="en-GB" sz="2000" dirty="0">
                  <a:latin typeface="Arial Narrow" panose="020B0606020202030204" pitchFamily="34" charset="0"/>
                </a:endParaRPr>
              </a:p>
              <a:p>
                <a:pPr algn="just"/>
                <a:r>
                  <a:rPr lang="en-GB" sz="2000" dirty="0">
                    <a:latin typeface="Arial Narrow" panose="020B0606020202030204" pitchFamily="34" charset="0"/>
                  </a:rPr>
                  <a:t>In other words, the model performs </a:t>
                </a:r>
                <a:r>
                  <a:rPr lang="en-GB" sz="2000" dirty="0">
                    <a:solidFill>
                      <a:srgbClr val="00B0F0"/>
                    </a:solidFill>
                    <a:latin typeface="Arial Narrow" panose="020B0606020202030204" pitchFamily="34" charset="0"/>
                  </a:rPr>
                  <a:t>exceptionally well on the training data </a:t>
                </a:r>
                <a:r>
                  <a:rPr lang="en-GB" sz="2000" dirty="0">
                    <a:latin typeface="Arial Narrow" panose="020B0606020202030204" pitchFamily="34" charset="0"/>
                  </a:rPr>
                  <a:t>but </a:t>
                </a:r>
                <a:r>
                  <a:rPr lang="en-GB" sz="2000" dirty="0">
                    <a:solidFill>
                      <a:srgbClr val="00B0F0"/>
                    </a:solidFill>
                    <a:latin typeface="Arial Narrow" panose="020B0606020202030204" pitchFamily="34" charset="0"/>
                  </a:rPr>
                  <a:t>fails to generalize to new, unseen examples</a:t>
                </a:r>
                <a:r>
                  <a:rPr lang="en-GB" sz="2000" dirty="0">
                    <a:latin typeface="Arial Narrow" panose="020B0606020202030204" pitchFamily="34" charset="0"/>
                  </a:rPr>
                  <a:t>. </a:t>
                </a:r>
              </a:p>
              <a:p>
                <a:pPr algn="just"/>
                <a:r>
                  <a:rPr lang="en-GB" sz="2000" dirty="0">
                    <a:latin typeface="Arial Narrow" panose="020B0606020202030204" pitchFamily="34" charset="0"/>
                  </a:rPr>
                  <a:t>Although minimizing training error is important for learning patterns in the data, </a:t>
                </a:r>
                <a:r>
                  <a:rPr lang="en-GB" sz="2000" dirty="0">
                    <a:solidFill>
                      <a:srgbClr val="00B0F0"/>
                    </a:solidFill>
                    <a:latin typeface="Arial Narrow" panose="020B0606020202030204" pitchFamily="34" charset="0"/>
                  </a:rPr>
                  <a:t>our primary objective is to achieve low generalization error</a:t>
                </a:r>
                <a:r>
                  <a:rPr lang="en-GB" sz="2000" dirty="0">
                    <a:latin typeface="Arial Narrow" panose="020B0606020202030204" pitchFamily="34" charset="0"/>
                  </a:rPr>
                  <a:t>, which reflects the model's performance on the entire data distribution. </a:t>
                </a:r>
              </a:p>
              <a:p>
                <a:pPr algn="just"/>
                <a:r>
                  <a:rPr lang="en-GB" sz="2000" dirty="0">
                    <a:latin typeface="Arial Narrow" panose="020B0606020202030204" pitchFamily="34" charset="0"/>
                  </a:rPr>
                  <a:t>Since the true distribution (D) is unknown, we estimate the </a:t>
                </a:r>
                <a:r>
                  <a:rPr lang="en-GB" sz="2000" dirty="0">
                    <a:solidFill>
                      <a:srgbClr val="00B0F0"/>
                    </a:solidFill>
                    <a:latin typeface="Arial Narrow" panose="020B0606020202030204" pitchFamily="34" charset="0"/>
                  </a:rPr>
                  <a:t>generalization error </a:t>
                </a:r>
                <a:r>
                  <a:rPr lang="en-GB" sz="2000" dirty="0">
                    <a:latin typeface="Arial Narrow" panose="020B0606020202030204" pitchFamily="34" charset="0"/>
                  </a:rPr>
                  <a:t>using a separate test dataset that was not used during training. </a:t>
                </a:r>
              </a:p>
              <a:p>
                <a:pPr algn="just"/>
                <a:r>
                  <a:rPr lang="en-GB" sz="2000" dirty="0">
                    <a:latin typeface="Arial Narrow" panose="020B0606020202030204" pitchFamily="34" charset="0"/>
                  </a:rPr>
                  <a:t>Therefore, </a:t>
                </a:r>
                <a:r>
                  <a:rPr lang="en-GB" sz="2000" dirty="0">
                    <a:solidFill>
                      <a:srgbClr val="00B0F0"/>
                    </a:solidFill>
                    <a:latin typeface="Arial Narrow" panose="020B0606020202030204" pitchFamily="34" charset="0"/>
                  </a:rPr>
                  <a:t>test error serves as an estimate of the model's generalization error</a:t>
                </a:r>
                <a:r>
                  <a:rPr lang="en-GB" sz="2000" dirty="0">
                    <a:latin typeface="Arial Narrow" panose="020B0606020202030204" pitchFamily="34" charset="0"/>
                  </a:rPr>
                  <a:t>, and keeping this error low is the ultimate goal of machine learning because it indicates that the model can make accurate predictions on unseen data rather than merely memorizing the training set.</a:t>
                </a:r>
                <a:endParaRPr lang="en-US" sz="2000" dirty="0">
                  <a:solidFill>
                    <a:schemeClr val="tx1">
                      <a:lumMod val="95000"/>
                      <a:lumOff val="5000"/>
                    </a:schemeClr>
                  </a:solidFill>
                  <a:latin typeface="Arial Narrow" panose="020B0606020202030204" pitchFamily="34"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73545" y="1311276"/>
                <a:ext cx="10515600" cy="5329670"/>
              </a:xfrm>
              <a:blipFill>
                <a:blip r:embed="rId2"/>
                <a:stretch>
                  <a:fillRect l="-522" t="-1144" r="-580"/>
                </a:stretch>
              </a:blipFill>
            </p:spPr>
            <p:txBody>
              <a:bodyPr/>
              <a:lstStyle/>
              <a:p>
                <a:r>
                  <a:rPr lang="en-GB">
                    <a:noFill/>
                  </a:rPr>
                  <a:t> </a:t>
                </a:r>
              </a:p>
            </p:txBody>
          </p:sp>
        </mc:Fallback>
      </mc:AlternateContent>
      <p:sp>
        <p:nvSpPr>
          <p:cNvPr id="4" name="Title 1"/>
          <p:cNvSpPr>
            <a:spLocks noGrp="1"/>
          </p:cNvSpPr>
          <p:nvPr>
            <p:ph type="title"/>
          </p:nvPr>
        </p:nvSpPr>
        <p:spPr>
          <a:xfrm>
            <a:off x="552450" y="123825"/>
            <a:ext cx="10515600" cy="1325563"/>
          </a:xfrm>
        </p:spPr>
        <p:txBody>
          <a:bodyPr>
            <a:normAutofit/>
          </a:bodyPr>
          <a:lstStyle/>
          <a:p>
            <a:r>
              <a:rPr lang="en-IN" sz="4000" dirty="0">
                <a:latin typeface="Century" panose="02040604050505020304" pitchFamily="18" charset="0"/>
              </a:rPr>
              <a:t>Overfitting</a:t>
            </a:r>
          </a:p>
        </p:txBody>
      </p:sp>
    </p:spTree>
    <p:extLst>
      <p:ext uri="{BB962C8B-B14F-4D97-AF65-F5344CB8AC3E}">
        <p14:creationId xmlns:p14="http://schemas.microsoft.com/office/powerpoint/2010/main" val="33790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9564"/>
            <a:ext cx="10515600" cy="1325563"/>
          </a:xfrm>
        </p:spPr>
        <p:txBody>
          <a:bodyPr>
            <a:normAutofit/>
          </a:bodyPr>
          <a:lstStyle/>
          <a:p>
            <a:pPr algn="just"/>
            <a:r>
              <a:rPr lang="en-US" sz="3600" dirty="0">
                <a:solidFill>
                  <a:schemeClr val="tx1">
                    <a:lumMod val="95000"/>
                    <a:lumOff val="5000"/>
                  </a:schemeClr>
                </a:solidFill>
                <a:latin typeface="Century" panose="02040604050505020304" pitchFamily="18" charset="0"/>
                <a:cs typeface="Times New Roman" panose="02020603050405020304" pitchFamily="18" charset="0"/>
              </a:rPr>
              <a:t>The Problem of Overfitting</a:t>
            </a:r>
            <a:endParaRPr lang="en-IN" sz="3600" dirty="0">
              <a:solidFill>
                <a:schemeClr val="tx1">
                  <a:lumMod val="95000"/>
                  <a:lumOff val="5000"/>
                </a:schemeClr>
              </a:solidFill>
              <a:latin typeface="Century" panose="02040604050505020304" pitchFamily="18" charset="0"/>
            </a:endParaRPr>
          </a:p>
        </p:txBody>
      </p:sp>
      <p:sp>
        <p:nvSpPr>
          <p:cNvPr id="3" name="Content Placeholder 2"/>
          <p:cNvSpPr>
            <a:spLocks noGrp="1"/>
          </p:cNvSpPr>
          <p:nvPr>
            <p:ph idx="1"/>
          </p:nvPr>
        </p:nvSpPr>
        <p:spPr>
          <a:xfrm>
            <a:off x="838200" y="1541295"/>
            <a:ext cx="10515600" cy="2169326"/>
          </a:xfrm>
        </p:spPr>
        <p:txBody>
          <a:bodyPr>
            <a:noAutofit/>
          </a:bodyPr>
          <a:lstStyle/>
          <a:p>
            <a:pPr algn="just">
              <a:lnSpc>
                <a:spcPct val="120000"/>
              </a:lnSpc>
            </a:pPr>
            <a:r>
              <a:rPr lang="en-US" sz="2000" b="1" dirty="0">
                <a:solidFill>
                  <a:srgbClr val="7030A0"/>
                </a:solidFill>
                <a:latin typeface="Arial Narrow" panose="020B0606020202030204" pitchFamily="34" charset="0"/>
              </a:rPr>
              <a:t>Overfitting</a:t>
            </a:r>
            <a:r>
              <a:rPr lang="en-US" sz="2000" dirty="0">
                <a:latin typeface="Arial Narrow" panose="020B0606020202030204" pitchFamily="34" charset="0"/>
              </a:rPr>
              <a:t> occurs when a machine learning model learns the training data too closely, capturing not only the underlying patterns but also the noise and irrelevant details. As a result, it performs well on the training data but fails to generalize to unseen data.</a:t>
            </a:r>
          </a:p>
          <a:p>
            <a:pPr algn="just">
              <a:lnSpc>
                <a:spcPct val="120000"/>
              </a:lnSpc>
            </a:pPr>
            <a:r>
              <a:rPr lang="en-US" sz="2000" dirty="0">
                <a:latin typeface="Arial Narrow" panose="020B0606020202030204" pitchFamily="34" charset="0"/>
              </a:rPr>
              <a:t>A model with </a:t>
            </a:r>
            <a:r>
              <a:rPr lang="en-US" sz="2000" b="1" dirty="0">
                <a:solidFill>
                  <a:srgbClr val="7030A0"/>
                </a:solidFill>
                <a:latin typeface="Arial Narrow" panose="020B0606020202030204" pitchFamily="34" charset="0"/>
              </a:rPr>
              <a:t>too many features or excessive complexity</a:t>
            </a:r>
            <a:r>
              <a:rPr lang="en-US" sz="2000" dirty="0">
                <a:solidFill>
                  <a:srgbClr val="7030A0"/>
                </a:solidFill>
                <a:latin typeface="Arial Narrow" panose="020B0606020202030204" pitchFamily="34" charset="0"/>
              </a:rPr>
              <a:t> </a:t>
            </a:r>
            <a:r>
              <a:rPr lang="en-US" sz="2000" dirty="0">
                <a:latin typeface="Arial Narrow" panose="020B0606020202030204" pitchFamily="34" charset="0"/>
              </a:rPr>
              <a:t>may fit the training data extremely well, yet perform poorly on new examples because it has memorized the training set instead of learning generalizable patterns.</a:t>
            </a:r>
          </a:p>
        </p:txBody>
      </p:sp>
      <p:cxnSp>
        <p:nvCxnSpPr>
          <p:cNvPr id="44" name="Straight Arrow Connector 43"/>
          <p:cNvCxnSpPr/>
          <p:nvPr/>
        </p:nvCxnSpPr>
        <p:spPr>
          <a:xfrm flipH="1" flipV="1">
            <a:off x="1330415" y="3974235"/>
            <a:ext cx="1238" cy="1500328"/>
          </a:xfrm>
          <a:prstGeom prst="straightConnector1">
            <a:avLst/>
          </a:prstGeom>
          <a:ln w="127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46" name="Straight Arrow Connector 45"/>
          <p:cNvCxnSpPr/>
          <p:nvPr/>
        </p:nvCxnSpPr>
        <p:spPr>
          <a:xfrm flipV="1">
            <a:off x="1330415" y="5474563"/>
            <a:ext cx="1642369" cy="1"/>
          </a:xfrm>
          <a:prstGeom prst="straightConnector1">
            <a:avLst/>
          </a:prstGeom>
          <a:ln w="127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55" name="Straight Connector 54"/>
          <p:cNvCxnSpPr>
            <a:cxnSpLocks/>
          </p:cNvCxnSpPr>
          <p:nvPr/>
        </p:nvCxnSpPr>
        <p:spPr>
          <a:xfrm flipV="1">
            <a:off x="1478280" y="4046314"/>
            <a:ext cx="1571780" cy="1152670"/>
          </a:xfrm>
          <a:prstGeom prst="line">
            <a:avLst/>
          </a:prstGeom>
          <a:ln w="158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flipV="1">
            <a:off x="8409395" y="3974235"/>
            <a:ext cx="1238" cy="1500328"/>
          </a:xfrm>
          <a:prstGeom prst="straightConnector1">
            <a:avLst/>
          </a:prstGeom>
          <a:ln w="127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59" name="Straight Arrow Connector 58"/>
          <p:cNvCxnSpPr/>
          <p:nvPr/>
        </p:nvCxnSpPr>
        <p:spPr>
          <a:xfrm flipV="1">
            <a:off x="8409395" y="5474563"/>
            <a:ext cx="1642369" cy="1"/>
          </a:xfrm>
          <a:prstGeom prst="straightConnector1">
            <a:avLst/>
          </a:prstGeom>
          <a:ln w="127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64" name="Straight Arrow Connector 63"/>
          <p:cNvCxnSpPr/>
          <p:nvPr/>
        </p:nvCxnSpPr>
        <p:spPr>
          <a:xfrm flipH="1" flipV="1">
            <a:off x="4698455" y="3974235"/>
            <a:ext cx="1238" cy="1500328"/>
          </a:xfrm>
          <a:prstGeom prst="straightConnector1">
            <a:avLst/>
          </a:prstGeom>
          <a:ln w="127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65" name="Straight Arrow Connector 64"/>
          <p:cNvCxnSpPr/>
          <p:nvPr/>
        </p:nvCxnSpPr>
        <p:spPr>
          <a:xfrm flipV="1">
            <a:off x="4698455" y="5474563"/>
            <a:ext cx="1642369" cy="1"/>
          </a:xfrm>
          <a:prstGeom prst="straightConnector1">
            <a:avLst/>
          </a:prstGeom>
          <a:ln w="127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sp>
        <p:nvSpPr>
          <p:cNvPr id="68" name="Arc 67"/>
          <p:cNvSpPr/>
          <p:nvPr/>
        </p:nvSpPr>
        <p:spPr>
          <a:xfrm rot="18296668">
            <a:off x="4293724" y="4518107"/>
            <a:ext cx="3032760" cy="1699260"/>
          </a:xfrm>
          <a:prstGeom prst="arc">
            <a:avLst>
              <a:gd name="adj1" fmla="val 14679703"/>
              <a:gd name="adj2" fmla="val 9924"/>
            </a:avLst>
          </a:prstGeom>
          <a:ln w="158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1" name="Freeform 70"/>
          <p:cNvSpPr/>
          <p:nvPr/>
        </p:nvSpPr>
        <p:spPr>
          <a:xfrm>
            <a:off x="8505120" y="4171682"/>
            <a:ext cx="1879600" cy="1105434"/>
          </a:xfrm>
          <a:custGeom>
            <a:avLst/>
            <a:gdLst>
              <a:gd name="connsiteX0" fmla="*/ 0 w 1879600"/>
              <a:gd name="connsiteY0" fmla="*/ 1046511 h 1105434"/>
              <a:gd name="connsiteX1" fmla="*/ 419100 w 1879600"/>
              <a:gd name="connsiteY1" fmla="*/ 303561 h 1105434"/>
              <a:gd name="connsiteX2" fmla="*/ 876300 w 1879600"/>
              <a:gd name="connsiteY2" fmla="*/ 284511 h 1105434"/>
              <a:gd name="connsiteX3" fmla="*/ 1327150 w 1879600"/>
              <a:gd name="connsiteY3" fmla="*/ 1103661 h 1105434"/>
              <a:gd name="connsiteX4" fmla="*/ 1473200 w 1879600"/>
              <a:gd name="connsiteY4" fmla="*/ 30511 h 1105434"/>
              <a:gd name="connsiteX5" fmla="*/ 1879600 w 1879600"/>
              <a:gd name="connsiteY5" fmla="*/ 398811 h 110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9600" h="1105434">
                <a:moveTo>
                  <a:pt x="0" y="1046511"/>
                </a:moveTo>
                <a:cubicBezTo>
                  <a:pt x="136525" y="738536"/>
                  <a:pt x="273050" y="430561"/>
                  <a:pt x="419100" y="303561"/>
                </a:cubicBezTo>
                <a:cubicBezTo>
                  <a:pt x="565150" y="176561"/>
                  <a:pt x="724958" y="151161"/>
                  <a:pt x="876300" y="284511"/>
                </a:cubicBezTo>
                <a:cubicBezTo>
                  <a:pt x="1027642" y="417861"/>
                  <a:pt x="1227667" y="1145994"/>
                  <a:pt x="1327150" y="1103661"/>
                </a:cubicBezTo>
                <a:cubicBezTo>
                  <a:pt x="1426633" y="1061328"/>
                  <a:pt x="1381125" y="147986"/>
                  <a:pt x="1473200" y="30511"/>
                </a:cubicBezTo>
                <a:cubicBezTo>
                  <a:pt x="1565275" y="-86964"/>
                  <a:pt x="1722437" y="155923"/>
                  <a:pt x="1879600" y="398811"/>
                </a:cubicBezTo>
              </a:path>
            </a:pathLst>
          </a:custGeom>
          <a:ln w="15875"/>
        </p:spPr>
        <p:style>
          <a:lnRef idx="1">
            <a:schemeClr val="accent6"/>
          </a:lnRef>
          <a:fillRef idx="0">
            <a:schemeClr val="accent6"/>
          </a:fillRef>
          <a:effectRef idx="0">
            <a:schemeClr val="accent6"/>
          </a:effectRef>
          <a:fontRef idx="minor">
            <a:schemeClr val="tx1"/>
          </a:fontRef>
        </p:style>
        <p:txBody>
          <a:bodyPr rtlCol="0" anchor="ctr"/>
          <a:lstStyle/>
          <a:p>
            <a:pPr algn="ctr"/>
            <a:endParaRPr lang="en-IN">
              <a:latin typeface="Arial Narrow" panose="020B0606020202030204" pitchFamily="34" charset="0"/>
            </a:endParaRPr>
          </a:p>
        </p:txBody>
      </p:sp>
      <p:sp>
        <p:nvSpPr>
          <p:cNvPr id="88" name="Diamond 87"/>
          <p:cNvSpPr/>
          <p:nvPr/>
        </p:nvSpPr>
        <p:spPr>
          <a:xfrm>
            <a:off x="8551658" y="5049759"/>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0" name="Diamond 89"/>
          <p:cNvSpPr/>
          <p:nvPr/>
        </p:nvSpPr>
        <p:spPr>
          <a:xfrm>
            <a:off x="8756204" y="4613685"/>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1" name="Diamond 90"/>
          <p:cNvSpPr/>
          <p:nvPr/>
        </p:nvSpPr>
        <p:spPr>
          <a:xfrm>
            <a:off x="9145144" y="4344301"/>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2" name="Diamond 91"/>
          <p:cNvSpPr/>
          <p:nvPr/>
        </p:nvSpPr>
        <p:spPr>
          <a:xfrm>
            <a:off x="9510137" y="4660899"/>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3" name="Diamond 92"/>
          <p:cNvSpPr/>
          <p:nvPr/>
        </p:nvSpPr>
        <p:spPr>
          <a:xfrm>
            <a:off x="9791729" y="5227586"/>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4" name="Diamond 93"/>
          <p:cNvSpPr/>
          <p:nvPr/>
        </p:nvSpPr>
        <p:spPr>
          <a:xfrm>
            <a:off x="9877454" y="4724399"/>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5" name="Diamond 94"/>
          <p:cNvSpPr/>
          <p:nvPr/>
        </p:nvSpPr>
        <p:spPr>
          <a:xfrm>
            <a:off x="9991439" y="4157867"/>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6" name="Diamond 95"/>
          <p:cNvSpPr/>
          <p:nvPr/>
        </p:nvSpPr>
        <p:spPr>
          <a:xfrm>
            <a:off x="10324395" y="4521997"/>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97" name="TextBox 96"/>
          <p:cNvSpPr txBox="1"/>
          <p:nvPr/>
        </p:nvSpPr>
        <p:spPr>
          <a:xfrm>
            <a:off x="1906705" y="5474563"/>
            <a:ext cx="284052" cy="369332"/>
          </a:xfrm>
          <a:prstGeom prst="rect">
            <a:avLst/>
          </a:prstGeom>
          <a:noFill/>
        </p:spPr>
        <p:txBody>
          <a:bodyPr wrap="none" rtlCol="0">
            <a:spAutoFit/>
          </a:bodyPr>
          <a:lstStyle/>
          <a:p>
            <a:r>
              <a:rPr lang="en-IN" dirty="0">
                <a:latin typeface="Arial Narrow" panose="020B0606020202030204" pitchFamily="34" charset="0"/>
              </a:rPr>
              <a:t>x</a:t>
            </a:r>
          </a:p>
        </p:txBody>
      </p:sp>
      <p:sp>
        <p:nvSpPr>
          <p:cNvPr id="98" name="TextBox 97"/>
          <p:cNvSpPr txBox="1"/>
          <p:nvPr/>
        </p:nvSpPr>
        <p:spPr>
          <a:xfrm>
            <a:off x="874691" y="4429629"/>
            <a:ext cx="288862" cy="369332"/>
          </a:xfrm>
          <a:prstGeom prst="rect">
            <a:avLst/>
          </a:prstGeom>
          <a:noFill/>
        </p:spPr>
        <p:txBody>
          <a:bodyPr wrap="none" rtlCol="0">
            <a:spAutoFit/>
          </a:bodyPr>
          <a:lstStyle/>
          <a:p>
            <a:r>
              <a:rPr lang="en-IN" dirty="0">
                <a:latin typeface="Arial Narrow" panose="020B0606020202030204" pitchFamily="34" charset="0"/>
              </a:rPr>
              <a:t>y</a:t>
            </a:r>
          </a:p>
        </p:txBody>
      </p:sp>
      <p:sp>
        <p:nvSpPr>
          <p:cNvPr id="99" name="TextBox 98"/>
          <p:cNvSpPr txBox="1"/>
          <p:nvPr/>
        </p:nvSpPr>
        <p:spPr>
          <a:xfrm>
            <a:off x="5466228" y="5438089"/>
            <a:ext cx="284052" cy="369332"/>
          </a:xfrm>
          <a:prstGeom prst="rect">
            <a:avLst/>
          </a:prstGeom>
          <a:noFill/>
        </p:spPr>
        <p:txBody>
          <a:bodyPr wrap="none" rtlCol="0">
            <a:spAutoFit/>
          </a:bodyPr>
          <a:lstStyle/>
          <a:p>
            <a:r>
              <a:rPr lang="en-IN" dirty="0">
                <a:latin typeface="Arial Narrow" panose="020B0606020202030204" pitchFamily="34" charset="0"/>
              </a:rPr>
              <a:t>x</a:t>
            </a:r>
          </a:p>
        </p:txBody>
      </p:sp>
      <p:sp>
        <p:nvSpPr>
          <p:cNvPr id="100" name="TextBox 99"/>
          <p:cNvSpPr txBox="1"/>
          <p:nvPr/>
        </p:nvSpPr>
        <p:spPr>
          <a:xfrm>
            <a:off x="4377064" y="4393155"/>
            <a:ext cx="288862" cy="369332"/>
          </a:xfrm>
          <a:prstGeom prst="rect">
            <a:avLst/>
          </a:prstGeom>
          <a:noFill/>
        </p:spPr>
        <p:txBody>
          <a:bodyPr wrap="none" rtlCol="0">
            <a:spAutoFit/>
          </a:bodyPr>
          <a:lstStyle/>
          <a:p>
            <a:r>
              <a:rPr lang="en-IN" dirty="0">
                <a:latin typeface="Arial Narrow" panose="020B0606020202030204" pitchFamily="34" charset="0"/>
              </a:rPr>
              <a:t>y</a:t>
            </a:r>
          </a:p>
        </p:txBody>
      </p:sp>
      <p:sp>
        <p:nvSpPr>
          <p:cNvPr id="101" name="TextBox 100"/>
          <p:cNvSpPr txBox="1"/>
          <p:nvPr/>
        </p:nvSpPr>
        <p:spPr>
          <a:xfrm>
            <a:off x="9216534" y="5488560"/>
            <a:ext cx="284052" cy="369332"/>
          </a:xfrm>
          <a:prstGeom prst="rect">
            <a:avLst/>
          </a:prstGeom>
          <a:noFill/>
        </p:spPr>
        <p:txBody>
          <a:bodyPr wrap="none" rtlCol="0">
            <a:spAutoFit/>
          </a:bodyPr>
          <a:lstStyle/>
          <a:p>
            <a:r>
              <a:rPr lang="en-IN" dirty="0">
                <a:latin typeface="Arial Narrow" panose="020B0606020202030204" pitchFamily="34" charset="0"/>
              </a:rPr>
              <a:t>x</a:t>
            </a:r>
          </a:p>
        </p:txBody>
      </p:sp>
      <p:sp>
        <p:nvSpPr>
          <p:cNvPr id="102" name="TextBox 101"/>
          <p:cNvSpPr txBox="1"/>
          <p:nvPr/>
        </p:nvSpPr>
        <p:spPr>
          <a:xfrm>
            <a:off x="8127370" y="4443626"/>
            <a:ext cx="288862" cy="369332"/>
          </a:xfrm>
          <a:prstGeom prst="rect">
            <a:avLst/>
          </a:prstGeom>
          <a:noFill/>
        </p:spPr>
        <p:txBody>
          <a:bodyPr wrap="none" rtlCol="0">
            <a:spAutoFit/>
          </a:bodyPr>
          <a:lstStyle/>
          <a:p>
            <a:r>
              <a:rPr lang="en-IN" dirty="0">
                <a:latin typeface="Arial Narrow" panose="020B0606020202030204" pitchFamily="34" charset="0"/>
              </a:rPr>
              <a:t>y</a:t>
            </a:r>
          </a:p>
        </p:txBody>
      </p:sp>
      <mc:AlternateContent xmlns:mc="http://schemas.openxmlformats.org/markup-compatibility/2006">
        <mc:Choice xmlns:a14="http://schemas.microsoft.com/office/drawing/2010/main" Requires="a14">
          <p:sp>
            <p:nvSpPr>
              <p:cNvPr id="105" name="TextBox 104">
                <a:extLst>
                  <a:ext uri="{FF2B5EF4-FFF2-40B4-BE49-F238E27FC236}">
                    <a16:creationId xmlns:a16="http://schemas.microsoft.com/office/drawing/2014/main" id="{7DA1FDE5-FBE5-8BFC-E83D-7E4E393BADF7}"/>
                  </a:ext>
                </a:extLst>
              </p:cNvPr>
              <p:cNvSpPr txBox="1"/>
              <p:nvPr/>
            </p:nvSpPr>
            <p:spPr>
              <a:xfrm>
                <a:off x="1383536" y="5731114"/>
                <a:ext cx="1536126" cy="923330"/>
              </a:xfrm>
              <a:prstGeom prst="rect">
                <a:avLst/>
              </a:prstGeom>
              <a:noFill/>
            </p:spPr>
            <p:txBody>
              <a:bodyPr wrap="none" rtlCol="0">
                <a:spAutoFit/>
              </a:bodyPr>
              <a:lstStyle/>
              <a:p>
                <a:pPr algn="ctr"/>
                <a:r>
                  <a:rPr lang="en-US" b="1" dirty="0">
                    <a:solidFill>
                      <a:schemeClr val="tx1">
                        <a:lumMod val="95000"/>
                        <a:lumOff val="5000"/>
                      </a:schemeClr>
                    </a:solidFill>
                    <a:latin typeface="Arial Narrow" panose="020B0606020202030204" pitchFamily="34" charset="0"/>
                    <a:cs typeface="Times New Roman" panose="02020603050405020304" pitchFamily="18" charset="0"/>
                  </a:rPr>
                  <a:t>Underfit</a:t>
                </a:r>
              </a:p>
              <a:p>
                <a:r>
                  <a:rPr lang="en-US" dirty="0">
                    <a:latin typeface="Arial Narrow" panose="020B0606020202030204" pitchFamily="34" charset="0"/>
                    <a:cs typeface="Times New Roman" panose="02020603050405020304" pitchFamily="18" charset="0"/>
                  </a:rPr>
                  <a:t>h(</a:t>
                </a:r>
                <a14:m>
                  <m:oMath xmlns:m="http://schemas.openxmlformats.org/officeDocument/2006/math">
                    <m:r>
                      <a:rPr lang="en-US" i="1" smtClean="0">
                        <a:latin typeface="Cambria Math" panose="02040503050406030204" pitchFamily="18" charset="0"/>
                        <a:ea typeface="Cambria Math" panose="02040503050406030204" pitchFamily="18" charset="0"/>
                      </a:rPr>
                      <m:t>𝜙</m:t>
                    </m:r>
                  </m:oMath>
                </a14:m>
                <a:r>
                  <a:rPr lang="en-US" dirty="0">
                    <a:latin typeface="Arial Narrow" panose="020B0606020202030204" pitchFamily="34" charset="0"/>
                    <a:cs typeface="Times New Roman" panose="02020603050405020304" pitchFamily="18" charset="0"/>
                  </a:rPr>
                  <a:t>)=</a:t>
                </a:r>
                <a:r>
                  <a:rPr lang="en-US" dirty="0">
                    <a:latin typeface="Arial Narrow" panose="020B0606020202030204" pitchFamily="34" charset="0"/>
                    <a:ea typeface="Cambria Math" panose="02040503050406030204" pitchFamily="18" charset="0"/>
                    <a:cs typeface="Times New Roman" panose="020206030504050203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𝜙</m:t>
                    </m:r>
                    <m:r>
                      <a:rPr lang="en-US" b="0" i="1" baseline="-25000" smtClean="0">
                        <a:latin typeface="Cambria Math" panose="02040503050406030204" pitchFamily="18" charset="0"/>
                        <a:ea typeface="Cambria Math" panose="02040503050406030204" pitchFamily="18" charset="0"/>
                      </a:rPr>
                      <m:t>1</m:t>
                    </m:r>
                  </m:oMath>
                </a14:m>
                <a:r>
                  <a:rPr lang="en-US" dirty="0">
                    <a:latin typeface="Arial Narrow" panose="020B0606020202030204" pitchFamily="34" charset="0"/>
                    <a:cs typeface="Times New Roman" panose="02020603050405020304" pitchFamily="18" charset="0"/>
                  </a:rPr>
                  <a:t>x + </a:t>
                </a:r>
                <a14:m>
                  <m:oMath xmlns:m="http://schemas.openxmlformats.org/officeDocument/2006/math">
                    <m:r>
                      <a:rPr lang="en-US" i="1">
                        <a:latin typeface="Cambria Math" panose="02040503050406030204" pitchFamily="18" charset="0"/>
                        <a:ea typeface="Cambria Math" panose="02040503050406030204" pitchFamily="18" charset="0"/>
                      </a:rPr>
                      <m:t>𝜙</m:t>
                    </m:r>
                    <m:r>
                      <a:rPr lang="en-US" b="0" i="1" baseline="-25000" smtClean="0">
                        <a:latin typeface="Cambria Math" panose="02040503050406030204" pitchFamily="18" charset="0"/>
                        <a:ea typeface="Cambria Math" panose="02040503050406030204" pitchFamily="18" charset="0"/>
                      </a:rPr>
                      <m:t>0</m:t>
                    </m:r>
                  </m:oMath>
                </a14:m>
                <a:endParaRPr lang="en-US" baseline="-25000" dirty="0">
                  <a:latin typeface="Arial Narrow" panose="020B0606020202030204" pitchFamily="34" charset="0"/>
                  <a:cs typeface="Times New Roman" panose="02020603050405020304" pitchFamily="18" charset="0"/>
                </a:endParaRPr>
              </a:p>
              <a:p>
                <a:endParaRPr lang="en-IN" dirty="0">
                  <a:latin typeface="Arial Narrow" panose="020B0606020202030204" pitchFamily="34" charset="0"/>
                  <a:cs typeface="Times New Roman" panose="02020603050405020304" pitchFamily="18" charset="0"/>
                </a:endParaRPr>
              </a:p>
            </p:txBody>
          </p:sp>
        </mc:Choice>
        <mc:Fallback>
          <p:sp>
            <p:nvSpPr>
              <p:cNvPr id="105" name="TextBox 104">
                <a:extLst>
                  <a:ext uri="{FF2B5EF4-FFF2-40B4-BE49-F238E27FC236}">
                    <a16:creationId xmlns:a16="http://schemas.microsoft.com/office/drawing/2014/main" id="{7DA1FDE5-FBE5-8BFC-E83D-7E4E393BADF7}"/>
                  </a:ext>
                </a:extLst>
              </p:cNvPr>
              <p:cNvSpPr txBox="1">
                <a:spLocks noRot="1" noChangeAspect="1" noMove="1" noResize="1" noEditPoints="1" noAdjustHandles="1" noChangeArrowheads="1" noChangeShapeType="1" noTextEdit="1"/>
              </p:cNvSpPr>
              <p:nvPr/>
            </p:nvSpPr>
            <p:spPr>
              <a:xfrm>
                <a:off x="1383536" y="5731114"/>
                <a:ext cx="1536126" cy="923330"/>
              </a:xfrm>
              <a:prstGeom prst="rect">
                <a:avLst/>
              </a:prstGeom>
              <a:blipFill>
                <a:blip r:embed="rId2"/>
                <a:stretch>
                  <a:fillRect l="-3571" t="-2632"/>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07" name="TextBox 106">
                <a:extLst>
                  <a:ext uri="{FF2B5EF4-FFF2-40B4-BE49-F238E27FC236}">
                    <a16:creationId xmlns:a16="http://schemas.microsoft.com/office/drawing/2014/main" id="{A39E0154-B726-E117-D3E0-98B6BC0BB05E}"/>
                  </a:ext>
                </a:extLst>
              </p:cNvPr>
              <p:cNvSpPr txBox="1"/>
              <p:nvPr/>
            </p:nvSpPr>
            <p:spPr>
              <a:xfrm>
                <a:off x="4654011" y="5680935"/>
                <a:ext cx="2106795" cy="923330"/>
              </a:xfrm>
              <a:prstGeom prst="rect">
                <a:avLst/>
              </a:prstGeom>
              <a:noFill/>
            </p:spPr>
            <p:txBody>
              <a:bodyPr wrap="none" rtlCol="0">
                <a:spAutoFit/>
              </a:bodyPr>
              <a:lstStyle/>
              <a:p>
                <a:pPr algn="ctr"/>
                <a:r>
                  <a:rPr lang="en-US" b="1" dirty="0">
                    <a:solidFill>
                      <a:schemeClr val="tx1">
                        <a:lumMod val="95000"/>
                        <a:lumOff val="5000"/>
                      </a:schemeClr>
                    </a:solidFill>
                    <a:latin typeface="Arial Narrow" panose="020B0606020202030204" pitchFamily="34" charset="0"/>
                    <a:cs typeface="Times New Roman" panose="02020603050405020304" pitchFamily="18" charset="0"/>
                  </a:rPr>
                  <a:t>Well fit</a:t>
                </a:r>
              </a:p>
              <a:p>
                <a:r>
                  <a:rPr lang="en-US" dirty="0">
                    <a:solidFill>
                      <a:schemeClr val="tx1">
                        <a:lumMod val="95000"/>
                        <a:lumOff val="5000"/>
                      </a:schemeClr>
                    </a:solidFill>
                    <a:latin typeface="Arial Narrow" panose="020B0606020202030204" pitchFamily="34" charset="0"/>
                    <a:cs typeface="Times New Roman" panose="02020603050405020304" pitchFamily="18" charset="0"/>
                  </a:rPr>
                  <a:t>h(</a:t>
                </a:r>
                <a14:m>
                  <m:oMath xmlns:m="http://schemas.openxmlformats.org/officeDocument/2006/math">
                    <m:r>
                      <a:rPr lang="en-US" i="1" smtClean="0">
                        <a:solidFill>
                          <a:schemeClr val="tx1">
                            <a:lumMod val="95000"/>
                            <a:lumOff val="5000"/>
                          </a:schemeClr>
                        </a:solidFill>
                        <a:latin typeface="Cambria Math" panose="02040503050406030204" pitchFamily="18" charset="0"/>
                        <a:ea typeface="Cambria Math" panose="02040503050406030204" pitchFamily="18" charset="0"/>
                      </a:rPr>
                      <m:t>𝜙</m:t>
                    </m:r>
                  </m:oMath>
                </a14:m>
                <a:r>
                  <a:rPr lang="en-US" dirty="0">
                    <a:solidFill>
                      <a:schemeClr val="tx1">
                        <a:lumMod val="95000"/>
                        <a:lumOff val="5000"/>
                      </a:schemeClr>
                    </a:solidFill>
                    <a:latin typeface="Arial Narrow" panose="020B0606020202030204" pitchFamily="34" charset="0"/>
                    <a:cs typeface="Times New Roman" panose="02020603050405020304" pitchFamily="18" charset="0"/>
                  </a:rPr>
                  <a:t>)=</a:t>
                </a:r>
                <a:r>
                  <a:rPr lang="en-US" dirty="0">
                    <a:solidFill>
                      <a:schemeClr val="tx1">
                        <a:lumMod val="95000"/>
                        <a:lumOff val="5000"/>
                      </a:schemeClr>
                    </a:solidFill>
                    <a:latin typeface="Arial Narrow" panose="020B0606020202030204" pitchFamily="34" charset="0"/>
                    <a:ea typeface="Cambria Math" panose="02040503050406030204" pitchFamily="18" charset="0"/>
                    <a:cs typeface="Times New Roman" panose="02020603050405020304" pitchFamily="18" charset="0"/>
                  </a:rPr>
                  <a:t> </a:t>
                </a:r>
                <a14:m>
                  <m:oMath xmlns:m="http://schemas.openxmlformats.org/officeDocument/2006/math">
                    <m:r>
                      <a:rPr lang="en-US" i="1">
                        <a:solidFill>
                          <a:schemeClr val="tx1">
                            <a:lumMod val="95000"/>
                            <a:lumOff val="5000"/>
                          </a:schemeClr>
                        </a:solidFill>
                        <a:latin typeface="Cambria Math" panose="02040503050406030204" pitchFamily="18" charset="0"/>
                        <a:ea typeface="Cambria Math" panose="02040503050406030204" pitchFamily="18" charset="0"/>
                      </a:rPr>
                      <m:t>𝜙</m:t>
                    </m:r>
                    <m:r>
                      <a:rPr lang="en-US" i="1" baseline="-25000" smtClean="0">
                        <a:solidFill>
                          <a:schemeClr val="tx1">
                            <a:lumMod val="95000"/>
                            <a:lumOff val="5000"/>
                          </a:schemeClr>
                        </a:solidFill>
                        <a:latin typeface="Cambria Math" panose="02040503050406030204" pitchFamily="18" charset="0"/>
                        <a:ea typeface="Cambria Math" panose="02040503050406030204" pitchFamily="18" charset="0"/>
                      </a:rPr>
                      <m:t>2</m:t>
                    </m:r>
                  </m:oMath>
                </a14:m>
                <a:r>
                  <a:rPr lang="en-US" dirty="0">
                    <a:solidFill>
                      <a:schemeClr val="tx1">
                        <a:lumMod val="95000"/>
                        <a:lumOff val="5000"/>
                      </a:schemeClr>
                    </a:solidFill>
                    <a:latin typeface="Arial Narrow" panose="020B0606020202030204" pitchFamily="34" charset="0"/>
                    <a:cs typeface="Times New Roman" panose="02020603050405020304" pitchFamily="18" charset="0"/>
                  </a:rPr>
                  <a:t>x</a:t>
                </a:r>
                <a:r>
                  <a:rPr lang="en-US" baseline="30000" dirty="0">
                    <a:solidFill>
                      <a:schemeClr val="tx1">
                        <a:lumMod val="95000"/>
                        <a:lumOff val="5000"/>
                      </a:schemeClr>
                    </a:solidFill>
                    <a:latin typeface="Arial Narrow" panose="020B0606020202030204" pitchFamily="34" charset="0"/>
                    <a:cs typeface="Times New Roman" panose="02020603050405020304" pitchFamily="18" charset="0"/>
                  </a:rPr>
                  <a:t>2</a:t>
                </a:r>
                <a:r>
                  <a:rPr lang="en-US" dirty="0">
                    <a:solidFill>
                      <a:schemeClr val="tx1">
                        <a:lumMod val="95000"/>
                        <a:lumOff val="5000"/>
                      </a:schemeClr>
                    </a:solidFill>
                    <a:latin typeface="Arial Narrow" panose="020B0606020202030204" pitchFamily="34" charset="0"/>
                    <a:cs typeface="Times New Roman" panose="02020603050405020304" pitchFamily="18" charset="0"/>
                  </a:rPr>
                  <a:t> </a:t>
                </a:r>
                <a:r>
                  <a:rPr lang="en-US" dirty="0">
                    <a:solidFill>
                      <a:schemeClr val="tx1">
                        <a:lumMod val="95000"/>
                        <a:lumOff val="5000"/>
                      </a:schemeClr>
                    </a:solidFill>
                    <a:latin typeface="Arial Narrow" panose="020B0606020202030204" pitchFamily="34" charset="0"/>
                    <a:ea typeface="Cambria Math" panose="02040503050406030204" pitchFamily="18" charset="0"/>
                    <a:cs typeface="Times New Roman" panose="02020603050405020304" pitchFamily="18" charset="0"/>
                  </a:rPr>
                  <a:t>+</a:t>
                </a:r>
                <a14:m>
                  <m:oMath xmlns:m="http://schemas.openxmlformats.org/officeDocument/2006/math">
                    <m:r>
                      <a:rPr lang="en-US" i="1">
                        <a:solidFill>
                          <a:schemeClr val="tx1">
                            <a:lumMod val="95000"/>
                            <a:lumOff val="5000"/>
                          </a:schemeClr>
                        </a:solidFill>
                        <a:latin typeface="Cambria Math" panose="02040503050406030204" pitchFamily="18" charset="0"/>
                        <a:ea typeface="Cambria Math" panose="02040503050406030204" pitchFamily="18" charset="0"/>
                      </a:rPr>
                      <m:t>𝜙</m:t>
                    </m:r>
                    <m:r>
                      <a:rPr lang="en-US" i="1" baseline="-25000" smtClean="0">
                        <a:solidFill>
                          <a:schemeClr val="tx1">
                            <a:lumMod val="95000"/>
                            <a:lumOff val="5000"/>
                          </a:schemeClr>
                        </a:solidFill>
                        <a:latin typeface="Cambria Math" panose="02040503050406030204" pitchFamily="18" charset="0"/>
                        <a:ea typeface="Cambria Math" panose="02040503050406030204" pitchFamily="18" charset="0"/>
                      </a:rPr>
                      <m:t>1</m:t>
                    </m:r>
                  </m:oMath>
                </a14:m>
                <a:r>
                  <a:rPr lang="en-US" dirty="0">
                    <a:solidFill>
                      <a:schemeClr val="tx1">
                        <a:lumMod val="95000"/>
                        <a:lumOff val="5000"/>
                      </a:schemeClr>
                    </a:solidFill>
                    <a:latin typeface="Arial Narrow" panose="020B0606020202030204" pitchFamily="34" charset="0"/>
                    <a:cs typeface="Times New Roman" panose="02020603050405020304" pitchFamily="18" charset="0"/>
                  </a:rPr>
                  <a:t>x + </a:t>
                </a:r>
                <a14:m>
                  <m:oMath xmlns:m="http://schemas.openxmlformats.org/officeDocument/2006/math">
                    <m:r>
                      <a:rPr lang="en-US" i="1">
                        <a:solidFill>
                          <a:schemeClr val="tx1">
                            <a:lumMod val="95000"/>
                            <a:lumOff val="5000"/>
                          </a:schemeClr>
                        </a:solidFill>
                        <a:latin typeface="Cambria Math" panose="02040503050406030204" pitchFamily="18" charset="0"/>
                        <a:ea typeface="Cambria Math" panose="02040503050406030204" pitchFamily="18" charset="0"/>
                      </a:rPr>
                      <m:t>𝜙</m:t>
                    </m:r>
                    <m:r>
                      <a:rPr lang="en-US" i="1" baseline="-25000" smtClean="0">
                        <a:solidFill>
                          <a:schemeClr val="tx1">
                            <a:lumMod val="95000"/>
                            <a:lumOff val="5000"/>
                          </a:schemeClr>
                        </a:solidFill>
                        <a:latin typeface="Cambria Math" panose="02040503050406030204" pitchFamily="18" charset="0"/>
                        <a:ea typeface="Cambria Math" panose="02040503050406030204" pitchFamily="18" charset="0"/>
                      </a:rPr>
                      <m:t>0</m:t>
                    </m:r>
                  </m:oMath>
                </a14:m>
                <a:endParaRPr lang="en-US" baseline="-25000" dirty="0">
                  <a:solidFill>
                    <a:schemeClr val="tx1">
                      <a:lumMod val="95000"/>
                      <a:lumOff val="5000"/>
                    </a:schemeClr>
                  </a:solidFill>
                  <a:latin typeface="Arial Narrow" panose="020B0606020202030204" pitchFamily="34" charset="0"/>
                  <a:cs typeface="Times New Roman" panose="02020603050405020304" pitchFamily="18" charset="0"/>
                </a:endParaRPr>
              </a:p>
              <a:p>
                <a:endParaRPr lang="en-IN" dirty="0">
                  <a:solidFill>
                    <a:schemeClr val="tx1">
                      <a:lumMod val="95000"/>
                      <a:lumOff val="5000"/>
                    </a:schemeClr>
                  </a:solidFill>
                  <a:latin typeface="Arial Narrow" panose="020B0606020202030204" pitchFamily="34" charset="0"/>
                  <a:cs typeface="Times New Roman" panose="02020603050405020304" pitchFamily="18" charset="0"/>
                </a:endParaRPr>
              </a:p>
            </p:txBody>
          </p:sp>
        </mc:Choice>
        <mc:Fallback>
          <p:sp>
            <p:nvSpPr>
              <p:cNvPr id="107" name="TextBox 106">
                <a:extLst>
                  <a:ext uri="{FF2B5EF4-FFF2-40B4-BE49-F238E27FC236}">
                    <a16:creationId xmlns:a16="http://schemas.microsoft.com/office/drawing/2014/main" id="{A39E0154-B726-E117-D3E0-98B6BC0BB05E}"/>
                  </a:ext>
                </a:extLst>
              </p:cNvPr>
              <p:cNvSpPr txBox="1">
                <a:spLocks noRot="1" noChangeAspect="1" noMove="1" noResize="1" noEditPoints="1" noAdjustHandles="1" noChangeArrowheads="1" noChangeShapeType="1" noTextEdit="1"/>
              </p:cNvSpPr>
              <p:nvPr/>
            </p:nvSpPr>
            <p:spPr>
              <a:xfrm>
                <a:off x="4654011" y="5680935"/>
                <a:ext cx="2106795" cy="923330"/>
              </a:xfrm>
              <a:prstGeom prst="rect">
                <a:avLst/>
              </a:prstGeom>
              <a:blipFill>
                <a:blip r:embed="rId3"/>
                <a:stretch>
                  <a:fillRect l="-2312" t="-3311"/>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08" name="TextBox 107">
                <a:extLst>
                  <a:ext uri="{FF2B5EF4-FFF2-40B4-BE49-F238E27FC236}">
                    <a16:creationId xmlns:a16="http://schemas.microsoft.com/office/drawing/2014/main" id="{77CF5CC1-2283-3A47-BDAA-539588260EC1}"/>
                  </a:ext>
                </a:extLst>
              </p:cNvPr>
              <p:cNvSpPr txBox="1"/>
              <p:nvPr/>
            </p:nvSpPr>
            <p:spPr>
              <a:xfrm>
                <a:off x="8083239" y="5766333"/>
                <a:ext cx="2853795" cy="923330"/>
              </a:xfrm>
              <a:prstGeom prst="rect">
                <a:avLst/>
              </a:prstGeom>
              <a:noFill/>
            </p:spPr>
            <p:txBody>
              <a:bodyPr wrap="none" rtlCol="0">
                <a:spAutoFit/>
              </a:bodyPr>
              <a:lstStyle/>
              <a:p>
                <a:pPr algn="ctr"/>
                <a:r>
                  <a:rPr lang="en-US" b="1" dirty="0">
                    <a:solidFill>
                      <a:schemeClr val="tx1">
                        <a:lumMod val="95000"/>
                        <a:lumOff val="5000"/>
                      </a:schemeClr>
                    </a:solidFill>
                    <a:latin typeface="Arial Narrow" panose="020B0606020202030204" pitchFamily="34" charset="0"/>
                    <a:cs typeface="Times New Roman" panose="02020603050405020304" pitchFamily="18" charset="0"/>
                  </a:rPr>
                  <a:t>Overfit</a:t>
                </a:r>
              </a:p>
              <a:p>
                <a:r>
                  <a:rPr lang="en-US" dirty="0">
                    <a:solidFill>
                      <a:schemeClr val="tx1">
                        <a:lumMod val="95000"/>
                        <a:lumOff val="5000"/>
                      </a:schemeClr>
                    </a:solidFill>
                    <a:latin typeface="Arial Narrow" panose="020B0606020202030204" pitchFamily="34" charset="0"/>
                    <a:cs typeface="Times New Roman" panose="02020603050405020304" pitchFamily="18" charset="0"/>
                  </a:rPr>
                  <a:t>h(</a:t>
                </a:r>
                <a14:m>
                  <m:oMath xmlns:m="http://schemas.openxmlformats.org/officeDocument/2006/math">
                    <m:r>
                      <a:rPr lang="en-US" i="1" smtClean="0">
                        <a:solidFill>
                          <a:schemeClr val="tx1">
                            <a:lumMod val="95000"/>
                            <a:lumOff val="5000"/>
                          </a:schemeClr>
                        </a:solidFill>
                        <a:latin typeface="Cambria Math" panose="02040503050406030204" pitchFamily="18" charset="0"/>
                        <a:ea typeface="Cambria Math" panose="02040503050406030204" pitchFamily="18" charset="0"/>
                      </a:rPr>
                      <m:t>𝜙</m:t>
                    </m:r>
                  </m:oMath>
                </a14:m>
                <a:r>
                  <a:rPr lang="en-US" dirty="0">
                    <a:solidFill>
                      <a:schemeClr val="tx1">
                        <a:lumMod val="95000"/>
                        <a:lumOff val="5000"/>
                      </a:schemeClr>
                    </a:solidFill>
                    <a:latin typeface="Arial Narrow" panose="020B0606020202030204" pitchFamily="34" charset="0"/>
                    <a:cs typeface="Times New Roman" panose="02020603050405020304" pitchFamily="18" charset="0"/>
                  </a:rPr>
                  <a:t>)=</a:t>
                </a:r>
                <a:r>
                  <a:rPr lang="en-US" dirty="0">
                    <a:solidFill>
                      <a:schemeClr val="tx1">
                        <a:lumMod val="95000"/>
                        <a:lumOff val="5000"/>
                      </a:schemeClr>
                    </a:solidFill>
                    <a:latin typeface="Arial Narrow" panose="020B0606020202030204" pitchFamily="34" charset="0"/>
                    <a:ea typeface="Cambria Math" panose="02040503050406030204" pitchFamily="18" charset="0"/>
                    <a:cs typeface="Times New Roman" panose="02020603050405020304" pitchFamily="18" charset="0"/>
                  </a:rPr>
                  <a:t> </a:t>
                </a:r>
                <a14:m>
                  <m:oMath xmlns:m="http://schemas.openxmlformats.org/officeDocument/2006/math">
                    <m:r>
                      <a:rPr lang="en-US" i="1">
                        <a:solidFill>
                          <a:schemeClr val="tx1">
                            <a:lumMod val="95000"/>
                            <a:lumOff val="5000"/>
                          </a:schemeClr>
                        </a:solidFill>
                        <a:latin typeface="Cambria Math" panose="02040503050406030204" pitchFamily="18" charset="0"/>
                        <a:ea typeface="Cambria Math" panose="02040503050406030204" pitchFamily="18" charset="0"/>
                      </a:rPr>
                      <m:t>𝜙</m:t>
                    </m:r>
                    <m:r>
                      <a:rPr lang="en-IN" b="0" i="1" baseline="-25000" smtClean="0">
                        <a:solidFill>
                          <a:schemeClr val="tx1">
                            <a:lumMod val="95000"/>
                            <a:lumOff val="5000"/>
                          </a:schemeClr>
                        </a:solidFill>
                        <a:latin typeface="Cambria Math" panose="02040503050406030204" pitchFamily="18" charset="0"/>
                        <a:ea typeface="Cambria Math" panose="02040503050406030204" pitchFamily="18" charset="0"/>
                      </a:rPr>
                      <m:t>3</m:t>
                    </m:r>
                  </m:oMath>
                </a14:m>
                <a:r>
                  <a:rPr lang="en-US" dirty="0">
                    <a:solidFill>
                      <a:schemeClr val="tx1">
                        <a:lumMod val="95000"/>
                        <a:lumOff val="5000"/>
                      </a:schemeClr>
                    </a:solidFill>
                    <a:latin typeface="Arial Narrow" panose="020B0606020202030204" pitchFamily="34" charset="0"/>
                    <a:cs typeface="Times New Roman" panose="02020603050405020304" pitchFamily="18" charset="0"/>
                  </a:rPr>
                  <a:t>x</a:t>
                </a:r>
                <a:r>
                  <a:rPr lang="en-US" baseline="30000" dirty="0">
                    <a:solidFill>
                      <a:schemeClr val="tx1">
                        <a:lumMod val="95000"/>
                        <a:lumOff val="5000"/>
                      </a:schemeClr>
                    </a:solidFill>
                    <a:latin typeface="Arial Narrow" panose="020B0606020202030204" pitchFamily="34" charset="0"/>
                    <a:cs typeface="Times New Roman" panose="02020603050405020304" pitchFamily="18" charset="0"/>
                  </a:rPr>
                  <a:t>4</a:t>
                </a:r>
                <a:r>
                  <a:rPr lang="en-US" dirty="0">
                    <a:solidFill>
                      <a:schemeClr val="tx1">
                        <a:lumMod val="95000"/>
                        <a:lumOff val="5000"/>
                      </a:schemeClr>
                    </a:solidFill>
                    <a:latin typeface="Arial Narrow" panose="020B0606020202030204" pitchFamily="34" charset="0"/>
                    <a:cs typeface="Times New Roman" panose="02020603050405020304" pitchFamily="18" charset="0"/>
                  </a:rPr>
                  <a:t> </a:t>
                </a:r>
                <a:r>
                  <a:rPr lang="en-US" dirty="0">
                    <a:solidFill>
                      <a:schemeClr val="tx1">
                        <a:lumMod val="95000"/>
                        <a:lumOff val="5000"/>
                      </a:schemeClr>
                    </a:solidFill>
                    <a:latin typeface="Arial Narrow" panose="020B0606020202030204" pitchFamily="34" charset="0"/>
                    <a:ea typeface="Cambria Math" panose="02040503050406030204" pitchFamily="18" charset="0"/>
                    <a:cs typeface="Times New Roman" panose="02020603050405020304" pitchFamily="18" charset="0"/>
                  </a:rPr>
                  <a:t>+ </a:t>
                </a:r>
                <a14:m>
                  <m:oMath xmlns:m="http://schemas.openxmlformats.org/officeDocument/2006/math">
                    <m:r>
                      <a:rPr lang="en-US" i="1">
                        <a:solidFill>
                          <a:schemeClr val="tx1">
                            <a:lumMod val="95000"/>
                            <a:lumOff val="5000"/>
                          </a:schemeClr>
                        </a:solidFill>
                        <a:latin typeface="Cambria Math" panose="02040503050406030204" pitchFamily="18" charset="0"/>
                        <a:ea typeface="Cambria Math" panose="02040503050406030204" pitchFamily="18" charset="0"/>
                      </a:rPr>
                      <m:t>𝜙</m:t>
                    </m:r>
                    <m:r>
                      <a:rPr lang="en-US" i="1" baseline="-25000">
                        <a:solidFill>
                          <a:schemeClr val="tx1">
                            <a:lumMod val="95000"/>
                            <a:lumOff val="5000"/>
                          </a:schemeClr>
                        </a:solidFill>
                        <a:latin typeface="Cambria Math" panose="02040503050406030204" pitchFamily="18" charset="0"/>
                        <a:ea typeface="Cambria Math" panose="02040503050406030204" pitchFamily="18" charset="0"/>
                      </a:rPr>
                      <m:t>2</m:t>
                    </m:r>
                  </m:oMath>
                </a14:m>
                <a:r>
                  <a:rPr lang="en-US" dirty="0">
                    <a:solidFill>
                      <a:schemeClr val="tx1">
                        <a:lumMod val="95000"/>
                        <a:lumOff val="5000"/>
                      </a:schemeClr>
                    </a:solidFill>
                    <a:latin typeface="Arial Narrow" panose="020B0606020202030204" pitchFamily="34" charset="0"/>
                    <a:cs typeface="Times New Roman" panose="02020603050405020304" pitchFamily="18" charset="0"/>
                  </a:rPr>
                  <a:t>x</a:t>
                </a:r>
                <a:r>
                  <a:rPr lang="en-US" baseline="30000" dirty="0">
                    <a:solidFill>
                      <a:schemeClr val="tx1">
                        <a:lumMod val="95000"/>
                        <a:lumOff val="5000"/>
                      </a:schemeClr>
                    </a:solidFill>
                    <a:latin typeface="Arial Narrow" panose="020B0606020202030204" pitchFamily="34" charset="0"/>
                    <a:cs typeface="Times New Roman" panose="02020603050405020304" pitchFamily="18" charset="0"/>
                  </a:rPr>
                  <a:t>3</a:t>
                </a:r>
                <a:r>
                  <a:rPr lang="en-US" dirty="0">
                    <a:solidFill>
                      <a:schemeClr val="tx1">
                        <a:lumMod val="95000"/>
                        <a:lumOff val="5000"/>
                      </a:schemeClr>
                    </a:solidFill>
                    <a:latin typeface="Arial Narrow" panose="020B0606020202030204" pitchFamily="34" charset="0"/>
                    <a:cs typeface="Times New Roman" panose="02020603050405020304" pitchFamily="18" charset="0"/>
                  </a:rPr>
                  <a:t> </a:t>
                </a:r>
                <a:r>
                  <a:rPr lang="en-US" dirty="0">
                    <a:solidFill>
                      <a:schemeClr val="tx1">
                        <a:lumMod val="95000"/>
                        <a:lumOff val="5000"/>
                      </a:schemeClr>
                    </a:solidFill>
                    <a:latin typeface="Arial Narrow" panose="020B0606020202030204" pitchFamily="34" charset="0"/>
                    <a:ea typeface="Cambria Math" panose="02040503050406030204" pitchFamily="18" charset="0"/>
                    <a:cs typeface="Times New Roman" panose="02020603050405020304" pitchFamily="18" charset="0"/>
                  </a:rPr>
                  <a:t>+ </a:t>
                </a:r>
                <a14:m>
                  <m:oMath xmlns:m="http://schemas.openxmlformats.org/officeDocument/2006/math">
                    <m:r>
                      <a:rPr lang="en-US" i="1">
                        <a:solidFill>
                          <a:schemeClr val="tx1">
                            <a:lumMod val="95000"/>
                            <a:lumOff val="5000"/>
                          </a:schemeClr>
                        </a:solidFill>
                        <a:latin typeface="Cambria Math" panose="02040503050406030204" pitchFamily="18" charset="0"/>
                        <a:ea typeface="Cambria Math" panose="02040503050406030204" pitchFamily="18" charset="0"/>
                      </a:rPr>
                      <m:t>𝜙</m:t>
                    </m:r>
                    <m:r>
                      <a:rPr lang="en-US" b="0" i="1" baseline="-25000" smtClean="0">
                        <a:solidFill>
                          <a:schemeClr val="tx1">
                            <a:lumMod val="95000"/>
                            <a:lumOff val="5000"/>
                          </a:schemeClr>
                        </a:solidFill>
                        <a:latin typeface="Cambria Math" panose="02040503050406030204" pitchFamily="18" charset="0"/>
                        <a:ea typeface="Cambria Math" panose="02040503050406030204" pitchFamily="18" charset="0"/>
                      </a:rPr>
                      <m:t>1</m:t>
                    </m:r>
                  </m:oMath>
                </a14:m>
                <a:r>
                  <a:rPr lang="en-US" dirty="0">
                    <a:solidFill>
                      <a:schemeClr val="tx1">
                        <a:lumMod val="95000"/>
                        <a:lumOff val="5000"/>
                      </a:schemeClr>
                    </a:solidFill>
                    <a:latin typeface="Arial Narrow" panose="020B0606020202030204" pitchFamily="34" charset="0"/>
                    <a:cs typeface="Times New Roman" panose="02020603050405020304" pitchFamily="18" charset="0"/>
                  </a:rPr>
                  <a:t>x</a:t>
                </a:r>
                <a:r>
                  <a:rPr lang="en-US" baseline="30000" dirty="0">
                    <a:solidFill>
                      <a:schemeClr val="tx1">
                        <a:lumMod val="95000"/>
                        <a:lumOff val="5000"/>
                      </a:schemeClr>
                    </a:solidFill>
                    <a:latin typeface="Arial Narrow" panose="020B0606020202030204" pitchFamily="34" charset="0"/>
                    <a:cs typeface="Times New Roman" panose="02020603050405020304" pitchFamily="18" charset="0"/>
                  </a:rPr>
                  <a:t>2</a:t>
                </a:r>
                <a:r>
                  <a:rPr lang="en-US" dirty="0">
                    <a:solidFill>
                      <a:schemeClr val="tx1">
                        <a:lumMod val="95000"/>
                        <a:lumOff val="5000"/>
                      </a:schemeClr>
                    </a:solidFill>
                    <a:latin typeface="Arial Narrow" panose="020B0606020202030204" pitchFamily="34" charset="0"/>
                    <a:cs typeface="Times New Roman" panose="02020603050405020304" pitchFamily="18" charset="0"/>
                  </a:rPr>
                  <a:t> + </a:t>
                </a:r>
                <a14:m>
                  <m:oMath xmlns:m="http://schemas.openxmlformats.org/officeDocument/2006/math">
                    <m:r>
                      <a:rPr lang="en-US" i="1">
                        <a:solidFill>
                          <a:schemeClr val="tx1">
                            <a:lumMod val="95000"/>
                            <a:lumOff val="5000"/>
                          </a:schemeClr>
                        </a:solidFill>
                        <a:latin typeface="Cambria Math" panose="02040503050406030204" pitchFamily="18" charset="0"/>
                        <a:ea typeface="Cambria Math" panose="02040503050406030204" pitchFamily="18" charset="0"/>
                      </a:rPr>
                      <m:t>𝜙</m:t>
                    </m:r>
                    <m:r>
                      <a:rPr lang="en-US" b="0" i="1" baseline="-25000" smtClean="0">
                        <a:solidFill>
                          <a:schemeClr val="tx1">
                            <a:lumMod val="95000"/>
                            <a:lumOff val="5000"/>
                          </a:schemeClr>
                        </a:solidFill>
                        <a:latin typeface="Cambria Math" panose="02040503050406030204" pitchFamily="18" charset="0"/>
                        <a:ea typeface="Cambria Math" panose="02040503050406030204" pitchFamily="18" charset="0"/>
                      </a:rPr>
                      <m:t>0</m:t>
                    </m:r>
                  </m:oMath>
                </a14:m>
                <a:endParaRPr lang="en-US" baseline="-25000" dirty="0">
                  <a:solidFill>
                    <a:schemeClr val="tx1">
                      <a:lumMod val="95000"/>
                      <a:lumOff val="5000"/>
                    </a:schemeClr>
                  </a:solidFill>
                  <a:latin typeface="Arial Narrow" panose="020B0606020202030204" pitchFamily="34" charset="0"/>
                  <a:cs typeface="Times New Roman" panose="02020603050405020304" pitchFamily="18" charset="0"/>
                </a:endParaRPr>
              </a:p>
              <a:p>
                <a:endParaRPr lang="en-IN" dirty="0">
                  <a:solidFill>
                    <a:schemeClr val="tx1">
                      <a:lumMod val="95000"/>
                      <a:lumOff val="5000"/>
                    </a:schemeClr>
                  </a:solidFill>
                  <a:latin typeface="Arial Narrow" panose="020B0606020202030204" pitchFamily="34" charset="0"/>
                  <a:cs typeface="Times New Roman" panose="02020603050405020304" pitchFamily="18" charset="0"/>
                </a:endParaRPr>
              </a:p>
            </p:txBody>
          </p:sp>
        </mc:Choice>
        <mc:Fallback>
          <p:sp>
            <p:nvSpPr>
              <p:cNvPr id="108" name="TextBox 107">
                <a:extLst>
                  <a:ext uri="{FF2B5EF4-FFF2-40B4-BE49-F238E27FC236}">
                    <a16:creationId xmlns:a16="http://schemas.microsoft.com/office/drawing/2014/main" id="{77CF5CC1-2283-3A47-BDAA-539588260EC1}"/>
                  </a:ext>
                </a:extLst>
              </p:cNvPr>
              <p:cNvSpPr txBox="1">
                <a:spLocks noRot="1" noChangeAspect="1" noMove="1" noResize="1" noEditPoints="1" noAdjustHandles="1" noChangeArrowheads="1" noChangeShapeType="1" noTextEdit="1"/>
              </p:cNvSpPr>
              <p:nvPr/>
            </p:nvSpPr>
            <p:spPr>
              <a:xfrm>
                <a:off x="8083239" y="5766333"/>
                <a:ext cx="2853795" cy="923330"/>
              </a:xfrm>
              <a:prstGeom prst="rect">
                <a:avLst/>
              </a:prstGeom>
              <a:blipFill>
                <a:blip r:embed="rId4"/>
                <a:stretch>
                  <a:fillRect l="-1923" t="-3311"/>
                </a:stretch>
              </a:blipFill>
            </p:spPr>
            <p:txBody>
              <a:bodyPr/>
              <a:lstStyle/>
              <a:p>
                <a:r>
                  <a:rPr lang="en-GB">
                    <a:noFill/>
                  </a:rPr>
                  <a:t> </a:t>
                </a:r>
              </a:p>
            </p:txBody>
          </p:sp>
        </mc:Fallback>
      </mc:AlternateContent>
      <p:sp>
        <p:nvSpPr>
          <p:cNvPr id="67" name="Diamond 66">
            <a:extLst>
              <a:ext uri="{FF2B5EF4-FFF2-40B4-BE49-F238E27FC236}">
                <a16:creationId xmlns:a16="http://schemas.microsoft.com/office/drawing/2014/main" id="{DE9E7D3F-0DED-4AD5-9255-BEC2FAFDE3C9}"/>
              </a:ext>
            </a:extLst>
          </p:cNvPr>
          <p:cNvSpPr/>
          <p:nvPr/>
        </p:nvSpPr>
        <p:spPr>
          <a:xfrm>
            <a:off x="4933337" y="4938206"/>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69" name="Diamond 68">
            <a:extLst>
              <a:ext uri="{FF2B5EF4-FFF2-40B4-BE49-F238E27FC236}">
                <a16:creationId xmlns:a16="http://schemas.microsoft.com/office/drawing/2014/main" id="{1CBA77FE-4468-44FD-A51B-1765563D661A}"/>
              </a:ext>
            </a:extLst>
          </p:cNvPr>
          <p:cNvSpPr/>
          <p:nvPr/>
        </p:nvSpPr>
        <p:spPr>
          <a:xfrm>
            <a:off x="5137883" y="4502132"/>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70" name="Diamond 69">
            <a:extLst>
              <a:ext uri="{FF2B5EF4-FFF2-40B4-BE49-F238E27FC236}">
                <a16:creationId xmlns:a16="http://schemas.microsoft.com/office/drawing/2014/main" id="{72631824-AE18-49DB-BAA4-230DBD4F1CB0}"/>
              </a:ext>
            </a:extLst>
          </p:cNvPr>
          <p:cNvSpPr/>
          <p:nvPr/>
        </p:nvSpPr>
        <p:spPr>
          <a:xfrm>
            <a:off x="5526823" y="4232748"/>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81" name="Diamond 80">
            <a:extLst>
              <a:ext uri="{FF2B5EF4-FFF2-40B4-BE49-F238E27FC236}">
                <a16:creationId xmlns:a16="http://schemas.microsoft.com/office/drawing/2014/main" id="{62A339DD-5001-4F2A-9D29-6C932C99537F}"/>
              </a:ext>
            </a:extLst>
          </p:cNvPr>
          <p:cNvSpPr/>
          <p:nvPr/>
        </p:nvSpPr>
        <p:spPr>
          <a:xfrm>
            <a:off x="5891816" y="4549346"/>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89" name="Diamond 88">
            <a:extLst>
              <a:ext uri="{FF2B5EF4-FFF2-40B4-BE49-F238E27FC236}">
                <a16:creationId xmlns:a16="http://schemas.microsoft.com/office/drawing/2014/main" id="{58691B7F-DB38-427C-94EE-0A5A060740D6}"/>
              </a:ext>
            </a:extLst>
          </p:cNvPr>
          <p:cNvSpPr/>
          <p:nvPr/>
        </p:nvSpPr>
        <p:spPr>
          <a:xfrm>
            <a:off x="6173408" y="5116033"/>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3" name="Diamond 102">
            <a:extLst>
              <a:ext uri="{FF2B5EF4-FFF2-40B4-BE49-F238E27FC236}">
                <a16:creationId xmlns:a16="http://schemas.microsoft.com/office/drawing/2014/main" id="{EEBB5AF1-C593-4589-B3AA-D800F61B617C}"/>
              </a:ext>
            </a:extLst>
          </p:cNvPr>
          <p:cNvSpPr/>
          <p:nvPr/>
        </p:nvSpPr>
        <p:spPr>
          <a:xfrm>
            <a:off x="6259133" y="4612846"/>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4" name="Diamond 103">
            <a:extLst>
              <a:ext uri="{FF2B5EF4-FFF2-40B4-BE49-F238E27FC236}">
                <a16:creationId xmlns:a16="http://schemas.microsoft.com/office/drawing/2014/main" id="{EF9C8933-E29D-4F7B-9E11-2223DC238B4F}"/>
              </a:ext>
            </a:extLst>
          </p:cNvPr>
          <p:cNvSpPr/>
          <p:nvPr/>
        </p:nvSpPr>
        <p:spPr>
          <a:xfrm>
            <a:off x="6373118" y="4046314"/>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6" name="Diamond 105">
            <a:extLst>
              <a:ext uri="{FF2B5EF4-FFF2-40B4-BE49-F238E27FC236}">
                <a16:creationId xmlns:a16="http://schemas.microsoft.com/office/drawing/2014/main" id="{211153F2-5067-449D-8780-4E0BB43EDE8E}"/>
              </a:ext>
            </a:extLst>
          </p:cNvPr>
          <p:cNvSpPr/>
          <p:nvPr/>
        </p:nvSpPr>
        <p:spPr>
          <a:xfrm>
            <a:off x="6706074" y="4410444"/>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09" name="Diamond 108">
            <a:extLst>
              <a:ext uri="{FF2B5EF4-FFF2-40B4-BE49-F238E27FC236}">
                <a16:creationId xmlns:a16="http://schemas.microsoft.com/office/drawing/2014/main" id="{EE6FD377-CF45-4387-A613-C016B790F862}"/>
              </a:ext>
            </a:extLst>
          </p:cNvPr>
          <p:cNvSpPr/>
          <p:nvPr/>
        </p:nvSpPr>
        <p:spPr>
          <a:xfrm>
            <a:off x="1445423" y="5041900"/>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0" name="Diamond 109">
            <a:extLst>
              <a:ext uri="{FF2B5EF4-FFF2-40B4-BE49-F238E27FC236}">
                <a16:creationId xmlns:a16="http://schemas.microsoft.com/office/drawing/2014/main" id="{847379ED-8534-4359-8998-55786E35594B}"/>
              </a:ext>
            </a:extLst>
          </p:cNvPr>
          <p:cNvSpPr/>
          <p:nvPr/>
        </p:nvSpPr>
        <p:spPr>
          <a:xfrm>
            <a:off x="1649969" y="4605826"/>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1" name="Diamond 110">
            <a:extLst>
              <a:ext uri="{FF2B5EF4-FFF2-40B4-BE49-F238E27FC236}">
                <a16:creationId xmlns:a16="http://schemas.microsoft.com/office/drawing/2014/main" id="{950FBD90-B923-4491-862C-7F276D612FE9}"/>
              </a:ext>
            </a:extLst>
          </p:cNvPr>
          <p:cNvSpPr/>
          <p:nvPr/>
        </p:nvSpPr>
        <p:spPr>
          <a:xfrm>
            <a:off x="2038909" y="4336442"/>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2" name="Diamond 111">
            <a:extLst>
              <a:ext uri="{FF2B5EF4-FFF2-40B4-BE49-F238E27FC236}">
                <a16:creationId xmlns:a16="http://schemas.microsoft.com/office/drawing/2014/main" id="{8D0C5DE5-9B19-48AE-8E6C-EF67EE1930C4}"/>
              </a:ext>
            </a:extLst>
          </p:cNvPr>
          <p:cNvSpPr/>
          <p:nvPr/>
        </p:nvSpPr>
        <p:spPr>
          <a:xfrm>
            <a:off x="2403902" y="4653040"/>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3" name="Diamond 112">
            <a:extLst>
              <a:ext uri="{FF2B5EF4-FFF2-40B4-BE49-F238E27FC236}">
                <a16:creationId xmlns:a16="http://schemas.microsoft.com/office/drawing/2014/main" id="{809C8C42-220D-4825-8CA6-DC4925E36771}"/>
              </a:ext>
            </a:extLst>
          </p:cNvPr>
          <p:cNvSpPr/>
          <p:nvPr/>
        </p:nvSpPr>
        <p:spPr>
          <a:xfrm>
            <a:off x="2685494" y="5219727"/>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4" name="Diamond 113">
            <a:extLst>
              <a:ext uri="{FF2B5EF4-FFF2-40B4-BE49-F238E27FC236}">
                <a16:creationId xmlns:a16="http://schemas.microsoft.com/office/drawing/2014/main" id="{BD21046A-7DB1-493D-B22B-89B3103F763C}"/>
              </a:ext>
            </a:extLst>
          </p:cNvPr>
          <p:cNvSpPr/>
          <p:nvPr/>
        </p:nvSpPr>
        <p:spPr>
          <a:xfrm>
            <a:off x="2771219" y="4716540"/>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5" name="Diamond 114">
            <a:extLst>
              <a:ext uri="{FF2B5EF4-FFF2-40B4-BE49-F238E27FC236}">
                <a16:creationId xmlns:a16="http://schemas.microsoft.com/office/drawing/2014/main" id="{C9D35B0C-4A64-484B-9984-8C65AF34614E}"/>
              </a:ext>
            </a:extLst>
          </p:cNvPr>
          <p:cNvSpPr/>
          <p:nvPr/>
        </p:nvSpPr>
        <p:spPr>
          <a:xfrm>
            <a:off x="2885204" y="4150008"/>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
        <p:nvSpPr>
          <p:cNvPr id="116" name="Diamond 115">
            <a:extLst>
              <a:ext uri="{FF2B5EF4-FFF2-40B4-BE49-F238E27FC236}">
                <a16:creationId xmlns:a16="http://schemas.microsoft.com/office/drawing/2014/main" id="{6EE03E9C-B02C-4811-82B5-891449F5AF1F}"/>
              </a:ext>
            </a:extLst>
          </p:cNvPr>
          <p:cNvSpPr/>
          <p:nvPr/>
        </p:nvSpPr>
        <p:spPr>
          <a:xfrm>
            <a:off x="3218160" y="4514138"/>
            <a:ext cx="60325" cy="63500"/>
          </a:xfrm>
          <a:prstGeom prst="diamond">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Arial Narrow" panose="020B0606020202030204" pitchFamily="34" charset="0"/>
            </a:endParaRPr>
          </a:p>
        </p:txBody>
      </p:sp>
    </p:spTree>
    <p:extLst>
      <p:ext uri="{BB962C8B-B14F-4D97-AF65-F5344CB8AC3E}">
        <p14:creationId xmlns:p14="http://schemas.microsoft.com/office/powerpoint/2010/main" val="63407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957" y="150890"/>
            <a:ext cx="10515600" cy="1325563"/>
          </a:xfrm>
        </p:spPr>
        <p:txBody>
          <a:bodyPr>
            <a:normAutofit/>
          </a:bodyPr>
          <a:lstStyle/>
          <a:p>
            <a:r>
              <a:rPr lang="en-IN" sz="4000" dirty="0">
                <a:latin typeface="Century" panose="02040604050505020304" pitchFamily="18" charset="0"/>
              </a:rPr>
              <a:t>The Problem of Overfitting</a:t>
            </a:r>
          </a:p>
        </p:txBody>
      </p:sp>
      <p:cxnSp>
        <p:nvCxnSpPr>
          <p:cNvPr id="4" name="Straight Arrow Connector 3"/>
          <p:cNvCxnSpPr/>
          <p:nvPr/>
        </p:nvCxnSpPr>
        <p:spPr>
          <a:xfrm flipV="1">
            <a:off x="1236403" y="2905125"/>
            <a:ext cx="10518" cy="2113905"/>
          </a:xfrm>
          <a:prstGeom prst="straightConnector1">
            <a:avLst/>
          </a:prstGeom>
          <a:ln w="254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5" name="Straight Arrow Connector 4"/>
          <p:cNvCxnSpPr/>
          <p:nvPr/>
        </p:nvCxnSpPr>
        <p:spPr>
          <a:xfrm flipV="1">
            <a:off x="1235165" y="5019029"/>
            <a:ext cx="2479585" cy="2"/>
          </a:xfrm>
          <a:prstGeom prst="straightConnector1">
            <a:avLst/>
          </a:prstGeom>
          <a:ln w="254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6" name="Straight Connector 5"/>
          <p:cNvCxnSpPr>
            <a:cxnSpLocks/>
          </p:cNvCxnSpPr>
          <p:nvPr/>
        </p:nvCxnSpPr>
        <p:spPr>
          <a:xfrm>
            <a:off x="1475535" y="3131977"/>
            <a:ext cx="1942035" cy="1777887"/>
          </a:xfrm>
          <a:prstGeom prst="line">
            <a:avLst/>
          </a:prstGeom>
          <a:ln w="28575" cmpd="sng">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Diamond 9"/>
          <p:cNvSpPr/>
          <p:nvPr/>
        </p:nvSpPr>
        <p:spPr>
          <a:xfrm>
            <a:off x="1475535" y="445008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1" name="Diamond 20"/>
          <p:cNvSpPr/>
          <p:nvPr/>
        </p:nvSpPr>
        <p:spPr>
          <a:xfrm>
            <a:off x="1627935" y="460248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2" name="Diamond 21"/>
          <p:cNvSpPr/>
          <p:nvPr/>
        </p:nvSpPr>
        <p:spPr>
          <a:xfrm>
            <a:off x="1462785" y="376253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3" name="Diamond 22"/>
          <p:cNvSpPr/>
          <p:nvPr/>
        </p:nvSpPr>
        <p:spPr>
          <a:xfrm>
            <a:off x="2039548" y="4351973"/>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4" name="Diamond 23"/>
          <p:cNvSpPr/>
          <p:nvPr/>
        </p:nvSpPr>
        <p:spPr>
          <a:xfrm>
            <a:off x="1478182" y="420846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5" name="Diamond 24"/>
          <p:cNvSpPr/>
          <p:nvPr/>
        </p:nvSpPr>
        <p:spPr>
          <a:xfrm>
            <a:off x="1775585" y="4251397"/>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6" name="Diamond 25"/>
          <p:cNvSpPr/>
          <p:nvPr/>
        </p:nvSpPr>
        <p:spPr>
          <a:xfrm>
            <a:off x="2014222" y="468439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7" name="Diamond 26"/>
          <p:cNvSpPr/>
          <p:nvPr/>
        </p:nvSpPr>
        <p:spPr>
          <a:xfrm>
            <a:off x="2408814" y="468439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8" name="Diamond 27"/>
          <p:cNvSpPr/>
          <p:nvPr/>
        </p:nvSpPr>
        <p:spPr>
          <a:xfrm>
            <a:off x="1948079" y="393747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29" name="Diamond 28"/>
          <p:cNvSpPr/>
          <p:nvPr/>
        </p:nvSpPr>
        <p:spPr>
          <a:xfrm>
            <a:off x="1643300" y="336088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30" name="Diamond 29"/>
          <p:cNvSpPr/>
          <p:nvPr/>
        </p:nvSpPr>
        <p:spPr>
          <a:xfrm>
            <a:off x="2376726" y="4224497"/>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35" name="Diamond 34"/>
          <p:cNvSpPr/>
          <p:nvPr/>
        </p:nvSpPr>
        <p:spPr>
          <a:xfrm>
            <a:off x="1881936" y="3522971"/>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36" name="Oval 35"/>
          <p:cNvSpPr/>
          <p:nvPr/>
        </p:nvSpPr>
        <p:spPr>
          <a:xfrm>
            <a:off x="1974778" y="3209112"/>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p:cNvSpPr/>
          <p:nvPr/>
        </p:nvSpPr>
        <p:spPr>
          <a:xfrm>
            <a:off x="1830297" y="3749429"/>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p:cNvSpPr/>
          <p:nvPr/>
        </p:nvSpPr>
        <p:spPr>
          <a:xfrm>
            <a:off x="2166507" y="348155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p:cNvSpPr/>
          <p:nvPr/>
        </p:nvSpPr>
        <p:spPr>
          <a:xfrm>
            <a:off x="2726402" y="4119769"/>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p:cNvSpPr/>
          <p:nvPr/>
        </p:nvSpPr>
        <p:spPr>
          <a:xfrm>
            <a:off x="3064230" y="3375783"/>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p:cNvSpPr/>
          <p:nvPr/>
        </p:nvSpPr>
        <p:spPr>
          <a:xfrm>
            <a:off x="2575403" y="4365144"/>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p:cNvSpPr/>
          <p:nvPr/>
        </p:nvSpPr>
        <p:spPr>
          <a:xfrm>
            <a:off x="2731637" y="310994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p:cNvSpPr/>
          <p:nvPr/>
        </p:nvSpPr>
        <p:spPr>
          <a:xfrm>
            <a:off x="3112231" y="3720215"/>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2293116" y="385092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3207270" y="4064647"/>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p:cNvSpPr/>
          <p:nvPr/>
        </p:nvSpPr>
        <p:spPr>
          <a:xfrm>
            <a:off x="3417570" y="4393483"/>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p:cNvSpPr/>
          <p:nvPr/>
        </p:nvSpPr>
        <p:spPr>
          <a:xfrm>
            <a:off x="2324758" y="3160744"/>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p:cNvSpPr/>
          <p:nvPr/>
        </p:nvSpPr>
        <p:spPr>
          <a:xfrm>
            <a:off x="2555085" y="343238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p:cNvSpPr/>
          <p:nvPr/>
        </p:nvSpPr>
        <p:spPr>
          <a:xfrm>
            <a:off x="2885739" y="3725767"/>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p:cNvSpPr/>
          <p:nvPr/>
        </p:nvSpPr>
        <p:spPr>
          <a:xfrm>
            <a:off x="3077730" y="4574311"/>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p:cNvSpPr/>
          <p:nvPr/>
        </p:nvSpPr>
        <p:spPr>
          <a:xfrm>
            <a:off x="2868797" y="4631256"/>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2642992" y="479667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Diamond 53"/>
          <p:cNvSpPr/>
          <p:nvPr/>
        </p:nvSpPr>
        <p:spPr>
          <a:xfrm>
            <a:off x="2582059" y="3744003"/>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cxnSp>
        <p:nvCxnSpPr>
          <p:cNvPr id="55" name="Straight Arrow Connector 54"/>
          <p:cNvCxnSpPr/>
          <p:nvPr/>
        </p:nvCxnSpPr>
        <p:spPr>
          <a:xfrm flipV="1">
            <a:off x="4875883" y="2905125"/>
            <a:ext cx="10518" cy="2113905"/>
          </a:xfrm>
          <a:prstGeom prst="straightConnector1">
            <a:avLst/>
          </a:prstGeom>
          <a:ln w="254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56" name="Straight Arrow Connector 55"/>
          <p:cNvCxnSpPr/>
          <p:nvPr/>
        </p:nvCxnSpPr>
        <p:spPr>
          <a:xfrm flipV="1">
            <a:off x="4874645" y="5019029"/>
            <a:ext cx="2479585" cy="2"/>
          </a:xfrm>
          <a:prstGeom prst="straightConnector1">
            <a:avLst/>
          </a:prstGeom>
          <a:ln w="254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sp>
        <p:nvSpPr>
          <p:cNvPr id="58" name="Diamond 57"/>
          <p:cNvSpPr/>
          <p:nvPr/>
        </p:nvSpPr>
        <p:spPr>
          <a:xfrm>
            <a:off x="5115015" y="445008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59" name="Diamond 58"/>
          <p:cNvSpPr/>
          <p:nvPr/>
        </p:nvSpPr>
        <p:spPr>
          <a:xfrm>
            <a:off x="5267415" y="460248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0" name="Diamond 59"/>
          <p:cNvSpPr/>
          <p:nvPr/>
        </p:nvSpPr>
        <p:spPr>
          <a:xfrm>
            <a:off x="5102265" y="376253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1" name="Diamond 60"/>
          <p:cNvSpPr/>
          <p:nvPr/>
        </p:nvSpPr>
        <p:spPr>
          <a:xfrm>
            <a:off x="5679028" y="4351973"/>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2" name="Diamond 61"/>
          <p:cNvSpPr/>
          <p:nvPr/>
        </p:nvSpPr>
        <p:spPr>
          <a:xfrm>
            <a:off x="5117662" y="420846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3" name="Diamond 62"/>
          <p:cNvSpPr/>
          <p:nvPr/>
        </p:nvSpPr>
        <p:spPr>
          <a:xfrm>
            <a:off x="5415065" y="4251397"/>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4" name="Diamond 63"/>
          <p:cNvSpPr/>
          <p:nvPr/>
        </p:nvSpPr>
        <p:spPr>
          <a:xfrm>
            <a:off x="5653702" y="468439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5" name="Diamond 64"/>
          <p:cNvSpPr/>
          <p:nvPr/>
        </p:nvSpPr>
        <p:spPr>
          <a:xfrm>
            <a:off x="6048294" y="468439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6" name="Diamond 65"/>
          <p:cNvSpPr/>
          <p:nvPr/>
        </p:nvSpPr>
        <p:spPr>
          <a:xfrm>
            <a:off x="5587559" y="393747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7" name="Diamond 66"/>
          <p:cNvSpPr/>
          <p:nvPr/>
        </p:nvSpPr>
        <p:spPr>
          <a:xfrm>
            <a:off x="5282780" y="336088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8" name="Diamond 67"/>
          <p:cNvSpPr/>
          <p:nvPr/>
        </p:nvSpPr>
        <p:spPr>
          <a:xfrm>
            <a:off x="6016206" y="4224497"/>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69" name="Diamond 68"/>
          <p:cNvSpPr/>
          <p:nvPr/>
        </p:nvSpPr>
        <p:spPr>
          <a:xfrm>
            <a:off x="5521416" y="3522971"/>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70" name="Oval 69"/>
          <p:cNvSpPr/>
          <p:nvPr/>
        </p:nvSpPr>
        <p:spPr>
          <a:xfrm>
            <a:off x="5614258" y="3209112"/>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Oval 70"/>
          <p:cNvSpPr/>
          <p:nvPr/>
        </p:nvSpPr>
        <p:spPr>
          <a:xfrm>
            <a:off x="5469777" y="3749429"/>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Oval 71"/>
          <p:cNvSpPr/>
          <p:nvPr/>
        </p:nvSpPr>
        <p:spPr>
          <a:xfrm>
            <a:off x="5805987" y="348155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Oval 72"/>
          <p:cNvSpPr/>
          <p:nvPr/>
        </p:nvSpPr>
        <p:spPr>
          <a:xfrm>
            <a:off x="6365882" y="4119769"/>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Oval 73"/>
          <p:cNvSpPr/>
          <p:nvPr/>
        </p:nvSpPr>
        <p:spPr>
          <a:xfrm>
            <a:off x="6703710" y="3375783"/>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Oval 74"/>
          <p:cNvSpPr/>
          <p:nvPr/>
        </p:nvSpPr>
        <p:spPr>
          <a:xfrm>
            <a:off x="6214883" y="4365144"/>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p:cNvSpPr/>
          <p:nvPr/>
        </p:nvSpPr>
        <p:spPr>
          <a:xfrm>
            <a:off x="6371117" y="310994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p:cNvSpPr/>
          <p:nvPr/>
        </p:nvSpPr>
        <p:spPr>
          <a:xfrm>
            <a:off x="6751711" y="3720215"/>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p:cNvSpPr/>
          <p:nvPr/>
        </p:nvSpPr>
        <p:spPr>
          <a:xfrm>
            <a:off x="5932596" y="385092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Oval 78"/>
          <p:cNvSpPr/>
          <p:nvPr/>
        </p:nvSpPr>
        <p:spPr>
          <a:xfrm>
            <a:off x="6846750" y="4064647"/>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p:cNvSpPr/>
          <p:nvPr/>
        </p:nvSpPr>
        <p:spPr>
          <a:xfrm>
            <a:off x="7057050" y="4393483"/>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p:cNvSpPr/>
          <p:nvPr/>
        </p:nvSpPr>
        <p:spPr>
          <a:xfrm>
            <a:off x="5964238" y="3160744"/>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Oval 81"/>
          <p:cNvSpPr/>
          <p:nvPr/>
        </p:nvSpPr>
        <p:spPr>
          <a:xfrm>
            <a:off x="6194565" y="343238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p:cNvSpPr/>
          <p:nvPr/>
        </p:nvSpPr>
        <p:spPr>
          <a:xfrm>
            <a:off x="6525219" y="3725767"/>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Oval 83"/>
          <p:cNvSpPr/>
          <p:nvPr/>
        </p:nvSpPr>
        <p:spPr>
          <a:xfrm>
            <a:off x="6717210" y="4574311"/>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p:cNvSpPr/>
          <p:nvPr/>
        </p:nvSpPr>
        <p:spPr>
          <a:xfrm>
            <a:off x="6508277" y="4631256"/>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p:cNvSpPr/>
          <p:nvPr/>
        </p:nvSpPr>
        <p:spPr>
          <a:xfrm>
            <a:off x="6282472" y="479667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Diamond 87"/>
          <p:cNvSpPr/>
          <p:nvPr/>
        </p:nvSpPr>
        <p:spPr>
          <a:xfrm>
            <a:off x="6221539" y="3744003"/>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89" name="Arc 88"/>
          <p:cNvSpPr/>
          <p:nvPr/>
        </p:nvSpPr>
        <p:spPr>
          <a:xfrm rot="1373272">
            <a:off x="4193711" y="3622306"/>
            <a:ext cx="2294960" cy="1819301"/>
          </a:xfrm>
          <a:prstGeom prst="arc">
            <a:avLst>
              <a:gd name="adj1" fmla="val 13290790"/>
              <a:gd name="adj2" fmla="val 0"/>
            </a:avLst>
          </a:prstGeom>
          <a:ln w="28575" cmpd="sng">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91" name="Straight Arrow Connector 90"/>
          <p:cNvCxnSpPr/>
          <p:nvPr/>
        </p:nvCxnSpPr>
        <p:spPr>
          <a:xfrm flipV="1">
            <a:off x="8664606" y="2905125"/>
            <a:ext cx="10518" cy="2113905"/>
          </a:xfrm>
          <a:prstGeom prst="straightConnector1">
            <a:avLst/>
          </a:prstGeom>
          <a:ln w="254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cxnSp>
        <p:nvCxnSpPr>
          <p:cNvPr id="92" name="Straight Arrow Connector 91"/>
          <p:cNvCxnSpPr/>
          <p:nvPr/>
        </p:nvCxnSpPr>
        <p:spPr>
          <a:xfrm flipV="1">
            <a:off x="8663368" y="5019029"/>
            <a:ext cx="2479585" cy="2"/>
          </a:xfrm>
          <a:prstGeom prst="straightConnector1">
            <a:avLst/>
          </a:prstGeom>
          <a:ln w="25400">
            <a:solidFill>
              <a:schemeClr val="accent2">
                <a:lumMod val="75000"/>
              </a:schemeClr>
            </a:solidFill>
            <a:tailEnd type="triangle"/>
          </a:ln>
        </p:spPr>
        <p:style>
          <a:lnRef idx="1">
            <a:schemeClr val="accent4"/>
          </a:lnRef>
          <a:fillRef idx="0">
            <a:schemeClr val="accent4"/>
          </a:fillRef>
          <a:effectRef idx="0">
            <a:schemeClr val="accent4"/>
          </a:effectRef>
          <a:fontRef idx="minor">
            <a:schemeClr val="tx1"/>
          </a:fontRef>
        </p:style>
      </p:cxnSp>
      <p:sp>
        <p:nvSpPr>
          <p:cNvPr id="93" name="Diamond 92"/>
          <p:cNvSpPr/>
          <p:nvPr/>
        </p:nvSpPr>
        <p:spPr>
          <a:xfrm>
            <a:off x="8903738" y="445008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94" name="Diamond 93"/>
          <p:cNvSpPr/>
          <p:nvPr/>
        </p:nvSpPr>
        <p:spPr>
          <a:xfrm>
            <a:off x="9056138" y="460248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95" name="Diamond 94"/>
          <p:cNvSpPr/>
          <p:nvPr/>
        </p:nvSpPr>
        <p:spPr>
          <a:xfrm>
            <a:off x="8890988" y="376253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96" name="Diamond 95"/>
          <p:cNvSpPr/>
          <p:nvPr/>
        </p:nvSpPr>
        <p:spPr>
          <a:xfrm>
            <a:off x="9467751" y="4351973"/>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97" name="Diamond 96"/>
          <p:cNvSpPr/>
          <p:nvPr/>
        </p:nvSpPr>
        <p:spPr>
          <a:xfrm>
            <a:off x="8906385" y="420846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98" name="Diamond 97"/>
          <p:cNvSpPr/>
          <p:nvPr/>
        </p:nvSpPr>
        <p:spPr>
          <a:xfrm>
            <a:off x="9203788" y="4251397"/>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99" name="Diamond 98"/>
          <p:cNvSpPr/>
          <p:nvPr/>
        </p:nvSpPr>
        <p:spPr>
          <a:xfrm>
            <a:off x="9442425" y="468439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100" name="Diamond 99"/>
          <p:cNvSpPr/>
          <p:nvPr/>
        </p:nvSpPr>
        <p:spPr>
          <a:xfrm>
            <a:off x="9837017" y="4684390"/>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101" name="Diamond 100"/>
          <p:cNvSpPr/>
          <p:nvPr/>
        </p:nvSpPr>
        <p:spPr>
          <a:xfrm>
            <a:off x="9376282" y="393747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102" name="Diamond 101"/>
          <p:cNvSpPr/>
          <p:nvPr/>
        </p:nvSpPr>
        <p:spPr>
          <a:xfrm>
            <a:off x="9071503" y="3360882"/>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103" name="Diamond 102"/>
          <p:cNvSpPr/>
          <p:nvPr/>
        </p:nvSpPr>
        <p:spPr>
          <a:xfrm>
            <a:off x="9804929" y="4224497"/>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104" name="Diamond 103"/>
          <p:cNvSpPr/>
          <p:nvPr/>
        </p:nvSpPr>
        <p:spPr>
          <a:xfrm>
            <a:off x="9310139" y="3522971"/>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105" name="Oval 104"/>
          <p:cNvSpPr/>
          <p:nvPr/>
        </p:nvSpPr>
        <p:spPr>
          <a:xfrm>
            <a:off x="9402981" y="3209112"/>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p:cNvSpPr/>
          <p:nvPr/>
        </p:nvSpPr>
        <p:spPr>
          <a:xfrm>
            <a:off x="9258500" y="3749429"/>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p:cNvSpPr/>
          <p:nvPr/>
        </p:nvSpPr>
        <p:spPr>
          <a:xfrm>
            <a:off x="9594710" y="348155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p:cNvSpPr/>
          <p:nvPr/>
        </p:nvSpPr>
        <p:spPr>
          <a:xfrm>
            <a:off x="10154605" y="4119769"/>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p:cNvSpPr/>
          <p:nvPr/>
        </p:nvSpPr>
        <p:spPr>
          <a:xfrm>
            <a:off x="10492433" y="3375783"/>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p:cNvSpPr/>
          <p:nvPr/>
        </p:nvSpPr>
        <p:spPr>
          <a:xfrm>
            <a:off x="10003606" y="4365144"/>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p:cNvSpPr/>
          <p:nvPr/>
        </p:nvSpPr>
        <p:spPr>
          <a:xfrm>
            <a:off x="10159840" y="310994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p:cNvSpPr/>
          <p:nvPr/>
        </p:nvSpPr>
        <p:spPr>
          <a:xfrm>
            <a:off x="10540434" y="3720215"/>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p:cNvSpPr/>
          <p:nvPr/>
        </p:nvSpPr>
        <p:spPr>
          <a:xfrm>
            <a:off x="9721319" y="385092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Oval 113"/>
          <p:cNvSpPr/>
          <p:nvPr/>
        </p:nvSpPr>
        <p:spPr>
          <a:xfrm>
            <a:off x="10635473" y="4064647"/>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10845773" y="4393483"/>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Oval 115"/>
          <p:cNvSpPr/>
          <p:nvPr/>
        </p:nvSpPr>
        <p:spPr>
          <a:xfrm>
            <a:off x="9752961" y="3160744"/>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Oval 116"/>
          <p:cNvSpPr/>
          <p:nvPr/>
        </p:nvSpPr>
        <p:spPr>
          <a:xfrm>
            <a:off x="9983288" y="343238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Oval 117"/>
          <p:cNvSpPr/>
          <p:nvPr/>
        </p:nvSpPr>
        <p:spPr>
          <a:xfrm>
            <a:off x="10313942" y="3725767"/>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9" name="Oval 118"/>
          <p:cNvSpPr/>
          <p:nvPr/>
        </p:nvSpPr>
        <p:spPr>
          <a:xfrm>
            <a:off x="10505933" y="4574311"/>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0" name="Oval 119"/>
          <p:cNvSpPr/>
          <p:nvPr/>
        </p:nvSpPr>
        <p:spPr>
          <a:xfrm>
            <a:off x="10297000" y="4631256"/>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1" name="Oval 120"/>
          <p:cNvSpPr/>
          <p:nvPr/>
        </p:nvSpPr>
        <p:spPr>
          <a:xfrm>
            <a:off x="10071195" y="4796670"/>
            <a:ext cx="129540" cy="1131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3" name="Diamond 122"/>
          <p:cNvSpPr/>
          <p:nvPr/>
        </p:nvSpPr>
        <p:spPr>
          <a:xfrm>
            <a:off x="10010262" y="3744003"/>
            <a:ext cx="132285" cy="126365"/>
          </a:xfrm>
          <a:prstGeom prst="diamond">
            <a:avLst/>
          </a:prstGeom>
          <a:solidFill>
            <a:srgbClr val="92D050"/>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latin typeface="Arial Narrow" panose="020B0606020202030204" pitchFamily="34" charset="0"/>
            </a:endParaRPr>
          </a:p>
        </p:txBody>
      </p:sp>
      <p:sp>
        <p:nvSpPr>
          <p:cNvPr id="126" name="Freeform 125"/>
          <p:cNvSpPr/>
          <p:nvPr/>
        </p:nvSpPr>
        <p:spPr>
          <a:xfrm>
            <a:off x="8671560" y="3285435"/>
            <a:ext cx="1572127" cy="1644705"/>
          </a:xfrm>
          <a:custGeom>
            <a:avLst/>
            <a:gdLst>
              <a:gd name="connsiteX0" fmla="*/ 0 w 1572127"/>
              <a:gd name="connsiteY0" fmla="*/ 151185 h 1644705"/>
              <a:gd name="connsiteX1" fmla="*/ 129540 w 1572127"/>
              <a:gd name="connsiteY1" fmla="*/ 90225 h 1644705"/>
              <a:gd name="connsiteX2" fmla="*/ 220980 w 1572127"/>
              <a:gd name="connsiteY2" fmla="*/ 67365 h 1644705"/>
              <a:gd name="connsiteX3" fmla="*/ 312420 w 1572127"/>
              <a:gd name="connsiteY3" fmla="*/ 36885 h 1644705"/>
              <a:gd name="connsiteX4" fmla="*/ 434340 w 1572127"/>
              <a:gd name="connsiteY4" fmla="*/ 6405 h 1644705"/>
              <a:gd name="connsiteX5" fmla="*/ 533400 w 1572127"/>
              <a:gd name="connsiteY5" fmla="*/ 6405 h 1644705"/>
              <a:gd name="connsiteX6" fmla="*/ 586740 w 1572127"/>
              <a:gd name="connsiteY6" fmla="*/ 74985 h 1644705"/>
              <a:gd name="connsiteX7" fmla="*/ 708660 w 1572127"/>
              <a:gd name="connsiteY7" fmla="*/ 143565 h 1644705"/>
              <a:gd name="connsiteX8" fmla="*/ 762000 w 1572127"/>
              <a:gd name="connsiteY8" fmla="*/ 212145 h 1644705"/>
              <a:gd name="connsiteX9" fmla="*/ 807720 w 1572127"/>
              <a:gd name="connsiteY9" fmla="*/ 273105 h 1644705"/>
              <a:gd name="connsiteX10" fmla="*/ 822960 w 1572127"/>
              <a:gd name="connsiteY10" fmla="*/ 356925 h 1644705"/>
              <a:gd name="connsiteX11" fmla="*/ 754380 w 1572127"/>
              <a:gd name="connsiteY11" fmla="*/ 395025 h 1644705"/>
              <a:gd name="connsiteX12" fmla="*/ 662940 w 1572127"/>
              <a:gd name="connsiteY12" fmla="*/ 417885 h 1644705"/>
              <a:gd name="connsiteX13" fmla="*/ 556260 w 1572127"/>
              <a:gd name="connsiteY13" fmla="*/ 516945 h 1644705"/>
              <a:gd name="connsiteX14" fmla="*/ 548640 w 1572127"/>
              <a:gd name="connsiteY14" fmla="*/ 593145 h 1644705"/>
              <a:gd name="connsiteX15" fmla="*/ 632460 w 1572127"/>
              <a:gd name="connsiteY15" fmla="*/ 654105 h 1644705"/>
              <a:gd name="connsiteX16" fmla="*/ 784860 w 1572127"/>
              <a:gd name="connsiteY16" fmla="*/ 638865 h 1644705"/>
              <a:gd name="connsiteX17" fmla="*/ 922020 w 1572127"/>
              <a:gd name="connsiteY17" fmla="*/ 616005 h 1644705"/>
              <a:gd name="connsiteX18" fmla="*/ 1074420 w 1572127"/>
              <a:gd name="connsiteY18" fmla="*/ 402645 h 1644705"/>
              <a:gd name="connsiteX19" fmla="*/ 1257300 w 1572127"/>
              <a:gd name="connsiteY19" fmla="*/ 387405 h 1644705"/>
              <a:gd name="connsiteX20" fmla="*/ 1363980 w 1572127"/>
              <a:gd name="connsiteY20" fmla="*/ 387405 h 1644705"/>
              <a:gd name="connsiteX21" fmla="*/ 1424940 w 1572127"/>
              <a:gd name="connsiteY21" fmla="*/ 402645 h 1644705"/>
              <a:gd name="connsiteX22" fmla="*/ 1539240 w 1572127"/>
              <a:gd name="connsiteY22" fmla="*/ 486465 h 1644705"/>
              <a:gd name="connsiteX23" fmla="*/ 1562100 w 1572127"/>
              <a:gd name="connsiteY23" fmla="*/ 562665 h 1644705"/>
              <a:gd name="connsiteX24" fmla="*/ 1394460 w 1572127"/>
              <a:gd name="connsiteY24" fmla="*/ 661725 h 1644705"/>
              <a:gd name="connsiteX25" fmla="*/ 1295400 w 1572127"/>
              <a:gd name="connsiteY25" fmla="*/ 623625 h 1644705"/>
              <a:gd name="connsiteX26" fmla="*/ 1196340 w 1572127"/>
              <a:gd name="connsiteY26" fmla="*/ 547425 h 1644705"/>
              <a:gd name="connsiteX27" fmla="*/ 1127760 w 1572127"/>
              <a:gd name="connsiteY27" fmla="*/ 509325 h 1644705"/>
              <a:gd name="connsiteX28" fmla="*/ 1043940 w 1572127"/>
              <a:gd name="connsiteY28" fmla="*/ 570285 h 1644705"/>
              <a:gd name="connsiteX29" fmla="*/ 1013460 w 1572127"/>
              <a:gd name="connsiteY29" fmla="*/ 661725 h 1644705"/>
              <a:gd name="connsiteX30" fmla="*/ 1043940 w 1572127"/>
              <a:gd name="connsiteY30" fmla="*/ 760785 h 1644705"/>
              <a:gd name="connsiteX31" fmla="*/ 1143000 w 1572127"/>
              <a:gd name="connsiteY31" fmla="*/ 806505 h 1644705"/>
              <a:gd name="connsiteX32" fmla="*/ 1219200 w 1572127"/>
              <a:gd name="connsiteY32" fmla="*/ 852225 h 1644705"/>
              <a:gd name="connsiteX33" fmla="*/ 1287780 w 1572127"/>
              <a:gd name="connsiteY33" fmla="*/ 913185 h 1644705"/>
              <a:gd name="connsiteX34" fmla="*/ 1310640 w 1572127"/>
              <a:gd name="connsiteY34" fmla="*/ 966525 h 1644705"/>
              <a:gd name="connsiteX35" fmla="*/ 1333500 w 1572127"/>
              <a:gd name="connsiteY35" fmla="*/ 1088445 h 1644705"/>
              <a:gd name="connsiteX36" fmla="*/ 1303020 w 1572127"/>
              <a:gd name="connsiteY36" fmla="*/ 1149405 h 1644705"/>
              <a:gd name="connsiteX37" fmla="*/ 1196340 w 1572127"/>
              <a:gd name="connsiteY37" fmla="*/ 1172265 h 1644705"/>
              <a:gd name="connsiteX38" fmla="*/ 1196340 w 1572127"/>
              <a:gd name="connsiteY38" fmla="*/ 1217985 h 1644705"/>
              <a:gd name="connsiteX39" fmla="*/ 1196340 w 1572127"/>
              <a:gd name="connsiteY39" fmla="*/ 1278945 h 1644705"/>
              <a:gd name="connsiteX40" fmla="*/ 1234440 w 1572127"/>
              <a:gd name="connsiteY40" fmla="*/ 1332285 h 1644705"/>
              <a:gd name="connsiteX41" fmla="*/ 1272540 w 1572127"/>
              <a:gd name="connsiteY41" fmla="*/ 1393245 h 1644705"/>
              <a:gd name="connsiteX42" fmla="*/ 1333500 w 1572127"/>
              <a:gd name="connsiteY42" fmla="*/ 1484685 h 1644705"/>
              <a:gd name="connsiteX43" fmla="*/ 1341120 w 1572127"/>
              <a:gd name="connsiteY43" fmla="*/ 1553265 h 1644705"/>
              <a:gd name="connsiteX44" fmla="*/ 1310640 w 1572127"/>
              <a:gd name="connsiteY44" fmla="*/ 1644705 h 1644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72127" h="1644705">
                <a:moveTo>
                  <a:pt x="0" y="151185"/>
                </a:moveTo>
                <a:cubicBezTo>
                  <a:pt x="46355" y="127690"/>
                  <a:pt x="92710" y="104195"/>
                  <a:pt x="129540" y="90225"/>
                </a:cubicBezTo>
                <a:cubicBezTo>
                  <a:pt x="166370" y="76255"/>
                  <a:pt x="190500" y="76255"/>
                  <a:pt x="220980" y="67365"/>
                </a:cubicBezTo>
                <a:cubicBezTo>
                  <a:pt x="251460" y="58475"/>
                  <a:pt x="276860" y="47045"/>
                  <a:pt x="312420" y="36885"/>
                </a:cubicBezTo>
                <a:cubicBezTo>
                  <a:pt x="347980" y="26725"/>
                  <a:pt x="397510" y="11485"/>
                  <a:pt x="434340" y="6405"/>
                </a:cubicBezTo>
                <a:cubicBezTo>
                  <a:pt x="471170" y="1325"/>
                  <a:pt x="508000" y="-5025"/>
                  <a:pt x="533400" y="6405"/>
                </a:cubicBezTo>
                <a:cubicBezTo>
                  <a:pt x="558800" y="17835"/>
                  <a:pt x="557530" y="52125"/>
                  <a:pt x="586740" y="74985"/>
                </a:cubicBezTo>
                <a:cubicBezTo>
                  <a:pt x="615950" y="97845"/>
                  <a:pt x="679450" y="120705"/>
                  <a:pt x="708660" y="143565"/>
                </a:cubicBezTo>
                <a:cubicBezTo>
                  <a:pt x="737870" y="166425"/>
                  <a:pt x="745490" y="190555"/>
                  <a:pt x="762000" y="212145"/>
                </a:cubicBezTo>
                <a:cubicBezTo>
                  <a:pt x="778510" y="233735"/>
                  <a:pt x="797560" y="248975"/>
                  <a:pt x="807720" y="273105"/>
                </a:cubicBezTo>
                <a:cubicBezTo>
                  <a:pt x="817880" y="297235"/>
                  <a:pt x="831850" y="336605"/>
                  <a:pt x="822960" y="356925"/>
                </a:cubicBezTo>
                <a:cubicBezTo>
                  <a:pt x="814070" y="377245"/>
                  <a:pt x="781050" y="384865"/>
                  <a:pt x="754380" y="395025"/>
                </a:cubicBezTo>
                <a:cubicBezTo>
                  <a:pt x="727710" y="405185"/>
                  <a:pt x="695960" y="397565"/>
                  <a:pt x="662940" y="417885"/>
                </a:cubicBezTo>
                <a:cubicBezTo>
                  <a:pt x="629920" y="438205"/>
                  <a:pt x="575310" y="487735"/>
                  <a:pt x="556260" y="516945"/>
                </a:cubicBezTo>
                <a:cubicBezTo>
                  <a:pt x="537210" y="546155"/>
                  <a:pt x="535940" y="570285"/>
                  <a:pt x="548640" y="593145"/>
                </a:cubicBezTo>
                <a:cubicBezTo>
                  <a:pt x="561340" y="616005"/>
                  <a:pt x="593090" y="646485"/>
                  <a:pt x="632460" y="654105"/>
                </a:cubicBezTo>
                <a:cubicBezTo>
                  <a:pt x="671830" y="661725"/>
                  <a:pt x="736600" y="645215"/>
                  <a:pt x="784860" y="638865"/>
                </a:cubicBezTo>
                <a:cubicBezTo>
                  <a:pt x="833120" y="632515"/>
                  <a:pt x="873760" y="655375"/>
                  <a:pt x="922020" y="616005"/>
                </a:cubicBezTo>
                <a:cubicBezTo>
                  <a:pt x="970280" y="576635"/>
                  <a:pt x="1018540" y="440745"/>
                  <a:pt x="1074420" y="402645"/>
                </a:cubicBezTo>
                <a:cubicBezTo>
                  <a:pt x="1130300" y="364545"/>
                  <a:pt x="1209040" y="389945"/>
                  <a:pt x="1257300" y="387405"/>
                </a:cubicBezTo>
                <a:cubicBezTo>
                  <a:pt x="1305560" y="384865"/>
                  <a:pt x="1336040" y="384865"/>
                  <a:pt x="1363980" y="387405"/>
                </a:cubicBezTo>
                <a:cubicBezTo>
                  <a:pt x="1391920" y="389945"/>
                  <a:pt x="1395730" y="386135"/>
                  <a:pt x="1424940" y="402645"/>
                </a:cubicBezTo>
                <a:cubicBezTo>
                  <a:pt x="1454150" y="419155"/>
                  <a:pt x="1516380" y="459795"/>
                  <a:pt x="1539240" y="486465"/>
                </a:cubicBezTo>
                <a:cubicBezTo>
                  <a:pt x="1562100" y="513135"/>
                  <a:pt x="1586230" y="533455"/>
                  <a:pt x="1562100" y="562665"/>
                </a:cubicBezTo>
                <a:cubicBezTo>
                  <a:pt x="1537970" y="591875"/>
                  <a:pt x="1438910" y="651565"/>
                  <a:pt x="1394460" y="661725"/>
                </a:cubicBezTo>
                <a:cubicBezTo>
                  <a:pt x="1350010" y="671885"/>
                  <a:pt x="1328420" y="642675"/>
                  <a:pt x="1295400" y="623625"/>
                </a:cubicBezTo>
                <a:cubicBezTo>
                  <a:pt x="1262380" y="604575"/>
                  <a:pt x="1224280" y="566475"/>
                  <a:pt x="1196340" y="547425"/>
                </a:cubicBezTo>
                <a:cubicBezTo>
                  <a:pt x="1168400" y="528375"/>
                  <a:pt x="1153160" y="505515"/>
                  <a:pt x="1127760" y="509325"/>
                </a:cubicBezTo>
                <a:cubicBezTo>
                  <a:pt x="1102360" y="513135"/>
                  <a:pt x="1062990" y="544885"/>
                  <a:pt x="1043940" y="570285"/>
                </a:cubicBezTo>
                <a:cubicBezTo>
                  <a:pt x="1024890" y="595685"/>
                  <a:pt x="1013460" y="629975"/>
                  <a:pt x="1013460" y="661725"/>
                </a:cubicBezTo>
                <a:cubicBezTo>
                  <a:pt x="1013460" y="693475"/>
                  <a:pt x="1022350" y="736655"/>
                  <a:pt x="1043940" y="760785"/>
                </a:cubicBezTo>
                <a:cubicBezTo>
                  <a:pt x="1065530" y="784915"/>
                  <a:pt x="1113790" y="791265"/>
                  <a:pt x="1143000" y="806505"/>
                </a:cubicBezTo>
                <a:cubicBezTo>
                  <a:pt x="1172210" y="821745"/>
                  <a:pt x="1195070" y="834445"/>
                  <a:pt x="1219200" y="852225"/>
                </a:cubicBezTo>
                <a:cubicBezTo>
                  <a:pt x="1243330" y="870005"/>
                  <a:pt x="1272540" y="894135"/>
                  <a:pt x="1287780" y="913185"/>
                </a:cubicBezTo>
                <a:cubicBezTo>
                  <a:pt x="1303020" y="932235"/>
                  <a:pt x="1303020" y="937315"/>
                  <a:pt x="1310640" y="966525"/>
                </a:cubicBezTo>
                <a:cubicBezTo>
                  <a:pt x="1318260" y="995735"/>
                  <a:pt x="1334770" y="1057965"/>
                  <a:pt x="1333500" y="1088445"/>
                </a:cubicBezTo>
                <a:cubicBezTo>
                  <a:pt x="1332230" y="1118925"/>
                  <a:pt x="1325880" y="1135435"/>
                  <a:pt x="1303020" y="1149405"/>
                </a:cubicBezTo>
                <a:cubicBezTo>
                  <a:pt x="1280160" y="1163375"/>
                  <a:pt x="1214120" y="1160835"/>
                  <a:pt x="1196340" y="1172265"/>
                </a:cubicBezTo>
                <a:cubicBezTo>
                  <a:pt x="1178560" y="1183695"/>
                  <a:pt x="1196340" y="1217985"/>
                  <a:pt x="1196340" y="1217985"/>
                </a:cubicBezTo>
                <a:cubicBezTo>
                  <a:pt x="1196340" y="1235765"/>
                  <a:pt x="1189990" y="1259895"/>
                  <a:pt x="1196340" y="1278945"/>
                </a:cubicBezTo>
                <a:cubicBezTo>
                  <a:pt x="1202690" y="1297995"/>
                  <a:pt x="1221740" y="1313235"/>
                  <a:pt x="1234440" y="1332285"/>
                </a:cubicBezTo>
                <a:cubicBezTo>
                  <a:pt x="1247140" y="1351335"/>
                  <a:pt x="1256030" y="1367845"/>
                  <a:pt x="1272540" y="1393245"/>
                </a:cubicBezTo>
                <a:cubicBezTo>
                  <a:pt x="1289050" y="1418645"/>
                  <a:pt x="1322070" y="1458015"/>
                  <a:pt x="1333500" y="1484685"/>
                </a:cubicBezTo>
                <a:cubicBezTo>
                  <a:pt x="1344930" y="1511355"/>
                  <a:pt x="1344930" y="1526595"/>
                  <a:pt x="1341120" y="1553265"/>
                </a:cubicBezTo>
                <a:cubicBezTo>
                  <a:pt x="1337310" y="1579935"/>
                  <a:pt x="1323975" y="1612320"/>
                  <a:pt x="1310640" y="1644705"/>
                </a:cubicBezTo>
              </a:path>
            </a:pathLst>
          </a:custGeom>
          <a:ln w="28575" cmpd="sng">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chemeClr val="tx1"/>
              </a:solidFill>
            </a:endParaRPr>
          </a:p>
        </p:txBody>
      </p:sp>
      <p:sp>
        <p:nvSpPr>
          <p:cNvPr id="127" name="TextBox 126"/>
          <p:cNvSpPr txBox="1"/>
          <p:nvPr/>
        </p:nvSpPr>
        <p:spPr>
          <a:xfrm>
            <a:off x="1882051" y="5404094"/>
            <a:ext cx="1311578" cy="523220"/>
          </a:xfrm>
          <a:prstGeom prst="rect">
            <a:avLst/>
          </a:prstGeom>
          <a:noFill/>
        </p:spPr>
        <p:txBody>
          <a:bodyPr wrap="none" rtlCol="0">
            <a:spAutoFit/>
          </a:bodyPr>
          <a:lstStyle/>
          <a:p>
            <a:r>
              <a:rPr lang="en-IN" sz="2800" b="1" dirty="0">
                <a:solidFill>
                  <a:srgbClr val="FF0000"/>
                </a:solidFill>
                <a:latin typeface="Arial Narrow" panose="020B0606020202030204" pitchFamily="34" charset="0"/>
              </a:rPr>
              <a:t>Underfit</a:t>
            </a:r>
          </a:p>
        </p:txBody>
      </p:sp>
      <p:sp>
        <p:nvSpPr>
          <p:cNvPr id="128" name="TextBox 127"/>
          <p:cNvSpPr txBox="1"/>
          <p:nvPr/>
        </p:nvSpPr>
        <p:spPr>
          <a:xfrm>
            <a:off x="9392269" y="5400420"/>
            <a:ext cx="1132041" cy="523220"/>
          </a:xfrm>
          <a:prstGeom prst="rect">
            <a:avLst/>
          </a:prstGeom>
          <a:noFill/>
        </p:spPr>
        <p:txBody>
          <a:bodyPr wrap="none" rtlCol="0">
            <a:spAutoFit/>
          </a:bodyPr>
          <a:lstStyle/>
          <a:p>
            <a:r>
              <a:rPr lang="en-IN" sz="2800" b="1" dirty="0">
                <a:solidFill>
                  <a:srgbClr val="FF0000"/>
                </a:solidFill>
                <a:latin typeface="Arial Narrow" panose="020B0606020202030204" pitchFamily="34" charset="0"/>
              </a:rPr>
              <a:t>Overfit</a:t>
            </a:r>
          </a:p>
        </p:txBody>
      </p:sp>
      <p:sp>
        <p:nvSpPr>
          <p:cNvPr id="129" name="TextBox 128"/>
          <p:cNvSpPr txBox="1"/>
          <p:nvPr/>
        </p:nvSpPr>
        <p:spPr>
          <a:xfrm>
            <a:off x="5394457" y="5400755"/>
            <a:ext cx="1492716" cy="523220"/>
          </a:xfrm>
          <a:prstGeom prst="rect">
            <a:avLst/>
          </a:prstGeom>
          <a:noFill/>
        </p:spPr>
        <p:txBody>
          <a:bodyPr wrap="none" rtlCol="0">
            <a:spAutoFit/>
          </a:bodyPr>
          <a:lstStyle/>
          <a:p>
            <a:r>
              <a:rPr lang="en-IN" sz="2800" b="1" dirty="0">
                <a:solidFill>
                  <a:srgbClr val="00B050"/>
                </a:solidFill>
                <a:latin typeface="Arial Narrow" panose="020B0606020202030204" pitchFamily="34" charset="0"/>
              </a:rPr>
              <a:t>Balanced</a:t>
            </a:r>
          </a:p>
        </p:txBody>
      </p:sp>
    </p:spTree>
    <p:extLst>
      <p:ext uri="{BB962C8B-B14F-4D97-AF65-F5344CB8AC3E}">
        <p14:creationId xmlns:p14="http://schemas.microsoft.com/office/powerpoint/2010/main" val="1432032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val 16"/>
          <p:cNvSpPr/>
          <p:nvPr/>
        </p:nvSpPr>
        <p:spPr>
          <a:xfrm>
            <a:off x="9335794" y="2374900"/>
            <a:ext cx="1771650" cy="1104562"/>
          </a:xfrm>
          <a:prstGeom prst="ellipse">
            <a:avLst/>
          </a:prstGeom>
          <a:solidFill>
            <a:schemeClr val="accent6">
              <a:lumMod val="40000"/>
              <a:lumOff val="60000"/>
              <a:alpha val="12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2628900" y="2219156"/>
            <a:ext cx="2311400" cy="1314281"/>
          </a:xfrm>
          <a:prstGeom prst="roundRect">
            <a:avLst/>
          </a:prstGeom>
          <a:no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46080" y="98425"/>
            <a:ext cx="10515600" cy="1325563"/>
          </a:xfrm>
        </p:spPr>
        <p:txBody>
          <a:bodyPr>
            <a:normAutofit/>
          </a:bodyPr>
          <a:lstStyle/>
          <a:p>
            <a:r>
              <a:rPr lang="en-IN" sz="4000" dirty="0">
                <a:latin typeface="Century" panose="02040604050505020304" pitchFamily="18" charset="0"/>
              </a:rPr>
              <a:t>The Problem of Overfitting</a:t>
            </a:r>
          </a:p>
        </p:txBody>
      </p:sp>
      <p:sp>
        <p:nvSpPr>
          <p:cNvPr id="5" name="TextBox 4"/>
          <p:cNvSpPr txBox="1"/>
          <p:nvPr/>
        </p:nvSpPr>
        <p:spPr>
          <a:xfrm>
            <a:off x="2762250" y="2288827"/>
            <a:ext cx="2108200" cy="1200329"/>
          </a:xfrm>
          <a:prstGeom prst="rect">
            <a:avLst/>
          </a:prstGeom>
          <a:noFill/>
        </p:spPr>
        <p:txBody>
          <a:bodyPr wrap="square" rtlCol="0">
            <a:spAutoFit/>
          </a:bodyPr>
          <a:lstStyle/>
          <a:p>
            <a:pPr algn="just"/>
            <a:r>
              <a:rPr lang="en-IN" sz="2400" dirty="0">
                <a:latin typeface="Arial Narrow" panose="020B0606020202030204" pitchFamily="34" charset="0"/>
              </a:rPr>
              <a:t>The model performed well on test set ?</a:t>
            </a:r>
          </a:p>
        </p:txBody>
      </p:sp>
      <p:sp>
        <p:nvSpPr>
          <p:cNvPr id="9" name="TextBox 8"/>
          <p:cNvSpPr txBox="1"/>
          <p:nvPr/>
        </p:nvSpPr>
        <p:spPr>
          <a:xfrm>
            <a:off x="666189" y="2656214"/>
            <a:ext cx="955711" cy="523220"/>
          </a:xfrm>
          <a:prstGeom prst="rect">
            <a:avLst/>
          </a:prstGeom>
          <a:noFill/>
        </p:spPr>
        <p:txBody>
          <a:bodyPr wrap="none" rtlCol="0">
            <a:spAutoFit/>
          </a:bodyPr>
          <a:lstStyle/>
          <a:p>
            <a:r>
              <a:rPr lang="en-IN" sz="2400" dirty="0">
                <a:latin typeface="Arial Narrow" panose="020B0606020202030204" pitchFamily="34" charset="0"/>
              </a:rPr>
              <a:t>Model</a:t>
            </a:r>
            <a:r>
              <a:rPr lang="en-IN" sz="2800" dirty="0">
                <a:latin typeface="Arial Narrow" panose="020B0606020202030204" pitchFamily="34" charset="0"/>
              </a:rPr>
              <a:t> </a:t>
            </a:r>
          </a:p>
        </p:txBody>
      </p:sp>
      <p:sp>
        <p:nvSpPr>
          <p:cNvPr id="10" name="Rounded Rectangle 9"/>
          <p:cNvSpPr/>
          <p:nvPr/>
        </p:nvSpPr>
        <p:spPr>
          <a:xfrm>
            <a:off x="5975875" y="2219156"/>
            <a:ext cx="2311400" cy="1314281"/>
          </a:xfrm>
          <a:prstGeom prst="roundRect">
            <a:avLst/>
          </a:prstGeom>
          <a:no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ounded Rectangle 10"/>
          <p:cNvSpPr/>
          <p:nvPr/>
        </p:nvSpPr>
        <p:spPr>
          <a:xfrm>
            <a:off x="571500" y="2514599"/>
            <a:ext cx="1050400" cy="806450"/>
          </a:xfrm>
          <a:prstGeom prst="roundRect">
            <a:avLst/>
          </a:prstGeom>
          <a:no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a:off x="6064775" y="2269946"/>
            <a:ext cx="2108200" cy="1200329"/>
          </a:xfrm>
          <a:prstGeom prst="rect">
            <a:avLst/>
          </a:prstGeom>
          <a:noFill/>
        </p:spPr>
        <p:txBody>
          <a:bodyPr wrap="square" rtlCol="0">
            <a:spAutoFit/>
          </a:bodyPr>
          <a:lstStyle/>
          <a:p>
            <a:pPr algn="just"/>
            <a:r>
              <a:rPr lang="en-IN" sz="2400" dirty="0">
                <a:latin typeface="Arial Narrow" panose="020B0606020202030204" pitchFamily="34" charset="0"/>
              </a:rPr>
              <a:t>The model performed well on training  set ?</a:t>
            </a:r>
          </a:p>
        </p:txBody>
      </p:sp>
      <p:sp>
        <p:nvSpPr>
          <p:cNvPr id="13" name="Right Arrow 12"/>
          <p:cNvSpPr/>
          <p:nvPr/>
        </p:nvSpPr>
        <p:spPr>
          <a:xfrm>
            <a:off x="1621900" y="2822575"/>
            <a:ext cx="100700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ight Arrow 13"/>
          <p:cNvSpPr/>
          <p:nvPr/>
        </p:nvSpPr>
        <p:spPr>
          <a:xfrm>
            <a:off x="4946650" y="2784474"/>
            <a:ext cx="100700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ight Arrow 14"/>
          <p:cNvSpPr/>
          <p:nvPr/>
        </p:nvSpPr>
        <p:spPr>
          <a:xfrm>
            <a:off x="8296800" y="2784475"/>
            <a:ext cx="100700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p:cNvSpPr txBox="1"/>
          <p:nvPr/>
        </p:nvSpPr>
        <p:spPr>
          <a:xfrm>
            <a:off x="9392944" y="2656214"/>
            <a:ext cx="1689886" cy="523220"/>
          </a:xfrm>
          <a:prstGeom prst="rect">
            <a:avLst/>
          </a:prstGeom>
          <a:noFill/>
        </p:spPr>
        <p:txBody>
          <a:bodyPr wrap="none" rtlCol="0">
            <a:spAutoFit/>
          </a:bodyPr>
          <a:lstStyle/>
          <a:p>
            <a:r>
              <a:rPr lang="en-IN" sz="2800" dirty="0">
                <a:latin typeface="Arial Narrow" panose="020B0606020202030204" pitchFamily="34" charset="0"/>
              </a:rPr>
              <a:t>Underfitting</a:t>
            </a:r>
          </a:p>
        </p:txBody>
      </p:sp>
      <p:sp>
        <p:nvSpPr>
          <p:cNvPr id="20" name="TextBox 19"/>
          <p:cNvSpPr txBox="1"/>
          <p:nvPr/>
        </p:nvSpPr>
        <p:spPr>
          <a:xfrm>
            <a:off x="5160572" y="2471548"/>
            <a:ext cx="500458" cy="400110"/>
          </a:xfrm>
          <a:prstGeom prst="rect">
            <a:avLst/>
          </a:prstGeom>
          <a:noFill/>
        </p:spPr>
        <p:txBody>
          <a:bodyPr wrap="none" rtlCol="0">
            <a:spAutoFit/>
          </a:bodyPr>
          <a:lstStyle/>
          <a:p>
            <a:r>
              <a:rPr lang="en-IN" sz="2000" dirty="0">
                <a:solidFill>
                  <a:srgbClr val="FF0000"/>
                </a:solidFill>
                <a:latin typeface="Arial Narrow" panose="020B0606020202030204" pitchFamily="34" charset="0"/>
              </a:rPr>
              <a:t>NO</a:t>
            </a:r>
          </a:p>
        </p:txBody>
      </p:sp>
      <p:sp>
        <p:nvSpPr>
          <p:cNvPr id="22" name="Right Arrow 21"/>
          <p:cNvSpPr/>
          <p:nvPr/>
        </p:nvSpPr>
        <p:spPr>
          <a:xfrm rot="5400000">
            <a:off x="3312850" y="3919452"/>
            <a:ext cx="100700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p:cNvSpPr txBox="1"/>
          <p:nvPr/>
        </p:nvSpPr>
        <p:spPr>
          <a:xfrm>
            <a:off x="3949700" y="3793582"/>
            <a:ext cx="607859" cy="400110"/>
          </a:xfrm>
          <a:prstGeom prst="rect">
            <a:avLst/>
          </a:prstGeom>
          <a:noFill/>
        </p:spPr>
        <p:txBody>
          <a:bodyPr wrap="none" rtlCol="0">
            <a:spAutoFit/>
          </a:bodyPr>
          <a:lstStyle/>
          <a:p>
            <a:r>
              <a:rPr lang="en-IN" sz="2000" dirty="0">
                <a:solidFill>
                  <a:srgbClr val="FF0000"/>
                </a:solidFill>
                <a:latin typeface="Arial Narrow" panose="020B0606020202030204" pitchFamily="34" charset="0"/>
              </a:rPr>
              <a:t>YES</a:t>
            </a:r>
          </a:p>
        </p:txBody>
      </p:sp>
      <p:sp>
        <p:nvSpPr>
          <p:cNvPr id="24" name="Oval 23"/>
          <p:cNvSpPr/>
          <p:nvPr/>
        </p:nvSpPr>
        <p:spPr>
          <a:xfrm>
            <a:off x="2930525" y="4582936"/>
            <a:ext cx="1771650" cy="1104562"/>
          </a:xfrm>
          <a:prstGeom prst="ellipse">
            <a:avLst/>
          </a:prstGeom>
          <a:solidFill>
            <a:schemeClr val="accent6">
              <a:lumMod val="40000"/>
              <a:lumOff val="60000"/>
              <a:alpha val="12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p:cNvSpPr txBox="1"/>
          <p:nvPr/>
        </p:nvSpPr>
        <p:spPr>
          <a:xfrm>
            <a:off x="3033924" y="4858862"/>
            <a:ext cx="1564852" cy="461665"/>
          </a:xfrm>
          <a:prstGeom prst="rect">
            <a:avLst/>
          </a:prstGeom>
          <a:noFill/>
        </p:spPr>
        <p:txBody>
          <a:bodyPr wrap="none" rtlCol="0">
            <a:spAutoFit/>
          </a:bodyPr>
          <a:lstStyle/>
          <a:p>
            <a:r>
              <a:rPr lang="en-IN" sz="2400" dirty="0">
                <a:latin typeface="Arial Narrow" panose="020B0606020202030204" pitchFamily="34" charset="0"/>
              </a:rPr>
              <a:t>Good Model</a:t>
            </a:r>
          </a:p>
        </p:txBody>
      </p:sp>
      <p:sp>
        <p:nvSpPr>
          <p:cNvPr id="29" name="Right Arrow 28"/>
          <p:cNvSpPr/>
          <p:nvPr/>
        </p:nvSpPr>
        <p:spPr>
          <a:xfrm rot="5400000">
            <a:off x="6646600" y="3919452"/>
            <a:ext cx="1007000" cy="2667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p:cNvSpPr txBox="1"/>
          <p:nvPr/>
        </p:nvSpPr>
        <p:spPr>
          <a:xfrm>
            <a:off x="6466042" y="3793582"/>
            <a:ext cx="607859" cy="400110"/>
          </a:xfrm>
          <a:prstGeom prst="rect">
            <a:avLst/>
          </a:prstGeom>
          <a:noFill/>
        </p:spPr>
        <p:txBody>
          <a:bodyPr wrap="square" rtlCol="0">
            <a:spAutoFit/>
          </a:bodyPr>
          <a:lstStyle/>
          <a:p>
            <a:r>
              <a:rPr lang="en-IN" sz="2000" dirty="0">
                <a:solidFill>
                  <a:srgbClr val="FF0000"/>
                </a:solidFill>
                <a:latin typeface="Arial Narrow" panose="020B0606020202030204" pitchFamily="34" charset="0"/>
              </a:rPr>
              <a:t>YES</a:t>
            </a:r>
          </a:p>
        </p:txBody>
      </p:sp>
      <p:sp>
        <p:nvSpPr>
          <p:cNvPr id="31" name="Oval 30"/>
          <p:cNvSpPr/>
          <p:nvPr/>
        </p:nvSpPr>
        <p:spPr>
          <a:xfrm>
            <a:off x="6276975" y="4582936"/>
            <a:ext cx="1771650" cy="1104562"/>
          </a:xfrm>
          <a:prstGeom prst="ellipse">
            <a:avLst/>
          </a:prstGeom>
          <a:solidFill>
            <a:schemeClr val="accent6">
              <a:lumMod val="40000"/>
              <a:lumOff val="60000"/>
              <a:alpha val="12000"/>
            </a:schemeClr>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p:cNvSpPr txBox="1"/>
          <p:nvPr/>
        </p:nvSpPr>
        <p:spPr>
          <a:xfrm>
            <a:off x="6412310" y="4858862"/>
            <a:ext cx="1526380" cy="523220"/>
          </a:xfrm>
          <a:prstGeom prst="rect">
            <a:avLst/>
          </a:prstGeom>
          <a:noFill/>
        </p:spPr>
        <p:txBody>
          <a:bodyPr wrap="none" rtlCol="0">
            <a:spAutoFit/>
          </a:bodyPr>
          <a:lstStyle/>
          <a:p>
            <a:r>
              <a:rPr lang="en-IN" sz="2800" dirty="0">
                <a:latin typeface="Arial Narrow" panose="020B0606020202030204" pitchFamily="34" charset="0"/>
              </a:rPr>
              <a:t>Overfitting</a:t>
            </a:r>
          </a:p>
        </p:txBody>
      </p:sp>
      <p:sp>
        <p:nvSpPr>
          <p:cNvPr id="33" name="TextBox 32"/>
          <p:cNvSpPr txBox="1"/>
          <p:nvPr/>
        </p:nvSpPr>
        <p:spPr>
          <a:xfrm>
            <a:off x="8487972" y="2928748"/>
            <a:ext cx="500458" cy="400110"/>
          </a:xfrm>
          <a:prstGeom prst="rect">
            <a:avLst/>
          </a:prstGeom>
          <a:noFill/>
        </p:spPr>
        <p:txBody>
          <a:bodyPr wrap="none" rtlCol="0">
            <a:spAutoFit/>
          </a:bodyPr>
          <a:lstStyle/>
          <a:p>
            <a:r>
              <a:rPr lang="en-IN" sz="2000" dirty="0">
                <a:solidFill>
                  <a:srgbClr val="FF0000"/>
                </a:solidFill>
                <a:latin typeface="Arial Narrow" panose="020B0606020202030204" pitchFamily="34" charset="0"/>
              </a:rPr>
              <a:t>NO</a:t>
            </a:r>
          </a:p>
        </p:txBody>
      </p:sp>
    </p:spTree>
    <p:extLst>
      <p:ext uri="{BB962C8B-B14F-4D97-AF65-F5344CB8AC3E}">
        <p14:creationId xmlns:p14="http://schemas.microsoft.com/office/powerpoint/2010/main" val="3233253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97013"/>
            <a:ext cx="10515600" cy="4641850"/>
          </a:xfrm>
        </p:spPr>
        <p:txBody>
          <a:bodyPr>
            <a:normAutofit fontScale="92500"/>
          </a:bodyPr>
          <a:lstStyle/>
          <a:p>
            <a:pPr marL="0" indent="0" algn="just">
              <a:buNone/>
            </a:pPr>
            <a:r>
              <a:rPr lang="en-US" sz="3000" dirty="0">
                <a:solidFill>
                  <a:srgbClr val="7030A0"/>
                </a:solidFill>
                <a:latin typeface="Arial Narrow" panose="020B0606020202030204" pitchFamily="34" charset="0"/>
              </a:rPr>
              <a:t>Why is data overfitting considered the most common pitfall in machine learning?</a:t>
            </a:r>
          </a:p>
          <a:p>
            <a:pPr marL="0" indent="0" algn="just">
              <a:buNone/>
            </a:pPr>
            <a:endParaRPr lang="en-US" dirty="0">
              <a:latin typeface="Arial Narrow" panose="020B0606020202030204" pitchFamily="34" charset="0"/>
            </a:endParaRPr>
          </a:p>
          <a:p>
            <a:pPr algn="just"/>
            <a:r>
              <a:rPr lang="en-US" sz="2600" dirty="0">
                <a:latin typeface="Arial Narrow" panose="020B0606020202030204" pitchFamily="34" charset="0"/>
              </a:rPr>
              <a:t>In a train–test split, </a:t>
            </a:r>
            <a:r>
              <a:rPr lang="en-US" sz="2600" dirty="0">
                <a:solidFill>
                  <a:srgbClr val="00B0F0"/>
                </a:solidFill>
                <a:latin typeface="Arial Narrow" panose="020B0606020202030204" pitchFamily="34" charset="0"/>
              </a:rPr>
              <a:t>most of the data is used for training</a:t>
            </a:r>
            <a:r>
              <a:rPr lang="en-US" sz="2600" dirty="0">
                <a:latin typeface="Arial Narrow" panose="020B0606020202030204" pitchFamily="34" charset="0"/>
              </a:rPr>
              <a:t>, leaving a </a:t>
            </a:r>
            <a:r>
              <a:rPr lang="en-US" sz="2600" dirty="0">
                <a:solidFill>
                  <a:srgbClr val="00B0F0"/>
                </a:solidFill>
                <a:latin typeface="Arial Narrow" panose="020B0606020202030204" pitchFamily="34" charset="0"/>
              </a:rPr>
              <a:t>relatively small test set</a:t>
            </a:r>
          </a:p>
          <a:p>
            <a:pPr algn="just"/>
            <a:endParaRPr lang="en-US" sz="2600" dirty="0">
              <a:latin typeface="Arial Narrow" panose="020B0606020202030204" pitchFamily="34" charset="0"/>
            </a:endParaRPr>
          </a:p>
          <a:p>
            <a:pPr algn="just"/>
            <a:r>
              <a:rPr lang="en-US" sz="2600" dirty="0">
                <a:latin typeface="Arial Narrow" panose="020B0606020202030204" pitchFamily="34" charset="0"/>
              </a:rPr>
              <a:t>We often choose </a:t>
            </a:r>
            <a:r>
              <a:rPr lang="en-US" sz="2600" dirty="0">
                <a:solidFill>
                  <a:srgbClr val="00B0F0"/>
                </a:solidFill>
                <a:latin typeface="Arial Narrow" panose="020B0606020202030204" pitchFamily="34" charset="0"/>
              </a:rPr>
              <a:t>complex hypothesis functions</a:t>
            </a:r>
            <a:r>
              <a:rPr lang="en-US" sz="2600" dirty="0">
                <a:latin typeface="Arial Narrow" panose="020B0606020202030204" pitchFamily="34" charset="0"/>
              </a:rPr>
              <a:t>, assuming that larger models always perform better because they fit the training data more closely.</a:t>
            </a:r>
          </a:p>
          <a:p>
            <a:pPr algn="just"/>
            <a:endParaRPr lang="en-US" sz="2600" dirty="0">
              <a:latin typeface="Arial Narrow" panose="020B0606020202030204" pitchFamily="34" charset="0"/>
            </a:endParaRPr>
          </a:p>
          <a:p>
            <a:pPr algn="just"/>
            <a:r>
              <a:rPr lang="en-US" sz="2600" dirty="0">
                <a:latin typeface="Arial Narrow" panose="020B0606020202030204" pitchFamily="34" charset="0"/>
              </a:rPr>
              <a:t>It is often </a:t>
            </a:r>
            <a:r>
              <a:rPr lang="en-US" sz="2600" dirty="0">
                <a:solidFill>
                  <a:srgbClr val="00B0F0"/>
                </a:solidFill>
                <a:latin typeface="Arial Narrow" panose="020B0606020202030204" pitchFamily="34" charset="0"/>
              </a:rPr>
              <a:t>difficult to realize that a model performing well on the training data may still fail on unseen test data</a:t>
            </a:r>
            <a:r>
              <a:rPr lang="en-US" sz="2600" dirty="0">
                <a:latin typeface="Arial Narrow" panose="020B0606020202030204" pitchFamily="34" charset="0"/>
              </a:rPr>
              <a:t>. Since achieving high training accuracy is already challenging, we often focus only on fitting the training data and overlook the model's ability to generalize.</a:t>
            </a:r>
            <a:endParaRPr lang="en-IN" sz="2600" dirty="0">
              <a:latin typeface="Arial Narrow" panose="020B0606020202030204" pitchFamily="34" charset="0"/>
            </a:endParaRPr>
          </a:p>
        </p:txBody>
      </p:sp>
      <p:sp>
        <p:nvSpPr>
          <p:cNvPr id="4" name="Title 1"/>
          <p:cNvSpPr>
            <a:spLocks noGrp="1"/>
          </p:cNvSpPr>
          <p:nvPr>
            <p:ph type="title"/>
          </p:nvPr>
        </p:nvSpPr>
        <p:spPr>
          <a:xfrm>
            <a:off x="838200" y="171450"/>
            <a:ext cx="10515600" cy="1325563"/>
          </a:xfrm>
        </p:spPr>
        <p:txBody>
          <a:bodyPr>
            <a:normAutofit/>
          </a:bodyPr>
          <a:lstStyle/>
          <a:p>
            <a:r>
              <a:rPr lang="en-IN" sz="4000" dirty="0">
                <a:latin typeface="Century" panose="02040604050505020304" pitchFamily="18" charset="0"/>
              </a:rPr>
              <a:t>Overfitting</a:t>
            </a:r>
          </a:p>
        </p:txBody>
      </p:sp>
    </p:spTree>
    <p:extLst>
      <p:ext uri="{BB962C8B-B14F-4D97-AF65-F5344CB8AC3E}">
        <p14:creationId xmlns:p14="http://schemas.microsoft.com/office/powerpoint/2010/main" val="1226247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73692"/>
            <a:ext cx="10720526" cy="5149049"/>
          </a:xfrm>
        </p:spPr>
        <p:txBody>
          <a:bodyPr>
            <a:normAutofit fontScale="92500" lnSpcReduction="10000"/>
          </a:bodyPr>
          <a:lstStyle/>
          <a:p>
            <a:pPr algn="just"/>
            <a:r>
              <a:rPr lang="en-IN" sz="3300" b="1" dirty="0">
                <a:latin typeface="Arial Narrow" panose="020B0606020202030204" pitchFamily="34" charset="0"/>
              </a:rPr>
              <a:t>Bias : </a:t>
            </a:r>
          </a:p>
          <a:p>
            <a:pPr marL="889200" indent="-457200" algn="just" eaLnBrk="0" fontAlgn="base" hangingPunct="0">
              <a:lnSpc>
                <a:spcPct val="100000"/>
              </a:lnSpc>
              <a:spcBef>
                <a:spcPct val="0"/>
              </a:spcBef>
              <a:spcAft>
                <a:spcPct val="0"/>
              </a:spcAft>
            </a:pPr>
            <a:r>
              <a:rPr lang="en-US" altLang="en-US" sz="2400" dirty="0">
                <a:solidFill>
                  <a:srgbClr val="7030A0"/>
                </a:solidFill>
                <a:latin typeface="Arial Narrow" panose="020B0606020202030204" pitchFamily="34" charset="0"/>
              </a:rPr>
              <a:t>Bias</a:t>
            </a:r>
            <a:r>
              <a:rPr lang="en-US" altLang="en-US" sz="2400" dirty="0">
                <a:latin typeface="Arial Narrow" panose="020B0606020202030204" pitchFamily="34" charset="0"/>
              </a:rPr>
              <a:t> is the error caused by incorrect or overly simplistic assumptions made by a machine learning model. </a:t>
            </a:r>
          </a:p>
          <a:p>
            <a:pPr marL="889200" indent="-457200" algn="just" eaLnBrk="0" fontAlgn="base" hangingPunct="0">
              <a:lnSpc>
                <a:spcPct val="100000"/>
              </a:lnSpc>
              <a:spcBef>
                <a:spcPct val="0"/>
              </a:spcBef>
              <a:spcAft>
                <a:spcPct val="0"/>
              </a:spcAft>
            </a:pPr>
            <a:r>
              <a:rPr lang="en-US" altLang="en-US" sz="2400" dirty="0">
                <a:latin typeface="Arial Narrow" panose="020B0606020202030204" pitchFamily="34" charset="0"/>
              </a:rPr>
              <a:t>It represents the difference between the model's predicted output and the actual target output. </a:t>
            </a:r>
          </a:p>
          <a:p>
            <a:pPr marL="889200" indent="-457200" algn="just" eaLnBrk="0" fontAlgn="base" hangingPunct="0">
              <a:lnSpc>
                <a:spcPct val="100000"/>
              </a:lnSpc>
              <a:spcBef>
                <a:spcPct val="0"/>
              </a:spcBef>
              <a:spcAft>
                <a:spcPct val="0"/>
              </a:spcAft>
            </a:pPr>
            <a:r>
              <a:rPr lang="en-US" altLang="en-US" sz="2400" dirty="0">
                <a:latin typeface="Arial Narrow" panose="020B0606020202030204" pitchFamily="34" charset="0"/>
              </a:rPr>
              <a:t>Models with </a:t>
            </a:r>
            <a:r>
              <a:rPr lang="en-US" altLang="en-US" sz="2400" dirty="0">
                <a:solidFill>
                  <a:srgbClr val="7030A0"/>
                </a:solidFill>
                <a:latin typeface="Arial Narrow" panose="020B0606020202030204" pitchFamily="34" charset="0"/>
              </a:rPr>
              <a:t>high bias</a:t>
            </a:r>
            <a:r>
              <a:rPr lang="en-US" altLang="en-US" sz="2400" dirty="0">
                <a:latin typeface="Arial Narrow" panose="020B0606020202030204" pitchFamily="34" charset="0"/>
              </a:rPr>
              <a:t> are generally too simple to capture the underlying patterns in the training data, resulting in </a:t>
            </a:r>
            <a:r>
              <a:rPr lang="en-US" altLang="en-US" sz="2400" dirty="0">
                <a:solidFill>
                  <a:srgbClr val="7030A0"/>
                </a:solidFill>
                <a:latin typeface="Arial Narrow" panose="020B0606020202030204" pitchFamily="34" charset="0"/>
              </a:rPr>
              <a:t>underfitting</a:t>
            </a:r>
            <a:r>
              <a:rPr lang="en-US" altLang="en-US" sz="2400" dirty="0">
                <a:latin typeface="Arial Narrow" panose="020B0606020202030204" pitchFamily="34" charset="0"/>
              </a:rPr>
              <a:t>. </a:t>
            </a:r>
          </a:p>
          <a:p>
            <a:pPr marL="889200" indent="-457200" algn="just" eaLnBrk="0" fontAlgn="base" hangingPunct="0">
              <a:lnSpc>
                <a:spcPct val="100000"/>
              </a:lnSpc>
              <a:spcBef>
                <a:spcPct val="0"/>
              </a:spcBef>
              <a:spcAft>
                <a:spcPct val="0"/>
              </a:spcAft>
            </a:pPr>
            <a:r>
              <a:rPr lang="en-US" altLang="en-US" sz="2400" dirty="0">
                <a:latin typeface="Arial Narrow" panose="020B0606020202030204" pitchFamily="34" charset="0"/>
              </a:rPr>
              <a:t>High bias typically leads to </a:t>
            </a:r>
            <a:r>
              <a:rPr lang="en-US" altLang="en-US" sz="2400" dirty="0">
                <a:solidFill>
                  <a:srgbClr val="7030A0"/>
                </a:solidFill>
                <a:latin typeface="Arial Narrow" panose="020B0606020202030204" pitchFamily="34" charset="0"/>
              </a:rPr>
              <a:t>high error on both the training and test datasets</a:t>
            </a:r>
            <a:r>
              <a:rPr lang="en-US" altLang="en-US" sz="2400" dirty="0">
                <a:latin typeface="Arial Narrow" panose="020B0606020202030204" pitchFamily="34" charset="0"/>
              </a:rPr>
              <a:t>.</a:t>
            </a:r>
          </a:p>
          <a:p>
            <a:pPr lvl="1" algn="just" eaLnBrk="0" fontAlgn="base" hangingPunct="0">
              <a:lnSpc>
                <a:spcPct val="100000"/>
              </a:lnSpc>
              <a:spcBef>
                <a:spcPct val="0"/>
              </a:spcBef>
              <a:spcAft>
                <a:spcPct val="0"/>
              </a:spcAft>
            </a:pPr>
            <a:endParaRPr lang="en-US" altLang="en-US" b="1" dirty="0">
              <a:latin typeface="Arial Narrow" panose="020B0606020202030204" pitchFamily="34" charset="0"/>
            </a:endParaRPr>
          </a:p>
          <a:p>
            <a:pPr algn="just" eaLnBrk="0" fontAlgn="base" hangingPunct="0">
              <a:lnSpc>
                <a:spcPct val="100000"/>
              </a:lnSpc>
              <a:spcBef>
                <a:spcPct val="0"/>
              </a:spcBef>
              <a:spcAft>
                <a:spcPct val="0"/>
              </a:spcAft>
            </a:pPr>
            <a:r>
              <a:rPr lang="en-US" altLang="en-US" sz="3300" b="1" dirty="0">
                <a:latin typeface="Arial Narrow" panose="020B0606020202030204" pitchFamily="34" charset="0"/>
              </a:rPr>
              <a:t>Variance : </a:t>
            </a:r>
          </a:p>
          <a:p>
            <a:pPr marL="889200" indent="-457200" algn="just" eaLnBrk="0" fontAlgn="base" hangingPunct="0">
              <a:lnSpc>
                <a:spcPct val="100000"/>
              </a:lnSpc>
              <a:spcBef>
                <a:spcPct val="0"/>
              </a:spcBef>
              <a:spcAft>
                <a:spcPct val="0"/>
              </a:spcAft>
            </a:pPr>
            <a:r>
              <a:rPr lang="en-US" altLang="en-US" sz="2400" dirty="0">
                <a:solidFill>
                  <a:srgbClr val="7030A0"/>
                </a:solidFill>
                <a:latin typeface="Arial Narrow" panose="020B0606020202030204" pitchFamily="34" charset="0"/>
              </a:rPr>
              <a:t>Variance</a:t>
            </a:r>
            <a:r>
              <a:rPr lang="en-US" altLang="en-US" sz="2400" dirty="0">
                <a:latin typeface="Arial Narrow" panose="020B0606020202030204" pitchFamily="34" charset="0"/>
              </a:rPr>
              <a:t> is the error caused by a model being too sensitive to the training data. </a:t>
            </a:r>
          </a:p>
          <a:p>
            <a:pPr marL="889200" indent="-457200" algn="just" eaLnBrk="0" fontAlgn="base" hangingPunct="0">
              <a:lnSpc>
                <a:spcPct val="100000"/>
              </a:lnSpc>
              <a:spcBef>
                <a:spcPct val="0"/>
              </a:spcBef>
              <a:spcAft>
                <a:spcPct val="0"/>
              </a:spcAft>
            </a:pPr>
            <a:r>
              <a:rPr lang="en-US" altLang="en-US" sz="2400" dirty="0">
                <a:latin typeface="Arial Narrow" panose="020B0606020202030204" pitchFamily="34" charset="0"/>
              </a:rPr>
              <a:t>Models with </a:t>
            </a:r>
            <a:r>
              <a:rPr lang="en-US" altLang="en-US" sz="2400" dirty="0">
                <a:solidFill>
                  <a:srgbClr val="7030A0"/>
                </a:solidFill>
                <a:latin typeface="Arial Narrow" panose="020B0606020202030204" pitchFamily="34" charset="0"/>
              </a:rPr>
              <a:t>high variance </a:t>
            </a:r>
            <a:r>
              <a:rPr lang="en-US" altLang="en-US" sz="2400" dirty="0">
                <a:latin typeface="Arial Narrow" panose="020B0606020202030204" pitchFamily="34" charset="0"/>
              </a:rPr>
              <a:t>are generally very complex and learn the training data too closely, including its noise, which reduces their ability to generalize to unseen data. </a:t>
            </a:r>
          </a:p>
          <a:p>
            <a:pPr marL="889200" indent="-457200" algn="just" eaLnBrk="0" fontAlgn="base" hangingPunct="0">
              <a:lnSpc>
                <a:spcPct val="100000"/>
              </a:lnSpc>
              <a:spcBef>
                <a:spcPct val="0"/>
              </a:spcBef>
              <a:spcAft>
                <a:spcPct val="0"/>
              </a:spcAft>
            </a:pPr>
            <a:r>
              <a:rPr lang="en-US" altLang="en-US" sz="2400" dirty="0">
                <a:latin typeface="Arial Narrow" panose="020B0606020202030204" pitchFamily="34" charset="0"/>
              </a:rPr>
              <a:t>This results in </a:t>
            </a:r>
            <a:r>
              <a:rPr lang="en-US" altLang="en-US" sz="2400" dirty="0">
                <a:solidFill>
                  <a:srgbClr val="7030A0"/>
                </a:solidFill>
                <a:latin typeface="Arial Narrow" panose="020B0606020202030204" pitchFamily="34" charset="0"/>
              </a:rPr>
              <a:t>overfitting</a:t>
            </a:r>
            <a:r>
              <a:rPr lang="en-US" altLang="en-US" sz="2400" dirty="0">
                <a:latin typeface="Arial Narrow" panose="020B0606020202030204" pitchFamily="34" charset="0"/>
              </a:rPr>
              <a:t>, where the model performs exceptionally well on the training data but poorly on new, unseen data. </a:t>
            </a:r>
          </a:p>
          <a:p>
            <a:pPr marL="889200" indent="-457200" algn="just" eaLnBrk="0" fontAlgn="base" hangingPunct="0">
              <a:lnSpc>
                <a:spcPct val="100000"/>
              </a:lnSpc>
              <a:spcBef>
                <a:spcPct val="0"/>
              </a:spcBef>
              <a:spcAft>
                <a:spcPct val="0"/>
              </a:spcAft>
            </a:pPr>
            <a:r>
              <a:rPr lang="en-US" altLang="en-US" sz="2400" dirty="0">
                <a:latin typeface="Arial Narrow" panose="020B0606020202030204" pitchFamily="34" charset="0"/>
              </a:rPr>
              <a:t>High variance typically leads to </a:t>
            </a:r>
            <a:r>
              <a:rPr lang="en-US" altLang="en-US" sz="2400" dirty="0">
                <a:solidFill>
                  <a:srgbClr val="7030A0"/>
                </a:solidFill>
                <a:latin typeface="Arial Narrow" panose="020B0606020202030204" pitchFamily="34" charset="0"/>
              </a:rPr>
              <a:t>very</a:t>
            </a:r>
            <a:r>
              <a:rPr lang="en-US" altLang="en-US" sz="2400" dirty="0">
                <a:latin typeface="Arial Narrow" panose="020B0606020202030204" pitchFamily="34" charset="0"/>
              </a:rPr>
              <a:t> </a:t>
            </a:r>
            <a:r>
              <a:rPr lang="en-US" altLang="en-US" sz="2400" dirty="0">
                <a:solidFill>
                  <a:srgbClr val="7030A0"/>
                </a:solidFill>
                <a:latin typeface="Arial Narrow" panose="020B0606020202030204" pitchFamily="34" charset="0"/>
              </a:rPr>
              <a:t>low training error but high testing error</a:t>
            </a:r>
            <a:r>
              <a:rPr lang="en-US" altLang="en-US" sz="2400" dirty="0">
                <a:latin typeface="Arial Narrow" panose="020B0606020202030204" pitchFamily="34" charset="0"/>
              </a:rPr>
              <a:t>. </a:t>
            </a:r>
          </a:p>
        </p:txBody>
      </p:sp>
      <p:sp>
        <p:nvSpPr>
          <p:cNvPr id="4" name="Title 2"/>
          <p:cNvSpPr>
            <a:spLocks noGrp="1"/>
          </p:cNvSpPr>
          <p:nvPr>
            <p:ph type="title"/>
          </p:nvPr>
        </p:nvSpPr>
        <p:spPr>
          <a:xfrm>
            <a:off x="838200" y="365126"/>
            <a:ext cx="10515600" cy="993158"/>
          </a:xfrm>
        </p:spPr>
        <p:txBody>
          <a:bodyPr vert="horz" lIns="91440" tIns="45720" rIns="91440" bIns="45720" rtlCol="0" anchor="ctr">
            <a:normAutofit/>
          </a:bodyPr>
          <a:lstStyle/>
          <a:p>
            <a:r>
              <a:rPr lang="en-US" sz="3600" dirty="0">
                <a:solidFill>
                  <a:schemeClr val="tx1">
                    <a:lumMod val="95000"/>
                    <a:lumOff val="5000"/>
                  </a:schemeClr>
                </a:solidFill>
                <a:latin typeface="Century" panose="02040604050505020304" pitchFamily="18" charset="0"/>
                <a:cs typeface="Times New Roman" panose="02020603050405020304" pitchFamily="18" charset="0"/>
              </a:rPr>
              <a:t>Bias and Variance </a:t>
            </a:r>
          </a:p>
        </p:txBody>
      </p:sp>
      <p:sp>
        <p:nvSpPr>
          <p:cNvPr id="5"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1760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18"/>
          <p:cNvSpPr/>
          <p:nvPr/>
        </p:nvSpPr>
        <p:spPr>
          <a:xfrm>
            <a:off x="913620" y="4275939"/>
            <a:ext cx="1959787" cy="1965534"/>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p:cNvSpPr>
            <a:spLocks noGrp="1"/>
          </p:cNvSpPr>
          <p:nvPr>
            <p:ph idx="1"/>
          </p:nvPr>
        </p:nvSpPr>
        <p:spPr>
          <a:xfrm>
            <a:off x="248576" y="870208"/>
            <a:ext cx="2624831" cy="3133087"/>
          </a:xfrm>
        </p:spPr>
        <p:txBody>
          <a:bodyPr>
            <a:normAutofit lnSpcReduction="10000"/>
          </a:bodyPr>
          <a:lstStyle/>
          <a:p>
            <a:pPr algn="just"/>
            <a:r>
              <a:rPr lang="en-US" sz="2000" dirty="0">
                <a:solidFill>
                  <a:srgbClr val="7030A0"/>
                </a:solidFill>
                <a:latin typeface="Arial Narrow" panose="020B0606020202030204" pitchFamily="34" charset="0"/>
              </a:rPr>
              <a:t>Low Bias, Low Variance (Ideal): </a:t>
            </a:r>
            <a:r>
              <a:rPr lang="en-US" sz="2000" dirty="0">
                <a:latin typeface="Arial Narrow" panose="020B0606020202030204" pitchFamily="34" charset="0"/>
              </a:rPr>
              <a:t>Predictions are closely clustered around the true target (bullseye), indicating both </a:t>
            </a:r>
            <a:r>
              <a:rPr lang="en-US" sz="2000" dirty="0">
                <a:solidFill>
                  <a:srgbClr val="7030A0"/>
                </a:solidFill>
                <a:latin typeface="Arial Narrow" panose="020B0606020202030204" pitchFamily="34" charset="0"/>
              </a:rPr>
              <a:t>high accuracy</a:t>
            </a:r>
            <a:r>
              <a:rPr lang="en-US" sz="2000" dirty="0">
                <a:latin typeface="Arial Narrow" panose="020B0606020202030204" pitchFamily="34" charset="0"/>
              </a:rPr>
              <a:t> (low bias) and </a:t>
            </a:r>
            <a:r>
              <a:rPr lang="en-US" sz="2000" dirty="0">
                <a:solidFill>
                  <a:srgbClr val="7030A0"/>
                </a:solidFill>
                <a:latin typeface="Arial Narrow" panose="020B0606020202030204" pitchFamily="34" charset="0"/>
              </a:rPr>
              <a:t>high consistency </a:t>
            </a:r>
            <a:r>
              <a:rPr lang="en-US" sz="2000" dirty="0">
                <a:latin typeface="Arial Narrow" panose="020B0606020202030204" pitchFamily="34" charset="0"/>
              </a:rPr>
              <a:t>(low variance). </a:t>
            </a:r>
            <a:r>
              <a:rPr lang="en-US" sz="2000" dirty="0">
                <a:solidFill>
                  <a:srgbClr val="00B050"/>
                </a:solidFill>
                <a:latin typeface="Arial Narrow" panose="020B0606020202030204" pitchFamily="34" charset="0"/>
              </a:rPr>
              <a:t>This represents an ideal model that generalizes well to unseen data.</a:t>
            </a:r>
          </a:p>
        </p:txBody>
      </p:sp>
      <p:sp>
        <p:nvSpPr>
          <p:cNvPr id="5" name="Title 2"/>
          <p:cNvSpPr>
            <a:spLocks noGrp="1"/>
          </p:cNvSpPr>
          <p:nvPr>
            <p:ph type="title"/>
          </p:nvPr>
        </p:nvSpPr>
        <p:spPr>
          <a:xfrm>
            <a:off x="348792" y="-93076"/>
            <a:ext cx="10515600" cy="993158"/>
          </a:xfrm>
        </p:spPr>
        <p:txBody>
          <a:bodyPr vert="horz" lIns="91440" tIns="45720" rIns="91440" bIns="45720" rtlCol="0" anchor="ctr">
            <a:normAutofit/>
          </a:bodyPr>
          <a:lstStyle/>
          <a:p>
            <a:r>
              <a:rPr lang="en-US" sz="3600" dirty="0">
                <a:solidFill>
                  <a:schemeClr val="tx1">
                    <a:lumMod val="95000"/>
                    <a:lumOff val="5000"/>
                  </a:schemeClr>
                </a:solidFill>
                <a:latin typeface="Century" panose="02040604050505020304" pitchFamily="18" charset="0"/>
                <a:cs typeface="Times New Roman" panose="02020603050405020304" pitchFamily="18" charset="0"/>
              </a:rPr>
              <a:t>Bias and Variance </a:t>
            </a:r>
          </a:p>
        </p:txBody>
      </p:sp>
      <p:sp>
        <p:nvSpPr>
          <p:cNvPr id="10" name="Content Placeholder 2"/>
          <p:cNvSpPr txBox="1">
            <a:spLocks/>
          </p:cNvSpPr>
          <p:nvPr/>
        </p:nvSpPr>
        <p:spPr>
          <a:xfrm>
            <a:off x="3184494" y="887233"/>
            <a:ext cx="2624831" cy="31330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solidFill>
                  <a:srgbClr val="7030A0"/>
                </a:solidFill>
                <a:latin typeface="Arial Narrow" panose="020B0606020202030204" pitchFamily="34" charset="0"/>
              </a:rPr>
              <a:t>High Bias, Low Variance (</a:t>
            </a:r>
            <a:r>
              <a:rPr lang="en-US" sz="2000" dirty="0">
                <a:solidFill>
                  <a:srgbClr val="C00000"/>
                </a:solidFill>
                <a:latin typeface="Arial Narrow" panose="020B0606020202030204" pitchFamily="34" charset="0"/>
              </a:rPr>
              <a:t>Underfitting</a:t>
            </a:r>
            <a:r>
              <a:rPr lang="en-US" sz="2000" dirty="0">
                <a:solidFill>
                  <a:srgbClr val="7030A0"/>
                </a:solidFill>
                <a:latin typeface="Arial Narrow" panose="020B0606020202030204" pitchFamily="34" charset="0"/>
              </a:rPr>
              <a:t>): </a:t>
            </a:r>
            <a:r>
              <a:rPr lang="en-US" sz="2000" dirty="0">
                <a:latin typeface="Arial Narrow" panose="020B0606020202030204" pitchFamily="34" charset="0"/>
              </a:rPr>
              <a:t>Predictions are tightly clustered but far from the true target (bullseye). The model is too simple to capture the underlying patterns in the data, resulting in </a:t>
            </a:r>
            <a:r>
              <a:rPr lang="en-US" sz="2000" dirty="0">
                <a:solidFill>
                  <a:srgbClr val="C00000"/>
                </a:solidFill>
                <a:latin typeface="Arial Narrow" panose="020B0606020202030204" pitchFamily="34" charset="0"/>
              </a:rPr>
              <a:t>high training error and high testing error</a:t>
            </a:r>
            <a:r>
              <a:rPr lang="en-US" sz="2000" dirty="0">
                <a:latin typeface="Arial Narrow" panose="020B0606020202030204" pitchFamily="34" charset="0"/>
              </a:rPr>
              <a:t>.</a:t>
            </a:r>
          </a:p>
        </p:txBody>
      </p:sp>
      <p:sp>
        <p:nvSpPr>
          <p:cNvPr id="11" name="Content Placeholder 2"/>
          <p:cNvSpPr txBox="1">
            <a:spLocks/>
          </p:cNvSpPr>
          <p:nvPr/>
        </p:nvSpPr>
        <p:spPr>
          <a:xfrm>
            <a:off x="9036081" y="870207"/>
            <a:ext cx="2624831" cy="313308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solidFill>
                  <a:srgbClr val="7030A0"/>
                </a:solidFill>
                <a:latin typeface="Arial Narrow" panose="020B0606020202030204" pitchFamily="34" charset="0"/>
              </a:rPr>
              <a:t>High Bias, High Variance</a:t>
            </a:r>
            <a:r>
              <a:rPr lang="en-US" sz="2000" b="1" dirty="0">
                <a:latin typeface="Arial Narrow" panose="020B0606020202030204" pitchFamily="34" charset="0"/>
              </a:rPr>
              <a:t>:</a:t>
            </a:r>
            <a:r>
              <a:rPr lang="en-US" sz="2000" dirty="0">
                <a:latin typeface="Arial Narrow" panose="020B0606020202030204" pitchFamily="34" charset="0"/>
              </a:rPr>
              <a:t> Predictions are widely scattered and far from the true target (bullseye). The model is both </a:t>
            </a:r>
            <a:r>
              <a:rPr lang="en-US" sz="2000" dirty="0">
                <a:solidFill>
                  <a:srgbClr val="C00000"/>
                </a:solidFill>
                <a:latin typeface="Arial Narrow" panose="020B0606020202030204" pitchFamily="34" charset="0"/>
              </a:rPr>
              <a:t>inaccurate (high bias) and inconsistent (high variance)</a:t>
            </a:r>
            <a:r>
              <a:rPr lang="en-US" sz="2000" dirty="0">
                <a:latin typeface="Arial Narrow" panose="020B0606020202030204" pitchFamily="34" charset="0"/>
              </a:rPr>
              <a:t>, resulting in poor performance on both the training and testing data.</a:t>
            </a:r>
          </a:p>
        </p:txBody>
      </p:sp>
      <p:sp>
        <p:nvSpPr>
          <p:cNvPr id="12" name="Content Placeholder 2"/>
          <p:cNvSpPr txBox="1">
            <a:spLocks/>
          </p:cNvSpPr>
          <p:nvPr/>
        </p:nvSpPr>
        <p:spPr>
          <a:xfrm>
            <a:off x="6096000" y="870207"/>
            <a:ext cx="2757096" cy="313308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000" dirty="0">
                <a:solidFill>
                  <a:srgbClr val="7030A0"/>
                </a:solidFill>
                <a:latin typeface="Arial Narrow" panose="020B0606020202030204" pitchFamily="34" charset="0"/>
              </a:rPr>
              <a:t>Low Bias, High Variance (</a:t>
            </a:r>
            <a:r>
              <a:rPr lang="en-US" sz="2000" dirty="0">
                <a:solidFill>
                  <a:srgbClr val="C00000"/>
                </a:solidFill>
                <a:latin typeface="Arial Narrow" panose="020B0606020202030204" pitchFamily="34" charset="0"/>
              </a:rPr>
              <a:t>Overfitting</a:t>
            </a:r>
            <a:r>
              <a:rPr lang="en-US" sz="2000" dirty="0">
                <a:solidFill>
                  <a:srgbClr val="7030A0"/>
                </a:solidFill>
                <a:latin typeface="Arial Narrow" panose="020B0606020202030204" pitchFamily="34" charset="0"/>
              </a:rPr>
              <a:t>)</a:t>
            </a:r>
            <a:r>
              <a:rPr lang="en-US" sz="2000" b="1" dirty="0">
                <a:latin typeface="Arial Narrow" panose="020B0606020202030204" pitchFamily="34" charset="0"/>
              </a:rPr>
              <a:t>:</a:t>
            </a:r>
            <a:r>
              <a:rPr lang="en-US" sz="2000" dirty="0">
                <a:latin typeface="Arial Narrow" panose="020B0606020202030204" pitchFamily="34" charset="0"/>
              </a:rPr>
              <a:t> Predictions are centered around the true target (bullseye) but are </a:t>
            </a:r>
            <a:r>
              <a:rPr lang="en-US" sz="2000" dirty="0">
                <a:solidFill>
                  <a:srgbClr val="00B0F0"/>
                </a:solidFill>
                <a:latin typeface="Arial Narrow" panose="020B0606020202030204" pitchFamily="34" charset="0"/>
              </a:rPr>
              <a:t>widely scattered</a:t>
            </a:r>
            <a:r>
              <a:rPr lang="en-US" sz="2000" dirty="0">
                <a:latin typeface="Arial Narrow" panose="020B0606020202030204" pitchFamily="34" charset="0"/>
              </a:rPr>
              <a:t>. The model is overly complex and fits the training data too closely, resulting in </a:t>
            </a:r>
            <a:r>
              <a:rPr lang="en-US" sz="2000" dirty="0">
                <a:solidFill>
                  <a:srgbClr val="C00000"/>
                </a:solidFill>
                <a:latin typeface="Arial Narrow" panose="020B0606020202030204" pitchFamily="34" charset="0"/>
              </a:rPr>
              <a:t>very low training error but high testing error</a:t>
            </a:r>
            <a:r>
              <a:rPr lang="en-US" sz="2000" dirty="0">
                <a:solidFill>
                  <a:srgbClr val="7030A0"/>
                </a:solidFill>
                <a:latin typeface="Arial Narrow" panose="020B0606020202030204" pitchFamily="34" charset="0"/>
              </a:rPr>
              <a:t>, </a:t>
            </a:r>
            <a:r>
              <a:rPr lang="en-US" sz="2000" dirty="0">
                <a:latin typeface="Arial Narrow" panose="020B0606020202030204" pitchFamily="34" charset="0"/>
              </a:rPr>
              <a:t>leading to poor generalization on unseen data.</a:t>
            </a:r>
          </a:p>
        </p:txBody>
      </p:sp>
      <p:cxnSp>
        <p:nvCxnSpPr>
          <p:cNvPr id="14" name="Straight Connector 13"/>
          <p:cNvCxnSpPr/>
          <p:nvPr/>
        </p:nvCxnSpPr>
        <p:spPr>
          <a:xfrm flipH="1">
            <a:off x="3048000" y="870207"/>
            <a:ext cx="14799" cy="5698233"/>
          </a:xfrm>
          <a:prstGeom prst="line">
            <a:avLst/>
          </a:prstGeom>
          <a:ln w="158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202386" y="4564979"/>
            <a:ext cx="1382252" cy="1387453"/>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p:cNvSpPr/>
          <p:nvPr/>
        </p:nvSpPr>
        <p:spPr>
          <a:xfrm>
            <a:off x="1531003" y="4893042"/>
            <a:ext cx="725017" cy="731326"/>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p:cNvSpPr/>
          <p:nvPr/>
        </p:nvSpPr>
        <p:spPr>
          <a:xfrm>
            <a:off x="1754954" y="5105817"/>
            <a:ext cx="282822" cy="270546"/>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Arrow Connector 35"/>
          <p:cNvCxnSpPr>
            <a:stCxn id="38" idx="2"/>
          </p:cNvCxnSpPr>
          <p:nvPr/>
        </p:nvCxnSpPr>
        <p:spPr>
          <a:xfrm>
            <a:off x="568656" y="4389652"/>
            <a:ext cx="1360038" cy="893687"/>
          </a:xfrm>
          <a:prstGeom prst="straightConnector1">
            <a:avLst/>
          </a:prstGeom>
          <a:ln w="158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5051" y="4020320"/>
            <a:ext cx="1047210" cy="369332"/>
          </a:xfrm>
          <a:prstGeom prst="rect">
            <a:avLst/>
          </a:prstGeom>
          <a:solidFill>
            <a:schemeClr val="accent4">
              <a:lumMod val="40000"/>
              <a:lumOff val="60000"/>
            </a:schemeClr>
          </a:solidFill>
          <a:ln>
            <a:solidFill>
              <a:schemeClr val="accent3">
                <a:lumMod val="60000"/>
                <a:lumOff val="40000"/>
              </a:schemeClr>
            </a:solidFill>
          </a:ln>
        </p:spPr>
        <p:txBody>
          <a:bodyPr wrap="none" rtlCol="0">
            <a:spAutoFit/>
          </a:bodyPr>
          <a:lstStyle/>
          <a:p>
            <a:r>
              <a:rPr lang="en-IN" dirty="0">
                <a:latin typeface="Arial Narrow" panose="020B0606020202030204" pitchFamily="34" charset="0"/>
              </a:rPr>
              <a:t>Bull’s Eye</a:t>
            </a:r>
          </a:p>
        </p:txBody>
      </p:sp>
      <p:sp>
        <p:nvSpPr>
          <p:cNvPr id="42" name="Oval 41"/>
          <p:cNvSpPr/>
          <p:nvPr/>
        </p:nvSpPr>
        <p:spPr>
          <a:xfrm>
            <a:off x="3853040" y="4275939"/>
            <a:ext cx="1959787" cy="1965534"/>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p:cNvSpPr/>
          <p:nvPr/>
        </p:nvSpPr>
        <p:spPr>
          <a:xfrm>
            <a:off x="4141806" y="4564979"/>
            <a:ext cx="1382252" cy="1387453"/>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p:cNvSpPr/>
          <p:nvPr/>
        </p:nvSpPr>
        <p:spPr>
          <a:xfrm>
            <a:off x="4470423" y="4893042"/>
            <a:ext cx="725017" cy="731326"/>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p:cNvSpPr/>
          <p:nvPr/>
        </p:nvSpPr>
        <p:spPr>
          <a:xfrm>
            <a:off x="4703726" y="5123432"/>
            <a:ext cx="282822" cy="270546"/>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p:cNvSpPr/>
          <p:nvPr/>
        </p:nvSpPr>
        <p:spPr>
          <a:xfrm>
            <a:off x="6798975" y="4275939"/>
            <a:ext cx="1959787" cy="1965534"/>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p:cNvSpPr/>
          <p:nvPr/>
        </p:nvSpPr>
        <p:spPr>
          <a:xfrm>
            <a:off x="7087741" y="4564979"/>
            <a:ext cx="1382252" cy="1387453"/>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p:cNvSpPr/>
          <p:nvPr/>
        </p:nvSpPr>
        <p:spPr>
          <a:xfrm>
            <a:off x="7416358" y="4893042"/>
            <a:ext cx="725017" cy="731326"/>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p:cNvSpPr/>
          <p:nvPr/>
        </p:nvSpPr>
        <p:spPr>
          <a:xfrm>
            <a:off x="7649661" y="5123432"/>
            <a:ext cx="282822" cy="270546"/>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p:cNvSpPr/>
          <p:nvPr/>
        </p:nvSpPr>
        <p:spPr>
          <a:xfrm>
            <a:off x="9769670" y="4275939"/>
            <a:ext cx="1959787" cy="1965534"/>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p:cNvSpPr/>
          <p:nvPr/>
        </p:nvSpPr>
        <p:spPr>
          <a:xfrm>
            <a:off x="10058436" y="4564979"/>
            <a:ext cx="1382252" cy="1387453"/>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p:cNvSpPr/>
          <p:nvPr/>
        </p:nvSpPr>
        <p:spPr>
          <a:xfrm>
            <a:off x="10387053" y="4893042"/>
            <a:ext cx="725017" cy="731326"/>
          </a:xfrm>
          <a:prstGeom prst="ellipse">
            <a:avLst/>
          </a:prstGeom>
          <a:solidFill>
            <a:srgbClr val="FF00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p:cNvSpPr/>
          <p:nvPr/>
        </p:nvSpPr>
        <p:spPr>
          <a:xfrm>
            <a:off x="10620356" y="5123432"/>
            <a:ext cx="282822" cy="270546"/>
          </a:xfrm>
          <a:prstGeom prst="ellipse">
            <a:avLst/>
          </a:prstGeom>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7" name="Straight Connector 56"/>
          <p:cNvCxnSpPr/>
          <p:nvPr/>
        </p:nvCxnSpPr>
        <p:spPr>
          <a:xfrm flipH="1">
            <a:off x="6000630" y="878720"/>
            <a:ext cx="14799" cy="5698233"/>
          </a:xfrm>
          <a:prstGeom prst="line">
            <a:avLst/>
          </a:prstGeom>
          <a:ln w="158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8964505" y="887233"/>
            <a:ext cx="14799" cy="5698233"/>
          </a:xfrm>
          <a:prstGeom prst="line">
            <a:avLst/>
          </a:prstGeom>
          <a:ln w="158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61" idx="2"/>
          </p:cNvCxnSpPr>
          <p:nvPr/>
        </p:nvCxnSpPr>
        <p:spPr>
          <a:xfrm>
            <a:off x="3683106" y="4347403"/>
            <a:ext cx="1184114" cy="893687"/>
          </a:xfrm>
          <a:prstGeom prst="straightConnector1">
            <a:avLst/>
          </a:prstGeom>
          <a:ln w="158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3159501" y="3978071"/>
            <a:ext cx="1047210" cy="369332"/>
          </a:xfrm>
          <a:prstGeom prst="rect">
            <a:avLst/>
          </a:prstGeom>
          <a:solidFill>
            <a:schemeClr val="accent4">
              <a:lumMod val="40000"/>
              <a:lumOff val="60000"/>
            </a:schemeClr>
          </a:solidFill>
          <a:ln>
            <a:solidFill>
              <a:schemeClr val="accent3">
                <a:lumMod val="60000"/>
                <a:lumOff val="40000"/>
              </a:schemeClr>
            </a:solidFill>
          </a:ln>
        </p:spPr>
        <p:txBody>
          <a:bodyPr wrap="none" rtlCol="0">
            <a:spAutoFit/>
          </a:bodyPr>
          <a:lstStyle/>
          <a:p>
            <a:r>
              <a:rPr lang="en-IN" dirty="0">
                <a:latin typeface="Arial Narrow" panose="020B0606020202030204" pitchFamily="34" charset="0"/>
              </a:rPr>
              <a:t>Bull’s Eye</a:t>
            </a:r>
          </a:p>
        </p:txBody>
      </p:sp>
      <p:cxnSp>
        <p:nvCxnSpPr>
          <p:cNvPr id="65" name="Straight Arrow Connector 64"/>
          <p:cNvCxnSpPr>
            <a:stCxn id="66" idx="2"/>
          </p:cNvCxnSpPr>
          <p:nvPr/>
        </p:nvCxnSpPr>
        <p:spPr>
          <a:xfrm>
            <a:off x="6625992" y="4372626"/>
            <a:ext cx="1184114" cy="893687"/>
          </a:xfrm>
          <a:prstGeom prst="straightConnector1">
            <a:avLst/>
          </a:prstGeom>
          <a:ln w="158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6102387" y="4003294"/>
            <a:ext cx="1047210" cy="369332"/>
          </a:xfrm>
          <a:prstGeom prst="rect">
            <a:avLst/>
          </a:prstGeom>
          <a:solidFill>
            <a:schemeClr val="accent4">
              <a:lumMod val="40000"/>
              <a:lumOff val="60000"/>
            </a:schemeClr>
          </a:solidFill>
          <a:ln>
            <a:solidFill>
              <a:schemeClr val="accent3">
                <a:lumMod val="60000"/>
                <a:lumOff val="40000"/>
              </a:schemeClr>
            </a:solidFill>
          </a:ln>
        </p:spPr>
        <p:txBody>
          <a:bodyPr wrap="none" rtlCol="0">
            <a:spAutoFit/>
          </a:bodyPr>
          <a:lstStyle/>
          <a:p>
            <a:r>
              <a:rPr lang="en-IN" dirty="0">
                <a:latin typeface="Arial Narrow" panose="020B0606020202030204" pitchFamily="34" charset="0"/>
              </a:rPr>
              <a:t>Bull’s Eye</a:t>
            </a:r>
          </a:p>
        </p:txBody>
      </p:sp>
      <p:cxnSp>
        <p:nvCxnSpPr>
          <p:cNvPr id="67" name="Straight Arrow Connector 66"/>
          <p:cNvCxnSpPr>
            <a:stCxn id="68" idx="2"/>
          </p:cNvCxnSpPr>
          <p:nvPr/>
        </p:nvCxnSpPr>
        <p:spPr>
          <a:xfrm>
            <a:off x="9596213" y="4372626"/>
            <a:ext cx="1184114" cy="893687"/>
          </a:xfrm>
          <a:prstGeom prst="straightConnector1">
            <a:avLst/>
          </a:prstGeom>
          <a:ln w="158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p:cNvSpPr txBox="1"/>
          <p:nvPr/>
        </p:nvSpPr>
        <p:spPr>
          <a:xfrm>
            <a:off x="9072608" y="4003294"/>
            <a:ext cx="1047210" cy="369332"/>
          </a:xfrm>
          <a:prstGeom prst="rect">
            <a:avLst/>
          </a:prstGeom>
          <a:solidFill>
            <a:schemeClr val="accent4">
              <a:lumMod val="40000"/>
              <a:lumOff val="60000"/>
            </a:schemeClr>
          </a:solidFill>
          <a:ln>
            <a:solidFill>
              <a:schemeClr val="accent3">
                <a:lumMod val="60000"/>
                <a:lumOff val="40000"/>
              </a:schemeClr>
            </a:solidFill>
          </a:ln>
        </p:spPr>
        <p:txBody>
          <a:bodyPr wrap="none" rtlCol="0">
            <a:spAutoFit/>
          </a:bodyPr>
          <a:lstStyle/>
          <a:p>
            <a:r>
              <a:rPr lang="en-IN" dirty="0">
                <a:latin typeface="Arial Narrow" panose="020B0606020202030204" pitchFamily="34" charset="0"/>
              </a:rPr>
              <a:t>Bull’s Eye</a:t>
            </a:r>
          </a:p>
        </p:txBody>
      </p:sp>
      <p:sp>
        <p:nvSpPr>
          <p:cNvPr id="69" name="TextBox 68"/>
          <p:cNvSpPr txBox="1"/>
          <p:nvPr/>
        </p:nvSpPr>
        <p:spPr>
          <a:xfrm>
            <a:off x="366182" y="6329451"/>
            <a:ext cx="2322046" cy="369332"/>
          </a:xfrm>
          <a:prstGeom prst="rect">
            <a:avLst/>
          </a:prstGeom>
          <a:noFill/>
        </p:spPr>
        <p:txBody>
          <a:bodyPr wrap="none" rtlCol="0">
            <a:spAutoFit/>
          </a:bodyPr>
          <a:lstStyle/>
          <a:p>
            <a:r>
              <a:rPr lang="en-IN" dirty="0">
                <a:solidFill>
                  <a:srgbClr val="7030A0"/>
                </a:solidFill>
                <a:latin typeface="Arial Narrow" panose="020B0606020202030204" pitchFamily="34" charset="0"/>
              </a:rPr>
              <a:t>Low Bias &amp; Low Variance</a:t>
            </a:r>
          </a:p>
        </p:txBody>
      </p:sp>
      <p:sp>
        <p:nvSpPr>
          <p:cNvPr id="70" name="TextBox 69"/>
          <p:cNvSpPr txBox="1"/>
          <p:nvPr/>
        </p:nvSpPr>
        <p:spPr>
          <a:xfrm>
            <a:off x="9401249" y="6329451"/>
            <a:ext cx="2405402" cy="369332"/>
          </a:xfrm>
          <a:prstGeom prst="rect">
            <a:avLst/>
          </a:prstGeom>
          <a:noFill/>
        </p:spPr>
        <p:txBody>
          <a:bodyPr wrap="none" rtlCol="0">
            <a:spAutoFit/>
          </a:bodyPr>
          <a:lstStyle/>
          <a:p>
            <a:r>
              <a:rPr lang="en-IN" dirty="0">
                <a:solidFill>
                  <a:srgbClr val="7030A0"/>
                </a:solidFill>
                <a:latin typeface="Arial Narrow" panose="020B0606020202030204" pitchFamily="34" charset="0"/>
              </a:rPr>
              <a:t>High Bias &amp; High Variance</a:t>
            </a:r>
          </a:p>
        </p:txBody>
      </p:sp>
      <p:sp>
        <p:nvSpPr>
          <p:cNvPr id="71" name="TextBox 70"/>
          <p:cNvSpPr txBox="1"/>
          <p:nvPr/>
        </p:nvSpPr>
        <p:spPr>
          <a:xfrm>
            <a:off x="6439445" y="6399866"/>
            <a:ext cx="2363724" cy="369332"/>
          </a:xfrm>
          <a:prstGeom prst="rect">
            <a:avLst/>
          </a:prstGeom>
          <a:noFill/>
        </p:spPr>
        <p:txBody>
          <a:bodyPr wrap="none" rtlCol="0">
            <a:spAutoFit/>
          </a:bodyPr>
          <a:lstStyle/>
          <a:p>
            <a:r>
              <a:rPr lang="en-IN" dirty="0">
                <a:solidFill>
                  <a:srgbClr val="7030A0"/>
                </a:solidFill>
                <a:latin typeface="Arial Narrow" panose="020B0606020202030204" pitchFamily="34" charset="0"/>
              </a:rPr>
              <a:t>Low Bias &amp; High Variance</a:t>
            </a:r>
          </a:p>
        </p:txBody>
      </p:sp>
      <p:sp>
        <p:nvSpPr>
          <p:cNvPr id="72" name="TextBox 71"/>
          <p:cNvSpPr txBox="1"/>
          <p:nvPr/>
        </p:nvSpPr>
        <p:spPr>
          <a:xfrm>
            <a:off x="3264521" y="6323504"/>
            <a:ext cx="2363724" cy="369332"/>
          </a:xfrm>
          <a:prstGeom prst="rect">
            <a:avLst/>
          </a:prstGeom>
          <a:noFill/>
        </p:spPr>
        <p:txBody>
          <a:bodyPr wrap="none" rtlCol="0">
            <a:spAutoFit/>
          </a:bodyPr>
          <a:lstStyle/>
          <a:p>
            <a:r>
              <a:rPr lang="en-IN" dirty="0">
                <a:solidFill>
                  <a:srgbClr val="7030A0"/>
                </a:solidFill>
                <a:latin typeface="Arial Narrow" panose="020B0606020202030204" pitchFamily="34" charset="0"/>
              </a:rPr>
              <a:t>High Bias &amp; Low Variance</a:t>
            </a:r>
          </a:p>
        </p:txBody>
      </p:sp>
      <p:sp>
        <p:nvSpPr>
          <p:cNvPr id="73" name="Oval 72"/>
          <p:cNvSpPr/>
          <p:nvPr/>
        </p:nvSpPr>
        <p:spPr>
          <a:xfrm>
            <a:off x="1935220" y="5134935"/>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Oval 73"/>
          <p:cNvSpPr/>
          <p:nvPr/>
        </p:nvSpPr>
        <p:spPr>
          <a:xfrm>
            <a:off x="1958342" y="523701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Oval 74"/>
          <p:cNvSpPr/>
          <p:nvPr/>
        </p:nvSpPr>
        <p:spPr>
          <a:xfrm>
            <a:off x="1861640" y="5280361"/>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p:cNvSpPr/>
          <p:nvPr/>
        </p:nvSpPr>
        <p:spPr>
          <a:xfrm>
            <a:off x="1861821" y="512457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p:cNvSpPr/>
          <p:nvPr/>
        </p:nvSpPr>
        <p:spPr>
          <a:xfrm>
            <a:off x="1777367" y="523850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p:cNvSpPr/>
          <p:nvPr/>
        </p:nvSpPr>
        <p:spPr>
          <a:xfrm>
            <a:off x="1913692" y="521043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Oval 78"/>
          <p:cNvSpPr/>
          <p:nvPr/>
        </p:nvSpPr>
        <p:spPr>
          <a:xfrm>
            <a:off x="1946047" y="5311574"/>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p:cNvSpPr/>
          <p:nvPr/>
        </p:nvSpPr>
        <p:spPr>
          <a:xfrm>
            <a:off x="1694802" y="5172404"/>
            <a:ext cx="62173" cy="6423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Oval 80"/>
          <p:cNvSpPr/>
          <p:nvPr/>
        </p:nvSpPr>
        <p:spPr>
          <a:xfrm>
            <a:off x="1800502" y="5101206"/>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Oval 81"/>
          <p:cNvSpPr/>
          <p:nvPr/>
        </p:nvSpPr>
        <p:spPr>
          <a:xfrm>
            <a:off x="1993659" y="517047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p:cNvSpPr/>
          <p:nvPr/>
        </p:nvSpPr>
        <p:spPr>
          <a:xfrm>
            <a:off x="1740367" y="5294983"/>
            <a:ext cx="62173" cy="64238"/>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4" name="Oval 83"/>
          <p:cNvSpPr/>
          <p:nvPr/>
        </p:nvSpPr>
        <p:spPr>
          <a:xfrm>
            <a:off x="1701630" y="5170174"/>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Oval 84"/>
          <p:cNvSpPr/>
          <p:nvPr/>
        </p:nvSpPr>
        <p:spPr>
          <a:xfrm>
            <a:off x="1747195" y="5292753"/>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6" name="Oval 85"/>
          <p:cNvSpPr/>
          <p:nvPr/>
        </p:nvSpPr>
        <p:spPr>
          <a:xfrm>
            <a:off x="4517226" y="584171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Oval 86"/>
          <p:cNvSpPr/>
          <p:nvPr/>
        </p:nvSpPr>
        <p:spPr>
          <a:xfrm>
            <a:off x="4473405" y="5768578"/>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8" name="Oval 87"/>
          <p:cNvSpPr/>
          <p:nvPr/>
        </p:nvSpPr>
        <p:spPr>
          <a:xfrm>
            <a:off x="4392834" y="5809593"/>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9" name="Oval 88"/>
          <p:cNvSpPr/>
          <p:nvPr/>
        </p:nvSpPr>
        <p:spPr>
          <a:xfrm>
            <a:off x="4588598" y="587267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0" name="Oval 89"/>
          <p:cNvSpPr/>
          <p:nvPr/>
        </p:nvSpPr>
        <p:spPr>
          <a:xfrm>
            <a:off x="4450453" y="587267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1" name="Oval 90"/>
          <p:cNvSpPr/>
          <p:nvPr/>
        </p:nvSpPr>
        <p:spPr>
          <a:xfrm>
            <a:off x="4529618" y="5911435"/>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Oval 91"/>
          <p:cNvSpPr/>
          <p:nvPr/>
        </p:nvSpPr>
        <p:spPr>
          <a:xfrm>
            <a:off x="4402033" y="5729838"/>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Oval 92"/>
          <p:cNvSpPr/>
          <p:nvPr/>
        </p:nvSpPr>
        <p:spPr>
          <a:xfrm>
            <a:off x="4322203" y="5799993"/>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Oval 93"/>
          <p:cNvSpPr/>
          <p:nvPr/>
        </p:nvSpPr>
        <p:spPr>
          <a:xfrm>
            <a:off x="4379081" y="586742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p:cNvSpPr/>
          <p:nvPr/>
        </p:nvSpPr>
        <p:spPr>
          <a:xfrm>
            <a:off x="4565817" y="5794076"/>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Oval 95"/>
          <p:cNvSpPr/>
          <p:nvPr/>
        </p:nvSpPr>
        <p:spPr>
          <a:xfrm>
            <a:off x="4342549" y="5709336"/>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Oval 96"/>
          <p:cNvSpPr/>
          <p:nvPr/>
        </p:nvSpPr>
        <p:spPr>
          <a:xfrm>
            <a:off x="4314538" y="564500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Oval 97"/>
          <p:cNvSpPr/>
          <p:nvPr/>
        </p:nvSpPr>
        <p:spPr>
          <a:xfrm>
            <a:off x="7218049" y="547472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p:cNvSpPr/>
          <p:nvPr/>
        </p:nvSpPr>
        <p:spPr>
          <a:xfrm>
            <a:off x="7408965" y="5745355"/>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p:cNvSpPr/>
          <p:nvPr/>
        </p:nvSpPr>
        <p:spPr>
          <a:xfrm>
            <a:off x="7870310" y="597562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1" name="Oval 100"/>
          <p:cNvSpPr/>
          <p:nvPr/>
        </p:nvSpPr>
        <p:spPr>
          <a:xfrm>
            <a:off x="8079202" y="564500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Oval 101"/>
          <p:cNvSpPr/>
          <p:nvPr/>
        </p:nvSpPr>
        <p:spPr>
          <a:xfrm>
            <a:off x="8296579" y="519162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Oval 102"/>
          <p:cNvSpPr/>
          <p:nvPr/>
        </p:nvSpPr>
        <p:spPr>
          <a:xfrm>
            <a:off x="7890428" y="4776738"/>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p:cNvSpPr/>
          <p:nvPr/>
        </p:nvSpPr>
        <p:spPr>
          <a:xfrm>
            <a:off x="7737127" y="5287369"/>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Oval 104"/>
          <p:cNvSpPr/>
          <p:nvPr/>
        </p:nvSpPr>
        <p:spPr>
          <a:xfrm>
            <a:off x="7463370" y="5150748"/>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p:cNvSpPr/>
          <p:nvPr/>
        </p:nvSpPr>
        <p:spPr>
          <a:xfrm>
            <a:off x="7191263" y="4953898"/>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p:cNvSpPr/>
          <p:nvPr/>
        </p:nvSpPr>
        <p:spPr>
          <a:xfrm>
            <a:off x="7448638" y="4700509"/>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p:cNvSpPr/>
          <p:nvPr/>
        </p:nvSpPr>
        <p:spPr>
          <a:xfrm>
            <a:off x="7690697" y="4644138"/>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p:cNvSpPr/>
          <p:nvPr/>
        </p:nvSpPr>
        <p:spPr>
          <a:xfrm>
            <a:off x="8314855" y="4755231"/>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p:cNvSpPr/>
          <p:nvPr/>
        </p:nvSpPr>
        <p:spPr>
          <a:xfrm>
            <a:off x="7351879" y="448859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p:cNvSpPr/>
          <p:nvPr/>
        </p:nvSpPr>
        <p:spPr>
          <a:xfrm>
            <a:off x="7000950" y="5337255"/>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p:cNvSpPr/>
          <p:nvPr/>
        </p:nvSpPr>
        <p:spPr>
          <a:xfrm>
            <a:off x="7747175" y="573757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Oval 112"/>
          <p:cNvSpPr/>
          <p:nvPr/>
        </p:nvSpPr>
        <p:spPr>
          <a:xfrm>
            <a:off x="7934293" y="5365784"/>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4" name="Oval 113"/>
          <p:cNvSpPr/>
          <p:nvPr/>
        </p:nvSpPr>
        <p:spPr>
          <a:xfrm>
            <a:off x="7909018" y="4946793"/>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5" name="Oval 114"/>
          <p:cNvSpPr/>
          <p:nvPr/>
        </p:nvSpPr>
        <p:spPr>
          <a:xfrm>
            <a:off x="8422540" y="573373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6" name="Oval 115"/>
          <p:cNvSpPr/>
          <p:nvPr/>
        </p:nvSpPr>
        <p:spPr>
          <a:xfrm>
            <a:off x="7216998" y="568111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7" name="Straight Arrow Connector 116"/>
          <p:cNvCxnSpPr>
            <a:stCxn id="118" idx="0"/>
          </p:cNvCxnSpPr>
          <p:nvPr/>
        </p:nvCxnSpPr>
        <p:spPr>
          <a:xfrm flipV="1">
            <a:off x="3560682" y="5905950"/>
            <a:ext cx="751581" cy="84086"/>
          </a:xfrm>
          <a:prstGeom prst="straightConnector1">
            <a:avLst/>
          </a:prstGeom>
          <a:ln w="158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8" name="TextBox 117"/>
          <p:cNvSpPr txBox="1"/>
          <p:nvPr/>
        </p:nvSpPr>
        <p:spPr>
          <a:xfrm>
            <a:off x="3091643" y="5990036"/>
            <a:ext cx="938077" cy="307777"/>
          </a:xfrm>
          <a:prstGeom prst="rect">
            <a:avLst/>
          </a:prstGeom>
          <a:solidFill>
            <a:schemeClr val="accent4">
              <a:lumMod val="40000"/>
              <a:lumOff val="60000"/>
            </a:schemeClr>
          </a:solidFill>
          <a:ln>
            <a:solidFill>
              <a:schemeClr val="accent3">
                <a:lumMod val="60000"/>
                <a:lumOff val="40000"/>
              </a:schemeClr>
            </a:solidFill>
          </a:ln>
        </p:spPr>
        <p:txBody>
          <a:bodyPr wrap="none" rtlCol="0">
            <a:spAutoFit/>
          </a:bodyPr>
          <a:lstStyle/>
          <a:p>
            <a:r>
              <a:rPr lang="en-IN" sz="1400" dirty="0" err="1">
                <a:latin typeface="Arial Narrow" panose="020B0606020202030204" pitchFamily="34" charset="0"/>
              </a:rPr>
              <a:t>Underfitting</a:t>
            </a:r>
            <a:endParaRPr lang="en-IN" sz="1400" dirty="0">
              <a:latin typeface="Arial Narrow" panose="020B0606020202030204" pitchFamily="34" charset="0"/>
            </a:endParaRPr>
          </a:p>
        </p:txBody>
      </p:sp>
      <p:sp>
        <p:nvSpPr>
          <p:cNvPr id="120" name="TextBox 119"/>
          <p:cNvSpPr txBox="1"/>
          <p:nvPr/>
        </p:nvSpPr>
        <p:spPr>
          <a:xfrm>
            <a:off x="6146061" y="5950240"/>
            <a:ext cx="856325" cy="307777"/>
          </a:xfrm>
          <a:prstGeom prst="rect">
            <a:avLst/>
          </a:prstGeom>
          <a:solidFill>
            <a:schemeClr val="accent4">
              <a:lumMod val="40000"/>
              <a:lumOff val="60000"/>
            </a:schemeClr>
          </a:solidFill>
          <a:ln>
            <a:solidFill>
              <a:schemeClr val="accent3">
                <a:lumMod val="60000"/>
                <a:lumOff val="40000"/>
              </a:schemeClr>
            </a:solidFill>
          </a:ln>
        </p:spPr>
        <p:txBody>
          <a:bodyPr wrap="none" rtlCol="0">
            <a:spAutoFit/>
          </a:bodyPr>
          <a:lstStyle/>
          <a:p>
            <a:r>
              <a:rPr lang="en-IN" sz="1400" dirty="0">
                <a:latin typeface="Arial Narrow" panose="020B0606020202030204" pitchFamily="34" charset="0"/>
              </a:rPr>
              <a:t>Overfitting</a:t>
            </a:r>
          </a:p>
        </p:txBody>
      </p:sp>
      <p:cxnSp>
        <p:nvCxnSpPr>
          <p:cNvPr id="121" name="Straight Arrow Connector 120"/>
          <p:cNvCxnSpPr>
            <a:stCxn id="120" idx="0"/>
          </p:cNvCxnSpPr>
          <p:nvPr/>
        </p:nvCxnSpPr>
        <p:spPr>
          <a:xfrm flipV="1">
            <a:off x="6574224" y="5226543"/>
            <a:ext cx="730957" cy="723697"/>
          </a:xfrm>
          <a:prstGeom prst="straightConnector1">
            <a:avLst/>
          </a:prstGeom>
          <a:ln w="158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4" name="Oval 123"/>
          <p:cNvSpPr/>
          <p:nvPr/>
        </p:nvSpPr>
        <p:spPr>
          <a:xfrm>
            <a:off x="8448979" y="534402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5" name="Oval 124"/>
          <p:cNvSpPr/>
          <p:nvPr/>
        </p:nvSpPr>
        <p:spPr>
          <a:xfrm>
            <a:off x="8601379" y="549642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p:cNvSpPr/>
          <p:nvPr/>
        </p:nvSpPr>
        <p:spPr>
          <a:xfrm>
            <a:off x="10583419" y="4470625"/>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p:cNvSpPr/>
          <p:nvPr/>
        </p:nvSpPr>
        <p:spPr>
          <a:xfrm>
            <a:off x="10697125" y="452842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p:cNvSpPr/>
          <p:nvPr/>
        </p:nvSpPr>
        <p:spPr>
          <a:xfrm>
            <a:off x="10587588" y="459524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p:cNvSpPr/>
          <p:nvPr/>
        </p:nvSpPr>
        <p:spPr>
          <a:xfrm>
            <a:off x="10810423" y="4502694"/>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Oval 129"/>
          <p:cNvSpPr/>
          <p:nvPr/>
        </p:nvSpPr>
        <p:spPr>
          <a:xfrm>
            <a:off x="10744489" y="4597098"/>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1" name="Oval 130"/>
          <p:cNvSpPr/>
          <p:nvPr/>
        </p:nvSpPr>
        <p:spPr>
          <a:xfrm>
            <a:off x="10901668" y="4503484"/>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2" name="Oval 131"/>
          <p:cNvSpPr/>
          <p:nvPr/>
        </p:nvSpPr>
        <p:spPr>
          <a:xfrm>
            <a:off x="10920600" y="459524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3" name="Oval 132"/>
          <p:cNvSpPr/>
          <p:nvPr/>
        </p:nvSpPr>
        <p:spPr>
          <a:xfrm>
            <a:off x="11132048" y="453238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4" name="Oval 133"/>
          <p:cNvSpPr/>
          <p:nvPr/>
        </p:nvSpPr>
        <p:spPr>
          <a:xfrm>
            <a:off x="11036056" y="4660363"/>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5" name="Oval 134"/>
          <p:cNvSpPr/>
          <p:nvPr/>
        </p:nvSpPr>
        <p:spPr>
          <a:xfrm>
            <a:off x="10775575" y="436539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6" name="Oval 135"/>
          <p:cNvSpPr/>
          <p:nvPr/>
        </p:nvSpPr>
        <p:spPr>
          <a:xfrm>
            <a:off x="10635868" y="4398797"/>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7" name="Oval 136"/>
          <p:cNvSpPr/>
          <p:nvPr/>
        </p:nvSpPr>
        <p:spPr>
          <a:xfrm>
            <a:off x="11002537" y="4389310"/>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8" name="Oval 137"/>
          <p:cNvSpPr/>
          <p:nvPr/>
        </p:nvSpPr>
        <p:spPr>
          <a:xfrm>
            <a:off x="11038505" y="4523373"/>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9" name="Oval 138"/>
          <p:cNvSpPr/>
          <p:nvPr/>
        </p:nvSpPr>
        <p:spPr>
          <a:xfrm>
            <a:off x="11200237" y="4633179"/>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0" name="Oval 139"/>
          <p:cNvSpPr/>
          <p:nvPr/>
        </p:nvSpPr>
        <p:spPr>
          <a:xfrm>
            <a:off x="11142815" y="4689179"/>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1" name="Oval 140"/>
          <p:cNvSpPr/>
          <p:nvPr/>
        </p:nvSpPr>
        <p:spPr>
          <a:xfrm>
            <a:off x="10899397" y="4341314"/>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2" name="Oval 141"/>
          <p:cNvSpPr/>
          <p:nvPr/>
        </p:nvSpPr>
        <p:spPr>
          <a:xfrm>
            <a:off x="10645592" y="4748342"/>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Oval 142"/>
          <p:cNvSpPr/>
          <p:nvPr/>
        </p:nvSpPr>
        <p:spPr>
          <a:xfrm>
            <a:off x="10818026" y="4789451"/>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4" name="Oval 143"/>
          <p:cNvSpPr/>
          <p:nvPr/>
        </p:nvSpPr>
        <p:spPr>
          <a:xfrm>
            <a:off x="10982773" y="4810525"/>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5" name="Oval 144"/>
          <p:cNvSpPr/>
          <p:nvPr/>
        </p:nvSpPr>
        <p:spPr>
          <a:xfrm>
            <a:off x="11101863" y="4825586"/>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6" name="Oval 145"/>
          <p:cNvSpPr/>
          <p:nvPr/>
        </p:nvSpPr>
        <p:spPr>
          <a:xfrm>
            <a:off x="10885534" y="4870843"/>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7" name="Oval 146"/>
          <p:cNvSpPr/>
          <p:nvPr/>
        </p:nvSpPr>
        <p:spPr>
          <a:xfrm>
            <a:off x="10645591" y="4936296"/>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8" name="Oval 147"/>
          <p:cNvSpPr/>
          <p:nvPr/>
        </p:nvSpPr>
        <p:spPr>
          <a:xfrm>
            <a:off x="10982780" y="4971315"/>
            <a:ext cx="62173" cy="64238"/>
          </a:xfrm>
          <a:prstGeom prst="ellipse">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16663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219" y="153191"/>
            <a:ext cx="10515600" cy="893620"/>
          </a:xfrm>
        </p:spPr>
        <p:txBody>
          <a:bodyPr>
            <a:normAutofit/>
          </a:bodyPr>
          <a:lstStyle/>
          <a:p>
            <a:r>
              <a:rPr lang="en-IN" sz="3600" dirty="0">
                <a:latin typeface="Century" panose="02040604050505020304" pitchFamily="18" charset="0"/>
              </a:rPr>
              <a:t>Bias Variance Trade-off</a:t>
            </a:r>
          </a:p>
        </p:txBody>
      </p:sp>
      <p:sp>
        <p:nvSpPr>
          <p:cNvPr id="3" name="Content Placeholder 2"/>
          <p:cNvSpPr>
            <a:spLocks noGrp="1"/>
          </p:cNvSpPr>
          <p:nvPr>
            <p:ph idx="1"/>
          </p:nvPr>
        </p:nvSpPr>
        <p:spPr>
          <a:xfrm>
            <a:off x="672274" y="1096489"/>
            <a:ext cx="7208605" cy="3935385"/>
          </a:xfrm>
        </p:spPr>
        <p:txBody>
          <a:bodyPr>
            <a:normAutofit fontScale="62500" lnSpcReduction="20000"/>
          </a:bodyPr>
          <a:lstStyle/>
          <a:p>
            <a:pPr marL="0" indent="0" algn="just">
              <a:buNone/>
            </a:pPr>
            <a:r>
              <a:rPr lang="en-US" sz="3400" dirty="0">
                <a:solidFill>
                  <a:srgbClr val="7030A0"/>
                </a:solidFill>
                <a:latin typeface="Arial Narrow" panose="020B0606020202030204" pitchFamily="34" charset="0"/>
              </a:rPr>
              <a:t>Why is there a Bias–Variance Trade-off?</a:t>
            </a:r>
          </a:p>
          <a:p>
            <a:pPr algn="just">
              <a:lnSpc>
                <a:spcPct val="110000"/>
              </a:lnSpc>
              <a:spcBef>
                <a:spcPts val="700"/>
              </a:spcBef>
            </a:pPr>
            <a:r>
              <a:rPr lang="en-US" sz="2900" dirty="0">
                <a:latin typeface="Arial Narrow" panose="020B0606020202030204" pitchFamily="34" charset="0"/>
              </a:rPr>
              <a:t>A model with </a:t>
            </a:r>
            <a:r>
              <a:rPr lang="en-US" sz="2900" dirty="0">
                <a:solidFill>
                  <a:srgbClr val="7030A0"/>
                </a:solidFill>
                <a:latin typeface="Arial Narrow" panose="020B0606020202030204" pitchFamily="34" charset="0"/>
              </a:rPr>
              <a:t>high bias </a:t>
            </a:r>
            <a:r>
              <a:rPr lang="en-US" sz="2900" dirty="0">
                <a:latin typeface="Arial Narrow" panose="020B0606020202030204" pitchFamily="34" charset="0"/>
              </a:rPr>
              <a:t>and </a:t>
            </a:r>
            <a:r>
              <a:rPr lang="en-US" sz="2900" dirty="0">
                <a:solidFill>
                  <a:srgbClr val="7030A0"/>
                </a:solidFill>
                <a:latin typeface="Arial Narrow" panose="020B0606020202030204" pitchFamily="34" charset="0"/>
              </a:rPr>
              <a:t>low variance </a:t>
            </a:r>
            <a:r>
              <a:rPr lang="en-US" sz="2900" dirty="0">
                <a:latin typeface="Arial Narrow" panose="020B0606020202030204" pitchFamily="34" charset="0"/>
              </a:rPr>
              <a:t>is too simple and has fewer parameters (low complexity). Such models fail to capture the underlying patterns in the data, leading to </a:t>
            </a:r>
            <a:r>
              <a:rPr lang="en-US" sz="2900" dirty="0" err="1">
                <a:solidFill>
                  <a:srgbClr val="7030A0"/>
                </a:solidFill>
                <a:latin typeface="Arial Narrow" panose="020B0606020202030204" pitchFamily="34" charset="0"/>
              </a:rPr>
              <a:t>underfitting</a:t>
            </a:r>
            <a:r>
              <a:rPr lang="en-US" sz="2900" dirty="0">
                <a:latin typeface="Arial Narrow" panose="020B0606020202030204" pitchFamily="34" charset="0"/>
              </a:rPr>
              <a:t>. </a:t>
            </a:r>
          </a:p>
          <a:p>
            <a:pPr algn="just">
              <a:lnSpc>
                <a:spcPct val="110000"/>
              </a:lnSpc>
              <a:spcBef>
                <a:spcPts val="700"/>
              </a:spcBef>
            </a:pPr>
            <a:r>
              <a:rPr lang="en-US" sz="2900" dirty="0">
                <a:latin typeface="Arial Narrow" panose="020B0606020202030204" pitchFamily="34" charset="0"/>
              </a:rPr>
              <a:t>A model with </a:t>
            </a:r>
            <a:r>
              <a:rPr lang="en-US" sz="2900" dirty="0">
                <a:solidFill>
                  <a:srgbClr val="7030A0"/>
                </a:solidFill>
                <a:latin typeface="Arial Narrow" panose="020B0606020202030204" pitchFamily="34" charset="0"/>
              </a:rPr>
              <a:t>low bias </a:t>
            </a:r>
            <a:r>
              <a:rPr lang="en-US" sz="2900" dirty="0">
                <a:latin typeface="Arial Narrow" panose="020B0606020202030204" pitchFamily="34" charset="0"/>
              </a:rPr>
              <a:t>and </a:t>
            </a:r>
            <a:r>
              <a:rPr lang="en-US" sz="2900" dirty="0">
                <a:solidFill>
                  <a:srgbClr val="7030A0"/>
                </a:solidFill>
                <a:latin typeface="Arial Narrow" panose="020B0606020202030204" pitchFamily="34" charset="0"/>
              </a:rPr>
              <a:t>high variance </a:t>
            </a:r>
            <a:r>
              <a:rPr lang="en-US" sz="2900" dirty="0">
                <a:latin typeface="Arial Narrow" panose="020B0606020202030204" pitchFamily="34" charset="0"/>
              </a:rPr>
              <a:t>is highly complex and has a large number of parameters. Such models fit the training data too closely, including its noise, leading to </a:t>
            </a:r>
            <a:r>
              <a:rPr lang="en-US" sz="2900" dirty="0">
                <a:solidFill>
                  <a:srgbClr val="7030A0"/>
                </a:solidFill>
                <a:latin typeface="Arial Narrow" panose="020B0606020202030204" pitchFamily="34" charset="0"/>
              </a:rPr>
              <a:t>overfitting</a:t>
            </a:r>
            <a:r>
              <a:rPr lang="en-US" sz="2900" dirty="0">
                <a:latin typeface="Arial Narrow" panose="020B0606020202030204" pitchFamily="34" charset="0"/>
              </a:rPr>
              <a:t> and poor generalization to unseen data. </a:t>
            </a:r>
          </a:p>
          <a:p>
            <a:pPr algn="just">
              <a:lnSpc>
                <a:spcPct val="110000"/>
              </a:lnSpc>
              <a:spcBef>
                <a:spcPts val="700"/>
              </a:spcBef>
            </a:pPr>
            <a:r>
              <a:rPr lang="en-US" sz="2900" dirty="0">
                <a:latin typeface="Arial Narrow" panose="020B0606020202030204" pitchFamily="34" charset="0"/>
              </a:rPr>
              <a:t>As </a:t>
            </a:r>
            <a:r>
              <a:rPr lang="en-US" sz="2900" dirty="0">
                <a:solidFill>
                  <a:srgbClr val="7030A0"/>
                </a:solidFill>
                <a:latin typeface="Arial Narrow" panose="020B0606020202030204" pitchFamily="34" charset="0"/>
              </a:rPr>
              <a:t>model complexity increases, bias decreases </a:t>
            </a:r>
            <a:r>
              <a:rPr lang="en-US" sz="2900" dirty="0">
                <a:latin typeface="Arial Narrow" panose="020B0606020202030204" pitchFamily="34" charset="0"/>
              </a:rPr>
              <a:t>but </a:t>
            </a:r>
            <a:r>
              <a:rPr lang="en-US" sz="2900" dirty="0">
                <a:solidFill>
                  <a:srgbClr val="7030A0"/>
                </a:solidFill>
                <a:latin typeface="Arial Narrow" panose="020B0606020202030204" pitchFamily="34" charset="0"/>
              </a:rPr>
              <a:t>variance increases</a:t>
            </a:r>
            <a:r>
              <a:rPr lang="en-US" sz="2900" dirty="0">
                <a:latin typeface="Arial Narrow" panose="020B0606020202030204" pitchFamily="34" charset="0"/>
              </a:rPr>
              <a:t>. Conversely, reducing model complexity increases bias but decreases variance. </a:t>
            </a:r>
          </a:p>
          <a:p>
            <a:pPr algn="just">
              <a:lnSpc>
                <a:spcPct val="110000"/>
              </a:lnSpc>
              <a:spcBef>
                <a:spcPts val="700"/>
              </a:spcBef>
            </a:pPr>
            <a:r>
              <a:rPr lang="en-US" sz="2900" dirty="0">
                <a:latin typeface="Arial Narrow" panose="020B0606020202030204" pitchFamily="34" charset="0"/>
              </a:rPr>
              <a:t>Therefore, a </a:t>
            </a:r>
            <a:r>
              <a:rPr lang="en-US" sz="2900" dirty="0">
                <a:solidFill>
                  <a:srgbClr val="7030A0"/>
                </a:solidFill>
                <a:latin typeface="Arial Narrow" panose="020B0606020202030204" pitchFamily="34" charset="0"/>
              </a:rPr>
              <a:t>trade-off</a:t>
            </a:r>
            <a:r>
              <a:rPr lang="en-US" sz="2900" dirty="0">
                <a:latin typeface="Arial Narrow" panose="020B0606020202030204" pitchFamily="34" charset="0"/>
              </a:rPr>
              <a:t> exists between bias and variance. The goal is to choose a model that achieves a good balance, with </a:t>
            </a:r>
            <a:r>
              <a:rPr lang="en-US" sz="2900" dirty="0">
                <a:solidFill>
                  <a:srgbClr val="7030A0"/>
                </a:solidFill>
                <a:latin typeface="Arial Narrow" panose="020B0606020202030204" pitchFamily="34" charset="0"/>
              </a:rPr>
              <a:t>low bias and low variance</a:t>
            </a:r>
            <a:r>
              <a:rPr lang="en-US" sz="2900" dirty="0">
                <a:latin typeface="Arial Narrow" panose="020B0606020202030204" pitchFamily="34" charset="0"/>
              </a:rPr>
              <a:t>, so that it generalizes well while avoiding both </a:t>
            </a:r>
            <a:r>
              <a:rPr lang="en-US" sz="2900" dirty="0" err="1">
                <a:solidFill>
                  <a:srgbClr val="7030A0"/>
                </a:solidFill>
                <a:latin typeface="Arial Narrow" panose="020B0606020202030204" pitchFamily="34" charset="0"/>
              </a:rPr>
              <a:t>underfitting</a:t>
            </a:r>
            <a:r>
              <a:rPr lang="en-US" sz="2900" dirty="0">
                <a:latin typeface="Arial Narrow" panose="020B0606020202030204" pitchFamily="34" charset="0"/>
              </a:rPr>
              <a:t> and </a:t>
            </a:r>
            <a:r>
              <a:rPr lang="en-US" sz="2900" dirty="0">
                <a:solidFill>
                  <a:srgbClr val="7030A0"/>
                </a:solidFill>
                <a:latin typeface="Arial Narrow" panose="020B0606020202030204" pitchFamily="34" charset="0"/>
              </a:rPr>
              <a:t>overfitting.</a:t>
            </a:r>
          </a:p>
        </p:txBody>
      </p:sp>
      <p:cxnSp>
        <p:nvCxnSpPr>
          <p:cNvPr id="5" name="Straight Arrow Connector 4"/>
          <p:cNvCxnSpPr/>
          <p:nvPr/>
        </p:nvCxnSpPr>
        <p:spPr>
          <a:xfrm flipH="1" flipV="1">
            <a:off x="8543637" y="2340143"/>
            <a:ext cx="2" cy="228577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8543637" y="4625913"/>
            <a:ext cx="2459182" cy="0"/>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Freeform 14"/>
          <p:cNvSpPr/>
          <p:nvPr/>
        </p:nvSpPr>
        <p:spPr>
          <a:xfrm>
            <a:off x="9077920" y="2772971"/>
            <a:ext cx="1573039" cy="1266605"/>
          </a:xfrm>
          <a:custGeom>
            <a:avLst/>
            <a:gdLst>
              <a:gd name="connsiteX0" fmla="*/ 0 w 1573039"/>
              <a:gd name="connsiteY0" fmla="*/ 16752 h 1266605"/>
              <a:gd name="connsiteX1" fmla="*/ 693420 w 1573039"/>
              <a:gd name="connsiteY1" fmla="*/ 1266432 h 1266605"/>
              <a:gd name="connsiteX2" fmla="*/ 1493520 w 1573039"/>
              <a:gd name="connsiteY2" fmla="*/ 115812 h 1266605"/>
              <a:gd name="connsiteX3" fmla="*/ 1501140 w 1573039"/>
              <a:gd name="connsiteY3" fmla="*/ 100572 h 1266605"/>
            </a:gdLst>
            <a:ahLst/>
            <a:cxnLst>
              <a:cxn ang="0">
                <a:pos x="connsiteX0" y="connsiteY0"/>
              </a:cxn>
              <a:cxn ang="0">
                <a:pos x="connsiteX1" y="connsiteY1"/>
              </a:cxn>
              <a:cxn ang="0">
                <a:pos x="connsiteX2" y="connsiteY2"/>
              </a:cxn>
              <a:cxn ang="0">
                <a:pos x="connsiteX3" y="connsiteY3"/>
              </a:cxn>
            </a:cxnLst>
            <a:rect l="l" t="t" r="r" b="b"/>
            <a:pathLst>
              <a:path w="1573039" h="1266605">
                <a:moveTo>
                  <a:pt x="0" y="16752"/>
                </a:moveTo>
                <a:cubicBezTo>
                  <a:pt x="222250" y="633337"/>
                  <a:pt x="444500" y="1249922"/>
                  <a:pt x="693420" y="1266432"/>
                </a:cubicBezTo>
                <a:cubicBezTo>
                  <a:pt x="942340" y="1282942"/>
                  <a:pt x="1493520" y="115812"/>
                  <a:pt x="1493520" y="115812"/>
                </a:cubicBezTo>
                <a:cubicBezTo>
                  <a:pt x="1628140" y="-78498"/>
                  <a:pt x="1564640" y="11037"/>
                  <a:pt x="1501140" y="100572"/>
                </a:cubicBezTo>
              </a:path>
            </a:pathLst>
          </a:cu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cxnSp>
        <p:nvCxnSpPr>
          <p:cNvPr id="17" name="Straight Connector 16"/>
          <p:cNvCxnSpPr/>
          <p:nvPr/>
        </p:nvCxnSpPr>
        <p:spPr>
          <a:xfrm>
            <a:off x="9520237" y="2400873"/>
            <a:ext cx="0" cy="222504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9773228" y="2400873"/>
            <a:ext cx="0" cy="2225040"/>
          </a:xfrm>
          <a:prstGeom prst="line">
            <a:avLst/>
          </a:prstGeom>
          <a:ln w="15875">
            <a:solidFill>
              <a:schemeClr val="accent2">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9996113" y="2400873"/>
            <a:ext cx="0" cy="2225040"/>
          </a:xfrm>
          <a:prstGeom prst="line">
            <a:avLst/>
          </a:prstGeom>
          <a:ln w="15875">
            <a:solidFill>
              <a:schemeClr val="accent6">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9520237" y="2400872"/>
            <a:ext cx="475876" cy="0"/>
          </a:xfrm>
          <a:prstGeom prst="line">
            <a:avLst/>
          </a:prstGeom>
          <a:ln w="12700">
            <a:solidFill>
              <a:schemeClr val="accent6">
                <a:lumMod val="40000"/>
                <a:lumOff val="60000"/>
                <a:alpha val="98000"/>
              </a:schemeClr>
            </a:solidFill>
            <a:prstDash val="sysDot"/>
          </a:ln>
        </p:spPr>
        <p:style>
          <a:lnRef idx="1">
            <a:schemeClr val="accent1"/>
          </a:lnRef>
          <a:fillRef idx="0">
            <a:schemeClr val="accent1"/>
          </a:fillRef>
          <a:effectRef idx="0">
            <a:schemeClr val="accent1"/>
          </a:effectRef>
          <a:fontRef idx="minor">
            <a:schemeClr val="tx1"/>
          </a:fontRef>
        </p:style>
      </p:cxnSp>
      <p:sp>
        <p:nvSpPr>
          <p:cNvPr id="24" name="Freeform 23"/>
          <p:cNvSpPr/>
          <p:nvPr/>
        </p:nvSpPr>
        <p:spPr>
          <a:xfrm>
            <a:off x="8872538" y="2815439"/>
            <a:ext cx="2048930" cy="1574226"/>
          </a:xfrm>
          <a:custGeom>
            <a:avLst/>
            <a:gdLst>
              <a:gd name="connsiteX0" fmla="*/ 0 w 2048930"/>
              <a:gd name="connsiteY0" fmla="*/ 0 h 1574226"/>
              <a:gd name="connsiteX1" fmla="*/ 333375 w 2048930"/>
              <a:gd name="connsiteY1" fmla="*/ 1400175 h 1574226"/>
              <a:gd name="connsiteX2" fmla="*/ 1895475 w 2048930"/>
              <a:gd name="connsiteY2" fmla="*/ 1552575 h 1574226"/>
              <a:gd name="connsiteX3" fmla="*/ 1905000 w 2048930"/>
              <a:gd name="connsiteY3" fmla="*/ 1552575 h 1574226"/>
            </a:gdLst>
            <a:ahLst/>
            <a:cxnLst>
              <a:cxn ang="0">
                <a:pos x="connsiteX0" y="connsiteY0"/>
              </a:cxn>
              <a:cxn ang="0">
                <a:pos x="connsiteX1" y="connsiteY1"/>
              </a:cxn>
              <a:cxn ang="0">
                <a:pos x="connsiteX2" y="connsiteY2"/>
              </a:cxn>
              <a:cxn ang="0">
                <a:pos x="connsiteX3" y="connsiteY3"/>
              </a:cxn>
            </a:cxnLst>
            <a:rect l="l" t="t" r="r" b="b"/>
            <a:pathLst>
              <a:path w="2048930" h="1574226">
                <a:moveTo>
                  <a:pt x="0" y="0"/>
                </a:moveTo>
                <a:cubicBezTo>
                  <a:pt x="8731" y="570706"/>
                  <a:pt x="17463" y="1141413"/>
                  <a:pt x="333375" y="1400175"/>
                </a:cubicBezTo>
                <a:cubicBezTo>
                  <a:pt x="649287" y="1658937"/>
                  <a:pt x="1895475" y="1552575"/>
                  <a:pt x="1895475" y="1552575"/>
                </a:cubicBezTo>
                <a:cubicBezTo>
                  <a:pt x="2157412" y="1577975"/>
                  <a:pt x="2031206" y="1565275"/>
                  <a:pt x="1905000" y="1552575"/>
                </a:cubicBezTo>
              </a:path>
            </a:pathLst>
          </a:cu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25" name="Freeform 24"/>
          <p:cNvSpPr/>
          <p:nvPr/>
        </p:nvSpPr>
        <p:spPr>
          <a:xfrm>
            <a:off x="8762992" y="2824964"/>
            <a:ext cx="2071295" cy="1545442"/>
          </a:xfrm>
          <a:custGeom>
            <a:avLst/>
            <a:gdLst>
              <a:gd name="connsiteX0" fmla="*/ 2047875 w 2071295"/>
              <a:gd name="connsiteY0" fmla="*/ 0 h 1545442"/>
              <a:gd name="connsiteX1" fmla="*/ 1781175 w 2071295"/>
              <a:gd name="connsiteY1" fmla="*/ 1381125 h 1545442"/>
              <a:gd name="connsiteX2" fmla="*/ 0 w 2071295"/>
              <a:gd name="connsiteY2" fmla="*/ 1466850 h 1545442"/>
            </a:gdLst>
            <a:ahLst/>
            <a:cxnLst>
              <a:cxn ang="0">
                <a:pos x="connsiteX0" y="connsiteY0"/>
              </a:cxn>
              <a:cxn ang="0">
                <a:pos x="connsiteX1" y="connsiteY1"/>
              </a:cxn>
              <a:cxn ang="0">
                <a:pos x="connsiteX2" y="connsiteY2"/>
              </a:cxn>
            </a:cxnLst>
            <a:rect l="l" t="t" r="r" b="b"/>
            <a:pathLst>
              <a:path w="2071295" h="1545442">
                <a:moveTo>
                  <a:pt x="2047875" y="0"/>
                </a:moveTo>
                <a:cubicBezTo>
                  <a:pt x="2085181" y="568325"/>
                  <a:pt x="2122487" y="1136650"/>
                  <a:pt x="1781175" y="1381125"/>
                </a:cubicBezTo>
                <a:cubicBezTo>
                  <a:pt x="1439863" y="1625600"/>
                  <a:pt x="719931" y="1546225"/>
                  <a:pt x="0" y="1466850"/>
                </a:cubicBezTo>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26" name="TextBox 25"/>
          <p:cNvSpPr txBox="1"/>
          <p:nvPr/>
        </p:nvSpPr>
        <p:spPr>
          <a:xfrm>
            <a:off x="9222436" y="4659577"/>
            <a:ext cx="1354858" cy="307777"/>
          </a:xfrm>
          <a:prstGeom prst="rect">
            <a:avLst/>
          </a:prstGeom>
          <a:noFill/>
        </p:spPr>
        <p:txBody>
          <a:bodyPr wrap="none" rtlCol="0">
            <a:spAutoFit/>
          </a:bodyPr>
          <a:lstStyle/>
          <a:p>
            <a:r>
              <a:rPr lang="en-IN" sz="1400" dirty="0">
                <a:latin typeface="Arial Narrow" panose="020B0606020202030204" pitchFamily="34" charset="0"/>
              </a:rPr>
              <a:t>Model Complexity</a:t>
            </a:r>
          </a:p>
        </p:txBody>
      </p:sp>
      <p:sp>
        <p:nvSpPr>
          <p:cNvPr id="27" name="TextBox 26"/>
          <p:cNvSpPr txBox="1"/>
          <p:nvPr/>
        </p:nvSpPr>
        <p:spPr>
          <a:xfrm>
            <a:off x="8215129" y="3203035"/>
            <a:ext cx="400110" cy="420949"/>
          </a:xfrm>
          <a:prstGeom prst="rect">
            <a:avLst/>
          </a:prstGeom>
          <a:noFill/>
        </p:spPr>
        <p:txBody>
          <a:bodyPr vert="vert270" wrap="none" rtlCol="0">
            <a:spAutoFit/>
          </a:bodyPr>
          <a:lstStyle/>
          <a:p>
            <a:r>
              <a:rPr lang="en-IN" sz="1400" dirty="0">
                <a:latin typeface="Arial Narrow" panose="020B0606020202030204" pitchFamily="34" charset="0"/>
              </a:rPr>
              <a:t>Error</a:t>
            </a:r>
          </a:p>
        </p:txBody>
      </p:sp>
      <p:sp>
        <p:nvSpPr>
          <p:cNvPr id="28" name="TextBox 27"/>
          <p:cNvSpPr txBox="1"/>
          <p:nvPr/>
        </p:nvSpPr>
        <p:spPr>
          <a:xfrm>
            <a:off x="9252656" y="2082253"/>
            <a:ext cx="1091966" cy="307777"/>
          </a:xfrm>
          <a:prstGeom prst="rect">
            <a:avLst/>
          </a:prstGeom>
          <a:noFill/>
        </p:spPr>
        <p:txBody>
          <a:bodyPr wrap="none" rtlCol="0">
            <a:spAutoFit/>
          </a:bodyPr>
          <a:lstStyle/>
          <a:p>
            <a:r>
              <a:rPr lang="en-IN" sz="1400" dirty="0">
                <a:latin typeface="Arial Narrow" panose="020B0606020202030204" pitchFamily="34" charset="0"/>
              </a:rPr>
              <a:t>Solution Zone</a:t>
            </a:r>
          </a:p>
        </p:txBody>
      </p:sp>
      <p:sp>
        <p:nvSpPr>
          <p:cNvPr id="29" name="TextBox 28"/>
          <p:cNvSpPr txBox="1"/>
          <p:nvPr/>
        </p:nvSpPr>
        <p:spPr>
          <a:xfrm>
            <a:off x="9505008" y="2405790"/>
            <a:ext cx="400110" cy="1336263"/>
          </a:xfrm>
          <a:prstGeom prst="rect">
            <a:avLst/>
          </a:prstGeom>
          <a:noFill/>
        </p:spPr>
        <p:txBody>
          <a:bodyPr vert="vert270" wrap="none" rtlCol="0">
            <a:spAutoFit/>
          </a:bodyPr>
          <a:lstStyle/>
          <a:p>
            <a:r>
              <a:rPr lang="en-IN" sz="1400" dirty="0">
                <a:latin typeface="Arial Narrow" panose="020B0606020202030204" pitchFamily="34" charset="0"/>
              </a:rPr>
              <a:t>Best Solution Zone</a:t>
            </a:r>
          </a:p>
        </p:txBody>
      </p:sp>
      <mc:AlternateContent xmlns:mc="http://schemas.openxmlformats.org/markup-compatibility/2006">
        <mc:Choice xmlns:a14="http://schemas.microsoft.com/office/drawing/2010/main" Requires="a14">
          <p:sp>
            <p:nvSpPr>
              <p:cNvPr id="30" name="TextBox 29"/>
              <p:cNvSpPr txBox="1"/>
              <p:nvPr/>
            </p:nvSpPr>
            <p:spPr>
              <a:xfrm>
                <a:off x="8631125" y="2543322"/>
                <a:ext cx="59445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IN" sz="1400" i="1" smtClean="0">
                              <a:latin typeface="Cambria Math" panose="02040503050406030204" pitchFamily="18" charset="0"/>
                            </a:rPr>
                          </m:ctrlPr>
                        </m:sSupPr>
                        <m:e>
                          <m:r>
                            <m:rPr>
                              <m:nor/>
                            </m:rPr>
                            <a:rPr lang="en-IN" sz="1400" dirty="0">
                              <a:latin typeface="Arial Narrow" panose="020B0606020202030204" pitchFamily="34" charset="0"/>
                            </a:rPr>
                            <m:t>Bias</m:t>
                          </m:r>
                        </m:e>
                        <m:sup>
                          <m:r>
                            <a:rPr lang="en-IN" sz="1400" b="0" i="1" smtClean="0">
                              <a:latin typeface="Cambria Math" panose="02040503050406030204" pitchFamily="18" charset="0"/>
                            </a:rPr>
                            <m:t>2</m:t>
                          </m:r>
                        </m:sup>
                      </m:sSup>
                    </m:oMath>
                  </m:oMathPara>
                </a14:m>
                <a:endParaRPr lang="en-IN" sz="1400" dirty="0">
                  <a:latin typeface="Arial Narrow" panose="020B0606020202030204" pitchFamily="34" charset="0"/>
                </a:endParaRPr>
              </a:p>
            </p:txBody>
          </p:sp>
        </mc:Choice>
        <mc:Fallback>
          <p:sp>
            <p:nvSpPr>
              <p:cNvPr id="30" name="TextBox 29"/>
              <p:cNvSpPr txBox="1">
                <a:spLocks noRot="1" noChangeAspect="1" noMove="1" noResize="1" noEditPoints="1" noAdjustHandles="1" noChangeArrowheads="1" noChangeShapeType="1" noTextEdit="1"/>
              </p:cNvSpPr>
              <p:nvPr/>
            </p:nvSpPr>
            <p:spPr>
              <a:xfrm>
                <a:off x="8631125" y="2543322"/>
                <a:ext cx="594458" cy="307777"/>
              </a:xfrm>
              <a:prstGeom prst="rect">
                <a:avLst/>
              </a:prstGeom>
              <a:blipFill>
                <a:blip r:embed="rId2"/>
                <a:stretch>
                  <a:fillRect/>
                </a:stretch>
              </a:blipFill>
            </p:spPr>
            <p:txBody>
              <a:bodyPr/>
              <a:lstStyle/>
              <a:p>
                <a:r>
                  <a:rPr lang="en-GB">
                    <a:noFill/>
                  </a:rPr>
                  <a:t> </a:t>
                </a:r>
              </a:p>
            </p:txBody>
          </p:sp>
        </mc:Fallback>
      </mc:AlternateContent>
      <p:sp>
        <p:nvSpPr>
          <p:cNvPr id="32" name="TextBox 31"/>
          <p:cNvSpPr txBox="1"/>
          <p:nvPr/>
        </p:nvSpPr>
        <p:spPr>
          <a:xfrm>
            <a:off x="10765544" y="2671095"/>
            <a:ext cx="754181" cy="307777"/>
          </a:xfrm>
          <a:prstGeom prst="rect">
            <a:avLst/>
          </a:prstGeom>
          <a:noFill/>
        </p:spPr>
        <p:txBody>
          <a:bodyPr wrap="none" rtlCol="0">
            <a:spAutoFit/>
          </a:bodyPr>
          <a:lstStyle/>
          <a:p>
            <a:r>
              <a:rPr lang="en-IN" sz="1400" dirty="0">
                <a:latin typeface="Arial Narrow" panose="020B0606020202030204" pitchFamily="34" charset="0"/>
              </a:rPr>
              <a:t>Variance</a:t>
            </a:r>
          </a:p>
        </p:txBody>
      </p:sp>
      <p:sp>
        <p:nvSpPr>
          <p:cNvPr id="33" name="TextBox 32"/>
          <p:cNvSpPr txBox="1"/>
          <p:nvPr/>
        </p:nvSpPr>
        <p:spPr>
          <a:xfrm rot="17973371">
            <a:off x="9779481" y="3018032"/>
            <a:ext cx="865686" cy="307777"/>
          </a:xfrm>
          <a:prstGeom prst="rect">
            <a:avLst/>
          </a:prstGeom>
          <a:noFill/>
        </p:spPr>
        <p:txBody>
          <a:bodyPr wrap="none" rtlCol="0">
            <a:spAutoFit/>
          </a:bodyPr>
          <a:lstStyle/>
          <a:p>
            <a:r>
              <a:rPr lang="en-IN" sz="1400" dirty="0">
                <a:latin typeface="Arial Narrow" panose="020B0606020202030204" pitchFamily="34" charset="0"/>
              </a:rPr>
              <a:t>Total Error</a:t>
            </a:r>
          </a:p>
        </p:txBody>
      </p:sp>
      <p:sp>
        <p:nvSpPr>
          <p:cNvPr id="34" name="Rounded Rectangle 33"/>
          <p:cNvSpPr/>
          <p:nvPr/>
        </p:nvSpPr>
        <p:spPr>
          <a:xfrm>
            <a:off x="8086725" y="1943903"/>
            <a:ext cx="3657600" cy="3457575"/>
          </a:xfrm>
          <a:prstGeom prst="roundRect">
            <a:avLst/>
          </a:prstGeom>
          <a:no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p>
        </p:txBody>
      </p:sp>
      <p:sp>
        <p:nvSpPr>
          <p:cNvPr id="35" name="Rectangle 34"/>
          <p:cNvSpPr/>
          <p:nvPr/>
        </p:nvSpPr>
        <p:spPr>
          <a:xfrm>
            <a:off x="672274" y="6072630"/>
            <a:ext cx="7356149" cy="369332"/>
          </a:xfrm>
          <a:prstGeom prst="rect">
            <a:avLst/>
          </a:prstGeom>
        </p:spPr>
        <p:txBody>
          <a:bodyPr wrap="square">
            <a:spAutoFit/>
          </a:bodyPr>
          <a:lstStyle/>
          <a:p>
            <a:pPr marL="342900" indent="-342900" algn="ctr">
              <a:buFont typeface="Arial" panose="020B0604020202020204" pitchFamily="34" charset="0"/>
              <a:buChar char="•"/>
            </a:pPr>
            <a:r>
              <a:rPr lang="en-US" dirty="0">
                <a:solidFill>
                  <a:srgbClr val="7030A0"/>
                </a:solidFill>
                <a:latin typeface="Arial Narrow" panose="020B0606020202030204" pitchFamily="34" charset="0"/>
                <a:cs typeface="Times New Roman" panose="02020603050405020304" pitchFamily="18" charset="0"/>
              </a:rPr>
              <a:t>An optimal balance of bias and variance would never </a:t>
            </a:r>
            <a:r>
              <a:rPr lang="en-US" dirty="0" err="1">
                <a:solidFill>
                  <a:srgbClr val="FF0000"/>
                </a:solidFill>
                <a:latin typeface="Arial Narrow" panose="020B0606020202030204" pitchFamily="34" charset="0"/>
                <a:cs typeface="Times New Roman" panose="02020603050405020304" pitchFamily="18" charset="0"/>
              </a:rPr>
              <a:t>overfit</a:t>
            </a:r>
            <a:r>
              <a:rPr lang="en-US" dirty="0">
                <a:solidFill>
                  <a:srgbClr val="FF0000"/>
                </a:solidFill>
                <a:latin typeface="Arial Narrow" panose="020B0606020202030204" pitchFamily="34" charset="0"/>
                <a:cs typeface="Times New Roman" panose="02020603050405020304" pitchFamily="18" charset="0"/>
              </a:rPr>
              <a:t> </a:t>
            </a:r>
            <a:r>
              <a:rPr lang="en-US" dirty="0">
                <a:solidFill>
                  <a:srgbClr val="7030A0"/>
                </a:solidFill>
                <a:latin typeface="Arial Narrow" panose="020B0606020202030204" pitchFamily="34" charset="0"/>
                <a:cs typeface="Times New Roman" panose="02020603050405020304" pitchFamily="18" charset="0"/>
              </a:rPr>
              <a:t>or</a:t>
            </a:r>
            <a:r>
              <a:rPr lang="en-US" dirty="0">
                <a:solidFill>
                  <a:srgbClr val="FF0000"/>
                </a:solidFill>
                <a:latin typeface="Arial Narrow" panose="020B0606020202030204" pitchFamily="34" charset="0"/>
                <a:cs typeface="Times New Roman" panose="02020603050405020304" pitchFamily="18" charset="0"/>
              </a:rPr>
              <a:t> </a:t>
            </a:r>
            <a:r>
              <a:rPr lang="en-US" dirty="0" err="1">
                <a:solidFill>
                  <a:srgbClr val="FF0000"/>
                </a:solidFill>
                <a:latin typeface="Arial Narrow" panose="020B0606020202030204" pitchFamily="34" charset="0"/>
                <a:cs typeface="Times New Roman" panose="02020603050405020304" pitchFamily="18" charset="0"/>
              </a:rPr>
              <a:t>underfit</a:t>
            </a:r>
            <a:r>
              <a:rPr lang="en-US" dirty="0">
                <a:solidFill>
                  <a:srgbClr val="FF0000"/>
                </a:solidFill>
                <a:latin typeface="Arial Narrow" panose="020B0606020202030204" pitchFamily="34" charset="0"/>
                <a:cs typeface="Times New Roman" panose="02020603050405020304" pitchFamily="18" charset="0"/>
              </a:rPr>
              <a:t> </a:t>
            </a:r>
            <a:r>
              <a:rPr lang="en-US" dirty="0">
                <a:solidFill>
                  <a:srgbClr val="7030A0"/>
                </a:solidFill>
                <a:latin typeface="Arial Narrow" panose="020B0606020202030204" pitchFamily="34" charset="0"/>
                <a:cs typeface="Times New Roman" panose="02020603050405020304" pitchFamily="18" charset="0"/>
              </a:rPr>
              <a:t>the model</a:t>
            </a:r>
          </a:p>
        </p:txBody>
      </p:sp>
      <p:sp>
        <p:nvSpPr>
          <p:cNvPr id="36" name="Rectangle 35"/>
          <p:cNvSpPr/>
          <p:nvPr/>
        </p:nvSpPr>
        <p:spPr>
          <a:xfrm>
            <a:off x="606590" y="4893475"/>
            <a:ext cx="7274289" cy="646331"/>
          </a:xfrm>
          <a:prstGeom prst="rect">
            <a:avLst/>
          </a:prstGeom>
        </p:spPr>
        <p:txBody>
          <a:bodyPr wrap="square">
            <a:spAutoFit/>
          </a:bodyPr>
          <a:lstStyle/>
          <a:p>
            <a:pPr marL="285750" indent="-285750">
              <a:buFont typeface="Arial" panose="020B0604020202020204" pitchFamily="34" charset="0"/>
              <a:buChar char="•"/>
            </a:pPr>
            <a:r>
              <a:rPr lang="en-US" dirty="0">
                <a:latin typeface="Arial Narrow" panose="020B0606020202030204" pitchFamily="34" charset="0"/>
                <a:cs typeface="Times New Roman" panose="02020603050405020304" pitchFamily="18" charset="0"/>
              </a:rPr>
              <a:t>To build a good model, we need to find a good balance between bias and variance such that it minimizes the total error.</a:t>
            </a: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24B95987-6253-418D-9596-566D8127A198}"/>
                  </a:ext>
                </a:extLst>
              </p:cNvPr>
              <p:cNvSpPr txBox="1"/>
              <p:nvPr/>
            </p:nvSpPr>
            <p:spPr>
              <a:xfrm>
                <a:off x="2624325" y="5672019"/>
                <a:ext cx="613866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000" b="0" i="1" smtClean="0">
                          <a:solidFill>
                            <a:schemeClr val="bg2">
                              <a:lumMod val="10000"/>
                            </a:schemeClr>
                          </a:solidFill>
                          <a:latin typeface="Cambria Math" panose="02040503050406030204" pitchFamily="18" charset="0"/>
                        </a:rPr>
                        <m:t>𝑇𝑜𝑡𝑎𝑙</m:t>
                      </m:r>
                      <m:r>
                        <a:rPr lang="en-IN" sz="2000" b="0" i="1" smtClean="0">
                          <a:solidFill>
                            <a:schemeClr val="bg2">
                              <a:lumMod val="10000"/>
                            </a:schemeClr>
                          </a:solidFill>
                          <a:latin typeface="Cambria Math" panose="02040503050406030204" pitchFamily="18" charset="0"/>
                        </a:rPr>
                        <m:t> </m:t>
                      </m:r>
                      <m:r>
                        <a:rPr lang="en-IN" sz="2000" b="0" i="1" smtClean="0">
                          <a:solidFill>
                            <a:schemeClr val="bg2">
                              <a:lumMod val="10000"/>
                            </a:schemeClr>
                          </a:solidFill>
                          <a:latin typeface="Cambria Math" panose="02040503050406030204" pitchFamily="18" charset="0"/>
                        </a:rPr>
                        <m:t>𝐸𝑟𝑟𝑜𝑟</m:t>
                      </m:r>
                      <m:r>
                        <a:rPr lang="en-IN" sz="2000" b="0" i="1" smtClean="0">
                          <a:solidFill>
                            <a:schemeClr val="bg2">
                              <a:lumMod val="10000"/>
                            </a:schemeClr>
                          </a:solidFill>
                          <a:latin typeface="Cambria Math" panose="02040503050406030204" pitchFamily="18" charset="0"/>
                        </a:rPr>
                        <m:t>= </m:t>
                      </m:r>
                      <m:sSup>
                        <m:sSupPr>
                          <m:ctrlPr>
                            <a:rPr lang="en-IN" sz="2000" b="0" i="1" smtClean="0">
                              <a:solidFill>
                                <a:schemeClr val="bg2">
                                  <a:lumMod val="10000"/>
                                </a:schemeClr>
                              </a:solidFill>
                              <a:latin typeface="Cambria Math" panose="02040503050406030204" pitchFamily="18" charset="0"/>
                            </a:rPr>
                          </m:ctrlPr>
                        </m:sSupPr>
                        <m:e>
                          <m:r>
                            <a:rPr lang="en-IN" sz="2000" b="0" i="1" smtClean="0">
                              <a:solidFill>
                                <a:schemeClr val="bg2">
                                  <a:lumMod val="10000"/>
                                </a:schemeClr>
                              </a:solidFill>
                              <a:latin typeface="Cambria Math" panose="02040503050406030204" pitchFamily="18" charset="0"/>
                            </a:rPr>
                            <m:t>𝐵𝑖𝑎𝑠</m:t>
                          </m:r>
                        </m:e>
                        <m:sup>
                          <m:r>
                            <a:rPr lang="en-IN" sz="2000" b="0" i="1" smtClean="0">
                              <a:solidFill>
                                <a:schemeClr val="bg2">
                                  <a:lumMod val="10000"/>
                                </a:schemeClr>
                              </a:solidFill>
                              <a:latin typeface="Cambria Math" panose="02040503050406030204" pitchFamily="18" charset="0"/>
                            </a:rPr>
                            <m:t>2</m:t>
                          </m:r>
                        </m:sup>
                      </m:sSup>
                      <m:r>
                        <a:rPr lang="en-IN" sz="2000" b="0" i="1" smtClean="0">
                          <a:solidFill>
                            <a:schemeClr val="bg2">
                              <a:lumMod val="10000"/>
                            </a:schemeClr>
                          </a:solidFill>
                          <a:latin typeface="Cambria Math" panose="02040503050406030204" pitchFamily="18" charset="0"/>
                        </a:rPr>
                        <m:t>+</m:t>
                      </m:r>
                      <m:r>
                        <a:rPr lang="en-IN" sz="2000" b="0" i="1" smtClean="0">
                          <a:solidFill>
                            <a:schemeClr val="bg2">
                              <a:lumMod val="10000"/>
                            </a:schemeClr>
                          </a:solidFill>
                          <a:latin typeface="Cambria Math" panose="02040503050406030204" pitchFamily="18" charset="0"/>
                        </a:rPr>
                        <m:t>𝑉𝑎𝑟𝑖𝑎𝑛𝑐𝑒</m:t>
                      </m:r>
                      <m:r>
                        <a:rPr lang="en-IN" sz="2000" b="0" i="1" smtClean="0">
                          <a:solidFill>
                            <a:schemeClr val="bg2">
                              <a:lumMod val="10000"/>
                            </a:schemeClr>
                          </a:solidFill>
                          <a:latin typeface="Cambria Math" panose="02040503050406030204" pitchFamily="18" charset="0"/>
                        </a:rPr>
                        <m:t>+</m:t>
                      </m:r>
                      <m:r>
                        <a:rPr lang="en-IN" sz="2000" b="0" i="1" smtClean="0">
                          <a:solidFill>
                            <a:schemeClr val="bg2">
                              <a:lumMod val="10000"/>
                            </a:schemeClr>
                          </a:solidFill>
                          <a:latin typeface="Cambria Math" panose="02040503050406030204" pitchFamily="18" charset="0"/>
                        </a:rPr>
                        <m:t>𝐼𝑟𝑟𝑒𝑑𝑢𝑐𝑖𝑏𝑙𝑒</m:t>
                      </m:r>
                      <m:r>
                        <a:rPr lang="en-IN" sz="2000" b="0" i="1" smtClean="0">
                          <a:solidFill>
                            <a:schemeClr val="bg2">
                              <a:lumMod val="10000"/>
                            </a:schemeClr>
                          </a:solidFill>
                          <a:latin typeface="Cambria Math" panose="02040503050406030204" pitchFamily="18" charset="0"/>
                        </a:rPr>
                        <m:t> </m:t>
                      </m:r>
                      <m:r>
                        <a:rPr lang="en-IN" sz="2000" b="0" i="1" smtClean="0">
                          <a:solidFill>
                            <a:schemeClr val="bg2">
                              <a:lumMod val="10000"/>
                            </a:schemeClr>
                          </a:solidFill>
                          <a:latin typeface="Cambria Math" panose="02040503050406030204" pitchFamily="18" charset="0"/>
                        </a:rPr>
                        <m:t>𝐸𝑟𝑟𝑜𝑟</m:t>
                      </m:r>
                    </m:oMath>
                  </m:oMathPara>
                </a14:m>
                <a:endParaRPr lang="en-IN" sz="2000" dirty="0">
                  <a:solidFill>
                    <a:schemeClr val="bg2">
                      <a:lumMod val="10000"/>
                    </a:schemeClr>
                  </a:solidFill>
                </a:endParaRPr>
              </a:p>
            </p:txBody>
          </p:sp>
        </mc:Choice>
        <mc:Fallback>
          <p:sp>
            <p:nvSpPr>
              <p:cNvPr id="37" name="TextBox 36">
                <a:extLst>
                  <a:ext uri="{FF2B5EF4-FFF2-40B4-BE49-F238E27FC236}">
                    <a16:creationId xmlns:a16="http://schemas.microsoft.com/office/drawing/2014/main" id="{24B95987-6253-418D-9596-566D8127A198}"/>
                  </a:ext>
                </a:extLst>
              </p:cNvPr>
              <p:cNvSpPr txBox="1">
                <a:spLocks noRot="1" noChangeAspect="1" noMove="1" noResize="1" noEditPoints="1" noAdjustHandles="1" noChangeArrowheads="1" noChangeShapeType="1" noTextEdit="1"/>
              </p:cNvSpPr>
              <p:nvPr/>
            </p:nvSpPr>
            <p:spPr>
              <a:xfrm>
                <a:off x="2624325" y="5672019"/>
                <a:ext cx="6138667" cy="307777"/>
              </a:xfrm>
              <a:prstGeom prst="rect">
                <a:avLst/>
              </a:prstGeom>
              <a:blipFill>
                <a:blip r:embed="rId3"/>
                <a:stretch>
                  <a:fillRect l="-497" t="-1961" r="-497" b="-5882"/>
                </a:stretch>
              </a:blipFill>
            </p:spPr>
            <p:txBody>
              <a:bodyPr/>
              <a:lstStyle/>
              <a:p>
                <a:r>
                  <a:rPr lang="en-GB">
                    <a:noFill/>
                  </a:rPr>
                  <a:t> </a:t>
                </a:r>
              </a:p>
            </p:txBody>
          </p:sp>
        </mc:Fallback>
      </mc:AlternateContent>
    </p:spTree>
    <p:extLst>
      <p:ext uri="{BB962C8B-B14F-4D97-AF65-F5344CB8AC3E}">
        <p14:creationId xmlns:p14="http://schemas.microsoft.com/office/powerpoint/2010/main" val="863780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997DE-AB9A-D76B-117D-C7E0240188BC}"/>
              </a:ext>
            </a:extLst>
          </p:cNvPr>
          <p:cNvSpPr>
            <a:spLocks noGrp="1"/>
          </p:cNvSpPr>
          <p:nvPr>
            <p:ph type="title"/>
          </p:nvPr>
        </p:nvSpPr>
        <p:spPr>
          <a:xfrm>
            <a:off x="737118" y="421109"/>
            <a:ext cx="7911582" cy="938080"/>
          </a:xfrm>
        </p:spPr>
        <p:txBody>
          <a:bodyPr vert="horz" lIns="91440" tIns="45720" rIns="91440" bIns="45720" rtlCol="0" anchor="ctr">
            <a:noAutofit/>
          </a:bodyPr>
          <a:lstStyle/>
          <a:p>
            <a:r>
              <a:rPr lang="en-US" sz="3600" dirty="0">
                <a:solidFill>
                  <a:schemeClr val="tx1">
                    <a:lumMod val="95000"/>
                    <a:lumOff val="5000"/>
                  </a:schemeClr>
                </a:solidFill>
                <a:latin typeface="Century" panose="02040604050505020304" pitchFamily="18" charset="0"/>
                <a:cs typeface="Times New Roman" panose="02020603050405020304" pitchFamily="18" charset="0"/>
              </a:rPr>
              <a:t>Solution for Overfitting</a:t>
            </a:r>
            <a:endParaRPr lang="en-IN" sz="3600" dirty="0">
              <a:solidFill>
                <a:schemeClr val="tx1">
                  <a:lumMod val="95000"/>
                  <a:lumOff val="5000"/>
                </a:schemeClr>
              </a:solidFill>
              <a:latin typeface="Century" panose="020406040505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FD54483-3FCF-0028-C212-F8E1A7FE8965}"/>
              </a:ext>
            </a:extLst>
          </p:cNvPr>
          <p:cNvSpPr txBox="1"/>
          <p:nvPr/>
        </p:nvSpPr>
        <p:spPr>
          <a:xfrm>
            <a:off x="1102179" y="1359189"/>
            <a:ext cx="6916316" cy="3046988"/>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IN" sz="3200" dirty="0">
                <a:latin typeface="Arial Narrow" panose="020B0606020202030204" pitchFamily="34" charset="0"/>
                <a:cs typeface="Times New Roman" panose="02020603050405020304" pitchFamily="18" charset="0"/>
              </a:rPr>
              <a:t>K- fold Cross Validation</a:t>
            </a:r>
          </a:p>
          <a:p>
            <a:pPr marL="342900" indent="-342900">
              <a:lnSpc>
                <a:spcPct val="200000"/>
              </a:lnSpc>
              <a:buFont typeface="Arial" panose="020B0604020202020204" pitchFamily="34" charset="0"/>
              <a:buChar char="•"/>
            </a:pPr>
            <a:r>
              <a:rPr lang="en-IN" sz="3200" dirty="0">
                <a:latin typeface="Arial Narrow" panose="020B0606020202030204" pitchFamily="34" charset="0"/>
                <a:cs typeface="Times New Roman" panose="02020603050405020304" pitchFamily="18" charset="0"/>
              </a:rPr>
              <a:t>Regularization</a:t>
            </a:r>
          </a:p>
          <a:p>
            <a:pPr marL="342900" indent="-342900">
              <a:lnSpc>
                <a:spcPct val="200000"/>
              </a:lnSpc>
              <a:buFont typeface="Arial" panose="020B0604020202020204" pitchFamily="34" charset="0"/>
              <a:buChar char="•"/>
            </a:pPr>
            <a:r>
              <a:rPr lang="en-IN" sz="3200" dirty="0">
                <a:latin typeface="Arial Narrow" panose="020B0606020202030204" pitchFamily="34" charset="0"/>
                <a:cs typeface="Times New Roman" panose="02020603050405020304" pitchFamily="18" charset="0"/>
              </a:rPr>
              <a:t>Early stopping</a:t>
            </a:r>
          </a:p>
        </p:txBody>
      </p:sp>
    </p:spTree>
    <p:extLst>
      <p:ext uri="{BB962C8B-B14F-4D97-AF65-F5344CB8AC3E}">
        <p14:creationId xmlns:p14="http://schemas.microsoft.com/office/powerpoint/2010/main" val="126381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025" y="55372"/>
            <a:ext cx="10515600" cy="1073150"/>
          </a:xfrm>
        </p:spPr>
        <p:txBody>
          <a:bodyPr>
            <a:normAutofit/>
          </a:bodyPr>
          <a:lstStyle/>
          <a:p>
            <a:r>
              <a:rPr lang="en-IN" sz="3600" dirty="0">
                <a:latin typeface="Century" panose="02040604050505020304" pitchFamily="18" charset="0"/>
              </a:rPr>
              <a:t>K-fold Cross Validation</a:t>
            </a:r>
          </a:p>
        </p:txBody>
      </p:sp>
      <p:sp>
        <p:nvSpPr>
          <p:cNvPr id="3" name="Content Placeholder 2"/>
          <p:cNvSpPr>
            <a:spLocks noGrp="1"/>
          </p:cNvSpPr>
          <p:nvPr>
            <p:ph idx="1"/>
          </p:nvPr>
        </p:nvSpPr>
        <p:spPr>
          <a:xfrm>
            <a:off x="675986" y="1128522"/>
            <a:ext cx="6083300" cy="2641600"/>
          </a:xfrm>
        </p:spPr>
        <p:txBody>
          <a:bodyPr>
            <a:normAutofit fontScale="85000" lnSpcReduction="20000"/>
          </a:bodyPr>
          <a:lstStyle/>
          <a:p>
            <a:pPr algn="just" eaLnBrk="0" fontAlgn="base" hangingPunct="0">
              <a:lnSpc>
                <a:spcPct val="100000"/>
              </a:lnSpc>
              <a:spcBef>
                <a:spcPct val="0"/>
              </a:spcBef>
              <a:spcAft>
                <a:spcPct val="0"/>
              </a:spcAft>
            </a:pPr>
            <a:r>
              <a:rPr lang="en-US" altLang="en-US" dirty="0">
                <a:solidFill>
                  <a:srgbClr val="7030A0"/>
                </a:solidFill>
                <a:latin typeface="Arial Narrow" panose="020B0606020202030204" pitchFamily="34" charset="0"/>
              </a:rPr>
              <a:t>K-Fold Cross-Validation </a:t>
            </a:r>
            <a:r>
              <a:rPr lang="en-US" altLang="en-US" dirty="0">
                <a:latin typeface="Arial Narrow" panose="020B0606020202030204" pitchFamily="34" charset="0"/>
              </a:rPr>
              <a:t>is a technique used to evaluate a model's ability to </a:t>
            </a:r>
            <a:r>
              <a:rPr lang="en-US" altLang="en-US" dirty="0">
                <a:solidFill>
                  <a:srgbClr val="7030A0"/>
                </a:solidFill>
                <a:latin typeface="Arial Narrow" panose="020B0606020202030204" pitchFamily="34" charset="0"/>
              </a:rPr>
              <a:t>generalize to unseen data </a:t>
            </a:r>
            <a:r>
              <a:rPr lang="en-US" altLang="en-US" dirty="0">
                <a:latin typeface="Arial Narrow" panose="020B0606020202030204" pitchFamily="34" charset="0"/>
              </a:rPr>
              <a:t>and reduce the risk of </a:t>
            </a:r>
            <a:r>
              <a:rPr lang="en-US" altLang="en-US" dirty="0">
                <a:solidFill>
                  <a:srgbClr val="7030A0"/>
                </a:solidFill>
                <a:latin typeface="Arial Narrow" panose="020B0606020202030204" pitchFamily="34" charset="0"/>
              </a:rPr>
              <a:t>overfitting. </a:t>
            </a:r>
          </a:p>
          <a:p>
            <a:pPr algn="just" eaLnBrk="0" fontAlgn="base" hangingPunct="0">
              <a:lnSpc>
                <a:spcPct val="100000"/>
              </a:lnSpc>
              <a:spcBef>
                <a:spcPct val="0"/>
              </a:spcBef>
              <a:spcAft>
                <a:spcPct val="0"/>
              </a:spcAft>
            </a:pPr>
            <a:endParaRPr lang="en-US" altLang="en-US" dirty="0">
              <a:latin typeface="Arial Narrow" panose="020B0606020202030204" pitchFamily="34" charset="0"/>
            </a:endParaRPr>
          </a:p>
          <a:p>
            <a:pPr algn="just" eaLnBrk="0" fontAlgn="base" hangingPunct="0">
              <a:lnSpc>
                <a:spcPct val="100000"/>
              </a:lnSpc>
              <a:spcBef>
                <a:spcPct val="0"/>
              </a:spcBef>
              <a:spcAft>
                <a:spcPct val="0"/>
              </a:spcAft>
            </a:pPr>
            <a:r>
              <a:rPr lang="en-US" altLang="en-US" dirty="0">
                <a:latin typeface="Arial Narrow" panose="020B0606020202030204" pitchFamily="34" charset="0"/>
              </a:rPr>
              <a:t>Instead of training and testing the model only once, the dataset is divided into </a:t>
            </a:r>
            <a:r>
              <a:rPr lang="en-US" altLang="en-US" dirty="0">
                <a:solidFill>
                  <a:srgbClr val="7030A0"/>
                </a:solidFill>
                <a:latin typeface="Arial Narrow" panose="020B0606020202030204" pitchFamily="34" charset="0"/>
              </a:rPr>
              <a:t>K equal folds</a:t>
            </a:r>
            <a:r>
              <a:rPr lang="en-US" altLang="en-US" dirty="0">
                <a:latin typeface="Arial Narrow" panose="020B0606020202030204" pitchFamily="34" charset="0"/>
              </a:rPr>
              <a:t>, and the model is </a:t>
            </a:r>
            <a:r>
              <a:rPr lang="en-US" altLang="en-US" dirty="0">
                <a:solidFill>
                  <a:srgbClr val="7030A0"/>
                </a:solidFill>
                <a:latin typeface="Arial Narrow" panose="020B0606020202030204" pitchFamily="34" charset="0"/>
              </a:rPr>
              <a:t>trained and tested K times</a:t>
            </a:r>
            <a:r>
              <a:rPr lang="en-US" altLang="en-US" dirty="0">
                <a:latin typeface="Arial Narrow" panose="020B0606020202030204" pitchFamily="34" charset="0"/>
              </a:rPr>
              <a:t>, using a different fold as the test set in each iteration. </a:t>
            </a:r>
          </a:p>
        </p:txBody>
      </p:sp>
      <p:graphicFrame>
        <p:nvGraphicFramePr>
          <p:cNvPr id="11" name="Table 10"/>
          <p:cNvGraphicFramePr>
            <a:graphicFrameLocks noGrp="1"/>
          </p:cNvGraphicFramePr>
          <p:nvPr>
            <p:extLst>
              <p:ext uri="{D42A27DB-BD31-4B8C-83A1-F6EECF244321}">
                <p14:modId xmlns:p14="http://schemas.microsoft.com/office/powerpoint/2010/main" val="1807236131"/>
              </p:ext>
            </p:extLst>
          </p:nvPr>
        </p:nvGraphicFramePr>
        <p:xfrm>
          <a:off x="971550" y="4227778"/>
          <a:ext cx="4781550" cy="946586"/>
        </p:xfrm>
        <a:graphic>
          <a:graphicData uri="http://schemas.openxmlformats.org/drawingml/2006/table">
            <a:tbl>
              <a:tblPr firstRow="1" bandRow="1">
                <a:tableStyleId>{5C22544A-7EE6-4342-B048-85BDC9FD1C3A}</a:tableStyleId>
              </a:tblPr>
              <a:tblGrid>
                <a:gridCol w="1593850">
                  <a:extLst>
                    <a:ext uri="{9D8B030D-6E8A-4147-A177-3AD203B41FA5}">
                      <a16:colId xmlns:a16="http://schemas.microsoft.com/office/drawing/2014/main" val="1016850773"/>
                    </a:ext>
                  </a:extLst>
                </a:gridCol>
                <a:gridCol w="1593850">
                  <a:extLst>
                    <a:ext uri="{9D8B030D-6E8A-4147-A177-3AD203B41FA5}">
                      <a16:colId xmlns:a16="http://schemas.microsoft.com/office/drawing/2014/main" val="1662656800"/>
                    </a:ext>
                  </a:extLst>
                </a:gridCol>
                <a:gridCol w="1593850">
                  <a:extLst>
                    <a:ext uri="{9D8B030D-6E8A-4147-A177-3AD203B41FA5}">
                      <a16:colId xmlns:a16="http://schemas.microsoft.com/office/drawing/2014/main" val="1068441245"/>
                    </a:ext>
                  </a:extLst>
                </a:gridCol>
              </a:tblGrid>
              <a:tr h="331900">
                <a:tc gridSpan="2">
                  <a:txBody>
                    <a:bodyPr/>
                    <a:lstStyle/>
                    <a:p>
                      <a:pPr algn="ctr"/>
                      <a:r>
                        <a:rPr lang="en-IN" b="1" dirty="0">
                          <a:latin typeface="Arial Narrow" panose="020B0606020202030204" pitchFamily="34" charset="0"/>
                        </a:rPr>
                        <a:t>Training Set</a:t>
                      </a:r>
                    </a:p>
                  </a:txBody>
                  <a:tcPr/>
                </a:tc>
                <a:tc hMerge="1">
                  <a:txBody>
                    <a:bodyPr/>
                    <a:lstStyle/>
                    <a:p>
                      <a:endParaRPr lang="en-IN" dirty="0"/>
                    </a:p>
                  </a:txBody>
                  <a:tcPr/>
                </a:tc>
                <a:tc>
                  <a:txBody>
                    <a:bodyPr/>
                    <a:lstStyle/>
                    <a:p>
                      <a:pPr algn="ctr"/>
                      <a:r>
                        <a:rPr lang="en-IN" dirty="0">
                          <a:latin typeface="Arial Narrow" panose="020B0606020202030204" pitchFamily="34" charset="0"/>
                        </a:rPr>
                        <a:t>Test Set </a:t>
                      </a:r>
                    </a:p>
                  </a:txBody>
                  <a:tcPr/>
                </a:tc>
                <a:extLst>
                  <a:ext uri="{0D108BD9-81ED-4DB2-BD59-A6C34878D82A}">
                    <a16:rowId xmlns:a16="http://schemas.microsoft.com/office/drawing/2014/main" val="2633802163"/>
                  </a:ext>
                </a:extLst>
              </a:tr>
              <a:tr h="580826">
                <a:tc>
                  <a:txBody>
                    <a:bodyPr/>
                    <a:lstStyle/>
                    <a:p>
                      <a:pPr algn="ctr"/>
                      <a:r>
                        <a:rPr lang="en-IN" dirty="0">
                          <a:latin typeface="Arial Narrow" panose="020B0606020202030204" pitchFamily="34" charset="0"/>
                        </a:rPr>
                        <a:t>Training Set(S)</a:t>
                      </a:r>
                    </a:p>
                  </a:txBody>
                  <a:tcPr/>
                </a:tc>
                <a:tc>
                  <a:txBody>
                    <a:bodyPr/>
                    <a:lstStyle/>
                    <a:p>
                      <a:pPr algn="ctr"/>
                      <a:r>
                        <a:rPr lang="en-IN" dirty="0">
                          <a:latin typeface="Arial Narrow" panose="020B0606020202030204" pitchFamily="34" charset="0"/>
                        </a:rPr>
                        <a:t>Validation</a:t>
                      </a:r>
                      <a:r>
                        <a:rPr lang="en-IN" baseline="0" dirty="0">
                          <a:latin typeface="Arial Narrow" panose="020B0606020202030204" pitchFamily="34" charset="0"/>
                        </a:rPr>
                        <a:t> Set</a:t>
                      </a:r>
                      <a:endParaRPr lang="en-IN" dirty="0">
                        <a:latin typeface="Arial Narrow" panose="020B0606020202030204" pitchFamily="34" charset="0"/>
                      </a:endParaRPr>
                    </a:p>
                  </a:txBody>
                  <a:tcPr/>
                </a:tc>
                <a:tc>
                  <a:txBody>
                    <a:bodyPr/>
                    <a:lstStyle/>
                    <a:p>
                      <a:pPr algn="ctr"/>
                      <a:r>
                        <a:rPr lang="en-IN" dirty="0">
                          <a:solidFill>
                            <a:schemeClr val="tx2">
                              <a:lumMod val="50000"/>
                            </a:schemeClr>
                          </a:solidFill>
                          <a:latin typeface="Arial Narrow" panose="020B0606020202030204" pitchFamily="34" charset="0"/>
                        </a:rPr>
                        <a:t>Test Set</a:t>
                      </a:r>
                    </a:p>
                  </a:txBody>
                  <a:tcPr/>
                </a:tc>
                <a:extLst>
                  <a:ext uri="{0D108BD9-81ED-4DB2-BD59-A6C34878D82A}">
                    <a16:rowId xmlns:a16="http://schemas.microsoft.com/office/drawing/2014/main" val="2594015190"/>
                  </a:ext>
                </a:extLst>
              </a:tr>
            </a:tbl>
          </a:graphicData>
        </a:graphic>
      </p:graphicFrame>
      <p:cxnSp>
        <p:nvCxnSpPr>
          <p:cNvPr id="15" name="Straight Arrow Connector 14"/>
          <p:cNvCxnSpPr>
            <a:endCxn id="13" idx="0"/>
          </p:cNvCxnSpPr>
          <p:nvPr/>
        </p:nvCxnSpPr>
        <p:spPr>
          <a:xfrm flipH="1">
            <a:off x="1738457" y="5174364"/>
            <a:ext cx="14143" cy="555452"/>
          </a:xfrm>
          <a:prstGeom prst="straightConnector1">
            <a:avLst/>
          </a:prstGeom>
          <a:ln w="127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3" name="Table 12"/>
          <p:cNvGraphicFramePr>
            <a:graphicFrameLocks noGrp="1"/>
          </p:cNvGraphicFramePr>
          <p:nvPr>
            <p:extLst>
              <p:ext uri="{D42A27DB-BD31-4B8C-83A1-F6EECF244321}">
                <p14:modId xmlns:p14="http://schemas.microsoft.com/office/powerpoint/2010/main" val="2895136390"/>
              </p:ext>
            </p:extLst>
          </p:nvPr>
        </p:nvGraphicFramePr>
        <p:xfrm>
          <a:off x="409575" y="5729816"/>
          <a:ext cx="2657765" cy="370840"/>
        </p:xfrm>
        <a:graphic>
          <a:graphicData uri="http://schemas.openxmlformats.org/drawingml/2006/table">
            <a:tbl>
              <a:tblPr firstRow="1" bandRow="1">
                <a:tableStyleId>{21E4AEA4-8DFA-4A89-87EB-49C32662AFE0}</a:tableStyleId>
              </a:tblPr>
              <a:tblGrid>
                <a:gridCol w="531553">
                  <a:extLst>
                    <a:ext uri="{9D8B030D-6E8A-4147-A177-3AD203B41FA5}">
                      <a16:colId xmlns:a16="http://schemas.microsoft.com/office/drawing/2014/main" val="53112905"/>
                    </a:ext>
                  </a:extLst>
                </a:gridCol>
                <a:gridCol w="531553">
                  <a:extLst>
                    <a:ext uri="{9D8B030D-6E8A-4147-A177-3AD203B41FA5}">
                      <a16:colId xmlns:a16="http://schemas.microsoft.com/office/drawing/2014/main" val="3527968590"/>
                    </a:ext>
                  </a:extLst>
                </a:gridCol>
                <a:gridCol w="531553">
                  <a:extLst>
                    <a:ext uri="{9D8B030D-6E8A-4147-A177-3AD203B41FA5}">
                      <a16:colId xmlns:a16="http://schemas.microsoft.com/office/drawing/2014/main" val="358729344"/>
                    </a:ext>
                  </a:extLst>
                </a:gridCol>
                <a:gridCol w="531553">
                  <a:extLst>
                    <a:ext uri="{9D8B030D-6E8A-4147-A177-3AD203B41FA5}">
                      <a16:colId xmlns:a16="http://schemas.microsoft.com/office/drawing/2014/main" val="662102352"/>
                    </a:ext>
                  </a:extLst>
                </a:gridCol>
                <a:gridCol w="531553">
                  <a:extLst>
                    <a:ext uri="{9D8B030D-6E8A-4147-A177-3AD203B41FA5}">
                      <a16:colId xmlns:a16="http://schemas.microsoft.com/office/drawing/2014/main" val="1395203550"/>
                    </a:ext>
                  </a:extLst>
                </a:gridCol>
              </a:tblGrid>
              <a:tr h="370840">
                <a:tc>
                  <a:txBody>
                    <a:bodyPr/>
                    <a:lstStyle/>
                    <a:p>
                      <a:r>
                        <a:rPr lang="en-IN" dirty="0">
                          <a:ln>
                            <a:noFill/>
                          </a:ln>
                          <a:latin typeface="Arial Narrow" panose="020B0606020202030204" pitchFamily="34" charset="0"/>
                        </a:rPr>
                        <a:t>S</a:t>
                      </a:r>
                      <a:r>
                        <a:rPr lang="en-IN" baseline="-25000" dirty="0">
                          <a:ln>
                            <a:noFill/>
                          </a:ln>
                          <a:latin typeface="Arial Narrow" panose="020B0606020202030204" pitchFamily="34" charset="0"/>
                        </a:rPr>
                        <a:t>1</a:t>
                      </a:r>
                    </a:p>
                  </a:txBody>
                  <a:tcPr>
                    <a:solidFill>
                      <a:schemeClr val="accent6">
                        <a:lumMod val="60000"/>
                        <a:lumOff val="40000"/>
                      </a:schemeClr>
                    </a:solidFill>
                  </a:tcPr>
                </a:tc>
                <a:tc>
                  <a:txBody>
                    <a:bodyPr/>
                    <a:lstStyle/>
                    <a:p>
                      <a:r>
                        <a:rPr lang="en-IN" dirty="0">
                          <a:ln>
                            <a:noFill/>
                          </a:ln>
                          <a:latin typeface="Arial Narrow" panose="020B0606020202030204" pitchFamily="34" charset="0"/>
                        </a:rPr>
                        <a:t>S</a:t>
                      </a:r>
                      <a:r>
                        <a:rPr lang="en-IN" baseline="-25000" dirty="0">
                          <a:ln>
                            <a:noFill/>
                          </a:ln>
                          <a:latin typeface="Arial Narrow" panose="020B0606020202030204" pitchFamily="34" charset="0"/>
                        </a:rPr>
                        <a:t>2</a:t>
                      </a:r>
                      <a:endParaRPr lang="en-IN" dirty="0">
                        <a:ln>
                          <a:noFill/>
                        </a:ln>
                        <a:latin typeface="Arial Narrow" panose="020B0606020202030204" pitchFamily="34" charset="0"/>
                      </a:endParaRPr>
                    </a:p>
                  </a:txBody>
                  <a:tcPr>
                    <a:solidFill>
                      <a:schemeClr val="accent6">
                        <a:lumMod val="60000"/>
                        <a:lumOff val="40000"/>
                      </a:schemeClr>
                    </a:solidFill>
                  </a:tcPr>
                </a:tc>
                <a:tc>
                  <a:txBody>
                    <a:bodyPr/>
                    <a:lstStyle/>
                    <a:p>
                      <a:r>
                        <a:rPr lang="en-IN" dirty="0">
                          <a:ln>
                            <a:noFill/>
                          </a:ln>
                          <a:latin typeface="Arial Narrow" panose="020B0606020202030204" pitchFamily="34" charset="0"/>
                        </a:rPr>
                        <a:t>S</a:t>
                      </a:r>
                      <a:r>
                        <a:rPr lang="en-IN" baseline="-25000" dirty="0">
                          <a:ln>
                            <a:noFill/>
                          </a:ln>
                          <a:latin typeface="Arial Narrow" panose="020B0606020202030204" pitchFamily="34" charset="0"/>
                        </a:rPr>
                        <a:t>3</a:t>
                      </a:r>
                      <a:endParaRPr lang="en-IN" dirty="0">
                        <a:ln>
                          <a:noFill/>
                        </a:ln>
                        <a:latin typeface="Arial Narrow" panose="020B0606020202030204" pitchFamily="34" charset="0"/>
                      </a:endParaRPr>
                    </a:p>
                  </a:txBody>
                  <a:tcPr>
                    <a:solidFill>
                      <a:schemeClr val="accent6">
                        <a:lumMod val="60000"/>
                        <a:lumOff val="40000"/>
                      </a:schemeClr>
                    </a:solidFill>
                  </a:tcPr>
                </a:tc>
                <a:tc>
                  <a:txBody>
                    <a:bodyPr/>
                    <a:lstStyle/>
                    <a:p>
                      <a:r>
                        <a:rPr lang="en-IN" dirty="0">
                          <a:ln>
                            <a:noFill/>
                          </a:ln>
                          <a:latin typeface="Arial Narrow" panose="020B0606020202030204" pitchFamily="34" charset="0"/>
                        </a:rPr>
                        <a:t>S</a:t>
                      </a:r>
                      <a:r>
                        <a:rPr lang="en-IN" baseline="-25000" dirty="0">
                          <a:ln>
                            <a:noFill/>
                          </a:ln>
                          <a:latin typeface="Arial Narrow" panose="020B0606020202030204" pitchFamily="34" charset="0"/>
                        </a:rPr>
                        <a:t>…..</a:t>
                      </a:r>
                      <a:endParaRPr lang="en-IN" dirty="0">
                        <a:ln>
                          <a:noFill/>
                        </a:ln>
                        <a:latin typeface="Arial Narrow" panose="020B0606020202030204" pitchFamily="34" charset="0"/>
                      </a:endParaRPr>
                    </a:p>
                  </a:txBody>
                  <a:tcPr>
                    <a:solidFill>
                      <a:schemeClr val="accent6">
                        <a:lumMod val="60000"/>
                        <a:lumOff val="40000"/>
                      </a:schemeClr>
                    </a:solidFill>
                  </a:tcPr>
                </a:tc>
                <a:tc>
                  <a:txBody>
                    <a:bodyPr/>
                    <a:lstStyle/>
                    <a:p>
                      <a:r>
                        <a:rPr lang="en-IN" dirty="0" err="1">
                          <a:ln>
                            <a:noFill/>
                          </a:ln>
                          <a:latin typeface="Arial Narrow" panose="020B0606020202030204" pitchFamily="34" charset="0"/>
                        </a:rPr>
                        <a:t>S</a:t>
                      </a:r>
                      <a:r>
                        <a:rPr lang="en-IN" baseline="-25000" dirty="0" err="1">
                          <a:ln>
                            <a:noFill/>
                          </a:ln>
                          <a:latin typeface="Arial Narrow" panose="020B0606020202030204" pitchFamily="34" charset="0"/>
                        </a:rPr>
                        <a:t>k</a:t>
                      </a:r>
                      <a:endParaRPr lang="en-IN" dirty="0">
                        <a:ln>
                          <a:noFill/>
                        </a:ln>
                        <a:latin typeface="Arial Narrow" panose="020B0606020202030204" pitchFamily="34" charset="0"/>
                      </a:endParaRPr>
                    </a:p>
                  </a:txBody>
                  <a:tcPr>
                    <a:solidFill>
                      <a:schemeClr val="accent6">
                        <a:lumMod val="60000"/>
                        <a:lumOff val="40000"/>
                      </a:schemeClr>
                    </a:solidFill>
                  </a:tcPr>
                </a:tc>
                <a:extLst>
                  <a:ext uri="{0D108BD9-81ED-4DB2-BD59-A6C34878D82A}">
                    <a16:rowId xmlns:a16="http://schemas.microsoft.com/office/drawing/2014/main" val="2216604930"/>
                  </a:ext>
                </a:extLst>
              </a:tr>
            </a:tbl>
          </a:graphicData>
        </a:graphic>
      </p:graphicFrame>
      <p:sp>
        <p:nvSpPr>
          <p:cNvPr id="18" name="TextBox 17">
            <a:extLst>
              <a:ext uri="{FF2B5EF4-FFF2-40B4-BE49-F238E27FC236}">
                <a16:creationId xmlns:a16="http://schemas.microsoft.com/office/drawing/2014/main" id="{2FC4CA8C-3643-43AC-A5BE-CDBCA0F05FF1}"/>
              </a:ext>
            </a:extLst>
          </p:cNvPr>
          <p:cNvSpPr txBox="1"/>
          <p:nvPr/>
        </p:nvSpPr>
        <p:spPr>
          <a:xfrm>
            <a:off x="7374858" y="952037"/>
            <a:ext cx="4528296" cy="3139321"/>
          </a:xfrm>
          <a:prstGeom prst="rect">
            <a:avLst/>
          </a:prstGeom>
          <a:noFill/>
        </p:spPr>
        <p:txBody>
          <a:bodyPr wrap="square" rtlCol="0">
            <a:spAutoFit/>
          </a:bodyPr>
          <a:lstStyle/>
          <a:p>
            <a:pPr lvl="0" eaLnBrk="0" fontAlgn="base" hangingPunct="0">
              <a:spcBef>
                <a:spcPct val="0"/>
              </a:spcBef>
              <a:spcAft>
                <a:spcPct val="0"/>
              </a:spcAft>
            </a:pPr>
            <a:r>
              <a:rPr lang="en-US" altLang="en-US" b="1" dirty="0">
                <a:latin typeface="Arial Narrow" panose="020B0606020202030204" pitchFamily="34" charset="0"/>
                <a:ea typeface="Cambria Math" panose="02040503050406030204" pitchFamily="18" charset="0"/>
              </a:rPr>
              <a:t>Step by Step Procedure:</a:t>
            </a:r>
          </a:p>
          <a:p>
            <a:pPr lvl="0" eaLnBrk="0" fontAlgn="base" hangingPunct="0">
              <a:spcBef>
                <a:spcPct val="0"/>
              </a:spcBef>
              <a:spcAft>
                <a:spcPct val="0"/>
              </a:spcAft>
            </a:pPr>
            <a:endParaRPr lang="en-US" altLang="en-US" i="1" dirty="0">
              <a:solidFill>
                <a:srgbClr val="7030A0"/>
              </a:solidFill>
              <a:latin typeface="Arial Narrow" panose="020B0606020202030204" pitchFamily="34" charset="0"/>
              <a:ea typeface="Cambria Math" panose="02040503050406030204" pitchFamily="18" charset="0"/>
            </a:endParaRP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Choose a value for </a:t>
            </a:r>
            <a:r>
              <a:rPr lang="en-US" altLang="en-US" b="1" i="1" dirty="0">
                <a:latin typeface="Arial Narrow" panose="020B0606020202030204" pitchFamily="34" charset="0"/>
                <a:ea typeface="Cambria Math" panose="02040503050406030204" pitchFamily="18" charset="0"/>
              </a:rPr>
              <a:t>K</a:t>
            </a:r>
            <a:r>
              <a:rPr lang="en-US" altLang="en-US" i="1" dirty="0">
                <a:latin typeface="Arial Narrow" panose="020B0606020202030204" pitchFamily="34" charset="0"/>
                <a:ea typeface="Cambria Math" panose="02040503050406030204" pitchFamily="18" charset="0"/>
              </a:rPr>
              <a:t> (common choices: 5 or 10)</a:t>
            </a: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Split the dataset into </a:t>
            </a:r>
            <a:r>
              <a:rPr lang="en-US" altLang="en-US" b="1" i="1" dirty="0">
                <a:latin typeface="Arial Narrow" panose="020B0606020202030204" pitchFamily="34" charset="0"/>
                <a:ea typeface="Cambria Math" panose="02040503050406030204" pitchFamily="18" charset="0"/>
              </a:rPr>
              <a:t>K folds</a:t>
            </a:r>
            <a:endParaRPr lang="en-US" altLang="en-US" i="1" dirty="0">
              <a:latin typeface="Arial Narrow" panose="020B0606020202030204" pitchFamily="34" charset="0"/>
              <a:ea typeface="Cambria Math" panose="02040503050406030204" pitchFamily="18" charset="0"/>
            </a:endParaRP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For each fold:</a:t>
            </a: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      Train on K−1 folds</a:t>
            </a: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      Test on the remaining fold</a:t>
            </a: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      Record the score (accuracy, MSE, etc.)</a:t>
            </a: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End of Loop</a:t>
            </a:r>
          </a:p>
          <a:p>
            <a:pPr lvl="0" eaLnBrk="0" fontAlgn="base" hangingPunct="0">
              <a:spcBef>
                <a:spcPct val="0"/>
              </a:spcBef>
              <a:spcAft>
                <a:spcPct val="0"/>
              </a:spcAft>
            </a:pPr>
            <a:r>
              <a:rPr lang="en-US" altLang="en-US" i="1" dirty="0">
                <a:latin typeface="Arial Narrow" panose="020B0606020202030204" pitchFamily="34" charset="0"/>
                <a:ea typeface="Cambria Math" panose="02040503050406030204" pitchFamily="18" charset="0"/>
              </a:rPr>
              <a:t>Compute the </a:t>
            </a:r>
            <a:r>
              <a:rPr lang="en-US" altLang="en-US" b="1" i="1" dirty="0">
                <a:latin typeface="Arial Narrow" panose="020B0606020202030204" pitchFamily="34" charset="0"/>
                <a:ea typeface="Cambria Math" panose="02040503050406030204" pitchFamily="18" charset="0"/>
              </a:rPr>
              <a:t>average score</a:t>
            </a:r>
            <a:endParaRPr lang="en-US" altLang="en-US" i="1" dirty="0">
              <a:latin typeface="Arial Narrow" panose="020B0606020202030204" pitchFamily="34" charset="0"/>
              <a:ea typeface="Cambria Math" panose="02040503050406030204" pitchFamily="18" charset="0"/>
            </a:endParaRPr>
          </a:p>
          <a:p>
            <a:endParaRPr lang="en-IN" dirty="0"/>
          </a:p>
        </p:txBody>
      </p:sp>
      <p:graphicFrame>
        <p:nvGraphicFramePr>
          <p:cNvPr id="19" name="Table 18">
            <a:extLst>
              <a:ext uri="{FF2B5EF4-FFF2-40B4-BE49-F238E27FC236}">
                <a16:creationId xmlns:a16="http://schemas.microsoft.com/office/drawing/2014/main" id="{E808F500-D8D2-42B1-B5B3-B6E7C0D64B82}"/>
              </a:ext>
            </a:extLst>
          </p:cNvPr>
          <p:cNvGraphicFramePr>
            <a:graphicFrameLocks noGrp="1"/>
          </p:cNvGraphicFramePr>
          <p:nvPr>
            <p:extLst>
              <p:ext uri="{D42A27DB-BD31-4B8C-83A1-F6EECF244321}">
                <p14:modId xmlns:p14="http://schemas.microsoft.com/office/powerpoint/2010/main" val="3898413"/>
              </p:ext>
            </p:extLst>
          </p:nvPr>
        </p:nvGraphicFramePr>
        <p:xfrm>
          <a:off x="7081982" y="4701071"/>
          <a:ext cx="4419600" cy="1854200"/>
        </p:xfrm>
        <a:graphic>
          <a:graphicData uri="http://schemas.openxmlformats.org/drawingml/2006/table">
            <a:tbl>
              <a:tblPr firstRow="1" bandRow="1">
                <a:tableStyleId>{93296810-A885-4BE3-A3E7-6D5BEEA58F35}</a:tableStyleId>
              </a:tblPr>
              <a:tblGrid>
                <a:gridCol w="1250830">
                  <a:extLst>
                    <a:ext uri="{9D8B030D-6E8A-4147-A177-3AD203B41FA5}">
                      <a16:colId xmlns:a16="http://schemas.microsoft.com/office/drawing/2014/main" val="20000"/>
                    </a:ext>
                  </a:extLst>
                </a:gridCol>
                <a:gridCol w="1584385">
                  <a:extLst>
                    <a:ext uri="{9D8B030D-6E8A-4147-A177-3AD203B41FA5}">
                      <a16:colId xmlns:a16="http://schemas.microsoft.com/office/drawing/2014/main" val="20001"/>
                    </a:ext>
                  </a:extLst>
                </a:gridCol>
                <a:gridCol w="1584385">
                  <a:extLst>
                    <a:ext uri="{9D8B030D-6E8A-4147-A177-3AD203B41FA5}">
                      <a16:colId xmlns:a16="http://schemas.microsoft.com/office/drawing/2014/main" val="20002"/>
                    </a:ext>
                  </a:extLst>
                </a:gridCol>
              </a:tblGrid>
              <a:tr h="370840">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just"/>
                      <a:r>
                        <a:rPr lang="en-IN" dirty="0">
                          <a:latin typeface="Arial Narrow" panose="020B0606020202030204" pitchFamily="34" charset="0"/>
                        </a:rPr>
                        <a:t>Round </a:t>
                      </a:r>
                      <a:endParaRPr lang="en-IN" dirty="0">
                        <a:latin typeface="Arial Narrow" panose="020B0606020202030204" pitchFamily="34" charset="0"/>
                        <a:cs typeface="Times New Roman" panose="02020603050405020304" pitchFamily="18" charset="0"/>
                      </a:endParaRPr>
                    </a:p>
                  </a:txBody>
                  <a:tcPr/>
                </a:tc>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just"/>
                      <a:r>
                        <a:rPr lang="en-IN" dirty="0">
                          <a:latin typeface="Arial Narrow" panose="020B0606020202030204" pitchFamily="34" charset="0"/>
                        </a:rPr>
                        <a:t>Training Set</a:t>
                      </a:r>
                      <a:endParaRPr lang="en-IN" dirty="0">
                        <a:latin typeface="Arial Narrow" panose="020B0606020202030204" pitchFamily="34" charset="0"/>
                        <a:cs typeface="Times New Roman" panose="02020603050405020304" pitchFamily="18" charset="0"/>
                      </a:endParaRPr>
                    </a:p>
                  </a:txBody>
                  <a:tcPr/>
                </a:tc>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just"/>
                      <a:r>
                        <a:rPr lang="en-IN" dirty="0">
                          <a:latin typeface="Arial Narrow" panose="020B0606020202030204" pitchFamily="34" charset="0"/>
                        </a:rPr>
                        <a:t>Validation Set</a:t>
                      </a:r>
                      <a:endParaRPr lang="en-IN"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err="1">
                          <a:latin typeface="Arial Narrow" panose="020B0606020202030204" pitchFamily="34" charset="0"/>
                        </a:rPr>
                        <a:t>1</a:t>
                      </a:r>
                      <a:endParaRPr lang="en-IN" dirty="0">
                        <a:latin typeface="Arial Narrow" panose="020B0606020202030204" pitchFamily="34" charset="0"/>
                        <a:cs typeface="Times New Roman" panose="02020603050405020304" pitchFamily="18" charset="0"/>
                      </a:endParaRPr>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latin typeface="Arial Narrow" panose="020B0606020202030204" pitchFamily="34" charset="0"/>
                        </a:rPr>
                        <a:t>S – S</a:t>
                      </a:r>
                      <a:r>
                        <a:rPr lang="en-IN" baseline="-25000" dirty="0">
                          <a:latin typeface="Arial Narrow" panose="020B0606020202030204" pitchFamily="34" charset="0"/>
                        </a:rPr>
                        <a:t>1</a:t>
                      </a:r>
                      <a:endParaRPr lang="en-IN" baseline="-25000" dirty="0">
                        <a:latin typeface="Arial Narrow" panose="020B0606020202030204" pitchFamily="34" charset="0"/>
                        <a:cs typeface="Times New Roman" panose="02020603050405020304" pitchFamily="18" charset="0"/>
                      </a:endParaRPr>
                    </a:p>
                  </a:txBody>
                  <a:tcPr>
                    <a:solidFill>
                      <a:schemeClr val="accent6">
                        <a:tint val="40000"/>
                      </a:schemeClr>
                    </a:solidFill>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latin typeface="Arial Narrow" panose="020B0606020202030204" pitchFamily="34" charset="0"/>
                        </a:rPr>
                        <a:t>S</a:t>
                      </a:r>
                      <a:r>
                        <a:rPr lang="en-IN" baseline="-25000" dirty="0">
                          <a:latin typeface="Arial Narrow" panose="020B0606020202030204" pitchFamily="34" charset="0"/>
                        </a:rPr>
                        <a:t>1</a:t>
                      </a:r>
                      <a:endParaRPr lang="en-US"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latin typeface="Arial Narrow" panose="020B0606020202030204" pitchFamily="34" charset="0"/>
                        </a:rPr>
                        <a:t>2</a:t>
                      </a:r>
                      <a:endParaRPr lang="en-IN" dirty="0">
                        <a:latin typeface="Arial Narrow" panose="020B0606020202030204" pitchFamily="34" charset="0"/>
                        <a:cs typeface="Times New Roman" panose="02020603050405020304" pitchFamily="18" charset="0"/>
                      </a:endParaRPr>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IN" dirty="0">
                          <a:latin typeface="Arial Narrow" panose="020B0606020202030204" pitchFamily="34" charset="0"/>
                        </a:rPr>
                        <a:t>S – S</a:t>
                      </a:r>
                      <a:r>
                        <a:rPr lang="en-IN" baseline="-25000" dirty="0">
                          <a:latin typeface="Arial Narrow" panose="020B0606020202030204" pitchFamily="34" charset="0"/>
                        </a:rPr>
                        <a:t>2</a:t>
                      </a:r>
                      <a:endParaRPr lang="en-IN" baseline="-25000" dirty="0">
                        <a:latin typeface="Arial Narrow" panose="020B0606020202030204" pitchFamily="34" charset="0"/>
                        <a:cs typeface="Times New Roman" panose="02020603050405020304" pitchFamily="18" charset="0"/>
                      </a:endParaRPr>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latin typeface="Arial Narrow" panose="020B0606020202030204" pitchFamily="34" charset="0"/>
                        </a:rPr>
                        <a:t>S</a:t>
                      </a:r>
                      <a:r>
                        <a:rPr lang="en-IN" baseline="-25000" dirty="0">
                          <a:latin typeface="Arial Narrow" panose="020B0606020202030204" pitchFamily="34" charset="0"/>
                        </a:rPr>
                        <a:t>2</a:t>
                      </a:r>
                      <a:endParaRPr lang="en-US"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latin typeface="Arial Narrow" panose="020B0606020202030204" pitchFamily="34" charset="0"/>
                        </a:rPr>
                        <a:t>…</a:t>
                      </a:r>
                      <a:endParaRPr lang="en-IN" dirty="0">
                        <a:latin typeface="Arial Narrow" panose="020B0606020202030204" pitchFamily="34" charset="0"/>
                        <a:cs typeface="Times New Roman" panose="02020603050405020304" pitchFamily="18" charset="0"/>
                      </a:endParaRPr>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dirty="0">
                          <a:latin typeface="Arial Narrow" panose="020B0606020202030204" pitchFamily="34" charset="0"/>
                        </a:rPr>
                        <a:t>…</a:t>
                      </a:r>
                      <a:endParaRPr lang="en-IN" dirty="0">
                        <a:latin typeface="Arial Narrow" panose="020B0606020202030204" pitchFamily="34" charset="0"/>
                        <a:cs typeface="Times New Roman" panose="02020603050405020304" pitchFamily="18" charset="0"/>
                      </a:endParaRPr>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a:latin typeface="Arial Narrow" panose="020B0606020202030204" pitchFamily="34" charset="0"/>
                        </a:rPr>
                        <a:t>…</a:t>
                      </a:r>
                      <a:endParaRPr lang="en-US"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IN" dirty="0">
                          <a:latin typeface="Arial Narrow" panose="020B0606020202030204" pitchFamily="34" charset="0"/>
                        </a:rPr>
                        <a:t>k</a:t>
                      </a:r>
                      <a:endParaRPr lang="en-IN" dirty="0">
                        <a:latin typeface="Arial Narrow" panose="020B0606020202030204" pitchFamily="34" charset="0"/>
                        <a:cs typeface="Times New Roman" panose="02020603050405020304" pitchFamily="18" charset="0"/>
                      </a:endParaRPr>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IN" dirty="0">
                          <a:latin typeface="Arial Narrow" panose="020B0606020202030204" pitchFamily="34" charset="0"/>
                        </a:rPr>
                        <a:t>S-</a:t>
                      </a:r>
                      <a:r>
                        <a:rPr lang="en-IN" dirty="0" err="1">
                          <a:latin typeface="Arial Narrow" panose="020B0606020202030204" pitchFamily="34" charset="0"/>
                        </a:rPr>
                        <a:t>S</a:t>
                      </a:r>
                      <a:r>
                        <a:rPr lang="en-IN" baseline="-25000" dirty="0" err="1">
                          <a:latin typeface="Arial Narrow" panose="020B0606020202030204" pitchFamily="34" charset="0"/>
                        </a:rPr>
                        <a:t>k</a:t>
                      </a:r>
                      <a:endParaRPr lang="en-IN" baseline="-25000" dirty="0">
                        <a:latin typeface="Arial Narrow" panose="020B0606020202030204" pitchFamily="34" charset="0"/>
                        <a:cs typeface="Times New Roman" panose="02020603050405020304" pitchFamily="18" charset="0"/>
                      </a:endParaRPr>
                    </a:p>
                  </a:txBody>
                  <a:tcP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dirty="0" err="1">
                          <a:latin typeface="Arial Narrow" panose="020B0606020202030204" pitchFamily="34" charset="0"/>
                        </a:rPr>
                        <a:t>S</a:t>
                      </a:r>
                      <a:r>
                        <a:rPr lang="en-US" baseline="-25000" dirty="0" err="1">
                          <a:latin typeface="Arial Narrow" panose="020B0606020202030204" pitchFamily="34" charset="0"/>
                        </a:rPr>
                        <a:t>k</a:t>
                      </a:r>
                      <a:endParaRPr lang="en-US" baseline="-25000" dirty="0">
                        <a:latin typeface="Arial Narrow" panose="020B0606020202030204" pitchFamily="34"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CBAAA2A-03E9-44B6-AF24-CF0185AD8C07}"/>
                  </a:ext>
                </a:extLst>
              </p:cNvPr>
              <p:cNvSpPr txBox="1"/>
              <p:nvPr/>
            </p:nvSpPr>
            <p:spPr>
              <a:xfrm>
                <a:off x="7374858" y="3914872"/>
                <a:ext cx="4152124" cy="625812"/>
              </a:xfrm>
              <a:prstGeom prst="rect">
                <a:avLst/>
              </a:prstGeom>
              <a:noFill/>
            </p:spPr>
            <p:txBody>
              <a:bodyPr wrap="square" rtlCol="0">
                <a:spAutoFit/>
              </a:bodyPr>
              <a:lstStyle/>
              <a:p>
                <a:r>
                  <a:rPr lang="en-US" sz="2400" dirty="0">
                    <a:latin typeface="Arial Narrow" panose="020B0606020202030204" pitchFamily="34" charset="0"/>
                    <a:cs typeface="Times New Roman" panose="02020603050405020304" pitchFamily="18" charset="0"/>
                  </a:rPr>
                  <a:t>Average Test Score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𝑘</m:t>
                        </m:r>
                      </m:den>
                    </m:f>
                    <m:nary>
                      <m:naryPr>
                        <m:chr m:val="∑"/>
                        <m:limLoc m:val="subSup"/>
                        <m:ctrlPr>
                          <a:rPr lang="en-US" sz="2400" i="1" smtClean="0">
                            <a:latin typeface="Cambria Math" panose="02040503050406030204" pitchFamily="18" charset="0"/>
                          </a:rPr>
                        </m:ctrlPr>
                      </m:naryPr>
                      <m:sub>
                        <m:r>
                          <m:rPr>
                            <m:brk m:alnAt="25"/>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𝑘</m:t>
                        </m:r>
                      </m:sup>
                      <m:e>
                        <m:r>
                          <a:rPr lang="en-US" sz="2400" b="0" i="1" smtClean="0">
                            <a:latin typeface="Cambria Math" panose="02040503050406030204" pitchFamily="18" charset="0"/>
                          </a:rPr>
                          <m:t>𝑆</m:t>
                        </m:r>
                        <m:r>
                          <a:rPr lang="en-US" sz="2400" b="0" i="1" baseline="-25000" smtClean="0">
                            <a:latin typeface="Cambria Math" panose="02040503050406030204" pitchFamily="18" charset="0"/>
                          </a:rPr>
                          <m:t>𝑖</m:t>
                        </m:r>
                      </m:e>
                    </m:nary>
                  </m:oMath>
                </a14:m>
                <a:endParaRPr lang="en-IN" dirty="0">
                  <a:latin typeface="Arial Narrow" panose="020B0606020202030204" pitchFamily="34"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FCBAAA2A-03E9-44B6-AF24-CF0185AD8C07}"/>
                  </a:ext>
                </a:extLst>
              </p:cNvPr>
              <p:cNvSpPr txBox="1">
                <a:spLocks noRot="1" noChangeAspect="1" noMove="1" noResize="1" noEditPoints="1" noAdjustHandles="1" noChangeArrowheads="1" noChangeShapeType="1" noTextEdit="1"/>
              </p:cNvSpPr>
              <p:nvPr/>
            </p:nvSpPr>
            <p:spPr>
              <a:xfrm>
                <a:off x="7374858" y="3914872"/>
                <a:ext cx="4152124" cy="625812"/>
              </a:xfrm>
              <a:prstGeom prst="rect">
                <a:avLst/>
              </a:prstGeom>
              <a:blipFill>
                <a:blip r:embed="rId2"/>
                <a:stretch>
                  <a:fillRect l="-2349" b="-6796"/>
                </a:stretch>
              </a:blipFill>
            </p:spPr>
            <p:txBody>
              <a:bodyPr/>
              <a:lstStyle/>
              <a:p>
                <a:r>
                  <a:rPr lang="en-IN">
                    <a:noFill/>
                  </a:rPr>
                  <a:t> </a:t>
                </a:r>
              </a:p>
            </p:txBody>
          </p:sp>
        </mc:Fallback>
      </mc:AlternateContent>
    </p:spTree>
    <p:extLst>
      <p:ext uri="{BB962C8B-B14F-4D97-AF65-F5344CB8AC3E}">
        <p14:creationId xmlns:p14="http://schemas.microsoft.com/office/powerpoint/2010/main" val="1291813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100" y="159799"/>
            <a:ext cx="10515600" cy="1325563"/>
          </a:xfrm>
        </p:spPr>
        <p:txBody>
          <a:bodyPr>
            <a:normAutofit/>
          </a:bodyPr>
          <a:lstStyle/>
          <a:p>
            <a:r>
              <a:rPr lang="en-IN" sz="2800" dirty="0">
                <a:latin typeface="Century" panose="02040604050505020304" pitchFamily="18" charset="0"/>
                <a:ea typeface="Ebrima" panose="02000000000000000000" pitchFamily="2" charset="0"/>
                <a:cs typeface="Ebrima" panose="02000000000000000000" pitchFamily="2" charset="0"/>
              </a:rPr>
              <a:t>How K-fold Cross Validation helps Generalization?</a:t>
            </a:r>
          </a:p>
        </p:txBody>
      </p:sp>
      <p:sp>
        <p:nvSpPr>
          <p:cNvPr id="3" name="Content Placeholder 2"/>
          <p:cNvSpPr>
            <a:spLocks noGrp="1"/>
          </p:cNvSpPr>
          <p:nvPr>
            <p:ph idx="1"/>
          </p:nvPr>
        </p:nvSpPr>
        <p:spPr>
          <a:xfrm>
            <a:off x="673099" y="1556384"/>
            <a:ext cx="11110405" cy="5172890"/>
          </a:xfrm>
        </p:spPr>
        <p:txBody>
          <a:bodyPr>
            <a:normAutofit/>
          </a:bodyPr>
          <a:lstStyle/>
          <a:p>
            <a:pPr algn="just"/>
            <a:r>
              <a:rPr lang="en-GB" sz="2000" dirty="0">
                <a:solidFill>
                  <a:srgbClr val="00B0F0"/>
                </a:solidFill>
                <a:latin typeface="Arial Narrow" panose="020B0606020202030204" pitchFamily="34" charset="0"/>
              </a:rPr>
              <a:t>K-fold cross-validation improves a model's ability to generalize </a:t>
            </a:r>
            <a:r>
              <a:rPr lang="en-GB" sz="2000" dirty="0">
                <a:latin typeface="Arial Narrow" panose="020B0606020202030204" pitchFamily="34" charset="0"/>
              </a:rPr>
              <a:t>by providing a more reliable estimate of its performance on unseen data and reducing the risk of overfitting during model selection. </a:t>
            </a:r>
          </a:p>
          <a:p>
            <a:pPr algn="just"/>
            <a:endParaRPr lang="en-GB" sz="2000" dirty="0">
              <a:latin typeface="Arial Narrow" panose="020B0606020202030204" pitchFamily="34" charset="0"/>
            </a:endParaRPr>
          </a:p>
          <a:p>
            <a:pPr algn="just"/>
            <a:r>
              <a:rPr lang="en-GB" sz="2000" dirty="0">
                <a:latin typeface="Arial Narrow" panose="020B0606020202030204" pitchFamily="34" charset="0"/>
              </a:rPr>
              <a:t>Unlike a single train–test split, </a:t>
            </a:r>
            <a:r>
              <a:rPr lang="en-GB" sz="2000" dirty="0">
                <a:solidFill>
                  <a:srgbClr val="00B0F0"/>
                </a:solidFill>
                <a:latin typeface="Arial Narrow" panose="020B0606020202030204" pitchFamily="34" charset="0"/>
              </a:rPr>
              <a:t>K-fold cross-validation evaluates the model across </a:t>
            </a:r>
            <a:r>
              <a:rPr lang="en-GB" sz="2000" i="1" dirty="0">
                <a:solidFill>
                  <a:srgbClr val="00B0F0"/>
                </a:solidFill>
                <a:latin typeface="Arial Narrow" panose="020B0606020202030204" pitchFamily="34" charset="0"/>
              </a:rPr>
              <a:t>K</a:t>
            </a:r>
            <a:r>
              <a:rPr lang="en-GB" sz="2000" dirty="0">
                <a:solidFill>
                  <a:srgbClr val="00B0F0"/>
                </a:solidFill>
                <a:latin typeface="Arial Narrow" panose="020B0606020202030204" pitchFamily="34" charset="0"/>
              </a:rPr>
              <a:t> different validation sets</a:t>
            </a:r>
            <a:r>
              <a:rPr lang="en-GB" sz="2000" dirty="0">
                <a:latin typeface="Arial Narrow" panose="020B0606020202030204" pitchFamily="34" charset="0"/>
              </a:rPr>
              <a:t>, ensuring that each data point is used once for validation and </a:t>
            </a:r>
            <a:r>
              <a:rPr lang="en-GB" sz="2000" i="1" dirty="0">
                <a:latin typeface="Arial Narrow" panose="020B0606020202030204" pitchFamily="34" charset="0"/>
              </a:rPr>
              <a:t>K − 1</a:t>
            </a:r>
            <a:r>
              <a:rPr lang="en-GB" sz="2000" dirty="0">
                <a:latin typeface="Arial Narrow" panose="020B0606020202030204" pitchFamily="34" charset="0"/>
              </a:rPr>
              <a:t> times for training. </a:t>
            </a:r>
          </a:p>
          <a:p>
            <a:pPr algn="just"/>
            <a:endParaRPr lang="en-GB" sz="2000" dirty="0">
              <a:latin typeface="Arial Narrow" panose="020B0606020202030204" pitchFamily="34" charset="0"/>
            </a:endParaRPr>
          </a:p>
          <a:p>
            <a:pPr algn="just"/>
            <a:r>
              <a:rPr lang="en-GB" sz="2000" dirty="0">
                <a:latin typeface="Arial Narrow" panose="020B0606020202030204" pitchFamily="34" charset="0"/>
              </a:rPr>
              <a:t>This approach </a:t>
            </a:r>
            <a:r>
              <a:rPr lang="en-GB" sz="2000" dirty="0">
                <a:solidFill>
                  <a:srgbClr val="00B0F0"/>
                </a:solidFill>
                <a:latin typeface="Arial Narrow" panose="020B0606020202030204" pitchFamily="34" charset="0"/>
              </a:rPr>
              <a:t>reduces dependence on a single data split</a:t>
            </a:r>
            <a:r>
              <a:rPr lang="en-GB" sz="2000" dirty="0">
                <a:latin typeface="Arial Narrow" panose="020B0606020202030204" pitchFamily="34" charset="0"/>
              </a:rPr>
              <a:t>, allows the model to learn from a broader representation of the dataset, and produces a more accurate assessment of its true predictive performance.</a:t>
            </a:r>
          </a:p>
          <a:p>
            <a:pPr algn="just"/>
            <a:endParaRPr lang="en-GB" sz="2000" dirty="0">
              <a:latin typeface="Arial Narrow" panose="020B0606020202030204" pitchFamily="34" charset="0"/>
            </a:endParaRPr>
          </a:p>
          <a:p>
            <a:pPr algn="just"/>
            <a:r>
              <a:rPr lang="en-GB" sz="2000" dirty="0">
                <a:latin typeface="Arial Narrow" panose="020B0606020202030204" pitchFamily="34" charset="0"/>
              </a:rPr>
              <a:t>Additionally, </a:t>
            </a:r>
            <a:r>
              <a:rPr lang="en-GB" sz="2000" dirty="0">
                <a:solidFill>
                  <a:srgbClr val="00B0F0"/>
                </a:solidFill>
                <a:latin typeface="Arial Narrow" panose="020B0606020202030204" pitchFamily="34" charset="0"/>
              </a:rPr>
              <a:t>averaging the results across multiple folds reduces the variance associated with a single train–test split</a:t>
            </a:r>
            <a:r>
              <a:rPr lang="en-GB" sz="2000" dirty="0">
                <a:latin typeface="Arial Narrow" panose="020B0606020202030204" pitchFamily="34" charset="0"/>
              </a:rPr>
              <a:t>, </a:t>
            </a:r>
            <a:r>
              <a:rPr lang="en-GB" sz="2000" dirty="0">
                <a:solidFill>
                  <a:srgbClr val="00B0F0"/>
                </a:solidFill>
                <a:latin typeface="Arial Narrow" panose="020B0606020202030204" pitchFamily="34" charset="0"/>
              </a:rPr>
              <a:t>minimizing the influence of unrepresentative samples and yielding a more stable and trustworthy evaluation</a:t>
            </a:r>
            <a:r>
              <a:rPr lang="en-GB" sz="2000" dirty="0">
                <a:latin typeface="Arial Narrow" panose="020B0606020202030204" pitchFamily="34" charset="0"/>
              </a:rPr>
              <a:t>. </a:t>
            </a:r>
          </a:p>
          <a:p>
            <a:pPr marL="0" indent="0" algn="just">
              <a:buNone/>
            </a:pPr>
            <a:endParaRPr lang="en-GB" sz="2000" dirty="0">
              <a:latin typeface="Arial Narrow" panose="020B0606020202030204" pitchFamily="34" charset="0"/>
            </a:endParaRPr>
          </a:p>
          <a:p>
            <a:pPr algn="just"/>
            <a:r>
              <a:rPr lang="en-GB" sz="2000" dirty="0">
                <a:latin typeface="Arial Narrow" panose="020B0606020202030204" pitchFamily="34" charset="0"/>
              </a:rPr>
              <a:t>Overall, K-fold cross-validation </a:t>
            </a:r>
            <a:r>
              <a:rPr lang="en-GB" sz="2000" dirty="0">
                <a:solidFill>
                  <a:srgbClr val="00B0F0"/>
                </a:solidFill>
                <a:latin typeface="Arial Narrow" panose="020B0606020202030204" pitchFamily="34" charset="0"/>
              </a:rPr>
              <a:t>enhances generalization by requiring the model to perform consistently well across multiple unseen subsets rather than excelling on just one particular split</a:t>
            </a:r>
            <a:r>
              <a:rPr lang="en-GB" sz="2000" dirty="0">
                <a:latin typeface="Arial Narrow" panose="020B0606020202030204" pitchFamily="34" charset="0"/>
              </a:rPr>
              <a:t>.</a:t>
            </a:r>
            <a:endParaRPr lang="en-IN" sz="2000" dirty="0">
              <a:solidFill>
                <a:srgbClr val="7030A0"/>
              </a:solidFill>
              <a:latin typeface="Arial Narrow" panose="020B0606020202030204" pitchFamily="34" charset="0"/>
              <a:cs typeface="Times New Roman" panose="02020603050405020304" pitchFamily="18" charset="0"/>
            </a:endParaRPr>
          </a:p>
        </p:txBody>
      </p:sp>
    </p:spTree>
    <p:extLst>
      <p:ext uri="{BB962C8B-B14F-4D97-AF65-F5344CB8AC3E}">
        <p14:creationId xmlns:p14="http://schemas.microsoft.com/office/powerpoint/2010/main" val="1481193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4854"/>
            <a:ext cx="10515600" cy="1325563"/>
          </a:xfrm>
        </p:spPr>
        <p:txBody>
          <a:bodyPr>
            <a:normAutofit/>
          </a:bodyPr>
          <a:lstStyle/>
          <a:p>
            <a:r>
              <a:rPr lang="en-IN" sz="3600" dirty="0">
                <a:latin typeface="Century" panose="02040604050505020304" pitchFamily="18" charset="0"/>
              </a:rPr>
              <a:t>Regularization</a:t>
            </a:r>
          </a:p>
        </p:txBody>
      </p:sp>
      <p:sp>
        <p:nvSpPr>
          <p:cNvPr id="3" name="Content Placeholder 2"/>
          <p:cNvSpPr>
            <a:spLocks noGrp="1"/>
          </p:cNvSpPr>
          <p:nvPr>
            <p:ph idx="1"/>
          </p:nvPr>
        </p:nvSpPr>
        <p:spPr>
          <a:xfrm>
            <a:off x="838200" y="1550417"/>
            <a:ext cx="10890380" cy="5102310"/>
          </a:xfrm>
        </p:spPr>
        <p:txBody>
          <a:bodyPr>
            <a:normAutofit/>
          </a:bodyPr>
          <a:lstStyle/>
          <a:p>
            <a:r>
              <a:rPr lang="en-US" sz="2200" dirty="0">
                <a:solidFill>
                  <a:srgbClr val="00B0F0"/>
                </a:solidFill>
                <a:latin typeface="Arial Narrow" panose="020B0606020202030204" pitchFamily="34" charset="0"/>
              </a:rPr>
              <a:t>Regularization</a:t>
            </a:r>
            <a:r>
              <a:rPr lang="en-US" sz="2200" dirty="0">
                <a:latin typeface="Arial Narrow" panose="020B0606020202030204" pitchFamily="34" charset="0"/>
              </a:rPr>
              <a:t> helps the model </a:t>
            </a:r>
            <a:r>
              <a:rPr lang="en-US" sz="2200" dirty="0">
                <a:solidFill>
                  <a:srgbClr val="00B0F0"/>
                </a:solidFill>
                <a:latin typeface="Arial Narrow" panose="020B0606020202030204" pitchFamily="34" charset="0"/>
              </a:rPr>
              <a:t>generalize better to unseen data</a:t>
            </a:r>
            <a:r>
              <a:rPr lang="en-US" sz="2200" dirty="0">
                <a:latin typeface="Arial Narrow" panose="020B0606020202030204" pitchFamily="34" charset="0"/>
              </a:rPr>
              <a:t>.</a:t>
            </a:r>
          </a:p>
          <a:p>
            <a:r>
              <a:rPr lang="en-US" sz="2200" dirty="0">
                <a:solidFill>
                  <a:srgbClr val="00B0F0"/>
                </a:solidFill>
                <a:latin typeface="Arial Narrow" panose="020B0606020202030204" pitchFamily="34" charset="0"/>
              </a:rPr>
              <a:t>Penalizes Model Complexity</a:t>
            </a:r>
            <a:r>
              <a:rPr lang="en-US" sz="2200" b="1" dirty="0">
                <a:latin typeface="Arial Narrow" panose="020B0606020202030204" pitchFamily="34" charset="0"/>
              </a:rPr>
              <a:t>: </a:t>
            </a:r>
          </a:p>
          <a:p>
            <a:pPr marL="504000" indent="0">
              <a:buNone/>
            </a:pPr>
            <a:r>
              <a:rPr lang="en-US" sz="2200" dirty="0">
                <a:latin typeface="Arial Narrow" panose="020B0606020202030204" pitchFamily="34" charset="0"/>
              </a:rPr>
              <a:t>During training, regularization </a:t>
            </a:r>
            <a:r>
              <a:rPr lang="en-US" sz="2200" dirty="0">
                <a:solidFill>
                  <a:srgbClr val="00B0F0"/>
                </a:solidFill>
                <a:latin typeface="Arial Narrow" panose="020B0606020202030204" pitchFamily="34" charset="0"/>
              </a:rPr>
              <a:t>adds a penalty term to the loss function</a:t>
            </a:r>
            <a:r>
              <a:rPr lang="en-US" sz="2200" dirty="0">
                <a:latin typeface="Arial Narrow" panose="020B0606020202030204" pitchFamily="34" charset="0"/>
              </a:rPr>
              <a:t>, discouraging the model from becoming overly complex. It helps prevent:</a:t>
            </a:r>
          </a:p>
          <a:p>
            <a:pPr marL="720000"/>
            <a:r>
              <a:rPr lang="en-US" sz="2200" dirty="0">
                <a:latin typeface="Arial Narrow" panose="020B0606020202030204" pitchFamily="34" charset="0"/>
              </a:rPr>
              <a:t>Large weight values </a:t>
            </a:r>
          </a:p>
          <a:p>
            <a:pPr marL="720000"/>
            <a:r>
              <a:rPr lang="en-US" sz="2200" dirty="0">
                <a:latin typeface="Arial Narrow" panose="020B0606020202030204" pitchFamily="34" charset="0"/>
              </a:rPr>
              <a:t>Using too many features </a:t>
            </a:r>
          </a:p>
          <a:p>
            <a:pPr marL="720000"/>
            <a:r>
              <a:rPr lang="en-US" sz="2200" dirty="0">
                <a:latin typeface="Arial Narrow" panose="020B0606020202030204" pitchFamily="34" charset="0"/>
              </a:rPr>
              <a:t>Learning highly complex (overly flexible) models </a:t>
            </a:r>
            <a:endParaRPr lang="en-IN" sz="2200" dirty="0">
              <a:latin typeface="Arial Narrow" panose="020B0606020202030204" pitchFamily="34" charset="0"/>
            </a:endParaRPr>
          </a:p>
          <a:p>
            <a:r>
              <a:rPr lang="en-IN" sz="2200" dirty="0">
                <a:latin typeface="Arial Narrow" panose="020B0606020202030204" pitchFamily="34" charset="0"/>
                <a:cs typeface="Times New Roman" panose="02020603050405020304" pitchFamily="18" charset="0"/>
              </a:rPr>
              <a:t>Loss function with regularization</a:t>
            </a:r>
          </a:p>
          <a:p>
            <a:pPr marL="0" indent="0">
              <a:buNone/>
            </a:pPr>
            <a:r>
              <a:rPr lang="en-IN" sz="2200" dirty="0">
                <a:solidFill>
                  <a:srgbClr val="7030A0"/>
                </a:solidFill>
                <a:latin typeface="Arial Narrow" panose="020B0606020202030204" pitchFamily="34" charset="0"/>
                <a:cs typeface="Times New Roman" panose="02020603050405020304" pitchFamily="18" charset="0"/>
              </a:rPr>
              <a:t>                       </a:t>
            </a:r>
            <a:r>
              <a:rPr lang="en-IN" sz="2200" dirty="0">
                <a:solidFill>
                  <a:srgbClr val="7030A0"/>
                </a:solidFill>
                <a:latin typeface="Arial Narrow" panose="020B0606020202030204" pitchFamily="34" charset="0"/>
                <a:ea typeface="Cambria Math" panose="02040503050406030204" pitchFamily="18" charset="0"/>
                <a:cs typeface="Times New Roman" panose="02020603050405020304" pitchFamily="18" charset="0"/>
              </a:rPr>
              <a:t>Loss=Original Loss+𝜆×Penalty</a:t>
            </a:r>
          </a:p>
          <a:p>
            <a:r>
              <a:rPr lang="el-GR" sz="2200" dirty="0">
                <a:solidFill>
                  <a:srgbClr val="7030A0"/>
                </a:solidFill>
                <a:latin typeface="Arial Narrow" panose="020B0606020202030204" pitchFamily="34" charset="0"/>
                <a:cs typeface="Times New Roman" panose="02020603050405020304" pitchFamily="18" charset="0"/>
              </a:rPr>
              <a:t>λ (</a:t>
            </a:r>
            <a:r>
              <a:rPr lang="en-IN" sz="2200" dirty="0">
                <a:solidFill>
                  <a:srgbClr val="7030A0"/>
                </a:solidFill>
                <a:latin typeface="Arial Narrow" panose="020B0606020202030204" pitchFamily="34" charset="0"/>
                <a:cs typeface="Times New Roman" panose="02020603050405020304" pitchFamily="18" charset="0"/>
              </a:rPr>
              <a:t>lambda) </a:t>
            </a:r>
            <a:r>
              <a:rPr lang="en-IN" sz="2200" dirty="0">
                <a:latin typeface="Arial Narrow" panose="020B0606020202030204" pitchFamily="34" charset="0"/>
                <a:cs typeface="Times New Roman" panose="02020603050405020304" pitchFamily="18" charset="0"/>
              </a:rPr>
              <a:t>is the regularization parameter which controls strength of regularization</a:t>
            </a:r>
          </a:p>
          <a:p>
            <a:pPr lvl="1"/>
            <a:r>
              <a:rPr lang="en-IN" sz="2200" dirty="0">
                <a:solidFill>
                  <a:srgbClr val="00B0F0"/>
                </a:solidFill>
                <a:latin typeface="Arial Narrow" panose="020B0606020202030204" pitchFamily="34" charset="0"/>
                <a:cs typeface="Times New Roman" panose="02020603050405020304" pitchFamily="18" charset="0"/>
              </a:rPr>
              <a:t>Larger </a:t>
            </a:r>
            <a:r>
              <a:rPr lang="el-GR" sz="2200" dirty="0">
                <a:solidFill>
                  <a:srgbClr val="00B0F0"/>
                </a:solidFill>
                <a:latin typeface="Arial Narrow" panose="020B0606020202030204" pitchFamily="34" charset="0"/>
                <a:cs typeface="Times New Roman" panose="02020603050405020304" pitchFamily="18" charset="0"/>
              </a:rPr>
              <a:t>λ → </a:t>
            </a:r>
            <a:r>
              <a:rPr lang="en-IN" sz="2200" dirty="0">
                <a:solidFill>
                  <a:srgbClr val="00B0F0"/>
                </a:solidFill>
                <a:latin typeface="Arial Narrow" panose="020B0606020202030204" pitchFamily="34" charset="0"/>
                <a:cs typeface="Times New Roman" panose="02020603050405020304" pitchFamily="18" charset="0"/>
              </a:rPr>
              <a:t>simpler model</a:t>
            </a:r>
          </a:p>
          <a:p>
            <a:pPr lvl="1"/>
            <a:r>
              <a:rPr lang="en-IN" sz="2200" dirty="0">
                <a:solidFill>
                  <a:srgbClr val="00B0F0"/>
                </a:solidFill>
                <a:latin typeface="Arial Narrow" panose="020B0606020202030204" pitchFamily="34" charset="0"/>
                <a:cs typeface="Times New Roman" panose="02020603050405020304" pitchFamily="18" charset="0"/>
              </a:rPr>
              <a:t>Smaller </a:t>
            </a:r>
            <a:r>
              <a:rPr lang="el-GR" sz="2200" dirty="0">
                <a:solidFill>
                  <a:srgbClr val="00B0F0"/>
                </a:solidFill>
                <a:latin typeface="Arial Narrow" panose="020B0606020202030204" pitchFamily="34" charset="0"/>
                <a:cs typeface="Times New Roman" panose="02020603050405020304" pitchFamily="18" charset="0"/>
              </a:rPr>
              <a:t>λ → </a:t>
            </a:r>
            <a:r>
              <a:rPr lang="en-IN" sz="2200" dirty="0">
                <a:solidFill>
                  <a:srgbClr val="00B0F0"/>
                </a:solidFill>
                <a:latin typeface="Arial Narrow" panose="020B0606020202030204" pitchFamily="34" charset="0"/>
                <a:cs typeface="Times New Roman" panose="02020603050405020304" pitchFamily="18" charset="0"/>
              </a:rPr>
              <a:t>more complex (flexible) model</a:t>
            </a:r>
          </a:p>
        </p:txBody>
      </p:sp>
    </p:spTree>
    <p:extLst>
      <p:ext uri="{BB962C8B-B14F-4D97-AF65-F5344CB8AC3E}">
        <p14:creationId xmlns:p14="http://schemas.microsoft.com/office/powerpoint/2010/main" val="4042707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6246"/>
            <a:ext cx="10515600" cy="925480"/>
          </a:xfrm>
        </p:spPr>
        <p:txBody>
          <a:bodyPr>
            <a:normAutofit/>
          </a:bodyPr>
          <a:lstStyle/>
          <a:p>
            <a:r>
              <a:rPr lang="en-US" sz="2000" dirty="0">
                <a:solidFill>
                  <a:srgbClr val="00B0F0"/>
                </a:solidFill>
                <a:latin typeface="Arial Narrow" panose="020B0606020202030204" pitchFamily="34" charset="0"/>
              </a:rPr>
              <a:t>Regularization reduces overfitting by adding a penalty term to the cost function</a:t>
            </a:r>
            <a:r>
              <a:rPr lang="en-US" sz="2000" dirty="0">
                <a:latin typeface="Arial Narrow" panose="020B0606020202030204" pitchFamily="34" charset="0"/>
              </a:rPr>
              <a:t>. This penalty encourages the model to learn smaller weight values, resulting in a simpler model with lower complexity and better generalization.</a:t>
            </a:r>
          </a:p>
        </p:txBody>
      </p:sp>
      <p:sp>
        <p:nvSpPr>
          <p:cNvPr id="4" name="Title 1"/>
          <p:cNvSpPr txBox="1">
            <a:spLocks/>
          </p:cNvSpPr>
          <p:nvPr/>
        </p:nvSpPr>
        <p:spPr>
          <a:xfrm>
            <a:off x="838200" y="22485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Century" panose="02040604050505020304" pitchFamily="18" charset="0"/>
              </a:rPr>
              <a:t>Regularization</a:t>
            </a:r>
          </a:p>
        </p:txBody>
      </p:sp>
      <p:sp>
        <p:nvSpPr>
          <p:cNvPr id="5" name="Rectangle 4"/>
          <p:cNvSpPr/>
          <p:nvPr/>
        </p:nvSpPr>
        <p:spPr>
          <a:xfrm>
            <a:off x="838200" y="2771809"/>
            <a:ext cx="6518032" cy="1378471"/>
          </a:xfrm>
          <a:prstGeom prst="rect">
            <a:avLst/>
          </a:prstGeom>
        </p:spPr>
        <p:txBody>
          <a:bodyPr vert="horz" lIns="91440" tIns="45720" rIns="91440" bIns="45720" rtlCol="0">
            <a:noAutofit/>
          </a:bodyPr>
          <a:lstStyle/>
          <a:p>
            <a:pPr marL="228600" indent="-228600" algn="just">
              <a:lnSpc>
                <a:spcPct val="90000"/>
              </a:lnSpc>
              <a:spcBef>
                <a:spcPts val="1000"/>
              </a:spcBef>
              <a:buFont typeface="Arial" panose="020B0604020202020204" pitchFamily="34" charset="0"/>
              <a:buChar char="•"/>
            </a:pPr>
            <a:r>
              <a:rPr lang="en-US" sz="2000" b="1" dirty="0">
                <a:latin typeface="Arial Narrow" panose="020B0606020202030204" pitchFamily="34" charset="0"/>
              </a:rPr>
              <a:t>L1 Regularization (Lasso) </a:t>
            </a:r>
            <a:r>
              <a:rPr lang="en-US" sz="2000" dirty="0">
                <a:latin typeface="Arial Narrow" panose="020B0606020202030204" pitchFamily="34" charset="0"/>
              </a:rPr>
              <a:t>adds the absolute values of the coefficients to the loss function as a penalty. </a:t>
            </a:r>
            <a:r>
              <a:rPr lang="en-US" sz="2000" dirty="0">
                <a:solidFill>
                  <a:srgbClr val="00B0F0"/>
                </a:solidFill>
                <a:latin typeface="Arial Narrow" panose="020B0606020202030204" pitchFamily="34" charset="0"/>
              </a:rPr>
              <a:t>It forces some unimportant weights to exactly zero (feature selection)</a:t>
            </a:r>
            <a:r>
              <a:rPr lang="en-US" sz="2000" dirty="0">
                <a:latin typeface="Arial Narrow" panose="020B0606020202030204" pitchFamily="34" charset="0"/>
              </a:rPr>
              <a:t>, reducing model complexity and improving generalization.</a:t>
            </a:r>
            <a:endParaRPr lang="en-IN" sz="2000" dirty="0">
              <a:latin typeface="Arial Narrow" panose="020B0606020202030204" pitchFamily="34" charset="0"/>
            </a:endParaRPr>
          </a:p>
        </p:txBody>
      </p:sp>
      <mc:AlternateContent xmlns:mc="http://schemas.openxmlformats.org/markup-compatibility/2006">
        <mc:Choice xmlns:a14="http://schemas.microsoft.com/office/drawing/2010/main" Requires="a14">
          <p:sp>
            <p:nvSpPr>
              <p:cNvPr id="9" name="Rectangle 8"/>
              <p:cNvSpPr/>
              <p:nvPr/>
            </p:nvSpPr>
            <p:spPr>
              <a:xfrm>
                <a:off x="7492365" y="2705077"/>
                <a:ext cx="4600575" cy="677108"/>
              </a:xfrm>
              <a:prstGeom prst="rect">
                <a:avLst/>
              </a:prstGeom>
            </p:spPr>
            <p:txBody>
              <a:bodyPr wrap="square">
                <a:spAutoFit/>
              </a:bodyPr>
              <a:lstStyle/>
              <a:p>
                <a:pPr algn="just"/>
                <a:r>
                  <a:rPr lang="en-US" b="1" dirty="0">
                    <a:solidFill>
                      <a:srgbClr val="7030A0"/>
                    </a:solidFill>
                    <a:latin typeface="Arial Narrow" panose="020B0606020202030204" pitchFamily="34" charset="0"/>
                    <a:cs typeface="Times New Roman" panose="02020603050405020304" pitchFamily="18" charset="0"/>
                  </a:rPr>
                  <a:t>Loss = </a:t>
                </a:r>
                <a14:m>
                  <m:oMath xmlns:m="http://schemas.openxmlformats.org/officeDocument/2006/math">
                    <m:f>
                      <m:fPr>
                        <m:ctrlPr>
                          <a:rPr lang="en-US" b="1" i="1">
                            <a:solidFill>
                              <a:srgbClr val="7030A0"/>
                            </a:solidFill>
                            <a:latin typeface="Cambria Math" panose="02040503050406030204" pitchFamily="18" charset="0"/>
                          </a:rPr>
                        </m:ctrlPr>
                      </m:fPr>
                      <m:num>
                        <m:r>
                          <a:rPr lang="en-US" b="1" i="1">
                            <a:solidFill>
                              <a:srgbClr val="7030A0"/>
                            </a:solidFill>
                            <a:latin typeface="Cambria Math" panose="02040503050406030204" pitchFamily="18" charset="0"/>
                          </a:rPr>
                          <m:t>𝟏</m:t>
                        </m:r>
                      </m:num>
                      <m:den>
                        <m:r>
                          <a:rPr lang="en-US" b="1" i="1">
                            <a:solidFill>
                              <a:srgbClr val="7030A0"/>
                            </a:solidFill>
                            <a:latin typeface="Cambria Math" panose="02040503050406030204" pitchFamily="18" charset="0"/>
                          </a:rPr>
                          <m:t>𝟐</m:t>
                        </m:r>
                        <m:r>
                          <a:rPr lang="en-US" b="1" i="1">
                            <a:solidFill>
                              <a:srgbClr val="7030A0"/>
                            </a:solidFill>
                            <a:latin typeface="Cambria Math" panose="02040503050406030204" pitchFamily="18" charset="0"/>
                          </a:rPr>
                          <m:t>𝒎</m:t>
                        </m:r>
                      </m:den>
                    </m:f>
                    <m:nary>
                      <m:naryPr>
                        <m:chr m:val="∑"/>
                        <m:ctrlPr>
                          <a:rPr lang="en-US" b="1" i="1">
                            <a:solidFill>
                              <a:srgbClr val="7030A0"/>
                            </a:solidFill>
                            <a:latin typeface="Cambria Math" panose="02040503050406030204" pitchFamily="18" charset="0"/>
                          </a:rPr>
                        </m:ctrlPr>
                      </m:naryPr>
                      <m:sub>
                        <m:r>
                          <m:rPr>
                            <m:brk m:alnAt="23"/>
                          </m:rPr>
                          <a:rPr lang="en-US" b="1" i="1">
                            <a:solidFill>
                              <a:srgbClr val="7030A0"/>
                            </a:solidFill>
                            <a:latin typeface="Cambria Math" panose="02040503050406030204" pitchFamily="18" charset="0"/>
                          </a:rPr>
                          <m:t>𝒊</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𝟏</m:t>
                        </m:r>
                      </m:sub>
                      <m:sup>
                        <m:r>
                          <a:rPr lang="en-US" b="1" i="1">
                            <a:solidFill>
                              <a:srgbClr val="7030A0"/>
                            </a:solidFill>
                            <a:latin typeface="Cambria Math" panose="02040503050406030204" pitchFamily="18" charset="0"/>
                          </a:rPr>
                          <m:t>𝒎</m:t>
                        </m:r>
                      </m:sup>
                      <m:e>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𝒉</m:t>
                        </m:r>
                        <m:r>
                          <a:rPr lang="en-US" b="1" i="1" baseline="-25000">
                            <a:solidFill>
                              <a:srgbClr val="7030A0"/>
                            </a:solidFill>
                            <a:latin typeface="Cambria Math" panose="02040503050406030204" pitchFamily="18" charset="0"/>
                            <a:ea typeface="Cambria Math" panose="02040503050406030204" pitchFamily="18" charset="0"/>
                          </a:rPr>
                          <m:t>𝝓</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𝒙</m:t>
                        </m:r>
                        <m:r>
                          <m:rPr>
                            <m:nor/>
                          </m:rPr>
                          <a:rPr lang="en-IN" b="1" baseline="30000" dirty="0">
                            <a:solidFill>
                              <a:srgbClr val="7030A0"/>
                            </a:solidFill>
                            <a:latin typeface="Arial Narrow" panose="020B0606020202030204" pitchFamily="34" charset="0"/>
                            <a:cs typeface="Times New Roman" panose="02020603050405020304" pitchFamily="18" charset="0"/>
                          </a:rPr>
                          <m:t>(</m:t>
                        </m:r>
                        <m:r>
                          <m:rPr>
                            <m:nor/>
                          </m:rPr>
                          <a:rPr lang="en-IN" b="1" baseline="30000" dirty="0">
                            <a:solidFill>
                              <a:srgbClr val="7030A0"/>
                            </a:solidFill>
                            <a:latin typeface="Arial Narrow" panose="020B0606020202030204" pitchFamily="34" charset="0"/>
                            <a:cs typeface="Times New Roman" panose="02020603050405020304" pitchFamily="18" charset="0"/>
                          </a:rPr>
                          <m:t>i</m:t>
                        </m:r>
                        <m:r>
                          <m:rPr>
                            <m:nor/>
                          </m:rPr>
                          <a:rPr lang="en-IN" b="1" baseline="30000" dirty="0">
                            <a:solidFill>
                              <a:srgbClr val="7030A0"/>
                            </a:solidFill>
                            <a:latin typeface="Arial Narrow" panose="020B0606020202030204" pitchFamily="34" charset="0"/>
                            <a:cs typeface="Times New Roman" panose="02020603050405020304" pitchFamily="18" charset="0"/>
                          </a:rPr>
                          <m:t>)</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𝒚</m:t>
                        </m:r>
                      </m:e>
                    </m:nary>
                  </m:oMath>
                </a14:m>
                <a:r>
                  <a:rPr lang="en-IN" b="1" baseline="30000" dirty="0">
                    <a:solidFill>
                      <a:srgbClr val="7030A0"/>
                    </a:solidFill>
                    <a:latin typeface="Arial Narrow" panose="020B0606020202030204" pitchFamily="34" charset="0"/>
                    <a:cs typeface="Times New Roman" panose="02020603050405020304" pitchFamily="18" charset="0"/>
                  </a:rPr>
                  <a:t>(</a:t>
                </a:r>
                <a:r>
                  <a:rPr lang="en-IN" b="1" baseline="30000" dirty="0" err="1">
                    <a:solidFill>
                      <a:srgbClr val="7030A0"/>
                    </a:solidFill>
                    <a:latin typeface="Arial Narrow" panose="020B0606020202030204" pitchFamily="34" charset="0"/>
                    <a:cs typeface="Times New Roman" panose="02020603050405020304" pitchFamily="18" charset="0"/>
                  </a:rPr>
                  <a:t>i</a:t>
                </a:r>
                <a:r>
                  <a:rPr lang="en-IN" b="1" baseline="30000" dirty="0">
                    <a:solidFill>
                      <a:srgbClr val="7030A0"/>
                    </a:solidFill>
                    <a:latin typeface="Arial Narrow" panose="020B0606020202030204" pitchFamily="34" charset="0"/>
                    <a:cs typeface="Times New Roman" panose="02020603050405020304" pitchFamily="18" charset="0"/>
                  </a:rPr>
                  <a:t>)</a:t>
                </a:r>
                <a:r>
                  <a:rPr lang="en-IN" b="1" dirty="0">
                    <a:solidFill>
                      <a:srgbClr val="7030A0"/>
                    </a:solidFill>
                    <a:latin typeface="Arial Narrow" panose="020B0606020202030204" pitchFamily="34" charset="0"/>
                    <a:ea typeface="Cambria Math" panose="02040503050406030204" pitchFamily="18" charset="0"/>
                    <a:cs typeface="Times New Roman" panose="02020603050405020304" pitchFamily="18" charset="0"/>
                  </a:rPr>
                  <a:t>)</a:t>
                </a:r>
                <a:r>
                  <a:rPr lang="en-IN" b="1" baseline="30000" dirty="0">
                    <a:solidFill>
                      <a:srgbClr val="7030A0"/>
                    </a:solidFill>
                    <a:latin typeface="Arial Narrow" panose="020B0606020202030204" pitchFamily="34" charset="0"/>
                    <a:cs typeface="Times New Roman" panose="02020603050405020304" pitchFamily="18" charset="0"/>
                  </a:rPr>
                  <a:t>2</a:t>
                </a:r>
                <a:r>
                  <a:rPr lang="en-IN" b="1" dirty="0">
                    <a:solidFill>
                      <a:srgbClr val="7030A0"/>
                    </a:solidFill>
                    <a:latin typeface="Arial Narrow" panose="020B0606020202030204" pitchFamily="34" charset="0"/>
                    <a:cs typeface="Times New Roman" panose="02020603050405020304" pitchFamily="18" charset="0"/>
                  </a:rPr>
                  <a:t> +𝜆</a:t>
                </a:r>
                <a14:m>
                  <m:oMath xmlns:m="http://schemas.openxmlformats.org/officeDocument/2006/math">
                    <m:nary>
                      <m:naryPr>
                        <m:chr m:val="∑"/>
                        <m:ctrlPr>
                          <a:rPr lang="en-IN" b="1" i="1">
                            <a:solidFill>
                              <a:srgbClr val="7030A0"/>
                            </a:solidFill>
                            <a:latin typeface="Cambria Math" panose="02040503050406030204" pitchFamily="18" charset="0"/>
                            <a:ea typeface="Cambria Math" panose="02040503050406030204" pitchFamily="18" charset="0"/>
                          </a:rPr>
                        </m:ctrlPr>
                      </m:naryPr>
                      <m:sub>
                        <m:r>
                          <m:rPr>
                            <m:brk m:alnAt="23"/>
                          </m:rPr>
                          <a:rPr lang="en-US" b="1" i="1">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𝟎</m:t>
                        </m:r>
                      </m:sub>
                      <m:sup>
                        <m:r>
                          <a:rPr lang="en-US" b="1" i="1">
                            <a:solidFill>
                              <a:srgbClr val="7030A0"/>
                            </a:solidFill>
                            <a:latin typeface="Cambria Math" panose="02040503050406030204" pitchFamily="18" charset="0"/>
                            <a:ea typeface="Cambria Math" panose="02040503050406030204" pitchFamily="18" charset="0"/>
                          </a:rPr>
                          <m:t>𝒏</m:t>
                        </m:r>
                      </m:sup>
                      <m:e>
                        <m:r>
                          <a:rPr lang="en-US" b="1" i="1">
                            <a:solidFill>
                              <a:srgbClr val="7030A0"/>
                            </a:solidFill>
                            <a:latin typeface="Cambria Math" panose="02040503050406030204" pitchFamily="18" charset="0"/>
                            <a:ea typeface="Cambria Math" panose="02040503050406030204" pitchFamily="18" charset="0"/>
                          </a:rPr>
                          <m:t>|</m:t>
                        </m:r>
                        <m:r>
                          <a:rPr lang="en-IN" b="1" i="1">
                            <a:solidFill>
                              <a:srgbClr val="7030A0"/>
                            </a:solidFill>
                            <a:latin typeface="Cambria Math" panose="02040503050406030204" pitchFamily="18" charset="0"/>
                            <a:ea typeface="Cambria Math" panose="02040503050406030204" pitchFamily="18" charset="0"/>
                          </a:rPr>
                          <m:t>𝝓</m:t>
                        </m:r>
                        <m:r>
                          <a:rPr lang="en-US" b="1" i="1" baseline="-25000">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e>
                    </m:nary>
                  </m:oMath>
                </a14:m>
                <a:endParaRPr lang="en-IN" b="1" baseline="30000" dirty="0">
                  <a:latin typeface="Arial Narrow" panose="020B0606020202030204" pitchFamily="34" charset="0"/>
                  <a:cs typeface="Times New Roman" panose="02020603050405020304" pitchFamily="18" charset="0"/>
                </a:endParaRPr>
              </a:p>
              <a:p>
                <a:pPr algn="just"/>
                <a:endParaRPr lang="en-IN" baseline="30000" dirty="0">
                  <a:latin typeface="Times New Roman" panose="02020603050405020304" pitchFamily="18"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7492365" y="2705077"/>
                <a:ext cx="4600575" cy="677108"/>
              </a:xfrm>
              <a:prstGeom prst="rect">
                <a:avLst/>
              </a:prstGeom>
              <a:blipFill>
                <a:blip r:embed="rId2"/>
                <a:stretch>
                  <a:fillRect l="-1060" t="-55856" b="-65766"/>
                </a:stretch>
              </a:blipFill>
            </p:spPr>
            <p:txBody>
              <a:bodyPr/>
              <a:lstStyle/>
              <a:p>
                <a:r>
                  <a:rPr lang="en-GB">
                    <a:noFill/>
                  </a:rPr>
                  <a:t> </a:t>
                </a:r>
              </a:p>
            </p:txBody>
          </p:sp>
        </mc:Fallback>
      </mc:AlternateContent>
      <p:sp>
        <p:nvSpPr>
          <p:cNvPr id="11" name="Oval 10"/>
          <p:cNvSpPr/>
          <p:nvPr/>
        </p:nvSpPr>
        <p:spPr>
          <a:xfrm>
            <a:off x="8201025" y="2545501"/>
            <a:ext cx="2387599" cy="89453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p:cNvSpPr/>
          <p:nvPr/>
        </p:nvSpPr>
        <p:spPr>
          <a:xfrm>
            <a:off x="10970418" y="2570910"/>
            <a:ext cx="809625" cy="79533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8987987" y="2270420"/>
            <a:ext cx="1164101" cy="338554"/>
          </a:xfrm>
          <a:prstGeom prst="rect">
            <a:avLst/>
          </a:prstGeom>
          <a:noFill/>
        </p:spPr>
        <p:txBody>
          <a:bodyPr wrap="none" rtlCol="0">
            <a:spAutoFit/>
          </a:bodyPr>
          <a:lstStyle/>
          <a:p>
            <a:r>
              <a:rPr lang="en-IN" sz="1600" dirty="0">
                <a:solidFill>
                  <a:schemeClr val="accent2">
                    <a:lumMod val="75000"/>
                  </a:schemeClr>
                </a:solidFill>
                <a:latin typeface="Arial Narrow" panose="020B0606020202030204" pitchFamily="34" charset="0"/>
              </a:rPr>
              <a:t>Original Loss</a:t>
            </a:r>
          </a:p>
        </p:txBody>
      </p:sp>
      <p:sp>
        <p:nvSpPr>
          <p:cNvPr id="14" name="TextBox 13"/>
          <p:cNvSpPr txBox="1"/>
          <p:nvPr/>
        </p:nvSpPr>
        <p:spPr>
          <a:xfrm>
            <a:off x="11037654" y="2299466"/>
            <a:ext cx="744114" cy="338554"/>
          </a:xfrm>
          <a:prstGeom prst="rect">
            <a:avLst/>
          </a:prstGeom>
          <a:noFill/>
        </p:spPr>
        <p:txBody>
          <a:bodyPr wrap="none" rtlCol="0">
            <a:spAutoFit/>
          </a:bodyPr>
          <a:lstStyle/>
          <a:p>
            <a:r>
              <a:rPr lang="en-IN" sz="1600" dirty="0">
                <a:solidFill>
                  <a:schemeClr val="accent2">
                    <a:lumMod val="75000"/>
                  </a:schemeClr>
                </a:solidFill>
                <a:latin typeface="Arial Narrow" panose="020B0606020202030204" pitchFamily="34" charset="0"/>
              </a:rPr>
              <a:t>Penalty</a:t>
            </a:r>
          </a:p>
        </p:txBody>
      </p:sp>
      <p:sp>
        <p:nvSpPr>
          <p:cNvPr id="17" name="Rectangle 16"/>
          <p:cNvSpPr/>
          <p:nvPr/>
        </p:nvSpPr>
        <p:spPr>
          <a:xfrm>
            <a:off x="833964" y="4521199"/>
            <a:ext cx="6518032" cy="1378471"/>
          </a:xfrm>
          <a:prstGeom prst="rect">
            <a:avLst/>
          </a:prstGeom>
        </p:spPr>
        <p:txBody>
          <a:bodyPr vert="horz" lIns="91440" tIns="45720" rIns="91440" bIns="45720" rtlCol="0">
            <a:noAutofit/>
          </a:bodyPr>
          <a:lstStyle/>
          <a:p>
            <a:pPr marL="228600" indent="-228600" algn="just">
              <a:lnSpc>
                <a:spcPct val="90000"/>
              </a:lnSpc>
              <a:spcBef>
                <a:spcPts val="1000"/>
              </a:spcBef>
              <a:buFont typeface="Arial" panose="020B0604020202020204" pitchFamily="34" charset="0"/>
              <a:buChar char="•"/>
            </a:pPr>
            <a:r>
              <a:rPr lang="en-US" sz="2000" b="1" dirty="0">
                <a:latin typeface="Arial Narrow" panose="020B0606020202030204" pitchFamily="34" charset="0"/>
              </a:rPr>
              <a:t>L2 Regularization (Ridge)</a:t>
            </a:r>
            <a:r>
              <a:rPr lang="en-US" sz="2000" dirty="0">
                <a:latin typeface="Arial Narrow" panose="020B0606020202030204" pitchFamily="34" charset="0"/>
              </a:rPr>
              <a:t> </a:t>
            </a:r>
            <a:r>
              <a:rPr lang="en-US" sz="2000" dirty="0">
                <a:solidFill>
                  <a:srgbClr val="00B0F0"/>
                </a:solidFill>
                <a:latin typeface="Arial Narrow" panose="020B0606020202030204" pitchFamily="34" charset="0"/>
              </a:rPr>
              <a:t>adds the squared values </a:t>
            </a:r>
            <a:r>
              <a:rPr lang="en-US" sz="2000" dirty="0">
                <a:latin typeface="Arial Narrow" panose="020B0606020202030204" pitchFamily="34" charset="0"/>
              </a:rPr>
              <a:t>of the coefficients as a penalty term to the loss function. </a:t>
            </a:r>
            <a:r>
              <a:rPr lang="en-US" sz="2000" dirty="0">
                <a:solidFill>
                  <a:srgbClr val="00B0F0"/>
                </a:solidFill>
                <a:latin typeface="Arial Narrow" panose="020B0606020202030204" pitchFamily="34" charset="0"/>
              </a:rPr>
              <a:t>This causes large weights to decay but does not force them to become zero</a:t>
            </a:r>
            <a:r>
              <a:rPr lang="en-US" sz="2000" dirty="0">
                <a:latin typeface="Arial Narrow" panose="020B0606020202030204" pitchFamily="34" charset="0"/>
              </a:rPr>
              <a:t>, allowing all features to contribute while spreading the influence across them</a:t>
            </a:r>
            <a:endParaRPr lang="en-IN" sz="2000" dirty="0">
              <a:latin typeface="Arial Narrow" panose="020B0606020202030204" pitchFamily="34" charset="0"/>
            </a:endParaRPr>
          </a:p>
        </p:txBody>
      </p:sp>
      <mc:AlternateContent xmlns:mc="http://schemas.openxmlformats.org/markup-compatibility/2006">
        <mc:Choice xmlns:a14="http://schemas.microsoft.com/office/drawing/2010/main" Requires="a14">
          <p:sp>
            <p:nvSpPr>
              <p:cNvPr id="18" name="Rectangle 17"/>
              <p:cNvSpPr/>
              <p:nvPr/>
            </p:nvSpPr>
            <p:spPr>
              <a:xfrm>
                <a:off x="7492365" y="5024279"/>
                <a:ext cx="4503284" cy="492443"/>
              </a:xfrm>
              <a:prstGeom prst="rect">
                <a:avLst/>
              </a:prstGeom>
            </p:spPr>
            <p:txBody>
              <a:bodyPr wrap="none">
                <a:spAutoFit/>
              </a:bodyPr>
              <a:lstStyle/>
              <a:p>
                <a:r>
                  <a:rPr lang="en-US" b="1" dirty="0">
                    <a:solidFill>
                      <a:srgbClr val="7030A0"/>
                    </a:solidFill>
                    <a:latin typeface="Times New Roman" panose="02020603050405020304" pitchFamily="18" charset="0"/>
                    <a:cs typeface="Times New Roman" panose="02020603050405020304" pitchFamily="18" charset="0"/>
                  </a:rPr>
                  <a:t> </a:t>
                </a:r>
                <a:r>
                  <a:rPr lang="en-US" b="1" dirty="0">
                    <a:solidFill>
                      <a:srgbClr val="7030A0"/>
                    </a:solidFill>
                    <a:latin typeface="Arial Narrow" panose="020B0606020202030204" pitchFamily="34" charset="0"/>
                    <a:cs typeface="Times New Roman" panose="02020603050405020304" pitchFamily="18" charset="0"/>
                  </a:rPr>
                  <a:t>Loss = </a:t>
                </a:r>
                <a14:m>
                  <m:oMath xmlns:m="http://schemas.openxmlformats.org/officeDocument/2006/math">
                    <m:f>
                      <m:fPr>
                        <m:ctrlPr>
                          <a:rPr lang="en-US" b="1" i="1">
                            <a:solidFill>
                              <a:srgbClr val="7030A0"/>
                            </a:solidFill>
                            <a:latin typeface="Cambria Math" panose="02040503050406030204" pitchFamily="18" charset="0"/>
                          </a:rPr>
                        </m:ctrlPr>
                      </m:fPr>
                      <m:num>
                        <m:r>
                          <a:rPr lang="en-US" b="1" i="1">
                            <a:solidFill>
                              <a:srgbClr val="7030A0"/>
                            </a:solidFill>
                            <a:latin typeface="Cambria Math" panose="02040503050406030204" pitchFamily="18" charset="0"/>
                          </a:rPr>
                          <m:t>𝟏</m:t>
                        </m:r>
                      </m:num>
                      <m:den>
                        <m:r>
                          <a:rPr lang="en-US" b="1" i="1">
                            <a:solidFill>
                              <a:srgbClr val="7030A0"/>
                            </a:solidFill>
                            <a:latin typeface="Cambria Math" panose="02040503050406030204" pitchFamily="18" charset="0"/>
                          </a:rPr>
                          <m:t>𝟐</m:t>
                        </m:r>
                        <m:r>
                          <a:rPr lang="en-US" b="1" i="1">
                            <a:solidFill>
                              <a:srgbClr val="7030A0"/>
                            </a:solidFill>
                            <a:latin typeface="Cambria Math" panose="02040503050406030204" pitchFamily="18" charset="0"/>
                          </a:rPr>
                          <m:t>𝒎</m:t>
                        </m:r>
                      </m:den>
                    </m:f>
                    <m:nary>
                      <m:naryPr>
                        <m:chr m:val="∑"/>
                        <m:ctrlPr>
                          <a:rPr lang="en-US" b="1" i="1">
                            <a:solidFill>
                              <a:srgbClr val="7030A0"/>
                            </a:solidFill>
                            <a:latin typeface="Cambria Math" panose="02040503050406030204" pitchFamily="18" charset="0"/>
                          </a:rPr>
                        </m:ctrlPr>
                      </m:naryPr>
                      <m:sub>
                        <m:r>
                          <m:rPr>
                            <m:brk m:alnAt="23"/>
                          </m:rPr>
                          <a:rPr lang="en-US" b="1" i="1">
                            <a:solidFill>
                              <a:srgbClr val="7030A0"/>
                            </a:solidFill>
                            <a:latin typeface="Cambria Math" panose="02040503050406030204" pitchFamily="18" charset="0"/>
                          </a:rPr>
                          <m:t>𝒊</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𝟏</m:t>
                        </m:r>
                      </m:sub>
                      <m:sup>
                        <m:r>
                          <a:rPr lang="en-US" b="1" i="1">
                            <a:solidFill>
                              <a:srgbClr val="7030A0"/>
                            </a:solidFill>
                            <a:latin typeface="Cambria Math" panose="02040503050406030204" pitchFamily="18" charset="0"/>
                          </a:rPr>
                          <m:t>𝒎</m:t>
                        </m:r>
                      </m:sup>
                      <m:e>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𝒉</m:t>
                        </m:r>
                        <m:r>
                          <a:rPr lang="en-US" b="1" i="1" baseline="-25000">
                            <a:solidFill>
                              <a:srgbClr val="7030A0"/>
                            </a:solidFill>
                            <a:latin typeface="Cambria Math" panose="02040503050406030204" pitchFamily="18" charset="0"/>
                            <a:ea typeface="Cambria Math" panose="02040503050406030204" pitchFamily="18" charset="0"/>
                          </a:rPr>
                          <m:t>𝝓</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𝒙</m:t>
                        </m:r>
                        <m:r>
                          <m:rPr>
                            <m:nor/>
                          </m:rPr>
                          <a:rPr lang="en-IN" b="1" baseline="30000" dirty="0">
                            <a:solidFill>
                              <a:srgbClr val="7030A0"/>
                            </a:solidFill>
                            <a:latin typeface="Arial Narrow" panose="020B0606020202030204" pitchFamily="34" charset="0"/>
                            <a:cs typeface="Times New Roman" panose="02020603050405020304" pitchFamily="18" charset="0"/>
                          </a:rPr>
                          <m:t>(</m:t>
                        </m:r>
                        <m:r>
                          <m:rPr>
                            <m:nor/>
                          </m:rPr>
                          <a:rPr lang="en-IN" b="1" baseline="30000" dirty="0">
                            <a:solidFill>
                              <a:srgbClr val="7030A0"/>
                            </a:solidFill>
                            <a:latin typeface="Arial Narrow" panose="020B0606020202030204" pitchFamily="34" charset="0"/>
                            <a:cs typeface="Times New Roman" panose="02020603050405020304" pitchFamily="18" charset="0"/>
                          </a:rPr>
                          <m:t>i</m:t>
                        </m:r>
                        <m:r>
                          <m:rPr>
                            <m:nor/>
                          </m:rPr>
                          <a:rPr lang="en-IN" b="1" baseline="30000" dirty="0">
                            <a:solidFill>
                              <a:srgbClr val="7030A0"/>
                            </a:solidFill>
                            <a:latin typeface="Arial Narrow" panose="020B0606020202030204" pitchFamily="34" charset="0"/>
                            <a:cs typeface="Times New Roman" panose="02020603050405020304" pitchFamily="18" charset="0"/>
                          </a:rPr>
                          <m:t>)</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𝒚</m:t>
                        </m:r>
                      </m:e>
                    </m:nary>
                  </m:oMath>
                </a14:m>
                <a:r>
                  <a:rPr lang="en-IN" b="1" baseline="30000" dirty="0">
                    <a:solidFill>
                      <a:srgbClr val="7030A0"/>
                    </a:solidFill>
                    <a:latin typeface="Arial Narrow" panose="020B0606020202030204" pitchFamily="34" charset="0"/>
                    <a:cs typeface="Times New Roman" panose="02020603050405020304" pitchFamily="18" charset="0"/>
                  </a:rPr>
                  <a:t>(</a:t>
                </a:r>
                <a:r>
                  <a:rPr lang="en-IN" b="1" baseline="30000" dirty="0" err="1">
                    <a:solidFill>
                      <a:srgbClr val="7030A0"/>
                    </a:solidFill>
                    <a:latin typeface="Arial Narrow" panose="020B0606020202030204" pitchFamily="34" charset="0"/>
                    <a:cs typeface="Times New Roman" panose="02020603050405020304" pitchFamily="18" charset="0"/>
                  </a:rPr>
                  <a:t>i</a:t>
                </a:r>
                <a:r>
                  <a:rPr lang="en-IN" b="1" baseline="30000" dirty="0">
                    <a:solidFill>
                      <a:srgbClr val="7030A0"/>
                    </a:solidFill>
                    <a:latin typeface="Arial Narrow" panose="020B0606020202030204" pitchFamily="34" charset="0"/>
                    <a:cs typeface="Times New Roman" panose="02020603050405020304" pitchFamily="18" charset="0"/>
                  </a:rPr>
                  <a:t>)</a:t>
                </a:r>
                <a:r>
                  <a:rPr lang="en-IN" b="1" dirty="0">
                    <a:solidFill>
                      <a:srgbClr val="7030A0"/>
                    </a:solidFill>
                    <a:latin typeface="Arial Narrow" panose="020B0606020202030204" pitchFamily="34" charset="0"/>
                    <a:ea typeface="Cambria Math" panose="02040503050406030204" pitchFamily="18" charset="0"/>
                    <a:cs typeface="Times New Roman" panose="02020603050405020304" pitchFamily="18" charset="0"/>
                  </a:rPr>
                  <a:t>)</a:t>
                </a:r>
                <a:r>
                  <a:rPr lang="en-IN" b="1" baseline="30000" dirty="0">
                    <a:solidFill>
                      <a:srgbClr val="7030A0"/>
                    </a:solidFill>
                    <a:latin typeface="Arial Narrow" panose="020B0606020202030204" pitchFamily="34" charset="0"/>
                    <a:cs typeface="Times New Roman" panose="02020603050405020304" pitchFamily="18" charset="0"/>
                  </a:rPr>
                  <a:t>2</a:t>
                </a:r>
                <a:r>
                  <a:rPr lang="en-IN" b="1" dirty="0">
                    <a:solidFill>
                      <a:srgbClr val="7030A0"/>
                    </a:solidFill>
                    <a:latin typeface="Arial Narrow" panose="020B0606020202030204" pitchFamily="34" charset="0"/>
                    <a:cs typeface="Times New Roman" panose="02020603050405020304" pitchFamily="18" charset="0"/>
                  </a:rPr>
                  <a:t> + 𝜆 </a:t>
                </a:r>
                <a14:m>
                  <m:oMath xmlns:m="http://schemas.openxmlformats.org/officeDocument/2006/math">
                    <m:nary>
                      <m:naryPr>
                        <m:chr m:val="∑"/>
                        <m:ctrlPr>
                          <a:rPr lang="en-IN" b="1" i="1">
                            <a:solidFill>
                              <a:srgbClr val="7030A0"/>
                            </a:solidFill>
                            <a:latin typeface="Cambria Math" panose="02040503050406030204" pitchFamily="18" charset="0"/>
                            <a:ea typeface="Cambria Math" panose="02040503050406030204" pitchFamily="18" charset="0"/>
                          </a:rPr>
                        </m:ctrlPr>
                      </m:naryPr>
                      <m:sub>
                        <m:r>
                          <m:rPr>
                            <m:brk m:alnAt="23"/>
                          </m:rPr>
                          <a:rPr lang="en-US" b="1" i="1">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𝟎</m:t>
                        </m:r>
                      </m:sub>
                      <m:sup>
                        <m:r>
                          <a:rPr lang="en-US" b="1" i="1">
                            <a:solidFill>
                              <a:srgbClr val="7030A0"/>
                            </a:solidFill>
                            <a:latin typeface="Cambria Math" panose="02040503050406030204" pitchFamily="18" charset="0"/>
                            <a:ea typeface="Cambria Math" panose="02040503050406030204" pitchFamily="18" charset="0"/>
                          </a:rPr>
                          <m:t>𝒏</m:t>
                        </m:r>
                      </m:sup>
                      <m:e>
                        <m:r>
                          <a:rPr lang="en-IN" b="1" i="1">
                            <a:solidFill>
                              <a:srgbClr val="7030A0"/>
                            </a:solidFill>
                            <a:latin typeface="Cambria Math" panose="02040503050406030204" pitchFamily="18" charset="0"/>
                            <a:ea typeface="Cambria Math" panose="02040503050406030204" pitchFamily="18" charset="0"/>
                          </a:rPr>
                          <m:t>𝝓</m:t>
                        </m:r>
                        <m:r>
                          <a:rPr lang="en-US" b="1" i="1" baseline="-25000">
                            <a:solidFill>
                              <a:srgbClr val="7030A0"/>
                            </a:solidFill>
                            <a:latin typeface="Cambria Math" panose="02040503050406030204" pitchFamily="18" charset="0"/>
                            <a:ea typeface="Cambria Math" panose="02040503050406030204" pitchFamily="18" charset="0"/>
                          </a:rPr>
                          <m:t>𝒋</m:t>
                        </m:r>
                      </m:e>
                    </m:nary>
                    <m:r>
                      <a:rPr lang="en-US" b="1" i="1" baseline="30000">
                        <a:solidFill>
                          <a:srgbClr val="7030A0"/>
                        </a:solidFill>
                        <a:latin typeface="Cambria Math" panose="02040503050406030204" pitchFamily="18" charset="0"/>
                        <a:ea typeface="Cambria Math" panose="02040503050406030204" pitchFamily="18" charset="0"/>
                      </a:rPr>
                      <m:t>𝟐</m:t>
                    </m:r>
                  </m:oMath>
                </a14:m>
                <a:endParaRPr lang="en-IN" dirty="0">
                  <a:solidFill>
                    <a:srgbClr val="7030A0"/>
                  </a:solidFill>
                  <a:latin typeface="Arial Narrow" panose="020B0606020202030204" pitchFamily="34" charset="0"/>
                </a:endParaRPr>
              </a:p>
            </p:txBody>
          </p:sp>
        </mc:Choice>
        <mc:Fallback>
          <p:sp>
            <p:nvSpPr>
              <p:cNvPr id="18" name="Rectangle 17"/>
              <p:cNvSpPr>
                <a:spLocks noRot="1" noChangeAspect="1" noMove="1" noResize="1" noEditPoints="1" noAdjustHandles="1" noChangeArrowheads="1" noChangeShapeType="1" noTextEdit="1"/>
              </p:cNvSpPr>
              <p:nvPr/>
            </p:nvSpPr>
            <p:spPr>
              <a:xfrm>
                <a:off x="7492365" y="5024279"/>
                <a:ext cx="4503284" cy="492443"/>
              </a:xfrm>
              <a:prstGeom prst="rect">
                <a:avLst/>
              </a:prstGeom>
              <a:blipFill>
                <a:blip r:embed="rId3"/>
                <a:stretch>
                  <a:fillRect t="-76543" b="-127160"/>
                </a:stretch>
              </a:blipFill>
            </p:spPr>
            <p:txBody>
              <a:bodyPr/>
              <a:lstStyle/>
              <a:p>
                <a:r>
                  <a:rPr lang="en-GB">
                    <a:noFill/>
                  </a:rPr>
                  <a:t> </a:t>
                </a:r>
              </a:p>
            </p:txBody>
          </p:sp>
        </mc:Fallback>
      </mc:AlternateContent>
      <p:grpSp>
        <p:nvGrpSpPr>
          <p:cNvPr id="22" name="Group 21"/>
          <p:cNvGrpSpPr/>
          <p:nvPr/>
        </p:nvGrpSpPr>
        <p:grpSpPr>
          <a:xfrm>
            <a:off x="6774815" y="3596679"/>
            <a:ext cx="3391382" cy="972274"/>
            <a:chOff x="6707304" y="3414817"/>
            <a:chExt cx="3391382" cy="972274"/>
          </a:xfrm>
        </p:grpSpPr>
        <p:sp>
          <p:nvSpPr>
            <p:cNvPr id="21" name="Oval 20"/>
            <p:cNvSpPr/>
            <p:nvPr/>
          </p:nvSpPr>
          <p:spPr>
            <a:xfrm>
              <a:off x="6707304" y="3414817"/>
              <a:ext cx="3391382" cy="972274"/>
            </a:xfrm>
            <a:prstGeom prst="ellipse">
              <a:avLst/>
            </a:prstGeom>
            <a:solidFill>
              <a:schemeClr val="accent4">
                <a:lumMod val="60000"/>
                <a:lumOff val="40000"/>
                <a:alpha val="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p:cNvSpPr txBox="1"/>
            <p:nvPr/>
          </p:nvSpPr>
          <p:spPr>
            <a:xfrm>
              <a:off x="6838111" y="3721696"/>
              <a:ext cx="2832827" cy="400110"/>
            </a:xfrm>
            <a:prstGeom prst="rect">
              <a:avLst/>
            </a:prstGeom>
            <a:noFill/>
          </p:spPr>
          <p:txBody>
            <a:bodyPr wrap="none" rtlCol="0">
              <a:spAutoFit/>
            </a:bodyPr>
            <a:lstStyle/>
            <a:p>
              <a:r>
                <a:rPr lang="el-GR" sz="2000" dirty="0">
                  <a:solidFill>
                    <a:schemeClr val="accent2">
                      <a:lumMod val="75000"/>
                    </a:schemeClr>
                  </a:solidFill>
                  <a:latin typeface="Arial Narrow" panose="020B0606020202030204" pitchFamily="34" charset="0"/>
                </a:rPr>
                <a:t>λ</a:t>
              </a:r>
              <a:r>
                <a:rPr lang="en-IN" sz="2000" dirty="0">
                  <a:solidFill>
                    <a:schemeClr val="accent2">
                      <a:lumMod val="75000"/>
                    </a:schemeClr>
                  </a:solidFill>
                  <a:latin typeface="Arial Narrow" panose="020B0606020202030204" pitchFamily="34" charset="0"/>
                </a:rPr>
                <a:t>= Regularization parameter</a:t>
              </a:r>
            </a:p>
          </p:txBody>
        </p:sp>
      </p:grpSp>
      <p:sp>
        <p:nvSpPr>
          <p:cNvPr id="23" name="Oval 22"/>
          <p:cNvSpPr/>
          <p:nvPr/>
        </p:nvSpPr>
        <p:spPr>
          <a:xfrm>
            <a:off x="8239125" y="4816273"/>
            <a:ext cx="2387599" cy="89453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p:cNvSpPr/>
          <p:nvPr/>
        </p:nvSpPr>
        <p:spPr>
          <a:xfrm>
            <a:off x="11008518" y="4841682"/>
            <a:ext cx="809625" cy="79533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p:cNvSpPr txBox="1"/>
          <p:nvPr/>
        </p:nvSpPr>
        <p:spPr>
          <a:xfrm>
            <a:off x="8947721" y="5654926"/>
            <a:ext cx="1164101" cy="338554"/>
          </a:xfrm>
          <a:prstGeom prst="rect">
            <a:avLst/>
          </a:prstGeom>
          <a:noFill/>
        </p:spPr>
        <p:txBody>
          <a:bodyPr wrap="none" rtlCol="0">
            <a:spAutoFit/>
          </a:bodyPr>
          <a:lstStyle/>
          <a:p>
            <a:r>
              <a:rPr lang="en-IN" sz="1600" dirty="0">
                <a:solidFill>
                  <a:schemeClr val="accent2">
                    <a:lumMod val="75000"/>
                  </a:schemeClr>
                </a:solidFill>
                <a:latin typeface="Arial Narrow" panose="020B0606020202030204" pitchFamily="34" charset="0"/>
              </a:rPr>
              <a:t>Original Loss</a:t>
            </a:r>
          </a:p>
        </p:txBody>
      </p:sp>
      <p:sp>
        <p:nvSpPr>
          <p:cNvPr id="26" name="TextBox 25"/>
          <p:cNvSpPr txBox="1"/>
          <p:nvPr/>
        </p:nvSpPr>
        <p:spPr>
          <a:xfrm>
            <a:off x="11110202" y="5568026"/>
            <a:ext cx="744114" cy="338554"/>
          </a:xfrm>
          <a:prstGeom prst="rect">
            <a:avLst/>
          </a:prstGeom>
          <a:noFill/>
        </p:spPr>
        <p:txBody>
          <a:bodyPr wrap="none" rtlCol="0">
            <a:spAutoFit/>
          </a:bodyPr>
          <a:lstStyle/>
          <a:p>
            <a:r>
              <a:rPr lang="en-IN" sz="1600" dirty="0">
                <a:solidFill>
                  <a:schemeClr val="accent2">
                    <a:lumMod val="75000"/>
                  </a:schemeClr>
                </a:solidFill>
                <a:latin typeface="Arial Narrow" panose="020B0606020202030204" pitchFamily="34" charset="0"/>
              </a:rPr>
              <a:t>Penalty</a:t>
            </a:r>
          </a:p>
        </p:txBody>
      </p:sp>
    </p:spTree>
    <p:extLst>
      <p:ext uri="{BB962C8B-B14F-4D97-AF65-F5344CB8AC3E}">
        <p14:creationId xmlns:p14="http://schemas.microsoft.com/office/powerpoint/2010/main" val="1737479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8810546" y="4590008"/>
            <a:ext cx="508000" cy="1690255"/>
          </a:xfrm>
          <a:prstGeom prst="rect">
            <a:avLst/>
          </a:prstGeom>
          <a:noFill/>
          <a:ln w="22225">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524163" y="124980"/>
            <a:ext cx="10515600" cy="807893"/>
          </a:xfrm>
        </p:spPr>
        <p:txBody>
          <a:bodyPr>
            <a:normAutofit/>
          </a:bodyPr>
          <a:lstStyle/>
          <a:p>
            <a:r>
              <a:rPr lang="en-IN" sz="3600" dirty="0">
                <a:latin typeface="Century" panose="02040604050505020304" pitchFamily="18" charset="0"/>
              </a:rPr>
              <a:t>Early Stopping</a:t>
            </a:r>
          </a:p>
        </p:txBody>
      </p:sp>
      <p:sp>
        <p:nvSpPr>
          <p:cNvPr id="3" name="Content Placeholder 2"/>
          <p:cNvSpPr>
            <a:spLocks noGrp="1"/>
          </p:cNvSpPr>
          <p:nvPr>
            <p:ph idx="1"/>
          </p:nvPr>
        </p:nvSpPr>
        <p:spPr>
          <a:xfrm>
            <a:off x="524164" y="1256144"/>
            <a:ext cx="6150014" cy="5255491"/>
          </a:xfrm>
        </p:spPr>
        <p:txBody>
          <a:bodyPr>
            <a:normAutofit/>
          </a:bodyPr>
          <a:lstStyle/>
          <a:p>
            <a:pPr algn="just"/>
            <a:r>
              <a:rPr lang="en-US" sz="2200" dirty="0">
                <a:solidFill>
                  <a:srgbClr val="7030A0"/>
                </a:solidFill>
                <a:latin typeface="Arial Narrow" panose="020B0606020202030204" pitchFamily="34" charset="0"/>
              </a:rPr>
              <a:t>Early stopping</a:t>
            </a:r>
            <a:r>
              <a:rPr lang="en-US" sz="2200" dirty="0">
                <a:latin typeface="Arial Narrow" panose="020B0606020202030204" pitchFamily="34" charset="0"/>
              </a:rPr>
              <a:t> is a </a:t>
            </a:r>
            <a:r>
              <a:rPr lang="en-US" sz="2200" dirty="0">
                <a:solidFill>
                  <a:srgbClr val="7030A0"/>
                </a:solidFill>
                <a:latin typeface="Arial Narrow" panose="020B0606020202030204" pitchFamily="34" charset="0"/>
              </a:rPr>
              <a:t>regularization</a:t>
            </a:r>
            <a:r>
              <a:rPr lang="en-US" sz="2200" dirty="0">
                <a:latin typeface="Arial Narrow" panose="020B0606020202030204" pitchFamily="34" charset="0"/>
              </a:rPr>
              <a:t> technique used during the training of models with </a:t>
            </a:r>
            <a:r>
              <a:rPr lang="en-US" sz="2200" dirty="0">
                <a:solidFill>
                  <a:srgbClr val="7030A0"/>
                </a:solidFill>
                <a:latin typeface="Arial Narrow" panose="020B0606020202030204" pitchFamily="34" charset="0"/>
              </a:rPr>
              <a:t>iterative optimization methods, such as gradient descent</a:t>
            </a:r>
            <a:r>
              <a:rPr lang="en-US" sz="2200" dirty="0">
                <a:latin typeface="Arial Narrow" panose="020B0606020202030204" pitchFamily="34" charset="0"/>
              </a:rPr>
              <a:t>.</a:t>
            </a:r>
          </a:p>
          <a:p>
            <a:pPr algn="just"/>
            <a:endParaRPr lang="en-US" sz="2200" dirty="0">
              <a:latin typeface="Arial Narrow" panose="020B0606020202030204" pitchFamily="34" charset="0"/>
            </a:endParaRPr>
          </a:p>
          <a:p>
            <a:pPr algn="just"/>
            <a:r>
              <a:rPr lang="en-US" sz="2200" dirty="0">
                <a:latin typeface="Arial Narrow" panose="020B0606020202030204" pitchFamily="34" charset="0"/>
              </a:rPr>
              <a:t>This method updates the model parameters in each iteration to improve its fit to the training data.</a:t>
            </a:r>
          </a:p>
          <a:p>
            <a:pPr algn="just" eaLnBrk="0" fontAlgn="base" hangingPunct="0">
              <a:lnSpc>
                <a:spcPct val="100000"/>
              </a:lnSpc>
              <a:spcBef>
                <a:spcPct val="0"/>
              </a:spcBef>
              <a:spcAft>
                <a:spcPct val="0"/>
              </a:spcAft>
            </a:pPr>
            <a:endParaRPr lang="en-US" altLang="en-US" sz="2200" dirty="0">
              <a:latin typeface="Arial Narrow" panose="020B0606020202030204" pitchFamily="34" charset="0"/>
            </a:endParaRPr>
          </a:p>
          <a:p>
            <a:pPr algn="just" eaLnBrk="0" fontAlgn="base" hangingPunct="0">
              <a:lnSpc>
                <a:spcPct val="100000"/>
              </a:lnSpc>
              <a:spcBef>
                <a:spcPct val="0"/>
              </a:spcBef>
              <a:spcAft>
                <a:spcPct val="0"/>
              </a:spcAft>
            </a:pPr>
            <a:r>
              <a:rPr lang="en-US" altLang="en-US" sz="2200" dirty="0">
                <a:latin typeface="Arial Narrow" panose="020B0606020202030204" pitchFamily="34" charset="0"/>
              </a:rPr>
              <a:t>Initially, each iteration improves the model's performance on the </a:t>
            </a:r>
            <a:r>
              <a:rPr lang="en-US" altLang="en-US" sz="2200" dirty="0">
                <a:solidFill>
                  <a:srgbClr val="7030A0"/>
                </a:solidFill>
                <a:latin typeface="Arial Narrow" panose="020B0606020202030204" pitchFamily="34" charset="0"/>
              </a:rPr>
              <a:t>test (validation) data. </a:t>
            </a:r>
          </a:p>
          <a:p>
            <a:pPr algn="just" eaLnBrk="0" fontAlgn="base" hangingPunct="0">
              <a:lnSpc>
                <a:spcPct val="100000"/>
              </a:lnSpc>
              <a:spcBef>
                <a:spcPct val="0"/>
              </a:spcBef>
              <a:spcAft>
                <a:spcPct val="0"/>
              </a:spcAft>
            </a:pPr>
            <a:endParaRPr lang="en-US" altLang="en-US" sz="2200" dirty="0">
              <a:solidFill>
                <a:srgbClr val="7030A0"/>
              </a:solidFill>
              <a:latin typeface="Arial Narrow" panose="020B0606020202030204" pitchFamily="34" charset="0"/>
            </a:endParaRPr>
          </a:p>
          <a:p>
            <a:pPr algn="just" eaLnBrk="0" fontAlgn="base" hangingPunct="0">
              <a:lnSpc>
                <a:spcPct val="100000"/>
              </a:lnSpc>
              <a:spcBef>
                <a:spcPct val="0"/>
              </a:spcBef>
              <a:spcAft>
                <a:spcPct val="0"/>
              </a:spcAft>
            </a:pPr>
            <a:r>
              <a:rPr lang="en-US" altLang="en-US" sz="2200" dirty="0">
                <a:latin typeface="Arial Narrow" panose="020B0606020202030204" pitchFamily="34" charset="0"/>
              </a:rPr>
              <a:t>Beyond a certain point, further fitting the training data increases the </a:t>
            </a:r>
            <a:r>
              <a:rPr lang="en-US" altLang="en-US" sz="2200" dirty="0">
                <a:solidFill>
                  <a:srgbClr val="7030A0"/>
                </a:solidFill>
                <a:latin typeface="Arial Narrow" panose="020B0606020202030204" pitchFamily="34" charset="0"/>
              </a:rPr>
              <a:t>generalization error </a:t>
            </a:r>
            <a:r>
              <a:rPr lang="en-US" altLang="en-US" sz="2200" dirty="0">
                <a:latin typeface="Arial Narrow" panose="020B0606020202030204" pitchFamily="34" charset="0"/>
              </a:rPr>
              <a:t>due to </a:t>
            </a:r>
            <a:r>
              <a:rPr lang="en-US" altLang="en-US" sz="2200" dirty="0">
                <a:solidFill>
                  <a:srgbClr val="7030A0"/>
                </a:solidFill>
                <a:latin typeface="Arial Narrow" panose="020B0606020202030204" pitchFamily="34" charset="0"/>
              </a:rPr>
              <a:t>overfitting</a:t>
            </a:r>
            <a:r>
              <a:rPr lang="en-US" altLang="en-US" sz="2200" dirty="0">
                <a:latin typeface="Arial Narrow" panose="020B0606020202030204" pitchFamily="34" charset="0"/>
              </a:rPr>
              <a:t>. </a:t>
            </a:r>
          </a:p>
          <a:p>
            <a:pPr algn="just" eaLnBrk="0" fontAlgn="base" hangingPunct="0">
              <a:lnSpc>
                <a:spcPct val="100000"/>
              </a:lnSpc>
              <a:spcBef>
                <a:spcPct val="0"/>
              </a:spcBef>
              <a:spcAft>
                <a:spcPct val="0"/>
              </a:spcAft>
            </a:pPr>
            <a:endParaRPr lang="en-US" altLang="en-US" sz="2200" dirty="0">
              <a:latin typeface="Arial Narrow" panose="020B0606020202030204" pitchFamily="34" charset="0"/>
            </a:endParaRPr>
          </a:p>
          <a:p>
            <a:pPr algn="just" eaLnBrk="0" fontAlgn="base" hangingPunct="0">
              <a:lnSpc>
                <a:spcPct val="100000"/>
              </a:lnSpc>
              <a:spcBef>
                <a:spcPct val="0"/>
              </a:spcBef>
              <a:spcAft>
                <a:spcPct val="0"/>
              </a:spcAft>
            </a:pPr>
            <a:r>
              <a:rPr lang="en-US" altLang="en-US" sz="2200" dirty="0">
                <a:latin typeface="Arial Narrow" panose="020B0606020202030204" pitchFamily="34" charset="0"/>
              </a:rPr>
              <a:t>Early stopping halts training at the optimal iteration, </a:t>
            </a:r>
            <a:r>
              <a:rPr lang="en-US" altLang="en-US" sz="2200" dirty="0">
                <a:solidFill>
                  <a:srgbClr val="7030A0"/>
                </a:solidFill>
                <a:latin typeface="Arial Narrow" panose="020B0606020202030204" pitchFamily="34" charset="0"/>
              </a:rPr>
              <a:t>before overfitting begins</a:t>
            </a:r>
            <a:r>
              <a:rPr lang="en-US" altLang="en-US" sz="2200" dirty="0">
                <a:latin typeface="Arial Narrow" panose="020B0606020202030204" pitchFamily="34" charset="0"/>
              </a:rPr>
              <a:t>, improving generalization. </a:t>
            </a:r>
          </a:p>
          <a:p>
            <a:pPr algn="just"/>
            <a:endParaRPr lang="en-US" dirty="0"/>
          </a:p>
          <a:p>
            <a:pPr algn="just"/>
            <a:endParaRPr lang="en-IN" dirty="0"/>
          </a:p>
        </p:txBody>
      </p:sp>
      <p:cxnSp>
        <p:nvCxnSpPr>
          <p:cNvPr id="7" name="Straight Arrow Connector 6"/>
          <p:cNvCxnSpPr/>
          <p:nvPr/>
        </p:nvCxnSpPr>
        <p:spPr>
          <a:xfrm flipV="1">
            <a:off x="7840812" y="869950"/>
            <a:ext cx="0" cy="191019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7840812" y="6276105"/>
            <a:ext cx="2253672"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7853512" y="4365909"/>
            <a:ext cx="0" cy="191019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8847575" y="1089891"/>
            <a:ext cx="508000" cy="1690255"/>
          </a:xfrm>
          <a:prstGeom prst="rect">
            <a:avLst/>
          </a:prstGeom>
          <a:noFill/>
          <a:ln w="22225">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p:cNvCxnSpPr/>
          <p:nvPr/>
        </p:nvCxnSpPr>
        <p:spPr>
          <a:xfrm>
            <a:off x="7828112" y="2780146"/>
            <a:ext cx="2253672"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13"/>
          <p:cNvSpPr/>
          <p:nvPr/>
        </p:nvSpPr>
        <p:spPr>
          <a:xfrm>
            <a:off x="7847161" y="1370445"/>
            <a:ext cx="1958109" cy="1394691"/>
          </a:xfrm>
          <a:custGeom>
            <a:avLst/>
            <a:gdLst>
              <a:gd name="connsiteX0" fmla="*/ 0 w 1958109"/>
              <a:gd name="connsiteY0" fmla="*/ 1394691 h 1394691"/>
              <a:gd name="connsiteX1" fmla="*/ 230909 w 1958109"/>
              <a:gd name="connsiteY1" fmla="*/ 812800 h 1394691"/>
              <a:gd name="connsiteX2" fmla="*/ 572655 w 1958109"/>
              <a:gd name="connsiteY2" fmla="*/ 360219 h 1394691"/>
              <a:gd name="connsiteX3" fmla="*/ 1422400 w 1958109"/>
              <a:gd name="connsiteY3" fmla="*/ 83128 h 1394691"/>
              <a:gd name="connsiteX4" fmla="*/ 1958109 w 1958109"/>
              <a:gd name="connsiteY4" fmla="*/ 0 h 1394691"/>
              <a:gd name="connsiteX5" fmla="*/ 1958109 w 1958109"/>
              <a:gd name="connsiteY5" fmla="*/ 0 h 13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8109" h="1394691">
                <a:moveTo>
                  <a:pt x="0" y="1394691"/>
                </a:moveTo>
                <a:cubicBezTo>
                  <a:pt x="67733" y="1189951"/>
                  <a:pt x="135467" y="985212"/>
                  <a:pt x="230909" y="812800"/>
                </a:cubicBezTo>
                <a:cubicBezTo>
                  <a:pt x="326351" y="640388"/>
                  <a:pt x="374073" y="481831"/>
                  <a:pt x="572655" y="360219"/>
                </a:cubicBezTo>
                <a:cubicBezTo>
                  <a:pt x="771237" y="238607"/>
                  <a:pt x="1191491" y="143164"/>
                  <a:pt x="1422400" y="83128"/>
                </a:cubicBezTo>
                <a:cubicBezTo>
                  <a:pt x="1653309" y="23092"/>
                  <a:pt x="1958109" y="0"/>
                  <a:pt x="1958109" y="0"/>
                </a:cubicBezTo>
                <a:lnTo>
                  <a:pt x="1958109" y="0"/>
                </a:lnTo>
              </a:path>
            </a:pathLst>
          </a:custGeom>
          <a:noFill/>
          <a:ln w="222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Freeform 17"/>
          <p:cNvSpPr/>
          <p:nvPr/>
        </p:nvSpPr>
        <p:spPr>
          <a:xfrm>
            <a:off x="7844275" y="1895821"/>
            <a:ext cx="1822450" cy="882304"/>
          </a:xfrm>
          <a:custGeom>
            <a:avLst/>
            <a:gdLst>
              <a:gd name="connsiteX0" fmla="*/ 0 w 1822450"/>
              <a:gd name="connsiteY0" fmla="*/ 882304 h 882304"/>
              <a:gd name="connsiteX1" fmla="*/ 1060450 w 1822450"/>
              <a:gd name="connsiteY1" fmla="*/ 12354 h 882304"/>
              <a:gd name="connsiteX2" fmla="*/ 1822450 w 1822450"/>
              <a:gd name="connsiteY2" fmla="*/ 450504 h 882304"/>
            </a:gdLst>
            <a:ahLst/>
            <a:cxnLst>
              <a:cxn ang="0">
                <a:pos x="connsiteX0" y="connsiteY0"/>
              </a:cxn>
              <a:cxn ang="0">
                <a:pos x="connsiteX1" y="connsiteY1"/>
              </a:cxn>
              <a:cxn ang="0">
                <a:pos x="connsiteX2" y="connsiteY2"/>
              </a:cxn>
            </a:cxnLst>
            <a:rect l="l" t="t" r="r" b="b"/>
            <a:pathLst>
              <a:path w="1822450" h="882304">
                <a:moveTo>
                  <a:pt x="0" y="882304"/>
                </a:moveTo>
                <a:cubicBezTo>
                  <a:pt x="378354" y="483312"/>
                  <a:pt x="756708" y="84321"/>
                  <a:pt x="1060450" y="12354"/>
                </a:cubicBezTo>
                <a:cubicBezTo>
                  <a:pt x="1364192" y="-59613"/>
                  <a:pt x="1593321" y="195445"/>
                  <a:pt x="1822450" y="450504"/>
                </a:cubicBezTo>
              </a:path>
            </a:pathLst>
          </a:cu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a:off x="8542691" y="2765136"/>
            <a:ext cx="849913" cy="369332"/>
          </a:xfrm>
          <a:prstGeom prst="rect">
            <a:avLst/>
          </a:prstGeom>
          <a:noFill/>
        </p:spPr>
        <p:txBody>
          <a:bodyPr wrap="none" rtlCol="0">
            <a:spAutoFit/>
          </a:bodyPr>
          <a:lstStyle/>
          <a:p>
            <a:r>
              <a:rPr lang="en-IN" dirty="0">
                <a:latin typeface="Arial Narrow" panose="020B0606020202030204" pitchFamily="34" charset="0"/>
              </a:rPr>
              <a:t>Epochs</a:t>
            </a:r>
          </a:p>
        </p:txBody>
      </p:sp>
      <p:sp>
        <p:nvSpPr>
          <p:cNvPr id="20" name="TextBox 19"/>
          <p:cNvSpPr txBox="1"/>
          <p:nvPr/>
        </p:nvSpPr>
        <p:spPr>
          <a:xfrm>
            <a:off x="7474897" y="1488803"/>
            <a:ext cx="461665" cy="871392"/>
          </a:xfrm>
          <a:prstGeom prst="rect">
            <a:avLst/>
          </a:prstGeom>
          <a:noFill/>
        </p:spPr>
        <p:txBody>
          <a:bodyPr vert="vert270" wrap="none" rtlCol="0">
            <a:spAutoFit/>
          </a:bodyPr>
          <a:lstStyle/>
          <a:p>
            <a:r>
              <a:rPr lang="en-IN" dirty="0">
                <a:latin typeface="Arial Narrow" panose="020B0606020202030204" pitchFamily="34" charset="0"/>
              </a:rPr>
              <a:t>Accuracy</a:t>
            </a:r>
          </a:p>
        </p:txBody>
      </p:sp>
      <p:sp>
        <p:nvSpPr>
          <p:cNvPr id="23" name="TextBox 22"/>
          <p:cNvSpPr txBox="1"/>
          <p:nvPr/>
        </p:nvSpPr>
        <p:spPr>
          <a:xfrm>
            <a:off x="8206728" y="701828"/>
            <a:ext cx="1702710" cy="338554"/>
          </a:xfrm>
          <a:prstGeom prst="rect">
            <a:avLst/>
          </a:prstGeom>
          <a:noFill/>
        </p:spPr>
        <p:txBody>
          <a:bodyPr wrap="none" rtlCol="0">
            <a:spAutoFit/>
          </a:bodyPr>
          <a:lstStyle/>
          <a:p>
            <a:r>
              <a:rPr lang="en-IN" sz="1600" dirty="0">
                <a:latin typeface="Arial Narrow" panose="020B0606020202030204" pitchFamily="34" charset="0"/>
              </a:rPr>
              <a:t>Early Stopping Point</a:t>
            </a:r>
          </a:p>
        </p:txBody>
      </p:sp>
      <p:sp>
        <p:nvSpPr>
          <p:cNvPr id="25" name="TextBox 24"/>
          <p:cNvSpPr txBox="1"/>
          <p:nvPr/>
        </p:nvSpPr>
        <p:spPr>
          <a:xfrm>
            <a:off x="8505662" y="6257633"/>
            <a:ext cx="849913" cy="369332"/>
          </a:xfrm>
          <a:prstGeom prst="rect">
            <a:avLst/>
          </a:prstGeom>
          <a:noFill/>
        </p:spPr>
        <p:txBody>
          <a:bodyPr wrap="none" rtlCol="0">
            <a:spAutoFit/>
          </a:bodyPr>
          <a:lstStyle/>
          <a:p>
            <a:r>
              <a:rPr lang="en-IN" dirty="0">
                <a:latin typeface="Arial Narrow" panose="020B0606020202030204" pitchFamily="34" charset="0"/>
              </a:rPr>
              <a:t>Epochs</a:t>
            </a:r>
          </a:p>
        </p:txBody>
      </p:sp>
      <p:sp>
        <p:nvSpPr>
          <p:cNvPr id="26" name="TextBox 25"/>
          <p:cNvSpPr txBox="1"/>
          <p:nvPr/>
        </p:nvSpPr>
        <p:spPr>
          <a:xfrm>
            <a:off x="7474897" y="5063218"/>
            <a:ext cx="461665" cy="493084"/>
          </a:xfrm>
          <a:prstGeom prst="rect">
            <a:avLst/>
          </a:prstGeom>
          <a:noFill/>
        </p:spPr>
        <p:txBody>
          <a:bodyPr vert="vert270" wrap="none" rtlCol="0">
            <a:spAutoFit/>
          </a:bodyPr>
          <a:lstStyle/>
          <a:p>
            <a:r>
              <a:rPr lang="en-IN" dirty="0">
                <a:latin typeface="Arial Narrow" panose="020B0606020202030204" pitchFamily="34" charset="0"/>
              </a:rPr>
              <a:t>Loss</a:t>
            </a:r>
          </a:p>
        </p:txBody>
      </p:sp>
      <p:sp>
        <p:nvSpPr>
          <p:cNvPr id="27" name="TextBox 26"/>
          <p:cNvSpPr txBox="1"/>
          <p:nvPr/>
        </p:nvSpPr>
        <p:spPr>
          <a:xfrm>
            <a:off x="8169699" y="4194325"/>
            <a:ext cx="1702710" cy="338554"/>
          </a:xfrm>
          <a:prstGeom prst="rect">
            <a:avLst/>
          </a:prstGeom>
          <a:noFill/>
        </p:spPr>
        <p:txBody>
          <a:bodyPr wrap="none" rtlCol="0">
            <a:spAutoFit/>
          </a:bodyPr>
          <a:lstStyle/>
          <a:p>
            <a:r>
              <a:rPr lang="en-IN" sz="1600" dirty="0">
                <a:latin typeface="Arial Narrow" panose="020B0606020202030204" pitchFamily="34" charset="0"/>
              </a:rPr>
              <a:t>Early Stopping Point</a:t>
            </a:r>
          </a:p>
        </p:txBody>
      </p:sp>
      <p:sp>
        <p:nvSpPr>
          <p:cNvPr id="28" name="Freeform 27"/>
          <p:cNvSpPr/>
          <p:nvPr/>
        </p:nvSpPr>
        <p:spPr>
          <a:xfrm rot="11593847" flipH="1">
            <a:off x="8034682" y="4748179"/>
            <a:ext cx="1822450" cy="882304"/>
          </a:xfrm>
          <a:custGeom>
            <a:avLst/>
            <a:gdLst>
              <a:gd name="connsiteX0" fmla="*/ 0 w 1822450"/>
              <a:gd name="connsiteY0" fmla="*/ 882304 h 882304"/>
              <a:gd name="connsiteX1" fmla="*/ 1060450 w 1822450"/>
              <a:gd name="connsiteY1" fmla="*/ 12354 h 882304"/>
              <a:gd name="connsiteX2" fmla="*/ 1822450 w 1822450"/>
              <a:gd name="connsiteY2" fmla="*/ 450504 h 882304"/>
            </a:gdLst>
            <a:ahLst/>
            <a:cxnLst>
              <a:cxn ang="0">
                <a:pos x="connsiteX0" y="connsiteY0"/>
              </a:cxn>
              <a:cxn ang="0">
                <a:pos x="connsiteX1" y="connsiteY1"/>
              </a:cxn>
              <a:cxn ang="0">
                <a:pos x="connsiteX2" y="connsiteY2"/>
              </a:cxn>
            </a:cxnLst>
            <a:rect l="l" t="t" r="r" b="b"/>
            <a:pathLst>
              <a:path w="1822450" h="882304">
                <a:moveTo>
                  <a:pt x="0" y="882304"/>
                </a:moveTo>
                <a:cubicBezTo>
                  <a:pt x="378354" y="483312"/>
                  <a:pt x="756708" y="84321"/>
                  <a:pt x="1060450" y="12354"/>
                </a:cubicBezTo>
                <a:cubicBezTo>
                  <a:pt x="1364192" y="-59613"/>
                  <a:pt x="1593321" y="195445"/>
                  <a:pt x="1822450" y="450504"/>
                </a:cubicBezTo>
              </a:path>
            </a:pathLst>
          </a:cu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Freeform 29"/>
          <p:cNvSpPr/>
          <p:nvPr/>
        </p:nvSpPr>
        <p:spPr>
          <a:xfrm rot="4484437" flipH="1">
            <a:off x="7975301" y="4503530"/>
            <a:ext cx="1781727" cy="1371600"/>
          </a:xfrm>
          <a:custGeom>
            <a:avLst/>
            <a:gdLst>
              <a:gd name="connsiteX0" fmla="*/ 15468 w 1978673"/>
              <a:gd name="connsiteY0" fmla="*/ 0 h 1407147"/>
              <a:gd name="connsiteX1" fmla="*/ 263118 w 1978673"/>
              <a:gd name="connsiteY1" fmla="*/ 1219200 h 1407147"/>
              <a:gd name="connsiteX2" fmla="*/ 1825218 w 1978673"/>
              <a:gd name="connsiteY2" fmla="*/ 1390650 h 1407147"/>
              <a:gd name="connsiteX3" fmla="*/ 1834743 w 1978673"/>
              <a:gd name="connsiteY3" fmla="*/ 1390650 h 1407147"/>
            </a:gdLst>
            <a:ahLst/>
            <a:cxnLst>
              <a:cxn ang="0">
                <a:pos x="connsiteX0" y="connsiteY0"/>
              </a:cxn>
              <a:cxn ang="0">
                <a:pos x="connsiteX1" y="connsiteY1"/>
              </a:cxn>
              <a:cxn ang="0">
                <a:pos x="connsiteX2" y="connsiteY2"/>
              </a:cxn>
              <a:cxn ang="0">
                <a:pos x="connsiteX3" y="connsiteY3"/>
              </a:cxn>
            </a:cxnLst>
            <a:rect l="l" t="t" r="r" b="b"/>
            <a:pathLst>
              <a:path w="1978673" h="1407147">
                <a:moveTo>
                  <a:pt x="15468" y="0"/>
                </a:moveTo>
                <a:cubicBezTo>
                  <a:pt x="-11520" y="493712"/>
                  <a:pt x="-38507" y="987425"/>
                  <a:pt x="263118" y="1219200"/>
                </a:cubicBezTo>
                <a:cubicBezTo>
                  <a:pt x="564743" y="1450975"/>
                  <a:pt x="1825218" y="1390650"/>
                  <a:pt x="1825218" y="1390650"/>
                </a:cubicBezTo>
                <a:cubicBezTo>
                  <a:pt x="2087155" y="1419225"/>
                  <a:pt x="1960949" y="1404937"/>
                  <a:pt x="1834743" y="1390650"/>
                </a:cubicBezTo>
              </a:path>
            </a:pathLst>
          </a:custGeom>
          <a:noFill/>
          <a:ln w="222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1764F2C8-E30B-D5DD-CB54-6494AE077B78}"/>
              </a:ext>
            </a:extLst>
          </p:cNvPr>
          <p:cNvSpPr txBox="1"/>
          <p:nvPr/>
        </p:nvSpPr>
        <p:spPr>
          <a:xfrm>
            <a:off x="7648258" y="3253464"/>
            <a:ext cx="2157012" cy="646331"/>
          </a:xfrm>
          <a:prstGeom prst="rect">
            <a:avLst/>
          </a:prstGeom>
          <a:noFill/>
          <a:ln w="19050">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Training set    </a:t>
            </a:r>
          </a:p>
          <a:p>
            <a:r>
              <a:rPr lang="en-US" dirty="0">
                <a:latin typeface="Times New Roman" panose="02020603050405020304" pitchFamily="18" charset="0"/>
                <a:cs typeface="Times New Roman" panose="02020603050405020304" pitchFamily="18" charset="0"/>
              </a:rPr>
              <a:t>Test set     </a:t>
            </a:r>
            <a:endParaRPr lang="en-IN" dirty="0">
              <a:latin typeface="Times New Roman" panose="02020603050405020304" pitchFamily="18" charset="0"/>
              <a:cs typeface="Times New Roman" panose="02020603050405020304" pitchFamily="18" charset="0"/>
            </a:endParaRPr>
          </a:p>
        </p:txBody>
      </p:sp>
      <p:cxnSp>
        <p:nvCxnSpPr>
          <p:cNvPr id="32" name="Straight Connector 31">
            <a:extLst>
              <a:ext uri="{FF2B5EF4-FFF2-40B4-BE49-F238E27FC236}">
                <a16:creationId xmlns:a16="http://schemas.microsoft.com/office/drawing/2014/main" id="{746A293E-65D1-D331-2E91-55A347D6E6B9}"/>
              </a:ext>
            </a:extLst>
          </p:cNvPr>
          <p:cNvCxnSpPr/>
          <p:nvPr/>
        </p:nvCxnSpPr>
        <p:spPr>
          <a:xfrm>
            <a:off x="9086811" y="3438130"/>
            <a:ext cx="475862" cy="0"/>
          </a:xfrm>
          <a:prstGeom prst="line">
            <a:avLst/>
          </a:prstGeom>
          <a:noFill/>
          <a:ln w="254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74FC6DB1-631F-6BE3-27A9-AA503EBB66A0}"/>
              </a:ext>
            </a:extLst>
          </p:cNvPr>
          <p:cNvCxnSpPr/>
          <p:nvPr/>
        </p:nvCxnSpPr>
        <p:spPr>
          <a:xfrm>
            <a:off x="9086811" y="3778810"/>
            <a:ext cx="475862" cy="0"/>
          </a:xfrm>
          <a:prstGeom prst="lin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328864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001286-9349-A4FD-CF1F-79D5D7F990F7}"/>
              </a:ext>
            </a:extLst>
          </p:cNvPr>
          <p:cNvSpPr>
            <a:spLocks noGrp="1"/>
          </p:cNvSpPr>
          <p:nvPr>
            <p:ph idx="1"/>
          </p:nvPr>
        </p:nvSpPr>
        <p:spPr>
          <a:xfrm>
            <a:off x="838200" y="1690688"/>
            <a:ext cx="10515600" cy="4351338"/>
          </a:xfrm>
        </p:spPr>
        <p:txBody>
          <a:bodyPr vert="horz" lIns="91440" tIns="45720" rIns="91440" bIns="45720" rtlCol="0" anchor="t">
            <a:normAutofit lnSpcReduction="10000"/>
          </a:bodyPr>
          <a:lstStyle/>
          <a:p>
            <a:pPr marL="457200" indent="-457200">
              <a:lnSpc>
                <a:spcPct val="150000"/>
              </a:lnSpc>
            </a:pPr>
            <a:r>
              <a:rPr lang="en-US" sz="2400" dirty="0">
                <a:latin typeface="Arial Narrow" panose="020B0606020202030204" pitchFamily="34" charset="0"/>
                <a:cs typeface="Times New Roman" panose="02020603050405020304" pitchFamily="18" charset="0"/>
              </a:rPr>
              <a:t>Concept of Overfitting</a:t>
            </a:r>
          </a:p>
          <a:p>
            <a:pPr marL="457200" indent="-457200">
              <a:lnSpc>
                <a:spcPct val="150000"/>
              </a:lnSpc>
            </a:pPr>
            <a:r>
              <a:rPr lang="en-US" sz="2400" dirty="0">
                <a:latin typeface="Arial Narrow" panose="020B0606020202030204" pitchFamily="34" charset="0"/>
                <a:cs typeface="Times New Roman" panose="02020603050405020304" pitchFamily="18" charset="0"/>
              </a:rPr>
              <a:t>Bias &amp; Variance </a:t>
            </a:r>
          </a:p>
          <a:p>
            <a:pPr marL="457200" indent="-457200">
              <a:lnSpc>
                <a:spcPct val="150000"/>
              </a:lnSpc>
            </a:pPr>
            <a:r>
              <a:rPr lang="en-US" sz="2400" dirty="0">
                <a:latin typeface="Arial Narrow" panose="020B0606020202030204" pitchFamily="34" charset="0"/>
                <a:cs typeface="Times New Roman" panose="02020603050405020304" pitchFamily="18" charset="0"/>
              </a:rPr>
              <a:t>Bias Variance Trade off</a:t>
            </a:r>
          </a:p>
          <a:p>
            <a:pPr marL="457200" indent="-457200">
              <a:lnSpc>
                <a:spcPct val="150000"/>
              </a:lnSpc>
            </a:pPr>
            <a:r>
              <a:rPr lang="en-US" sz="2400" dirty="0">
                <a:latin typeface="Arial Narrow" panose="020B0606020202030204" pitchFamily="34" charset="0"/>
                <a:cs typeface="Times New Roman" panose="02020603050405020304" pitchFamily="18" charset="0"/>
              </a:rPr>
              <a:t>Solutions of overfitting</a:t>
            </a:r>
          </a:p>
          <a:p>
            <a:pPr marL="914400" lvl="1" indent="-457200">
              <a:lnSpc>
                <a:spcPct val="150000"/>
              </a:lnSpc>
            </a:pPr>
            <a:r>
              <a:rPr lang="en-US" sz="2200" dirty="0">
                <a:latin typeface="Arial Narrow" panose="020B0606020202030204" pitchFamily="34" charset="0"/>
                <a:cs typeface="Times New Roman" panose="02020603050405020304" pitchFamily="18" charset="0"/>
              </a:rPr>
              <a:t>K-fold Cross Validation</a:t>
            </a:r>
          </a:p>
          <a:p>
            <a:pPr marL="914400" lvl="1" indent="-457200">
              <a:lnSpc>
                <a:spcPct val="150000"/>
              </a:lnSpc>
            </a:pPr>
            <a:r>
              <a:rPr lang="en-US" sz="2200" dirty="0">
                <a:latin typeface="Arial Narrow" panose="020B0606020202030204" pitchFamily="34" charset="0"/>
                <a:cs typeface="Times New Roman" panose="02020603050405020304" pitchFamily="18" charset="0"/>
              </a:rPr>
              <a:t>Regularization</a:t>
            </a:r>
          </a:p>
          <a:p>
            <a:pPr marL="914400" lvl="1" indent="-457200">
              <a:lnSpc>
                <a:spcPct val="150000"/>
              </a:lnSpc>
            </a:pPr>
            <a:r>
              <a:rPr lang="en-US" sz="2200" dirty="0">
                <a:latin typeface="Arial Narrow" panose="020B0606020202030204" pitchFamily="34" charset="0"/>
                <a:cs typeface="Times New Roman" panose="02020603050405020304" pitchFamily="18" charset="0"/>
              </a:rPr>
              <a:t>Early Stopping </a:t>
            </a:r>
          </a:p>
          <a:p>
            <a:endParaRPr lang="en-US" dirty="0">
              <a:latin typeface="Arial Narrow" panose="020B0606020202030204" pitchFamily="34" charset="0"/>
              <a:ea typeface="+mn-lt"/>
              <a:cs typeface="+mn-lt"/>
            </a:endParaRPr>
          </a:p>
        </p:txBody>
      </p:sp>
      <p:sp>
        <p:nvSpPr>
          <p:cNvPr id="6" name="Title 1">
            <a:extLst>
              <a:ext uri="{FF2B5EF4-FFF2-40B4-BE49-F238E27FC236}">
                <a16:creationId xmlns:a16="http://schemas.microsoft.com/office/drawing/2014/main" id="{EE2877B3-BB0C-E8EF-D796-A0B6C8D4107F}"/>
              </a:ext>
            </a:extLst>
          </p:cNvPr>
          <p:cNvSpPr txBox="1">
            <a:spLocks/>
          </p:cNvSpPr>
          <p:nvPr/>
        </p:nvSpPr>
        <p:spPr>
          <a:xfrm>
            <a:off x="1019175"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entury" panose="02040604050505020304" pitchFamily="18" charset="0"/>
                <a:ea typeface="Calibri Light"/>
                <a:cs typeface="Calibri Light"/>
              </a:rPr>
              <a:t>Summary</a:t>
            </a:r>
          </a:p>
        </p:txBody>
      </p:sp>
    </p:spTree>
    <p:extLst>
      <p:ext uri="{BB962C8B-B14F-4D97-AF65-F5344CB8AC3E}">
        <p14:creationId xmlns:p14="http://schemas.microsoft.com/office/powerpoint/2010/main" val="2390037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1312-3FC0-4078-A2B9-78735F9B2C94}"/>
              </a:ext>
            </a:extLst>
          </p:cNvPr>
          <p:cNvSpPr>
            <a:spLocks noGrp="1"/>
          </p:cNvSpPr>
          <p:nvPr>
            <p:ph type="ctrTitle"/>
          </p:nvPr>
        </p:nvSpPr>
        <p:spPr>
          <a:xfrm>
            <a:off x="1342611" y="2143124"/>
            <a:ext cx="9144000" cy="1273813"/>
          </a:xfrm>
        </p:spPr>
        <p:txBody>
          <a:bodyPr>
            <a:normAutofit/>
          </a:bodyPr>
          <a:lstStyle/>
          <a:p>
            <a:r>
              <a:rPr lang="en-IN" sz="4000" dirty="0">
                <a:solidFill>
                  <a:srgbClr val="002060"/>
                </a:solidFill>
                <a:latin typeface="Arial Narrow" panose="020B0606020202030204" pitchFamily="34" charset="0"/>
              </a:rPr>
              <a:t>Convolutional Neural Network - I</a:t>
            </a:r>
            <a:endParaRPr lang="en-IN" sz="4000" dirty="0"/>
          </a:p>
        </p:txBody>
      </p:sp>
      <p:sp>
        <p:nvSpPr>
          <p:cNvPr id="3" name="Subtitle 2">
            <a:extLst>
              <a:ext uri="{FF2B5EF4-FFF2-40B4-BE49-F238E27FC236}">
                <a16:creationId xmlns:a16="http://schemas.microsoft.com/office/drawing/2014/main" id="{14B6BD41-65D8-4E39-9EB8-873E6D591764}"/>
              </a:ext>
            </a:extLst>
          </p:cNvPr>
          <p:cNvSpPr>
            <a:spLocks noGrp="1"/>
          </p:cNvSpPr>
          <p:nvPr>
            <p:ph type="subTitle" idx="1"/>
          </p:nvPr>
        </p:nvSpPr>
        <p:spPr>
          <a:xfrm>
            <a:off x="1524000" y="4129939"/>
            <a:ext cx="9144000" cy="1655762"/>
          </a:xfrm>
        </p:spPr>
        <p:txBody>
          <a:bodyPr>
            <a:normAutofit/>
          </a:bodyPr>
          <a:lstStyle/>
          <a:p>
            <a:r>
              <a:rPr lang="en-US" sz="2800" dirty="0">
                <a:solidFill>
                  <a:srgbClr val="00B050"/>
                </a:solidFill>
                <a:latin typeface="Book Antiqua" panose="02040602050305030304" pitchFamily="18" charset="0"/>
              </a:rPr>
              <a:t>Neural Networks for Computer Vision and Natural Language Processing</a:t>
            </a:r>
            <a:endParaRPr lang="en-IN" sz="2800" dirty="0">
              <a:solidFill>
                <a:srgbClr val="002060"/>
              </a:solidFill>
              <a:latin typeface="Arial Narrow" panose="020B0606020202030204" pitchFamily="34" charset="0"/>
            </a:endParaRPr>
          </a:p>
        </p:txBody>
      </p:sp>
      <p:sp>
        <p:nvSpPr>
          <p:cNvPr id="4" name="TextBox 3">
            <a:extLst>
              <a:ext uri="{FF2B5EF4-FFF2-40B4-BE49-F238E27FC236}">
                <a16:creationId xmlns:a16="http://schemas.microsoft.com/office/drawing/2014/main" id="{8A279711-0489-4234-BC9E-AEC0ED47B657}"/>
              </a:ext>
            </a:extLst>
          </p:cNvPr>
          <p:cNvSpPr txBox="1"/>
          <p:nvPr/>
        </p:nvSpPr>
        <p:spPr>
          <a:xfrm>
            <a:off x="4035287" y="860753"/>
            <a:ext cx="3796748" cy="954107"/>
          </a:xfrm>
          <a:prstGeom prst="rect">
            <a:avLst/>
          </a:prstGeom>
          <a:noFill/>
        </p:spPr>
        <p:txBody>
          <a:bodyPr wrap="square" rtlCol="0">
            <a:spAutoFit/>
          </a:bodyPr>
          <a:lstStyle/>
          <a:p>
            <a:pPr algn="ctr"/>
            <a:r>
              <a:rPr lang="en-IN" sz="2800" dirty="0">
                <a:latin typeface="Arial Narrow" panose="020B0606020202030204" pitchFamily="34" charset="0"/>
              </a:rPr>
              <a:t>Next</a:t>
            </a:r>
          </a:p>
          <a:p>
            <a:pPr algn="ctr"/>
            <a:r>
              <a:rPr lang="en-IN" sz="2800" dirty="0">
                <a:latin typeface="Arial Narrow" panose="020B0606020202030204" pitchFamily="34" charset="0"/>
              </a:rPr>
              <a:t>Lecture 4: Part 1</a:t>
            </a:r>
          </a:p>
        </p:txBody>
      </p:sp>
    </p:spTree>
    <p:extLst>
      <p:ext uri="{BB962C8B-B14F-4D97-AF65-F5344CB8AC3E}">
        <p14:creationId xmlns:p14="http://schemas.microsoft.com/office/powerpoint/2010/main" val="124322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2179"/>
            <a:ext cx="10515600" cy="826112"/>
          </a:xfrm>
        </p:spPr>
        <p:txBody>
          <a:bodyPr>
            <a:normAutofit/>
          </a:bodyPr>
          <a:lstStyle/>
          <a:p>
            <a:r>
              <a:rPr lang="en-IN" sz="3600" dirty="0">
                <a:latin typeface="Century" panose="02040604050505020304" pitchFamily="18" charset="0"/>
              </a:rPr>
              <a:t>L1 Regularization </a:t>
            </a:r>
          </a:p>
        </p:txBody>
      </p:sp>
      <p:sp>
        <p:nvSpPr>
          <p:cNvPr id="3" name="Content Placeholder 2"/>
          <p:cNvSpPr>
            <a:spLocks noGrp="1"/>
          </p:cNvSpPr>
          <p:nvPr>
            <p:ph idx="1"/>
          </p:nvPr>
        </p:nvSpPr>
        <p:spPr>
          <a:xfrm>
            <a:off x="544586" y="1171283"/>
            <a:ext cx="10515600" cy="5187571"/>
          </a:xfrm>
        </p:spPr>
        <p:txBody>
          <a:bodyPr>
            <a:normAutofit fontScale="70000" lnSpcReduction="20000"/>
          </a:bodyPr>
          <a:lstStyle/>
          <a:p>
            <a:r>
              <a:rPr lang="en-US" dirty="0">
                <a:solidFill>
                  <a:srgbClr val="7030A0"/>
                </a:solidFill>
                <a:latin typeface="Arial Narrow" panose="020B0606020202030204" pitchFamily="34" charset="0"/>
              </a:rPr>
              <a:t>L1 Regularization (also called Lasso Regularization) </a:t>
            </a:r>
            <a:r>
              <a:rPr lang="en-US" dirty="0">
                <a:latin typeface="Arial Narrow" panose="020B0606020202030204" pitchFamily="34" charset="0"/>
              </a:rPr>
              <a:t>reduces overfitting and </a:t>
            </a:r>
            <a:r>
              <a:rPr lang="en-US" dirty="0">
                <a:solidFill>
                  <a:srgbClr val="7030A0"/>
                </a:solidFill>
                <a:latin typeface="Arial Narrow" panose="020B0606020202030204" pitchFamily="34" charset="0"/>
              </a:rPr>
              <a:t>performs feature selection</a:t>
            </a:r>
            <a:r>
              <a:rPr lang="en-US" dirty="0">
                <a:latin typeface="Arial Narrow" panose="020B0606020202030204" pitchFamily="34" charset="0"/>
              </a:rPr>
              <a:t> by adding a penalty based on the </a:t>
            </a:r>
            <a:r>
              <a:rPr lang="en-US" dirty="0">
                <a:solidFill>
                  <a:srgbClr val="7030A0"/>
                </a:solidFill>
                <a:latin typeface="Arial Narrow" panose="020B0606020202030204" pitchFamily="34" charset="0"/>
              </a:rPr>
              <a:t>absolute values of the model weights.</a:t>
            </a:r>
          </a:p>
          <a:p>
            <a:pPr marL="457200" lvl="1" indent="0">
              <a:buNone/>
            </a:pPr>
            <a:endParaRPr lang="en-US" dirty="0">
              <a:solidFill>
                <a:srgbClr val="7030A0"/>
              </a:solidFill>
              <a:latin typeface="Arial Narrow" panose="020B0606020202030204" pitchFamily="34" charset="0"/>
            </a:endParaRPr>
          </a:p>
          <a:p>
            <a:pPr lvl="1"/>
            <a:endParaRPr lang="en-US" dirty="0">
              <a:solidFill>
                <a:srgbClr val="7030A0"/>
              </a:solidFill>
              <a:latin typeface="Arial Narrow" panose="020B0606020202030204" pitchFamily="34" charset="0"/>
            </a:endParaRPr>
          </a:p>
          <a:p>
            <a:pPr lvl="1"/>
            <a:endParaRPr lang="en-US" dirty="0">
              <a:solidFill>
                <a:srgbClr val="7030A0"/>
              </a:solidFill>
              <a:latin typeface="Arial Narrow" panose="020B0606020202030204" pitchFamily="34" charset="0"/>
            </a:endParaRPr>
          </a:p>
          <a:p>
            <a:pPr lvl="1"/>
            <a:endParaRPr lang="en-US" dirty="0">
              <a:solidFill>
                <a:srgbClr val="7030A0"/>
              </a:solidFill>
              <a:latin typeface="Arial Narrow" panose="020B0606020202030204" pitchFamily="34" charset="0"/>
            </a:endParaRPr>
          </a:p>
          <a:p>
            <a:pPr lvl="1"/>
            <a:endParaRPr lang="en-US" dirty="0">
              <a:solidFill>
                <a:srgbClr val="7030A0"/>
              </a:solidFill>
              <a:latin typeface="Arial Narrow" panose="020B0606020202030204" pitchFamily="34" charset="0"/>
            </a:endParaRPr>
          </a:p>
          <a:p>
            <a:pPr lvl="1"/>
            <a:endParaRPr lang="en-US" dirty="0">
              <a:solidFill>
                <a:srgbClr val="7030A0"/>
              </a:solidFill>
              <a:latin typeface="Arial Narrow" panose="020B0606020202030204" pitchFamily="34" charset="0"/>
            </a:endParaRPr>
          </a:p>
          <a:p>
            <a:r>
              <a:rPr lang="en-US" dirty="0">
                <a:latin typeface="Arial Narrow" panose="020B0606020202030204" pitchFamily="34" charset="0"/>
              </a:rPr>
              <a:t>L1 Regularization performs automatic feature selection </a:t>
            </a:r>
            <a:r>
              <a:rPr lang="en-US" dirty="0">
                <a:solidFill>
                  <a:srgbClr val="7030A0"/>
                </a:solidFill>
                <a:latin typeface="Arial Narrow" panose="020B0606020202030204" pitchFamily="34" charset="0"/>
              </a:rPr>
              <a:t>by penalizing less important weights</a:t>
            </a:r>
            <a:r>
              <a:rPr lang="en-US" dirty="0">
                <a:latin typeface="Arial Narrow" panose="020B0606020202030204" pitchFamily="34" charset="0"/>
              </a:rPr>
              <a:t>, causing some of them </a:t>
            </a:r>
            <a:r>
              <a:rPr lang="en-US" dirty="0">
                <a:solidFill>
                  <a:srgbClr val="7030A0"/>
                </a:solidFill>
                <a:latin typeface="Arial Narrow" panose="020B0606020202030204" pitchFamily="34" charset="0"/>
              </a:rPr>
              <a:t>to become exactly zero</a:t>
            </a:r>
            <a:r>
              <a:rPr lang="en-US" dirty="0">
                <a:latin typeface="Arial Narrow" panose="020B0606020202030204" pitchFamily="34" charset="0"/>
              </a:rPr>
              <a:t>.</a:t>
            </a:r>
          </a:p>
          <a:p>
            <a:r>
              <a:rPr lang="en-US" dirty="0">
                <a:latin typeface="Arial Narrow" panose="020B0606020202030204" pitchFamily="34" charset="0"/>
              </a:rPr>
              <a:t>It </a:t>
            </a:r>
            <a:r>
              <a:rPr lang="en-US" dirty="0">
                <a:solidFill>
                  <a:srgbClr val="7030A0"/>
                </a:solidFill>
                <a:latin typeface="Arial Narrow" panose="020B0606020202030204" pitchFamily="34" charset="0"/>
              </a:rPr>
              <a:t>reduces overfitting </a:t>
            </a:r>
            <a:r>
              <a:rPr lang="en-US" dirty="0">
                <a:latin typeface="Arial Narrow" panose="020B0606020202030204" pitchFamily="34" charset="0"/>
              </a:rPr>
              <a:t>by </a:t>
            </a:r>
            <a:r>
              <a:rPr lang="en-US" dirty="0">
                <a:solidFill>
                  <a:srgbClr val="7030A0"/>
                </a:solidFill>
                <a:latin typeface="Arial Narrow" panose="020B0606020202030204" pitchFamily="34" charset="0"/>
              </a:rPr>
              <a:t>limiting model complexity and preventing weights from becoming too large</a:t>
            </a:r>
            <a:r>
              <a:rPr lang="en-US" dirty="0">
                <a:latin typeface="Arial Narrow" panose="020B0606020202030204" pitchFamily="34" charset="0"/>
              </a:rPr>
              <a:t>, resulting in </a:t>
            </a:r>
            <a:r>
              <a:rPr lang="en-US" dirty="0">
                <a:solidFill>
                  <a:srgbClr val="7030A0"/>
                </a:solidFill>
                <a:latin typeface="Arial Narrow" panose="020B0606020202030204" pitchFamily="34" charset="0"/>
              </a:rPr>
              <a:t>better generalization </a:t>
            </a:r>
            <a:r>
              <a:rPr lang="en-US" dirty="0">
                <a:latin typeface="Arial Narrow" panose="020B0606020202030204" pitchFamily="34" charset="0"/>
              </a:rPr>
              <a:t>on unseen data.</a:t>
            </a:r>
          </a:p>
          <a:p>
            <a:r>
              <a:rPr lang="en-US" dirty="0">
                <a:solidFill>
                  <a:srgbClr val="7030A0"/>
                </a:solidFill>
                <a:latin typeface="Arial Narrow" panose="020B0606020202030204" pitchFamily="34" charset="0"/>
              </a:rPr>
              <a:t>L1 Regularization is suitable when:</a:t>
            </a:r>
          </a:p>
          <a:p>
            <a:pPr marL="540000"/>
            <a:r>
              <a:rPr lang="en-US" dirty="0">
                <a:latin typeface="Arial Narrow" panose="020B0606020202030204" pitchFamily="34" charset="0"/>
              </a:rPr>
              <a:t>The data are high-dimensional. </a:t>
            </a:r>
          </a:p>
          <a:p>
            <a:pPr marL="540000"/>
            <a:r>
              <a:rPr lang="en-US" dirty="0">
                <a:latin typeface="Arial Narrow" panose="020B0606020202030204" pitchFamily="34" charset="0"/>
              </a:rPr>
              <a:t>The dataset contains many irrelevant features and requires feature selection. </a:t>
            </a:r>
          </a:p>
          <a:p>
            <a:pPr marL="540000"/>
            <a:r>
              <a:rPr lang="en-US" dirty="0">
                <a:latin typeface="Arial Narrow" panose="020B0606020202030204" pitchFamily="34" charset="0"/>
              </a:rPr>
              <a:t>A simpler, more interpretable model is desired.</a:t>
            </a:r>
          </a:p>
          <a:p>
            <a:r>
              <a:rPr lang="en-US" dirty="0">
                <a:solidFill>
                  <a:srgbClr val="7030A0"/>
                </a:solidFill>
                <a:latin typeface="Arial Narrow" panose="020B0606020202030204" pitchFamily="34" charset="0"/>
              </a:rPr>
              <a:t>L1 Regularization is NOT suitable when:</a:t>
            </a:r>
          </a:p>
          <a:p>
            <a:pPr marL="540000"/>
            <a:r>
              <a:rPr lang="en-US" dirty="0">
                <a:latin typeface="Arial Narrow" panose="020B0606020202030204" pitchFamily="34" charset="0"/>
              </a:rPr>
              <a:t>Features are highly correlated (it may arbitrarily select one and ignore the others).</a:t>
            </a:r>
          </a:p>
        </p:txBody>
      </p:sp>
      <mc:AlternateContent xmlns:mc="http://schemas.openxmlformats.org/markup-compatibility/2006" xmlns:a14="http://schemas.microsoft.com/office/drawing/2010/main">
        <mc:Choice Requires="a14">
          <p:sp>
            <p:nvSpPr>
              <p:cNvPr id="4" name="Rectangle 3"/>
              <p:cNvSpPr/>
              <p:nvPr/>
            </p:nvSpPr>
            <p:spPr>
              <a:xfrm>
                <a:off x="3205591" y="2067514"/>
                <a:ext cx="4600575" cy="677108"/>
              </a:xfrm>
              <a:prstGeom prst="rect">
                <a:avLst/>
              </a:prstGeom>
            </p:spPr>
            <p:txBody>
              <a:bodyPr wrap="square">
                <a:spAutoFit/>
              </a:bodyPr>
              <a:lstStyle/>
              <a:p>
                <a:pPr algn="just"/>
                <a:r>
                  <a:rPr lang="en-US" b="1" dirty="0">
                    <a:solidFill>
                      <a:srgbClr val="7030A0"/>
                    </a:solidFill>
                    <a:latin typeface="Times New Roman" panose="02020603050405020304" pitchFamily="18" charset="0"/>
                    <a:cs typeface="Times New Roman" panose="02020603050405020304" pitchFamily="18" charset="0"/>
                  </a:rPr>
                  <a:t>Loss = </a:t>
                </a:r>
                <a14:m>
                  <m:oMath xmlns:m="http://schemas.openxmlformats.org/officeDocument/2006/math">
                    <m:f>
                      <m:fPr>
                        <m:ctrlPr>
                          <a:rPr lang="en-US" b="1" i="1">
                            <a:solidFill>
                              <a:srgbClr val="7030A0"/>
                            </a:solidFill>
                            <a:latin typeface="Cambria Math" panose="02040503050406030204" pitchFamily="18" charset="0"/>
                          </a:rPr>
                        </m:ctrlPr>
                      </m:fPr>
                      <m:num>
                        <m:r>
                          <a:rPr lang="en-US" b="1" i="1">
                            <a:solidFill>
                              <a:srgbClr val="7030A0"/>
                            </a:solidFill>
                            <a:latin typeface="Cambria Math" panose="02040503050406030204" pitchFamily="18" charset="0"/>
                          </a:rPr>
                          <m:t>𝟏</m:t>
                        </m:r>
                      </m:num>
                      <m:den>
                        <m:r>
                          <a:rPr lang="en-US" b="1" i="1">
                            <a:solidFill>
                              <a:srgbClr val="7030A0"/>
                            </a:solidFill>
                            <a:latin typeface="Cambria Math" panose="02040503050406030204" pitchFamily="18" charset="0"/>
                          </a:rPr>
                          <m:t>𝟐</m:t>
                        </m:r>
                        <m:r>
                          <a:rPr lang="en-US" b="1" i="1">
                            <a:solidFill>
                              <a:srgbClr val="7030A0"/>
                            </a:solidFill>
                            <a:latin typeface="Cambria Math" panose="02040503050406030204" pitchFamily="18" charset="0"/>
                          </a:rPr>
                          <m:t>𝒎</m:t>
                        </m:r>
                      </m:den>
                    </m:f>
                    <m:nary>
                      <m:naryPr>
                        <m:chr m:val="∑"/>
                        <m:ctrlPr>
                          <a:rPr lang="en-US" b="1" i="1">
                            <a:solidFill>
                              <a:srgbClr val="7030A0"/>
                            </a:solidFill>
                            <a:latin typeface="Cambria Math" panose="02040503050406030204" pitchFamily="18" charset="0"/>
                          </a:rPr>
                        </m:ctrlPr>
                      </m:naryPr>
                      <m:sub>
                        <m:r>
                          <m:rPr>
                            <m:brk m:alnAt="23"/>
                          </m:rPr>
                          <a:rPr lang="en-US" b="1" i="1">
                            <a:solidFill>
                              <a:srgbClr val="7030A0"/>
                            </a:solidFill>
                            <a:latin typeface="Cambria Math" panose="02040503050406030204" pitchFamily="18" charset="0"/>
                          </a:rPr>
                          <m:t>𝒊</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𝟏</m:t>
                        </m:r>
                      </m:sub>
                      <m:sup>
                        <m:r>
                          <a:rPr lang="en-US" b="1" i="1">
                            <a:solidFill>
                              <a:srgbClr val="7030A0"/>
                            </a:solidFill>
                            <a:latin typeface="Cambria Math" panose="02040503050406030204" pitchFamily="18" charset="0"/>
                          </a:rPr>
                          <m:t>𝒎</m:t>
                        </m:r>
                      </m:sup>
                      <m:e>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𝒉</m:t>
                        </m:r>
                        <m:r>
                          <a:rPr lang="en-US" b="1" i="1" baseline="-25000">
                            <a:solidFill>
                              <a:srgbClr val="7030A0"/>
                            </a:solidFill>
                            <a:latin typeface="Cambria Math" panose="02040503050406030204" pitchFamily="18" charset="0"/>
                            <a:ea typeface="Cambria Math" panose="02040503050406030204" pitchFamily="18" charset="0"/>
                          </a:rPr>
                          <m:t>𝝓</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𝒙</m:t>
                        </m:r>
                        <m:r>
                          <m:rPr>
                            <m:nor/>
                          </m:rPr>
                          <a:rPr lang="en-IN" b="1" baseline="30000" dirty="0">
                            <a:solidFill>
                              <a:srgbClr val="7030A0"/>
                            </a:solidFill>
                            <a:latin typeface="Times New Roman" panose="02020603050405020304" pitchFamily="18" charset="0"/>
                            <a:cs typeface="Times New Roman" panose="02020603050405020304" pitchFamily="18" charset="0"/>
                          </a:rPr>
                          <m:t>(</m:t>
                        </m:r>
                        <m:r>
                          <m:rPr>
                            <m:nor/>
                          </m:rPr>
                          <a:rPr lang="en-IN" b="1" baseline="30000" dirty="0">
                            <a:solidFill>
                              <a:srgbClr val="7030A0"/>
                            </a:solidFill>
                            <a:latin typeface="Times New Roman" panose="02020603050405020304" pitchFamily="18" charset="0"/>
                            <a:cs typeface="Times New Roman" panose="02020603050405020304" pitchFamily="18" charset="0"/>
                          </a:rPr>
                          <m:t>i</m:t>
                        </m:r>
                        <m:r>
                          <m:rPr>
                            <m:nor/>
                          </m:rPr>
                          <a:rPr lang="en-IN" b="1" baseline="30000" dirty="0">
                            <a:solidFill>
                              <a:srgbClr val="7030A0"/>
                            </a:solidFill>
                            <a:latin typeface="Times New Roman" panose="02020603050405020304" pitchFamily="18" charset="0"/>
                            <a:cs typeface="Times New Roman" panose="02020603050405020304" pitchFamily="18" charset="0"/>
                          </a:rPr>
                          <m:t>)</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𝒚</m:t>
                        </m:r>
                      </m:e>
                    </m:nary>
                  </m:oMath>
                </a14:m>
                <a:r>
                  <a:rPr lang="en-IN" b="1" baseline="30000" dirty="0">
                    <a:solidFill>
                      <a:srgbClr val="7030A0"/>
                    </a:solidFill>
                    <a:latin typeface="Times New Roman" panose="02020603050405020304" pitchFamily="18" charset="0"/>
                    <a:cs typeface="Times New Roman" panose="02020603050405020304" pitchFamily="18" charset="0"/>
                  </a:rPr>
                  <a:t>(</a:t>
                </a:r>
                <a:r>
                  <a:rPr lang="en-IN" b="1" baseline="30000" dirty="0" err="1">
                    <a:solidFill>
                      <a:srgbClr val="7030A0"/>
                    </a:solidFill>
                    <a:latin typeface="Times New Roman" panose="02020603050405020304" pitchFamily="18" charset="0"/>
                    <a:cs typeface="Times New Roman" panose="02020603050405020304" pitchFamily="18" charset="0"/>
                  </a:rPr>
                  <a:t>i</a:t>
                </a:r>
                <a:r>
                  <a:rPr lang="en-IN" b="1" baseline="30000" dirty="0">
                    <a:solidFill>
                      <a:srgbClr val="7030A0"/>
                    </a:solidFill>
                    <a:latin typeface="Times New Roman" panose="02020603050405020304" pitchFamily="18" charset="0"/>
                    <a:cs typeface="Times New Roman" panose="02020603050405020304" pitchFamily="18" charset="0"/>
                  </a:rPr>
                  <a:t>)</a:t>
                </a:r>
                <a:r>
                  <a:rPr lang="en-IN" b="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rPr>
                  <a:t>)</a:t>
                </a:r>
                <a:r>
                  <a:rPr lang="en-IN" b="1" baseline="30000" dirty="0">
                    <a:solidFill>
                      <a:srgbClr val="7030A0"/>
                    </a:solidFill>
                    <a:latin typeface="Times New Roman" panose="02020603050405020304" pitchFamily="18" charset="0"/>
                    <a:cs typeface="Times New Roman" panose="02020603050405020304" pitchFamily="18" charset="0"/>
                  </a:rPr>
                  <a:t>2</a:t>
                </a:r>
                <a:r>
                  <a:rPr lang="en-IN" b="1" dirty="0">
                    <a:solidFill>
                      <a:srgbClr val="7030A0"/>
                    </a:solidFill>
                    <a:latin typeface="Times New Roman" panose="02020603050405020304" pitchFamily="18" charset="0"/>
                    <a:cs typeface="Times New Roman" panose="02020603050405020304" pitchFamily="18" charset="0"/>
                  </a:rPr>
                  <a:t> +𝜆</a:t>
                </a:r>
                <a14:m>
                  <m:oMath xmlns:m="http://schemas.openxmlformats.org/officeDocument/2006/math">
                    <m:nary>
                      <m:naryPr>
                        <m:chr m:val="∑"/>
                        <m:ctrlPr>
                          <a:rPr lang="en-IN" b="1" i="1">
                            <a:solidFill>
                              <a:srgbClr val="7030A0"/>
                            </a:solidFill>
                            <a:latin typeface="Cambria Math" panose="02040503050406030204" pitchFamily="18" charset="0"/>
                            <a:ea typeface="Cambria Math" panose="02040503050406030204" pitchFamily="18" charset="0"/>
                          </a:rPr>
                        </m:ctrlPr>
                      </m:naryPr>
                      <m:sub>
                        <m:r>
                          <m:rPr>
                            <m:brk m:alnAt="23"/>
                          </m:rPr>
                          <a:rPr lang="en-US" b="1" i="1">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𝟎</m:t>
                        </m:r>
                      </m:sub>
                      <m:sup>
                        <m:r>
                          <a:rPr lang="en-US" b="1" i="1">
                            <a:solidFill>
                              <a:srgbClr val="7030A0"/>
                            </a:solidFill>
                            <a:latin typeface="Cambria Math" panose="02040503050406030204" pitchFamily="18" charset="0"/>
                            <a:ea typeface="Cambria Math" panose="02040503050406030204" pitchFamily="18" charset="0"/>
                          </a:rPr>
                          <m:t>𝒏</m:t>
                        </m:r>
                      </m:sup>
                      <m:e>
                        <m:r>
                          <a:rPr lang="en-US" b="1" i="1">
                            <a:solidFill>
                              <a:srgbClr val="7030A0"/>
                            </a:solidFill>
                            <a:latin typeface="Cambria Math" panose="02040503050406030204" pitchFamily="18" charset="0"/>
                            <a:ea typeface="Cambria Math" panose="02040503050406030204" pitchFamily="18" charset="0"/>
                          </a:rPr>
                          <m:t>|</m:t>
                        </m:r>
                        <m:r>
                          <a:rPr lang="en-IN" b="1" i="1">
                            <a:solidFill>
                              <a:srgbClr val="7030A0"/>
                            </a:solidFill>
                            <a:latin typeface="Cambria Math" panose="02040503050406030204" pitchFamily="18" charset="0"/>
                            <a:ea typeface="Cambria Math" panose="02040503050406030204" pitchFamily="18" charset="0"/>
                          </a:rPr>
                          <m:t>𝝓</m:t>
                        </m:r>
                        <m:r>
                          <a:rPr lang="en-US" b="1" i="1" baseline="-25000">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e>
                    </m:nary>
                  </m:oMath>
                </a14:m>
                <a:endParaRPr lang="en-IN" b="1" baseline="30000" dirty="0">
                  <a:latin typeface="Times New Roman" panose="02020603050405020304" pitchFamily="18" charset="0"/>
                  <a:cs typeface="Times New Roman" panose="02020603050405020304" pitchFamily="18" charset="0"/>
                </a:endParaRPr>
              </a:p>
              <a:p>
                <a:pPr algn="just"/>
                <a:endParaRPr lang="en-IN" baseline="30000" dirty="0">
                  <a:latin typeface="Times New Roman" panose="02020603050405020304" pitchFamily="18" charset="0"/>
                  <a:cs typeface="Times New Roman" panose="020206030504050203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3205591" y="2067514"/>
                <a:ext cx="4600575" cy="677108"/>
              </a:xfrm>
              <a:prstGeom prst="rect">
                <a:avLst/>
              </a:prstGeom>
              <a:blipFill>
                <a:blip r:embed="rId2"/>
                <a:stretch>
                  <a:fillRect l="-1192" t="-55856" b="-65766"/>
                </a:stretch>
              </a:blipFill>
            </p:spPr>
            <p:txBody>
              <a:bodyPr/>
              <a:lstStyle/>
              <a:p>
                <a:r>
                  <a:rPr lang="en-IN">
                    <a:noFill/>
                  </a:rPr>
                  <a:t> </a:t>
                </a:r>
              </a:p>
            </p:txBody>
          </p:sp>
        </mc:Fallback>
      </mc:AlternateContent>
      <p:sp>
        <p:nvSpPr>
          <p:cNvPr id="5" name="Oval 4"/>
          <p:cNvSpPr/>
          <p:nvPr/>
        </p:nvSpPr>
        <p:spPr>
          <a:xfrm>
            <a:off x="3914251" y="1907938"/>
            <a:ext cx="2387599" cy="89453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6683644" y="1933347"/>
            <a:ext cx="809625" cy="79533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p:cNvSpPr txBox="1"/>
          <p:nvPr/>
        </p:nvSpPr>
        <p:spPr>
          <a:xfrm>
            <a:off x="4701213" y="1632857"/>
            <a:ext cx="918841" cy="276999"/>
          </a:xfrm>
          <a:prstGeom prst="rect">
            <a:avLst/>
          </a:prstGeom>
          <a:noFill/>
        </p:spPr>
        <p:txBody>
          <a:bodyPr wrap="none" rtlCol="0">
            <a:spAutoFit/>
          </a:bodyPr>
          <a:lstStyle/>
          <a:p>
            <a:r>
              <a:rPr lang="en-IN" sz="1200" dirty="0">
                <a:solidFill>
                  <a:schemeClr val="accent2">
                    <a:lumMod val="75000"/>
                  </a:schemeClr>
                </a:solidFill>
                <a:latin typeface="Arial Narrow" panose="020B0606020202030204" pitchFamily="34" charset="0"/>
              </a:rPr>
              <a:t>Original Loss</a:t>
            </a:r>
          </a:p>
        </p:txBody>
      </p:sp>
      <p:sp>
        <p:nvSpPr>
          <p:cNvPr id="8" name="TextBox 7"/>
          <p:cNvSpPr txBox="1"/>
          <p:nvPr/>
        </p:nvSpPr>
        <p:spPr>
          <a:xfrm>
            <a:off x="6750880" y="1661903"/>
            <a:ext cx="606256" cy="276999"/>
          </a:xfrm>
          <a:prstGeom prst="rect">
            <a:avLst/>
          </a:prstGeom>
          <a:noFill/>
        </p:spPr>
        <p:txBody>
          <a:bodyPr wrap="none" rtlCol="0">
            <a:spAutoFit/>
          </a:bodyPr>
          <a:lstStyle/>
          <a:p>
            <a:r>
              <a:rPr lang="en-IN" sz="1200" dirty="0">
                <a:solidFill>
                  <a:schemeClr val="accent2">
                    <a:lumMod val="75000"/>
                  </a:schemeClr>
                </a:solidFill>
                <a:latin typeface="Arial Narrow" panose="020B0606020202030204" pitchFamily="34" charset="0"/>
              </a:rPr>
              <a:t>Penalty</a:t>
            </a:r>
          </a:p>
        </p:txBody>
      </p:sp>
    </p:spTree>
    <p:extLst>
      <p:ext uri="{BB962C8B-B14F-4D97-AF65-F5344CB8AC3E}">
        <p14:creationId xmlns:p14="http://schemas.microsoft.com/office/powerpoint/2010/main" val="1175554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255" y="1275126"/>
            <a:ext cx="10515600" cy="5394122"/>
          </a:xfrm>
        </p:spPr>
        <p:txBody>
          <a:bodyPr>
            <a:normAutofit fontScale="70000" lnSpcReduction="20000"/>
          </a:bodyPr>
          <a:lstStyle/>
          <a:p>
            <a:r>
              <a:rPr lang="en-US" dirty="0">
                <a:solidFill>
                  <a:srgbClr val="7030A0"/>
                </a:solidFill>
                <a:latin typeface="Arial Narrow" panose="020B0606020202030204" pitchFamily="34" charset="0"/>
              </a:rPr>
              <a:t>L2 Regularization (also called Ridge regularization or weight decay) </a:t>
            </a:r>
            <a:r>
              <a:rPr lang="en-US" dirty="0">
                <a:latin typeface="Arial Narrow" panose="020B0606020202030204" pitchFamily="34" charset="0"/>
              </a:rPr>
              <a:t>reduces overfitting by </a:t>
            </a:r>
            <a:r>
              <a:rPr lang="en-US" dirty="0">
                <a:solidFill>
                  <a:srgbClr val="7030A0"/>
                </a:solidFill>
                <a:latin typeface="Arial Narrow" panose="020B0606020202030204" pitchFamily="34" charset="0"/>
              </a:rPr>
              <a:t>penalizing large weights, encouraging</a:t>
            </a:r>
            <a:r>
              <a:rPr lang="en-US" dirty="0">
                <a:latin typeface="Arial Narrow" panose="020B0606020202030204" pitchFamily="34" charset="0"/>
              </a:rPr>
              <a:t> </a:t>
            </a:r>
            <a:r>
              <a:rPr lang="en-US" dirty="0">
                <a:solidFill>
                  <a:srgbClr val="7030A0"/>
                </a:solidFill>
                <a:latin typeface="Arial Narrow" panose="020B0606020202030204" pitchFamily="34" charset="0"/>
              </a:rPr>
              <a:t>smaller, smoother, and more stable parameters </a:t>
            </a:r>
            <a:r>
              <a:rPr lang="en-US" dirty="0">
                <a:latin typeface="Arial Narrow" panose="020B0606020202030204" pitchFamily="34" charset="0"/>
              </a:rPr>
              <a:t>for better generalization.</a:t>
            </a:r>
          </a:p>
          <a:p>
            <a:endParaRPr lang="en-US" dirty="0">
              <a:latin typeface="Arial Narrow" panose="020B0606020202030204" pitchFamily="34" charset="0"/>
            </a:endParaRPr>
          </a:p>
          <a:p>
            <a:endParaRPr lang="en-US" dirty="0">
              <a:latin typeface="Arial Narrow" panose="020B0606020202030204" pitchFamily="34" charset="0"/>
            </a:endParaRPr>
          </a:p>
          <a:p>
            <a:pPr marL="0" indent="0" algn="just">
              <a:buNone/>
            </a:pPr>
            <a:endParaRPr lang="en-US" dirty="0">
              <a:latin typeface="Arial Narrow" panose="020B0606020202030204" pitchFamily="34" charset="0"/>
            </a:endParaRPr>
          </a:p>
          <a:p>
            <a:pPr algn="just"/>
            <a:endParaRPr lang="en-US" dirty="0">
              <a:latin typeface="Arial Narrow" panose="020B0606020202030204" pitchFamily="34" charset="0"/>
            </a:endParaRPr>
          </a:p>
          <a:p>
            <a:pPr algn="just"/>
            <a:r>
              <a:rPr lang="en-US" dirty="0">
                <a:latin typeface="Arial Narrow" panose="020B0606020202030204" pitchFamily="34" charset="0"/>
              </a:rPr>
              <a:t>L2 Regularization </a:t>
            </a:r>
            <a:r>
              <a:rPr lang="en-US" dirty="0">
                <a:solidFill>
                  <a:srgbClr val="7030A0"/>
                </a:solidFill>
                <a:latin typeface="Arial Narrow" panose="020B0606020202030204" pitchFamily="34" charset="0"/>
              </a:rPr>
              <a:t>penalizes large weights </a:t>
            </a:r>
            <a:r>
              <a:rPr lang="en-US" dirty="0">
                <a:latin typeface="Arial Narrow" panose="020B0606020202030204" pitchFamily="34" charset="0"/>
              </a:rPr>
              <a:t>because squaring the weights makes large values much more costly. It </a:t>
            </a:r>
            <a:r>
              <a:rPr lang="en-US" dirty="0">
                <a:solidFill>
                  <a:srgbClr val="7030A0"/>
                </a:solidFill>
                <a:latin typeface="Arial Narrow" panose="020B0606020202030204" pitchFamily="34" charset="0"/>
              </a:rPr>
              <a:t>encourages the model to distribute importance </a:t>
            </a:r>
            <a:r>
              <a:rPr lang="en-US" dirty="0">
                <a:latin typeface="Arial Narrow" panose="020B0606020202030204" pitchFamily="34" charset="0"/>
              </a:rPr>
              <a:t>across all features instead of relying on </a:t>
            </a:r>
            <a:r>
              <a:rPr lang="en-US" dirty="0">
                <a:solidFill>
                  <a:srgbClr val="7030A0"/>
                </a:solidFill>
                <a:latin typeface="Arial Narrow" panose="020B0606020202030204" pitchFamily="34" charset="0"/>
              </a:rPr>
              <a:t>a few extreme coefficients</a:t>
            </a:r>
            <a:r>
              <a:rPr lang="en-US" dirty="0">
                <a:latin typeface="Arial Narrow" panose="020B0606020202030204" pitchFamily="34" charset="0"/>
              </a:rPr>
              <a:t>.</a:t>
            </a:r>
          </a:p>
          <a:p>
            <a:pPr marL="0" indent="0" algn="just">
              <a:buNone/>
            </a:pPr>
            <a:endParaRPr lang="en-US" dirty="0">
              <a:latin typeface="Arial Narrow" panose="020B0606020202030204" pitchFamily="34" charset="0"/>
            </a:endParaRPr>
          </a:p>
          <a:p>
            <a:pPr algn="just"/>
            <a:r>
              <a:rPr lang="en-US" dirty="0">
                <a:latin typeface="Arial Narrow" panose="020B0606020202030204" pitchFamily="34" charset="0"/>
              </a:rPr>
              <a:t>L2 Regularization </a:t>
            </a:r>
            <a:r>
              <a:rPr lang="en-US" dirty="0">
                <a:solidFill>
                  <a:srgbClr val="7030A0"/>
                </a:solidFill>
                <a:latin typeface="Arial Narrow" panose="020B0606020202030204" pitchFamily="34" charset="0"/>
              </a:rPr>
              <a:t>reduces overfitting </a:t>
            </a:r>
            <a:r>
              <a:rPr lang="en-US" dirty="0">
                <a:latin typeface="Arial Narrow" panose="020B0606020202030204" pitchFamily="34" charset="0"/>
              </a:rPr>
              <a:t>by </a:t>
            </a:r>
            <a:r>
              <a:rPr lang="en-US" dirty="0">
                <a:solidFill>
                  <a:srgbClr val="7030A0"/>
                </a:solidFill>
                <a:latin typeface="Arial Narrow" panose="020B0606020202030204" pitchFamily="34" charset="0"/>
              </a:rPr>
              <a:t>limiting model complexity</a:t>
            </a:r>
            <a:r>
              <a:rPr lang="en-US" dirty="0">
                <a:latin typeface="Arial Narrow" panose="020B0606020202030204" pitchFamily="34" charset="0"/>
              </a:rPr>
              <a:t>. It makes the model </a:t>
            </a:r>
            <a:r>
              <a:rPr lang="en-US" dirty="0">
                <a:solidFill>
                  <a:srgbClr val="7030A0"/>
                </a:solidFill>
                <a:latin typeface="Arial Narrow" panose="020B0606020202030204" pitchFamily="34" charset="0"/>
              </a:rPr>
              <a:t>less sensitive to noise </a:t>
            </a:r>
            <a:r>
              <a:rPr lang="en-US" dirty="0">
                <a:latin typeface="Arial Narrow" panose="020B0606020202030204" pitchFamily="34" charset="0"/>
              </a:rPr>
              <a:t>in the training data, </a:t>
            </a:r>
            <a:r>
              <a:rPr lang="en-US" dirty="0">
                <a:solidFill>
                  <a:srgbClr val="7030A0"/>
                </a:solidFill>
                <a:latin typeface="Arial Narrow" panose="020B0606020202030204" pitchFamily="34" charset="0"/>
              </a:rPr>
              <a:t>resulting in better generalization</a:t>
            </a:r>
            <a:r>
              <a:rPr lang="en-US" dirty="0">
                <a:latin typeface="Arial Narrow" panose="020B0606020202030204" pitchFamily="34" charset="0"/>
              </a:rPr>
              <a:t> to unseen data.</a:t>
            </a:r>
          </a:p>
          <a:p>
            <a:pPr algn="just"/>
            <a:endParaRPr lang="en-US" dirty="0">
              <a:latin typeface="Arial Narrow" panose="020B0606020202030204" pitchFamily="34" charset="0"/>
            </a:endParaRPr>
          </a:p>
          <a:p>
            <a:pPr algn="just"/>
            <a:r>
              <a:rPr lang="en-US" dirty="0">
                <a:latin typeface="Arial Narrow" panose="020B0606020202030204" pitchFamily="34" charset="0"/>
              </a:rPr>
              <a:t>L2 Regularization </a:t>
            </a:r>
            <a:r>
              <a:rPr lang="en-US" dirty="0">
                <a:solidFill>
                  <a:srgbClr val="7030A0"/>
                </a:solidFill>
                <a:latin typeface="Arial Narrow" panose="020B0606020202030204" pitchFamily="34" charset="0"/>
              </a:rPr>
              <a:t>improves numerical stability</a:t>
            </a:r>
            <a:r>
              <a:rPr lang="en-US" dirty="0">
                <a:latin typeface="Arial Narrow" panose="020B0606020202030204" pitchFamily="34" charset="0"/>
              </a:rPr>
              <a:t>, making it especially useful when features are highly </a:t>
            </a:r>
            <a:r>
              <a:rPr lang="en-US" dirty="0">
                <a:solidFill>
                  <a:srgbClr val="7030A0"/>
                </a:solidFill>
                <a:latin typeface="Arial Narrow" panose="020B0606020202030204" pitchFamily="34" charset="0"/>
              </a:rPr>
              <a:t>correlated (</a:t>
            </a:r>
            <a:r>
              <a:rPr lang="en-US" dirty="0" err="1">
                <a:solidFill>
                  <a:srgbClr val="7030A0"/>
                </a:solidFill>
                <a:latin typeface="Arial Narrow" panose="020B0606020202030204" pitchFamily="34" charset="0"/>
              </a:rPr>
              <a:t>multicollinearity</a:t>
            </a:r>
            <a:r>
              <a:rPr lang="en-US" dirty="0">
                <a:solidFill>
                  <a:srgbClr val="7030A0"/>
                </a:solidFill>
                <a:latin typeface="Arial Narrow" panose="020B0606020202030204" pitchFamily="34" charset="0"/>
              </a:rPr>
              <a:t>)</a:t>
            </a:r>
            <a:r>
              <a:rPr lang="en-US" dirty="0">
                <a:latin typeface="Arial Narrow" panose="020B0606020202030204" pitchFamily="34" charset="0"/>
              </a:rPr>
              <a:t>. As a result, it produces smoother and more stable solutions.</a:t>
            </a:r>
          </a:p>
          <a:p>
            <a:pPr algn="just"/>
            <a:endParaRPr lang="en-US" dirty="0">
              <a:latin typeface="Arial Narrow" panose="020B0606020202030204" pitchFamily="34" charset="0"/>
            </a:endParaRPr>
          </a:p>
          <a:p>
            <a:pPr algn="just"/>
            <a:r>
              <a:rPr lang="en-US" dirty="0">
                <a:latin typeface="Arial Narrow" panose="020B0606020202030204" pitchFamily="34" charset="0"/>
              </a:rPr>
              <a:t>L2 Regularization retains all features by shrinking their coefficients toward zero without forcing them to become exactly zero. Therefore, unlike L1 Regularization, it </a:t>
            </a:r>
            <a:r>
              <a:rPr lang="en-US" dirty="0">
                <a:solidFill>
                  <a:srgbClr val="7030A0"/>
                </a:solidFill>
                <a:latin typeface="Arial Narrow" panose="020B0606020202030204" pitchFamily="34" charset="0"/>
              </a:rPr>
              <a:t>does not perform feature selection.</a:t>
            </a:r>
            <a:endParaRPr lang="en-US" dirty="0">
              <a:latin typeface="Arial Narrow" panose="020B0606020202030204" pitchFamily="34" charset="0"/>
            </a:endParaRPr>
          </a:p>
        </p:txBody>
      </p:sp>
      <p:sp>
        <p:nvSpPr>
          <p:cNvPr id="4" name="Title 1"/>
          <p:cNvSpPr>
            <a:spLocks noGrp="1"/>
          </p:cNvSpPr>
          <p:nvPr>
            <p:ph type="title"/>
          </p:nvPr>
        </p:nvSpPr>
        <p:spPr>
          <a:xfrm>
            <a:off x="838200" y="172179"/>
            <a:ext cx="10515600" cy="951946"/>
          </a:xfrm>
        </p:spPr>
        <p:txBody>
          <a:bodyPr>
            <a:normAutofit/>
          </a:bodyPr>
          <a:lstStyle/>
          <a:p>
            <a:r>
              <a:rPr lang="en-IN" sz="3600" dirty="0">
                <a:latin typeface="Century" panose="02040604050505020304" pitchFamily="18" charset="0"/>
              </a:rPr>
              <a:t>L2 Regularization </a:t>
            </a:r>
          </a:p>
        </p:txBody>
      </p:sp>
      <mc:AlternateContent xmlns:mc="http://schemas.openxmlformats.org/markup-compatibility/2006" xmlns:a14="http://schemas.microsoft.com/office/drawing/2010/main">
        <mc:Choice Requires="a14">
          <p:sp>
            <p:nvSpPr>
              <p:cNvPr id="7" name="Rectangle 6"/>
              <p:cNvSpPr/>
              <p:nvPr/>
            </p:nvSpPr>
            <p:spPr>
              <a:xfrm>
                <a:off x="4195492" y="2155244"/>
                <a:ext cx="4503284" cy="492443"/>
              </a:xfrm>
              <a:prstGeom prst="rect">
                <a:avLst/>
              </a:prstGeom>
            </p:spPr>
            <p:txBody>
              <a:bodyPr wrap="none">
                <a:spAutoFit/>
              </a:bodyPr>
              <a:lstStyle/>
              <a:p>
                <a:r>
                  <a:rPr lang="en-US" b="1" dirty="0">
                    <a:solidFill>
                      <a:srgbClr val="7030A0"/>
                    </a:solidFill>
                    <a:latin typeface="Times New Roman" panose="02020603050405020304" pitchFamily="18" charset="0"/>
                    <a:cs typeface="Times New Roman" panose="02020603050405020304" pitchFamily="18" charset="0"/>
                  </a:rPr>
                  <a:t> Loss = </a:t>
                </a:r>
                <a14:m>
                  <m:oMath xmlns:m="http://schemas.openxmlformats.org/officeDocument/2006/math">
                    <m:f>
                      <m:fPr>
                        <m:ctrlPr>
                          <a:rPr lang="en-US" b="1" i="1">
                            <a:solidFill>
                              <a:srgbClr val="7030A0"/>
                            </a:solidFill>
                            <a:latin typeface="Cambria Math" panose="02040503050406030204" pitchFamily="18" charset="0"/>
                          </a:rPr>
                        </m:ctrlPr>
                      </m:fPr>
                      <m:num>
                        <m:r>
                          <a:rPr lang="en-US" b="1" i="1">
                            <a:solidFill>
                              <a:srgbClr val="7030A0"/>
                            </a:solidFill>
                            <a:latin typeface="Cambria Math" panose="02040503050406030204" pitchFamily="18" charset="0"/>
                          </a:rPr>
                          <m:t>𝟏</m:t>
                        </m:r>
                      </m:num>
                      <m:den>
                        <m:r>
                          <a:rPr lang="en-US" b="1" i="1">
                            <a:solidFill>
                              <a:srgbClr val="7030A0"/>
                            </a:solidFill>
                            <a:latin typeface="Cambria Math" panose="02040503050406030204" pitchFamily="18" charset="0"/>
                          </a:rPr>
                          <m:t>𝟐</m:t>
                        </m:r>
                        <m:r>
                          <a:rPr lang="en-US" b="1" i="1">
                            <a:solidFill>
                              <a:srgbClr val="7030A0"/>
                            </a:solidFill>
                            <a:latin typeface="Cambria Math" panose="02040503050406030204" pitchFamily="18" charset="0"/>
                          </a:rPr>
                          <m:t>𝒎</m:t>
                        </m:r>
                      </m:den>
                    </m:f>
                    <m:nary>
                      <m:naryPr>
                        <m:chr m:val="∑"/>
                        <m:ctrlPr>
                          <a:rPr lang="en-US" b="1" i="1">
                            <a:solidFill>
                              <a:srgbClr val="7030A0"/>
                            </a:solidFill>
                            <a:latin typeface="Cambria Math" panose="02040503050406030204" pitchFamily="18" charset="0"/>
                          </a:rPr>
                        </m:ctrlPr>
                      </m:naryPr>
                      <m:sub>
                        <m:r>
                          <m:rPr>
                            <m:brk m:alnAt="23"/>
                          </m:rPr>
                          <a:rPr lang="en-US" b="1" i="1">
                            <a:solidFill>
                              <a:srgbClr val="7030A0"/>
                            </a:solidFill>
                            <a:latin typeface="Cambria Math" panose="02040503050406030204" pitchFamily="18" charset="0"/>
                          </a:rPr>
                          <m:t>𝒊</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𝟏</m:t>
                        </m:r>
                      </m:sub>
                      <m:sup>
                        <m:r>
                          <a:rPr lang="en-US" b="1" i="1">
                            <a:solidFill>
                              <a:srgbClr val="7030A0"/>
                            </a:solidFill>
                            <a:latin typeface="Cambria Math" panose="02040503050406030204" pitchFamily="18" charset="0"/>
                          </a:rPr>
                          <m:t>𝒎</m:t>
                        </m:r>
                      </m:sup>
                      <m:e>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𝒉</m:t>
                        </m:r>
                        <m:r>
                          <a:rPr lang="en-US" b="1" i="1" baseline="-25000">
                            <a:solidFill>
                              <a:srgbClr val="7030A0"/>
                            </a:solidFill>
                            <a:latin typeface="Cambria Math" panose="02040503050406030204" pitchFamily="18" charset="0"/>
                            <a:ea typeface="Cambria Math" panose="02040503050406030204" pitchFamily="18" charset="0"/>
                          </a:rPr>
                          <m:t>𝝓</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𝒙</m:t>
                        </m:r>
                        <m:r>
                          <m:rPr>
                            <m:nor/>
                          </m:rPr>
                          <a:rPr lang="en-IN" b="1" baseline="30000" dirty="0">
                            <a:solidFill>
                              <a:srgbClr val="7030A0"/>
                            </a:solidFill>
                            <a:latin typeface="Times New Roman" panose="02020603050405020304" pitchFamily="18" charset="0"/>
                            <a:cs typeface="Times New Roman" panose="02020603050405020304" pitchFamily="18" charset="0"/>
                          </a:rPr>
                          <m:t>(</m:t>
                        </m:r>
                        <m:r>
                          <m:rPr>
                            <m:nor/>
                          </m:rPr>
                          <a:rPr lang="en-IN" b="1" baseline="30000" dirty="0">
                            <a:solidFill>
                              <a:srgbClr val="7030A0"/>
                            </a:solidFill>
                            <a:latin typeface="Times New Roman" panose="02020603050405020304" pitchFamily="18" charset="0"/>
                            <a:cs typeface="Times New Roman" panose="02020603050405020304" pitchFamily="18" charset="0"/>
                          </a:rPr>
                          <m:t>i</m:t>
                        </m:r>
                        <m:r>
                          <m:rPr>
                            <m:nor/>
                          </m:rPr>
                          <a:rPr lang="en-IN" b="1" baseline="30000" dirty="0">
                            <a:solidFill>
                              <a:srgbClr val="7030A0"/>
                            </a:solidFill>
                            <a:latin typeface="Times New Roman" panose="02020603050405020304" pitchFamily="18" charset="0"/>
                            <a:cs typeface="Times New Roman" panose="02020603050405020304" pitchFamily="18" charset="0"/>
                          </a:rPr>
                          <m:t>)</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𝒚</m:t>
                        </m:r>
                      </m:e>
                    </m:nary>
                  </m:oMath>
                </a14:m>
                <a:r>
                  <a:rPr lang="en-IN" b="1" baseline="30000" dirty="0">
                    <a:solidFill>
                      <a:srgbClr val="7030A0"/>
                    </a:solidFill>
                    <a:latin typeface="Times New Roman" panose="02020603050405020304" pitchFamily="18" charset="0"/>
                    <a:cs typeface="Times New Roman" panose="02020603050405020304" pitchFamily="18" charset="0"/>
                  </a:rPr>
                  <a:t>(</a:t>
                </a:r>
                <a:r>
                  <a:rPr lang="en-IN" b="1" baseline="30000" dirty="0" err="1">
                    <a:solidFill>
                      <a:srgbClr val="7030A0"/>
                    </a:solidFill>
                    <a:latin typeface="Times New Roman" panose="02020603050405020304" pitchFamily="18" charset="0"/>
                    <a:cs typeface="Times New Roman" panose="02020603050405020304" pitchFamily="18" charset="0"/>
                  </a:rPr>
                  <a:t>i</a:t>
                </a:r>
                <a:r>
                  <a:rPr lang="en-IN" b="1" baseline="30000" dirty="0">
                    <a:solidFill>
                      <a:srgbClr val="7030A0"/>
                    </a:solidFill>
                    <a:latin typeface="Times New Roman" panose="02020603050405020304" pitchFamily="18" charset="0"/>
                    <a:cs typeface="Times New Roman" panose="02020603050405020304" pitchFamily="18" charset="0"/>
                  </a:rPr>
                  <a:t>)</a:t>
                </a:r>
                <a:r>
                  <a:rPr lang="en-IN" b="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rPr>
                  <a:t>)</a:t>
                </a:r>
                <a:r>
                  <a:rPr lang="en-IN" b="1" baseline="30000" dirty="0">
                    <a:solidFill>
                      <a:srgbClr val="7030A0"/>
                    </a:solidFill>
                    <a:latin typeface="Times New Roman" panose="02020603050405020304" pitchFamily="18" charset="0"/>
                    <a:cs typeface="Times New Roman" panose="02020603050405020304" pitchFamily="18" charset="0"/>
                  </a:rPr>
                  <a:t>2</a:t>
                </a:r>
                <a:r>
                  <a:rPr lang="en-IN" b="1" dirty="0">
                    <a:solidFill>
                      <a:srgbClr val="7030A0"/>
                    </a:solidFill>
                    <a:latin typeface="Times New Roman" panose="02020603050405020304" pitchFamily="18" charset="0"/>
                    <a:cs typeface="Times New Roman" panose="02020603050405020304" pitchFamily="18" charset="0"/>
                  </a:rPr>
                  <a:t> + 𝜆 </a:t>
                </a:r>
                <a14:m>
                  <m:oMath xmlns:m="http://schemas.openxmlformats.org/officeDocument/2006/math">
                    <m:nary>
                      <m:naryPr>
                        <m:chr m:val="∑"/>
                        <m:ctrlPr>
                          <a:rPr lang="en-IN" b="1" i="1">
                            <a:solidFill>
                              <a:srgbClr val="7030A0"/>
                            </a:solidFill>
                            <a:latin typeface="Cambria Math" panose="02040503050406030204" pitchFamily="18" charset="0"/>
                            <a:ea typeface="Cambria Math" panose="02040503050406030204" pitchFamily="18" charset="0"/>
                          </a:rPr>
                        </m:ctrlPr>
                      </m:naryPr>
                      <m:sub>
                        <m:r>
                          <m:rPr>
                            <m:brk m:alnAt="23"/>
                          </m:rPr>
                          <a:rPr lang="en-US" b="1" i="1">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𝟎</m:t>
                        </m:r>
                      </m:sub>
                      <m:sup>
                        <m:r>
                          <a:rPr lang="en-US" b="1" i="1">
                            <a:solidFill>
                              <a:srgbClr val="7030A0"/>
                            </a:solidFill>
                            <a:latin typeface="Cambria Math" panose="02040503050406030204" pitchFamily="18" charset="0"/>
                            <a:ea typeface="Cambria Math" panose="02040503050406030204" pitchFamily="18" charset="0"/>
                          </a:rPr>
                          <m:t>𝒏</m:t>
                        </m:r>
                      </m:sup>
                      <m:e>
                        <m:r>
                          <a:rPr lang="en-IN" b="1" i="1">
                            <a:solidFill>
                              <a:srgbClr val="7030A0"/>
                            </a:solidFill>
                            <a:latin typeface="Cambria Math" panose="02040503050406030204" pitchFamily="18" charset="0"/>
                            <a:ea typeface="Cambria Math" panose="02040503050406030204" pitchFamily="18" charset="0"/>
                          </a:rPr>
                          <m:t>𝝓</m:t>
                        </m:r>
                        <m:r>
                          <a:rPr lang="en-US" b="1" i="1" baseline="-25000">
                            <a:solidFill>
                              <a:srgbClr val="7030A0"/>
                            </a:solidFill>
                            <a:latin typeface="Cambria Math" panose="02040503050406030204" pitchFamily="18" charset="0"/>
                            <a:ea typeface="Cambria Math" panose="02040503050406030204" pitchFamily="18" charset="0"/>
                          </a:rPr>
                          <m:t>𝒋</m:t>
                        </m:r>
                      </m:e>
                    </m:nary>
                    <m:r>
                      <a:rPr lang="en-US" b="1" i="1" baseline="30000">
                        <a:solidFill>
                          <a:srgbClr val="7030A0"/>
                        </a:solidFill>
                        <a:latin typeface="Cambria Math" panose="02040503050406030204" pitchFamily="18" charset="0"/>
                        <a:ea typeface="Cambria Math" panose="02040503050406030204" pitchFamily="18" charset="0"/>
                      </a:rPr>
                      <m:t>𝟐</m:t>
                    </m:r>
                  </m:oMath>
                </a14:m>
                <a:endParaRPr lang="en-IN" dirty="0">
                  <a:solidFill>
                    <a:srgbClr val="7030A0"/>
                  </a:solidFill>
                </a:endParaRPr>
              </a:p>
            </p:txBody>
          </p:sp>
        </mc:Choice>
        <mc:Fallback xmlns="">
          <p:sp>
            <p:nvSpPr>
              <p:cNvPr id="7" name="Rectangle 6"/>
              <p:cNvSpPr>
                <a:spLocks noRot="1" noChangeAspect="1" noMove="1" noResize="1" noEditPoints="1" noAdjustHandles="1" noChangeArrowheads="1" noChangeShapeType="1" noTextEdit="1"/>
              </p:cNvSpPr>
              <p:nvPr/>
            </p:nvSpPr>
            <p:spPr>
              <a:xfrm>
                <a:off x="4195492" y="2155244"/>
                <a:ext cx="4503284" cy="492443"/>
              </a:xfrm>
              <a:prstGeom prst="rect">
                <a:avLst/>
              </a:prstGeom>
              <a:blipFill>
                <a:blip r:embed="rId2"/>
                <a:stretch>
                  <a:fillRect t="-77500" r="-1353" b="-130000"/>
                </a:stretch>
              </a:blipFill>
            </p:spPr>
            <p:txBody>
              <a:bodyPr/>
              <a:lstStyle/>
              <a:p>
                <a:r>
                  <a:rPr lang="en-IN">
                    <a:noFill/>
                  </a:rPr>
                  <a:t> </a:t>
                </a:r>
              </a:p>
            </p:txBody>
          </p:sp>
        </mc:Fallback>
      </mc:AlternateContent>
      <p:sp>
        <p:nvSpPr>
          <p:cNvPr id="8" name="Oval 7"/>
          <p:cNvSpPr/>
          <p:nvPr/>
        </p:nvSpPr>
        <p:spPr>
          <a:xfrm>
            <a:off x="4942252" y="1947238"/>
            <a:ext cx="2387599" cy="894532"/>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7711645" y="1972647"/>
            <a:ext cx="809625" cy="795337"/>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5650848" y="2785891"/>
            <a:ext cx="918841" cy="276999"/>
          </a:xfrm>
          <a:prstGeom prst="rect">
            <a:avLst/>
          </a:prstGeom>
          <a:noFill/>
        </p:spPr>
        <p:txBody>
          <a:bodyPr wrap="none" rtlCol="0">
            <a:spAutoFit/>
          </a:bodyPr>
          <a:lstStyle/>
          <a:p>
            <a:r>
              <a:rPr lang="en-IN" sz="1200" dirty="0">
                <a:solidFill>
                  <a:schemeClr val="accent2">
                    <a:lumMod val="75000"/>
                  </a:schemeClr>
                </a:solidFill>
                <a:latin typeface="Arial Narrow" panose="020B0606020202030204" pitchFamily="34" charset="0"/>
              </a:rPr>
              <a:t>Original Loss</a:t>
            </a:r>
          </a:p>
        </p:txBody>
      </p:sp>
      <p:sp>
        <p:nvSpPr>
          <p:cNvPr id="11" name="TextBox 10"/>
          <p:cNvSpPr txBox="1"/>
          <p:nvPr/>
        </p:nvSpPr>
        <p:spPr>
          <a:xfrm>
            <a:off x="7813329" y="2698991"/>
            <a:ext cx="606256" cy="276999"/>
          </a:xfrm>
          <a:prstGeom prst="rect">
            <a:avLst/>
          </a:prstGeom>
          <a:noFill/>
        </p:spPr>
        <p:txBody>
          <a:bodyPr wrap="none" rtlCol="0">
            <a:spAutoFit/>
          </a:bodyPr>
          <a:lstStyle/>
          <a:p>
            <a:r>
              <a:rPr lang="en-IN" sz="1200" dirty="0">
                <a:solidFill>
                  <a:schemeClr val="accent2">
                    <a:lumMod val="75000"/>
                  </a:schemeClr>
                </a:solidFill>
                <a:latin typeface="Arial Narrow" panose="020B0606020202030204" pitchFamily="34" charset="0"/>
              </a:rPr>
              <a:t>Penalty</a:t>
            </a:r>
          </a:p>
        </p:txBody>
      </p:sp>
    </p:spTree>
    <p:extLst>
      <p:ext uri="{BB962C8B-B14F-4D97-AF65-F5344CB8AC3E}">
        <p14:creationId xmlns:p14="http://schemas.microsoft.com/office/powerpoint/2010/main" val="705980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p:cNvSpPr/>
          <p:nvPr/>
        </p:nvSpPr>
        <p:spPr>
          <a:xfrm>
            <a:off x="536456" y="3583709"/>
            <a:ext cx="5676849" cy="3149599"/>
          </a:xfrm>
          <a:prstGeom prst="roundRect">
            <a:avLst/>
          </a:prstGeom>
          <a:solidFill>
            <a:schemeClr val="accent4">
              <a:lumMod val="60000"/>
              <a:lumOff val="40000"/>
              <a:alpha val="9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838200" y="172179"/>
            <a:ext cx="10515600" cy="800944"/>
          </a:xfrm>
        </p:spPr>
        <p:txBody>
          <a:bodyPr>
            <a:normAutofit/>
          </a:bodyPr>
          <a:lstStyle/>
          <a:p>
            <a:r>
              <a:rPr lang="en-IN" sz="3600" dirty="0">
                <a:latin typeface="Century" panose="02040604050505020304" pitchFamily="18" charset="0"/>
              </a:rPr>
              <a:t>L1 &amp; L2 Regularization	</a:t>
            </a:r>
          </a:p>
        </p:txBody>
      </p:sp>
      <p:sp>
        <p:nvSpPr>
          <p:cNvPr id="3" name="Content Placeholder 2"/>
          <p:cNvSpPr>
            <a:spLocks noGrp="1"/>
          </p:cNvSpPr>
          <p:nvPr>
            <p:ph idx="1"/>
          </p:nvPr>
        </p:nvSpPr>
        <p:spPr>
          <a:xfrm>
            <a:off x="975920" y="973123"/>
            <a:ext cx="5814270" cy="548460"/>
          </a:xfrm>
        </p:spPr>
        <p:txBody>
          <a:bodyPr>
            <a:normAutofit/>
          </a:bodyPr>
          <a:lstStyle/>
          <a:p>
            <a:r>
              <a:rPr lang="en-IN" sz="2400" dirty="0">
                <a:latin typeface="Arial Narrow" panose="020B0606020202030204" pitchFamily="34" charset="0"/>
              </a:rPr>
              <a:t>When to Use L1&amp; L2 Regularization?</a:t>
            </a:r>
          </a:p>
        </p:txBody>
      </p:sp>
      <p:sp>
        <p:nvSpPr>
          <p:cNvPr id="4" name="Rectangle 3"/>
          <p:cNvSpPr/>
          <p:nvPr/>
        </p:nvSpPr>
        <p:spPr>
          <a:xfrm>
            <a:off x="975919" y="1540247"/>
            <a:ext cx="4920055" cy="1969770"/>
          </a:xfrm>
          <a:prstGeom prst="rect">
            <a:avLst/>
          </a:prstGeom>
        </p:spPr>
        <p:txBody>
          <a:bodyPr wrap="square">
            <a:spAutoFit/>
          </a:bodyPr>
          <a:lstStyle/>
          <a:p>
            <a:r>
              <a:rPr lang="en-US" dirty="0">
                <a:solidFill>
                  <a:srgbClr val="7030A0"/>
                </a:solidFill>
                <a:latin typeface="Arial Narrow" panose="020B0606020202030204" pitchFamily="34" charset="0"/>
              </a:rPr>
              <a:t>L1 Regularization (Lasso) : </a:t>
            </a:r>
          </a:p>
          <a:p>
            <a:pPr marL="285750" indent="-285750">
              <a:buFont typeface="Arial" panose="020B0604020202020204" pitchFamily="34" charset="0"/>
              <a:buChar char="•"/>
            </a:pPr>
            <a:endParaRPr lang="en-US" sz="1400" dirty="0">
              <a:latin typeface="Arial Narrow" panose="020B0606020202030204" pitchFamily="34" charset="0"/>
            </a:endParaRPr>
          </a:p>
          <a:p>
            <a:pPr marL="285750" indent="-285750">
              <a:buFont typeface="Arial" panose="020B0604020202020204" pitchFamily="34" charset="0"/>
              <a:buChar char="•"/>
            </a:pPr>
            <a:r>
              <a:rPr lang="en-US" sz="1500" dirty="0">
                <a:latin typeface="Arial Narrow" panose="020B0606020202030204" pitchFamily="34" charset="0"/>
              </a:rPr>
              <a:t>Suitable for high-dimensional datasets with many features. </a:t>
            </a:r>
          </a:p>
          <a:p>
            <a:pPr marL="285750" indent="-285750">
              <a:buFont typeface="Arial" panose="020B0604020202020204" pitchFamily="34" charset="0"/>
              <a:buChar char="•"/>
            </a:pPr>
            <a:endParaRPr lang="en-US" sz="1500" dirty="0">
              <a:latin typeface="Arial Narrow" panose="020B0606020202030204" pitchFamily="34" charset="0"/>
            </a:endParaRPr>
          </a:p>
          <a:p>
            <a:pPr marL="285750" indent="-285750">
              <a:buFont typeface="Arial" panose="020B0604020202020204" pitchFamily="34" charset="0"/>
              <a:buChar char="•"/>
            </a:pPr>
            <a:r>
              <a:rPr lang="en-US" sz="1500" dirty="0">
                <a:latin typeface="Arial Narrow" panose="020B0606020202030204" pitchFamily="34" charset="0"/>
              </a:rPr>
              <a:t>Use when automatic feature selection is required. </a:t>
            </a:r>
          </a:p>
          <a:p>
            <a:pPr marL="285750" indent="-285750">
              <a:buFont typeface="Arial" panose="020B0604020202020204" pitchFamily="34" charset="0"/>
              <a:buChar char="•"/>
            </a:pPr>
            <a:endParaRPr lang="en-US" sz="1500" dirty="0">
              <a:latin typeface="Arial Narrow" panose="020B0606020202030204" pitchFamily="34" charset="0"/>
            </a:endParaRPr>
          </a:p>
          <a:p>
            <a:pPr marL="285750" indent="-285750">
              <a:buFont typeface="Arial" panose="020B0604020202020204" pitchFamily="34" charset="0"/>
              <a:buChar char="•"/>
            </a:pPr>
            <a:r>
              <a:rPr lang="en-US" sz="1500" dirty="0">
                <a:latin typeface="Arial Narrow" panose="020B0606020202030204" pitchFamily="34" charset="0"/>
              </a:rPr>
              <a:t>Sets some weights exactly to zero, eliminating irrelevant features and creating a sparse model.</a:t>
            </a:r>
          </a:p>
        </p:txBody>
      </p:sp>
      <p:cxnSp>
        <p:nvCxnSpPr>
          <p:cNvPr id="6" name="Straight Connector 5"/>
          <p:cNvCxnSpPr/>
          <p:nvPr/>
        </p:nvCxnSpPr>
        <p:spPr>
          <a:xfrm flipH="1">
            <a:off x="6416845" y="1533525"/>
            <a:ext cx="3583" cy="500613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628816" y="3730431"/>
            <a:ext cx="5506539" cy="2893100"/>
          </a:xfrm>
          <a:prstGeom prst="rect">
            <a:avLst/>
          </a:prstGeom>
        </p:spPr>
        <p:txBody>
          <a:bodyPr wrap="square">
            <a:spAutoFit/>
          </a:bodyPr>
          <a:lstStyle/>
          <a:p>
            <a:r>
              <a:rPr lang="en-US" sz="1300" dirty="0">
                <a:latin typeface="Arial Narrow" panose="020B0606020202030204" pitchFamily="34" charset="0"/>
              </a:rPr>
              <a:t>Suppose you have a dataset to predict </a:t>
            </a:r>
            <a:r>
              <a:rPr lang="en-US" sz="1300" dirty="0">
                <a:solidFill>
                  <a:srgbClr val="7030A0"/>
                </a:solidFill>
                <a:latin typeface="Arial Narrow" panose="020B0606020202030204" pitchFamily="34" charset="0"/>
              </a:rPr>
              <a:t>house prices </a:t>
            </a:r>
            <a:r>
              <a:rPr lang="en-US" sz="1300" dirty="0">
                <a:latin typeface="Arial Narrow" panose="020B0606020202030204" pitchFamily="34" charset="0"/>
              </a:rPr>
              <a:t>with many features, such as Size of the house, Number of rooms, Location, Distance to city center, Age of the house, Noise level, Postal code indicators (many dummy variables), and Random or weakly related features.</a:t>
            </a:r>
          </a:p>
          <a:p>
            <a:endParaRPr lang="en-US" sz="1300" dirty="0">
              <a:latin typeface="Arial Narrow" panose="020B0606020202030204" pitchFamily="34" charset="0"/>
            </a:endParaRPr>
          </a:p>
          <a:p>
            <a:r>
              <a:rPr lang="en-US" sz="1300" dirty="0">
                <a:solidFill>
                  <a:srgbClr val="7030A0"/>
                </a:solidFill>
                <a:latin typeface="Arial Narrow" panose="020B0606020202030204" pitchFamily="34" charset="0"/>
              </a:rPr>
              <a:t>L1 regularization </a:t>
            </a:r>
            <a:r>
              <a:rPr lang="en-US" sz="1300" dirty="0">
                <a:latin typeface="Arial Narrow" panose="020B0606020202030204" pitchFamily="34" charset="0"/>
              </a:rPr>
              <a:t>is suitable because it performs automatic feature selection by setting the weights of irrelevant or less important features (e.g., Distance to city center, Age of the house, Noise level, Postal code indicators, and Random or weakly related features) to zero.</a:t>
            </a:r>
          </a:p>
          <a:p>
            <a:r>
              <a:rPr lang="en-US" sz="1300" dirty="0">
                <a:solidFill>
                  <a:srgbClr val="7030A0"/>
                </a:solidFill>
                <a:latin typeface="Arial Narrow" panose="020B0606020202030204" pitchFamily="34" charset="0"/>
              </a:rPr>
              <a:t>Final model: {Size of the house, Number of rooms, Location}</a:t>
            </a:r>
          </a:p>
          <a:p>
            <a:r>
              <a:rPr lang="en-US" sz="1300" dirty="0">
                <a:solidFill>
                  <a:srgbClr val="7030A0"/>
                </a:solidFill>
                <a:latin typeface="Arial Narrow" panose="020B0606020202030204" pitchFamily="34" charset="0"/>
              </a:rPr>
              <a:t>Benefits:</a:t>
            </a:r>
          </a:p>
          <a:p>
            <a:pPr>
              <a:buFont typeface="Arial" panose="020B0604020202020204" pitchFamily="34" charset="0"/>
              <a:buChar char="•"/>
            </a:pPr>
            <a:r>
              <a:rPr lang="en-US" sz="1300" dirty="0">
                <a:latin typeface="Arial Narrow" panose="020B0606020202030204" pitchFamily="34" charset="0"/>
              </a:rPr>
              <a:t>More interpretable model. </a:t>
            </a:r>
          </a:p>
          <a:p>
            <a:pPr>
              <a:buFont typeface="Arial" panose="020B0604020202020204" pitchFamily="34" charset="0"/>
              <a:buChar char="•"/>
            </a:pPr>
            <a:r>
              <a:rPr lang="en-US" sz="1300" dirty="0">
                <a:latin typeface="Arial Narrow" panose="020B0606020202030204" pitchFamily="34" charset="0"/>
              </a:rPr>
              <a:t>Reduced overfitting. </a:t>
            </a:r>
          </a:p>
          <a:p>
            <a:pPr>
              <a:buFont typeface="Arial" panose="020B0604020202020204" pitchFamily="34" charset="0"/>
              <a:buChar char="•"/>
            </a:pPr>
            <a:r>
              <a:rPr lang="en-US" sz="1300" dirty="0">
                <a:latin typeface="Arial Narrow" panose="020B0606020202030204" pitchFamily="34" charset="0"/>
              </a:rPr>
              <a:t>Better generalization to unseen data.</a:t>
            </a:r>
          </a:p>
        </p:txBody>
      </p:sp>
      <p:sp>
        <p:nvSpPr>
          <p:cNvPr id="14" name="Rectangle 13"/>
          <p:cNvSpPr/>
          <p:nvPr/>
        </p:nvSpPr>
        <p:spPr>
          <a:xfrm>
            <a:off x="6568552" y="1540247"/>
            <a:ext cx="4330357" cy="1904917"/>
          </a:xfrm>
          <a:prstGeom prst="rect">
            <a:avLst/>
          </a:prstGeom>
        </p:spPr>
        <p:txBody>
          <a:bodyPr wrap="square">
            <a:normAutofit fontScale="85000" lnSpcReduction="20000"/>
          </a:bodyPr>
          <a:lstStyle/>
          <a:p>
            <a:r>
              <a:rPr lang="en-US" sz="2100" dirty="0">
                <a:solidFill>
                  <a:srgbClr val="7030A0"/>
                </a:solidFill>
                <a:latin typeface="Arial Narrow" panose="020B0606020202030204" pitchFamily="34" charset="0"/>
              </a:rPr>
              <a:t>L2 Regularization (Ridge):</a:t>
            </a:r>
          </a:p>
          <a:p>
            <a:pPr marL="285750" indent="-285750">
              <a:buFont typeface="Arial" panose="020B0604020202020204" pitchFamily="34" charset="0"/>
              <a:buChar char="•"/>
            </a:pPr>
            <a:endParaRPr lang="en-US" sz="1900" dirty="0">
              <a:latin typeface="Arial Narrow" panose="020B0606020202030204" pitchFamily="34" charset="0"/>
            </a:endParaRPr>
          </a:p>
          <a:p>
            <a:pPr marL="285750" indent="-285750">
              <a:buFont typeface="Arial" panose="020B0604020202020204" pitchFamily="34" charset="0"/>
              <a:buChar char="•"/>
            </a:pPr>
            <a:r>
              <a:rPr lang="en-US" sz="1900" dirty="0">
                <a:latin typeface="Arial Narrow" panose="020B0606020202030204" pitchFamily="34" charset="0"/>
              </a:rPr>
              <a:t>All features are useful. </a:t>
            </a:r>
          </a:p>
          <a:p>
            <a:pPr marL="285750" indent="-285750">
              <a:buFont typeface="Arial" panose="020B0604020202020204" pitchFamily="34" charset="0"/>
              <a:buChar char="•"/>
            </a:pPr>
            <a:endParaRPr lang="en-US" sz="1900" dirty="0">
              <a:latin typeface="Arial Narrow" panose="020B0606020202030204" pitchFamily="34" charset="0"/>
            </a:endParaRPr>
          </a:p>
          <a:p>
            <a:pPr marL="285750" indent="-285750">
              <a:buFont typeface="Arial" panose="020B0604020202020204" pitchFamily="34" charset="0"/>
              <a:buChar char="•"/>
            </a:pPr>
            <a:r>
              <a:rPr lang="en-US" sz="1900" dirty="0">
                <a:latin typeface="Arial Narrow" panose="020B0606020202030204" pitchFamily="34" charset="0"/>
              </a:rPr>
              <a:t>Handles </a:t>
            </a:r>
            <a:r>
              <a:rPr lang="en-US" sz="1900" dirty="0" err="1">
                <a:latin typeface="Arial Narrow" panose="020B0606020202030204" pitchFamily="34" charset="0"/>
              </a:rPr>
              <a:t>multicollinearity</a:t>
            </a:r>
            <a:r>
              <a:rPr lang="en-US" sz="1900" dirty="0">
                <a:latin typeface="Arial Narrow" panose="020B0606020202030204" pitchFamily="34" charset="0"/>
              </a:rPr>
              <a:t>. </a:t>
            </a:r>
          </a:p>
          <a:p>
            <a:pPr marL="285750" indent="-285750">
              <a:buFont typeface="Arial" panose="020B0604020202020204" pitchFamily="34" charset="0"/>
              <a:buChar char="•"/>
            </a:pPr>
            <a:endParaRPr lang="en-US" sz="1900" dirty="0">
              <a:latin typeface="Arial Narrow" panose="020B0606020202030204" pitchFamily="34" charset="0"/>
            </a:endParaRPr>
          </a:p>
          <a:p>
            <a:pPr marL="285750" indent="-285750">
              <a:buFont typeface="Arial" panose="020B0604020202020204" pitchFamily="34" charset="0"/>
              <a:buChar char="•"/>
            </a:pPr>
            <a:r>
              <a:rPr lang="en-US" sz="1900" dirty="0">
                <a:latin typeface="Arial Narrow" panose="020B0606020202030204" pitchFamily="34" charset="0"/>
              </a:rPr>
              <a:t>No feature selection needed. </a:t>
            </a:r>
          </a:p>
          <a:p>
            <a:pPr marL="285750" indent="-285750">
              <a:buFont typeface="Arial" panose="020B0604020202020204" pitchFamily="34" charset="0"/>
              <a:buChar char="•"/>
            </a:pPr>
            <a:endParaRPr lang="en-US" sz="1900" dirty="0">
              <a:latin typeface="Arial Narrow" panose="020B0606020202030204" pitchFamily="34" charset="0"/>
            </a:endParaRPr>
          </a:p>
          <a:p>
            <a:pPr marL="285750" indent="-285750">
              <a:buFont typeface="Arial" panose="020B0604020202020204" pitchFamily="34" charset="0"/>
              <a:buChar char="•"/>
            </a:pPr>
            <a:r>
              <a:rPr lang="en-US" sz="1900" dirty="0">
                <a:latin typeface="Arial Narrow" panose="020B0606020202030204" pitchFamily="34" charset="0"/>
              </a:rPr>
              <a:t>Shrinks weights, not to zero.</a:t>
            </a:r>
          </a:p>
        </p:txBody>
      </p:sp>
      <p:sp>
        <p:nvSpPr>
          <p:cNvPr id="15" name="Rectangle 14"/>
          <p:cNvSpPr/>
          <p:nvPr/>
        </p:nvSpPr>
        <p:spPr>
          <a:xfrm>
            <a:off x="6790190" y="3897745"/>
            <a:ext cx="5226284" cy="2246769"/>
          </a:xfrm>
          <a:prstGeom prst="rect">
            <a:avLst/>
          </a:prstGeom>
        </p:spPr>
        <p:txBody>
          <a:bodyPr wrap="square">
            <a:spAutoFit/>
          </a:bodyPr>
          <a:lstStyle/>
          <a:p>
            <a:r>
              <a:rPr lang="en-US" sz="1400" dirty="0">
                <a:latin typeface="Arial Narrow" panose="020B0606020202030204" pitchFamily="34" charset="0"/>
              </a:rPr>
              <a:t>Suppose you have a dataset to predict rainfall, containing many correlated features such as </a:t>
            </a:r>
            <a:r>
              <a:rPr lang="en-US" sz="1400" dirty="0">
                <a:solidFill>
                  <a:srgbClr val="7030A0"/>
                </a:solidFill>
                <a:latin typeface="Arial Narrow" panose="020B0606020202030204" pitchFamily="34" charset="0"/>
              </a:rPr>
              <a:t>atmospheric pressure, humidity, dew point, temperature, wind speed, cloud cover,</a:t>
            </a:r>
            <a:r>
              <a:rPr lang="en-US" sz="1400" dirty="0">
                <a:latin typeface="Arial Narrow" panose="020B0606020202030204" pitchFamily="34" charset="0"/>
              </a:rPr>
              <a:t> and radar data.</a:t>
            </a:r>
          </a:p>
          <a:p>
            <a:endParaRPr lang="en-US" sz="1400" dirty="0">
              <a:latin typeface="Arial Narrow" panose="020B0606020202030204" pitchFamily="34" charset="0"/>
            </a:endParaRPr>
          </a:p>
          <a:p>
            <a:r>
              <a:rPr lang="en-US" sz="1400" dirty="0">
                <a:solidFill>
                  <a:srgbClr val="7030A0"/>
                </a:solidFill>
                <a:latin typeface="Arial Narrow" panose="020B0606020202030204" pitchFamily="34" charset="0"/>
              </a:rPr>
              <a:t>L2 regularization </a:t>
            </a:r>
            <a:r>
              <a:rPr lang="en-US" sz="1400" dirty="0">
                <a:latin typeface="Arial Narrow" panose="020B0606020202030204" pitchFamily="34" charset="0"/>
              </a:rPr>
              <a:t>is suitable because it </a:t>
            </a:r>
            <a:r>
              <a:rPr lang="en-US" sz="1400" dirty="0">
                <a:solidFill>
                  <a:srgbClr val="7030A0"/>
                </a:solidFill>
                <a:latin typeface="Arial Narrow" panose="020B0606020202030204" pitchFamily="34" charset="0"/>
              </a:rPr>
              <a:t>shrinks the weights of all features proportionally </a:t>
            </a:r>
            <a:r>
              <a:rPr lang="en-US" sz="1400" dirty="0">
                <a:latin typeface="Arial Narrow" panose="020B0606020202030204" pitchFamily="34" charset="0"/>
              </a:rPr>
              <a:t>without eliminating any, allowing each weather variable to contribute to the prediction.</a:t>
            </a:r>
          </a:p>
          <a:p>
            <a:endParaRPr lang="en-US" sz="1400" dirty="0">
              <a:latin typeface="Arial Narrow" panose="020B0606020202030204" pitchFamily="34" charset="0"/>
            </a:endParaRPr>
          </a:p>
          <a:p>
            <a:r>
              <a:rPr lang="en-US" sz="1400" dirty="0">
                <a:solidFill>
                  <a:srgbClr val="7030A0"/>
                </a:solidFill>
                <a:latin typeface="Arial Narrow" panose="020B0606020202030204" pitchFamily="34" charset="0"/>
              </a:rPr>
              <a:t>Result</a:t>
            </a:r>
            <a:r>
              <a:rPr lang="en-US" sz="1400" dirty="0">
                <a:latin typeface="Arial Narrow" panose="020B0606020202030204" pitchFamily="34" charset="0"/>
              </a:rPr>
              <a:t>: A </a:t>
            </a:r>
            <a:r>
              <a:rPr lang="en-US" sz="1400" dirty="0">
                <a:solidFill>
                  <a:srgbClr val="7030A0"/>
                </a:solidFill>
                <a:latin typeface="Arial Narrow" panose="020B0606020202030204" pitchFamily="34" charset="0"/>
              </a:rPr>
              <a:t>robust and stable model </a:t>
            </a:r>
            <a:r>
              <a:rPr lang="en-US" sz="1400" dirty="0">
                <a:latin typeface="Arial Narrow" panose="020B0606020202030204" pitchFamily="34" charset="0"/>
              </a:rPr>
              <a:t>that </a:t>
            </a:r>
            <a:r>
              <a:rPr lang="en-US" sz="1400" dirty="0">
                <a:solidFill>
                  <a:srgbClr val="7030A0"/>
                </a:solidFill>
                <a:latin typeface="Arial Narrow" panose="020B0606020202030204" pitchFamily="34" charset="0"/>
              </a:rPr>
              <a:t>doesn't overreact to any single weather metric</a:t>
            </a:r>
            <a:r>
              <a:rPr lang="en-US" sz="1400" dirty="0">
                <a:latin typeface="Arial Narrow" panose="020B0606020202030204" pitchFamily="34" charset="0"/>
              </a:rPr>
              <a:t> while utilizing information from all relevant features.</a:t>
            </a:r>
          </a:p>
        </p:txBody>
      </p:sp>
      <p:sp>
        <p:nvSpPr>
          <p:cNvPr id="16" name="Rounded Rectangle 15"/>
          <p:cNvSpPr/>
          <p:nvPr/>
        </p:nvSpPr>
        <p:spPr>
          <a:xfrm>
            <a:off x="6614732" y="3711959"/>
            <a:ext cx="5447922" cy="2809224"/>
          </a:xfrm>
          <a:prstGeom prst="roundRect">
            <a:avLst/>
          </a:prstGeom>
          <a:solidFill>
            <a:schemeClr val="accent4">
              <a:lumMod val="40000"/>
              <a:lumOff val="60000"/>
              <a:alpha val="15000"/>
            </a:schemeClr>
          </a:solid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2996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980"/>
            <a:ext cx="10515600" cy="927966"/>
          </a:xfrm>
        </p:spPr>
        <p:txBody>
          <a:bodyPr>
            <a:normAutofit/>
          </a:bodyPr>
          <a:lstStyle/>
          <a:p>
            <a:r>
              <a:rPr lang="en-IN" sz="3600" dirty="0">
                <a:latin typeface="Century" panose="02040604050505020304" pitchFamily="18" charset="0"/>
              </a:rPr>
              <a:t>Regularization Parameter (</a:t>
            </a:r>
            <a:r>
              <a:rPr lang="el-GR" sz="3600" dirty="0">
                <a:latin typeface="Century" panose="02040604050505020304" pitchFamily="18" charset="0"/>
              </a:rPr>
              <a:t>λ</a:t>
            </a:r>
            <a:r>
              <a:rPr lang="en-IN" sz="3600" dirty="0">
                <a:latin typeface="Century" panose="02040604050505020304" pitchFamily="18" charset="0"/>
              </a:rPr>
              <a:t>)</a:t>
            </a:r>
          </a:p>
        </p:txBody>
      </p:sp>
      <p:sp>
        <p:nvSpPr>
          <p:cNvPr id="3" name="Content Placeholder 2"/>
          <p:cNvSpPr>
            <a:spLocks noGrp="1"/>
          </p:cNvSpPr>
          <p:nvPr>
            <p:ph idx="1"/>
          </p:nvPr>
        </p:nvSpPr>
        <p:spPr>
          <a:xfrm>
            <a:off x="593434" y="1375787"/>
            <a:ext cx="3844635" cy="2115127"/>
          </a:xfrm>
        </p:spPr>
        <p:txBody>
          <a:bodyPr>
            <a:normAutofit fontScale="77500" lnSpcReduction="20000"/>
          </a:bodyPr>
          <a:lstStyle/>
          <a:p>
            <a:r>
              <a:rPr lang="en-US" dirty="0">
                <a:solidFill>
                  <a:srgbClr val="7030A0"/>
                </a:solidFill>
                <a:latin typeface="Arial Narrow" panose="020B0606020202030204" pitchFamily="34" charset="0"/>
                <a:cs typeface="Times New Roman" panose="02020603050405020304" pitchFamily="18" charset="0"/>
              </a:rPr>
              <a:t>When the </a:t>
            </a:r>
            <a:r>
              <a:rPr lang="en-US" altLang="en-US" b="1" dirty="0">
                <a:solidFill>
                  <a:srgbClr val="7030A0"/>
                </a:solidFill>
                <a:latin typeface="Arial Narrow" panose="020B0606020202030204" pitchFamily="34" charset="0"/>
                <a:cs typeface="Times New Roman" panose="02020603050405020304" pitchFamily="18" charset="0"/>
              </a:rPr>
              <a:t>𝜆</a:t>
            </a:r>
            <a:r>
              <a:rPr lang="en-US" dirty="0">
                <a:solidFill>
                  <a:srgbClr val="7030A0"/>
                </a:solidFill>
                <a:latin typeface="Arial Narrow" panose="020B0606020202030204" pitchFamily="34" charset="0"/>
                <a:cs typeface="Times New Roman" panose="02020603050405020304" pitchFamily="18" charset="0"/>
              </a:rPr>
              <a:t> is huge (like </a:t>
            </a:r>
            <a:r>
              <a:rPr lang="en-US" altLang="en-US" b="1" dirty="0">
                <a:solidFill>
                  <a:srgbClr val="7030A0"/>
                </a:solidFill>
                <a:latin typeface="Arial Narrow" panose="020B0606020202030204" pitchFamily="34" charset="0"/>
                <a:cs typeface="Times New Roman" panose="02020603050405020304" pitchFamily="18" charset="0"/>
              </a:rPr>
              <a:t>𝜆 </a:t>
            </a:r>
            <a:r>
              <a:rPr lang="en-US" dirty="0">
                <a:solidFill>
                  <a:srgbClr val="7030A0"/>
                </a:solidFill>
                <a:latin typeface="Arial Narrow" panose="020B0606020202030204" pitchFamily="34" charset="0"/>
                <a:cs typeface="Times New Roman" panose="02020603050405020304" pitchFamily="18" charset="0"/>
              </a:rPr>
              <a:t>= 1000):</a:t>
            </a:r>
          </a:p>
          <a:p>
            <a:pPr marL="742950" lvl="1" indent="-285750" algn="just">
              <a:buFont typeface="Wingdings" panose="05000000000000000000" pitchFamily="2" charset="2"/>
              <a:buChar char="Ø"/>
            </a:pPr>
            <a:endParaRPr lang="en-US" dirty="0">
              <a:solidFill>
                <a:schemeClr val="tx1">
                  <a:lumMod val="95000"/>
                  <a:lumOff val="5000"/>
                </a:schemeClr>
              </a:solidFill>
              <a:latin typeface="Arial Narrow" panose="020B0606020202030204" pitchFamily="34" charset="0"/>
              <a:cs typeface="Times New Roman" panose="02020603050405020304" pitchFamily="18" charset="0"/>
            </a:endParaRPr>
          </a:p>
          <a:p>
            <a:pPr lvl="1" algn="just"/>
            <a:r>
              <a:rPr lang="en-US" dirty="0">
                <a:solidFill>
                  <a:schemeClr val="tx1">
                    <a:lumMod val="95000"/>
                    <a:lumOff val="5000"/>
                  </a:schemeClr>
                </a:solidFill>
                <a:latin typeface="Arial Narrow" panose="020B0606020202030204" pitchFamily="34" charset="0"/>
                <a:cs typeface="Times New Roman" panose="02020603050405020304" pitchFamily="18" charset="0"/>
              </a:rPr>
              <a:t>All coefficients shrink toward </a:t>
            </a:r>
            <a:r>
              <a:rPr lang="en-US" b="1" dirty="0">
                <a:solidFill>
                  <a:schemeClr val="tx1">
                    <a:lumMod val="95000"/>
                    <a:lumOff val="5000"/>
                  </a:schemeClr>
                </a:solidFill>
                <a:latin typeface="Arial Narrow" panose="020B0606020202030204" pitchFamily="34" charset="0"/>
                <a:cs typeface="Times New Roman" panose="02020603050405020304" pitchFamily="18" charset="0"/>
              </a:rPr>
              <a:t>0</a:t>
            </a:r>
            <a:endParaRPr lang="en-US" dirty="0">
              <a:solidFill>
                <a:schemeClr val="tx1">
                  <a:lumMod val="95000"/>
                  <a:lumOff val="5000"/>
                </a:schemeClr>
              </a:solidFill>
              <a:latin typeface="Arial Narrow" panose="020B0606020202030204" pitchFamily="34" charset="0"/>
              <a:cs typeface="Times New Roman" panose="02020603050405020304" pitchFamily="18" charset="0"/>
            </a:endParaRPr>
          </a:p>
          <a:p>
            <a:pPr lvl="1" algn="just"/>
            <a:r>
              <a:rPr lang="en-US" dirty="0">
                <a:solidFill>
                  <a:schemeClr val="tx1">
                    <a:lumMod val="95000"/>
                    <a:lumOff val="5000"/>
                  </a:schemeClr>
                </a:solidFill>
                <a:latin typeface="Arial Narrow" panose="020B0606020202030204" pitchFamily="34" charset="0"/>
                <a:cs typeface="Times New Roman" panose="02020603050405020304" pitchFamily="18" charset="0"/>
              </a:rPr>
              <a:t>The model cannot learn important relationships</a:t>
            </a:r>
          </a:p>
          <a:p>
            <a:pPr lvl="1" algn="just"/>
            <a:r>
              <a:rPr lang="en-US" dirty="0">
                <a:solidFill>
                  <a:schemeClr val="tx1">
                    <a:lumMod val="95000"/>
                    <a:lumOff val="5000"/>
                  </a:schemeClr>
                </a:solidFill>
                <a:latin typeface="Arial Narrow" panose="020B0606020202030204" pitchFamily="34" charset="0"/>
                <a:cs typeface="Times New Roman" panose="02020603050405020304" pitchFamily="18" charset="0"/>
              </a:rPr>
              <a:t>It predicts almost a </a:t>
            </a:r>
            <a:r>
              <a:rPr lang="en-US" b="1" dirty="0">
                <a:solidFill>
                  <a:schemeClr val="tx1">
                    <a:lumMod val="95000"/>
                    <a:lumOff val="5000"/>
                  </a:schemeClr>
                </a:solidFill>
                <a:latin typeface="Arial Narrow" panose="020B0606020202030204" pitchFamily="34" charset="0"/>
                <a:cs typeface="Times New Roman" panose="02020603050405020304" pitchFamily="18" charset="0"/>
              </a:rPr>
              <a:t>flat line</a:t>
            </a:r>
            <a:r>
              <a:rPr lang="en-US" dirty="0">
                <a:solidFill>
                  <a:schemeClr val="tx1">
                    <a:lumMod val="95000"/>
                    <a:lumOff val="5000"/>
                  </a:schemeClr>
                </a:solidFill>
                <a:latin typeface="Arial Narrow" panose="020B0606020202030204" pitchFamily="34" charset="0"/>
                <a:cs typeface="Times New Roman" panose="02020603050405020304" pitchFamily="18" charset="0"/>
              </a:rPr>
              <a:t> → </a:t>
            </a:r>
            <a:r>
              <a:rPr lang="en-US" dirty="0" err="1">
                <a:solidFill>
                  <a:schemeClr val="tx1">
                    <a:lumMod val="95000"/>
                    <a:lumOff val="5000"/>
                  </a:schemeClr>
                </a:solidFill>
                <a:latin typeface="Arial Narrow" panose="020B0606020202030204" pitchFamily="34" charset="0"/>
                <a:cs typeface="Times New Roman" panose="02020603050405020304" pitchFamily="18" charset="0"/>
              </a:rPr>
              <a:t>underfitting</a:t>
            </a:r>
            <a:endParaRPr lang="en-US" dirty="0">
              <a:solidFill>
                <a:schemeClr val="tx1">
                  <a:lumMod val="95000"/>
                  <a:lumOff val="5000"/>
                </a:schemeClr>
              </a:solidFill>
              <a:latin typeface="Arial Narrow" panose="020B0606020202030204" pitchFamily="34" charset="0"/>
              <a:cs typeface="Times New Roman" panose="02020603050405020304" pitchFamily="18" charset="0"/>
            </a:endParaRPr>
          </a:p>
        </p:txBody>
      </p:sp>
      <p:cxnSp>
        <p:nvCxnSpPr>
          <p:cNvPr id="6" name="Straight Connector 5"/>
          <p:cNvCxnSpPr/>
          <p:nvPr/>
        </p:nvCxnSpPr>
        <p:spPr>
          <a:xfrm>
            <a:off x="4590476" y="1182255"/>
            <a:ext cx="9233" cy="254375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4959926" y="1140690"/>
            <a:ext cx="3412835" cy="2585323"/>
          </a:xfrm>
          <a:prstGeom prst="rect">
            <a:avLst/>
          </a:prstGeom>
        </p:spPr>
        <p:txBody>
          <a:bodyPr wrap="square">
            <a:spAutoFit/>
          </a:bodyPr>
          <a:lstStyle/>
          <a:p>
            <a:r>
              <a:rPr lang="en-US" dirty="0">
                <a:solidFill>
                  <a:srgbClr val="7030A0"/>
                </a:solidFill>
                <a:latin typeface="Arial Narrow" panose="020B0606020202030204" pitchFamily="34" charset="0"/>
                <a:cs typeface="Times New Roman" panose="02020603050405020304" pitchFamily="18" charset="0"/>
              </a:rPr>
              <a:t>If </a:t>
            </a:r>
            <a:r>
              <a:rPr lang="en-US" altLang="en-US" b="1" dirty="0">
                <a:solidFill>
                  <a:srgbClr val="7030A0"/>
                </a:solidFill>
                <a:latin typeface="Arial Narrow" panose="020B0606020202030204" pitchFamily="34" charset="0"/>
                <a:cs typeface="Times New Roman" panose="02020603050405020304" pitchFamily="18" charset="0"/>
              </a:rPr>
              <a:t>𝜆</a:t>
            </a:r>
            <a:r>
              <a:rPr lang="en-US" dirty="0">
                <a:solidFill>
                  <a:srgbClr val="7030A0"/>
                </a:solidFill>
                <a:latin typeface="Arial Narrow" panose="020B0606020202030204" pitchFamily="34" charset="0"/>
                <a:cs typeface="Times New Roman" panose="02020603050405020304" pitchFamily="18" charset="0"/>
              </a:rPr>
              <a:t> is tiny (like 𝜆 = 0.0001), almost </a:t>
            </a:r>
            <a:r>
              <a:rPr lang="en-US" b="1" dirty="0">
                <a:solidFill>
                  <a:srgbClr val="7030A0"/>
                </a:solidFill>
                <a:latin typeface="Arial Narrow" panose="020B0606020202030204" pitchFamily="34" charset="0"/>
                <a:cs typeface="Times New Roman" panose="02020603050405020304" pitchFamily="18" charset="0"/>
              </a:rPr>
              <a:t>no penalty</a:t>
            </a:r>
            <a:r>
              <a:rPr lang="en-US" dirty="0">
                <a:solidFill>
                  <a:srgbClr val="7030A0"/>
                </a:solidFill>
                <a:latin typeface="Arial Narrow" panose="020B0606020202030204" pitchFamily="34" charset="0"/>
                <a:cs typeface="Times New Roman" panose="02020603050405020304" pitchFamily="18" charset="0"/>
              </a:rPr>
              <a:t> is applied:</a:t>
            </a:r>
          </a:p>
          <a:p>
            <a:pPr marL="285750" indent="-285750" algn="just">
              <a:buFont typeface="Wingdings" panose="05000000000000000000" pitchFamily="2" charset="2"/>
              <a:buChar char="Ø"/>
            </a:pPr>
            <a:endParaRPr lang="en-US" dirty="0">
              <a:solidFill>
                <a:schemeClr val="tx1">
                  <a:lumMod val="95000"/>
                  <a:lumOff val="5000"/>
                </a:schemeClr>
              </a:solidFill>
              <a:latin typeface="Arial Narrow" panose="020B0606020202030204" pitchFamily="34" charset="0"/>
              <a:cs typeface="Times New Roman" panose="02020603050405020304" pitchFamily="18" charset="0"/>
            </a:endParaRPr>
          </a:p>
          <a:p>
            <a:pPr marL="285750" indent="-285750" algn="just">
              <a:buFont typeface="Arial" panose="020B0604020202020204" pitchFamily="34" charset="0"/>
              <a:buChar char="•"/>
            </a:pPr>
            <a:r>
              <a:rPr lang="en-US" dirty="0">
                <a:solidFill>
                  <a:schemeClr val="tx1">
                    <a:lumMod val="95000"/>
                    <a:lumOff val="5000"/>
                  </a:schemeClr>
                </a:solidFill>
                <a:latin typeface="Arial Narrow" panose="020B0606020202030204" pitchFamily="34" charset="0"/>
                <a:cs typeface="Times New Roman" panose="02020603050405020304" pitchFamily="18" charset="0"/>
              </a:rPr>
              <a:t>Weights become large to try to model every pattern</a:t>
            </a:r>
          </a:p>
          <a:p>
            <a:pPr marL="285750" indent="-285750" algn="just">
              <a:buFont typeface="Arial" panose="020B0604020202020204" pitchFamily="34" charset="0"/>
              <a:buChar char="•"/>
            </a:pPr>
            <a:r>
              <a:rPr lang="en-US" dirty="0">
                <a:solidFill>
                  <a:schemeClr val="tx1">
                    <a:lumMod val="95000"/>
                    <a:lumOff val="5000"/>
                  </a:schemeClr>
                </a:solidFill>
                <a:latin typeface="Arial Narrow" panose="020B0606020202030204" pitchFamily="34" charset="0"/>
                <a:cs typeface="Times New Roman" panose="02020603050405020304" pitchFamily="18" charset="0"/>
              </a:rPr>
              <a:t>Outliers or noise may be got fitted.</a:t>
            </a:r>
          </a:p>
          <a:p>
            <a:pPr marL="285750" indent="-285750" algn="just">
              <a:buFont typeface="Arial" panose="020B0604020202020204" pitchFamily="34" charset="0"/>
              <a:buChar char="•"/>
            </a:pPr>
            <a:r>
              <a:rPr lang="en-US" dirty="0">
                <a:solidFill>
                  <a:schemeClr val="tx1">
                    <a:lumMod val="95000"/>
                    <a:lumOff val="5000"/>
                  </a:schemeClr>
                </a:solidFill>
                <a:latin typeface="Arial Narrow" panose="020B0606020202030204" pitchFamily="34" charset="0"/>
                <a:cs typeface="Times New Roman" panose="02020603050405020304" pitchFamily="18" charset="0"/>
              </a:rPr>
              <a:t>Training error: Low; Test error: High </a:t>
            </a:r>
            <a:r>
              <a:rPr lang="en-US" dirty="0">
                <a:solidFill>
                  <a:schemeClr val="tx1">
                    <a:lumMod val="95000"/>
                    <a:lumOff val="5000"/>
                  </a:schemeClr>
                </a:solidFill>
                <a:latin typeface="Arial Narrow" panose="020B0606020202030204" pitchFamily="34" charset="0"/>
                <a:cs typeface="Times New Roman" panose="02020603050405020304" pitchFamily="18" charset="0"/>
                <a:sym typeface="Wingdings" panose="05000000000000000000" pitchFamily="2" charset="2"/>
              </a:rPr>
              <a:t></a:t>
            </a:r>
            <a:r>
              <a:rPr lang="en-US" dirty="0">
                <a:solidFill>
                  <a:schemeClr val="tx1">
                    <a:lumMod val="95000"/>
                    <a:lumOff val="5000"/>
                  </a:schemeClr>
                </a:solidFill>
                <a:latin typeface="Arial Narrow" panose="020B0606020202030204" pitchFamily="34" charset="0"/>
                <a:cs typeface="Times New Roman" panose="02020603050405020304" pitchFamily="18" charset="0"/>
              </a:rPr>
              <a:t> overfitting</a:t>
            </a:r>
          </a:p>
          <a:p>
            <a:pPr algn="just"/>
            <a:endParaRPr lang="en-US" dirty="0">
              <a:solidFill>
                <a:schemeClr val="tx1">
                  <a:lumMod val="95000"/>
                  <a:lumOff val="5000"/>
                </a:schemeClr>
              </a:solidFill>
              <a:latin typeface="Arial Narrow" panose="020B0606020202030204" pitchFamily="34" charset="0"/>
              <a:cs typeface="Times New Roman" panose="02020603050405020304" pitchFamily="18" charset="0"/>
            </a:endParaRPr>
          </a:p>
        </p:txBody>
      </p:sp>
      <p:sp>
        <p:nvSpPr>
          <p:cNvPr id="9" name="Rectangle 8"/>
          <p:cNvSpPr/>
          <p:nvPr/>
        </p:nvSpPr>
        <p:spPr>
          <a:xfrm>
            <a:off x="8737601" y="1228436"/>
            <a:ext cx="3241963" cy="2417683"/>
          </a:xfrm>
          <a:prstGeom prst="rect">
            <a:avLst/>
          </a:prstGeom>
        </p:spPr>
        <p:txBody>
          <a:bodyPr wrap="square">
            <a:normAutofit fontScale="92500" lnSpcReduction="10000"/>
          </a:bodyPr>
          <a:lstStyle/>
          <a:p>
            <a:pPr algn="just"/>
            <a:r>
              <a:rPr lang="en-US" sz="2400" dirty="0">
                <a:solidFill>
                  <a:srgbClr val="7030A0"/>
                </a:solidFill>
                <a:latin typeface="Arial Narrow" panose="020B0606020202030204" pitchFamily="34" charset="0"/>
                <a:cs typeface="Times New Roman" panose="02020603050405020304" pitchFamily="18" charset="0"/>
              </a:rPr>
              <a:t>When </a:t>
            </a:r>
            <a:r>
              <a:rPr lang="en-US" altLang="en-US" sz="2400" b="1" dirty="0">
                <a:solidFill>
                  <a:srgbClr val="7030A0"/>
                </a:solidFill>
                <a:latin typeface="Arial Narrow" panose="020B0606020202030204" pitchFamily="34" charset="0"/>
                <a:cs typeface="Times New Roman" panose="02020603050405020304" pitchFamily="18" charset="0"/>
              </a:rPr>
              <a:t>𝜆</a:t>
            </a:r>
            <a:r>
              <a:rPr lang="en-US" sz="2400" dirty="0">
                <a:solidFill>
                  <a:srgbClr val="7030A0"/>
                </a:solidFill>
                <a:latin typeface="Arial Narrow" panose="020B0606020202030204" pitchFamily="34" charset="0"/>
                <a:cs typeface="Times New Roman" panose="02020603050405020304" pitchFamily="18" charset="0"/>
              </a:rPr>
              <a:t> = moderate:</a:t>
            </a:r>
          </a:p>
          <a:p>
            <a:pPr marL="285750" indent="-285750" algn="just">
              <a:buFont typeface="Wingdings" panose="05000000000000000000" pitchFamily="2" charset="2"/>
              <a:buChar char="q"/>
            </a:pPr>
            <a:endParaRPr lang="en-US" dirty="0">
              <a:solidFill>
                <a:schemeClr val="tx1">
                  <a:lumMod val="95000"/>
                  <a:lumOff val="5000"/>
                </a:schemeClr>
              </a:solidFill>
              <a:latin typeface="Arial Narrow" panose="020B0606020202030204" pitchFamily="34" charset="0"/>
              <a:cs typeface="Times New Roman" panose="02020603050405020304" pitchFamily="18" charset="0"/>
            </a:endParaRPr>
          </a:p>
          <a:p>
            <a:pPr marL="285750" indent="-285750" algn="just">
              <a:buFont typeface="Arial" panose="020B0604020202020204" pitchFamily="34" charset="0"/>
              <a:buChar char="•"/>
            </a:pPr>
            <a:r>
              <a:rPr lang="en-US" dirty="0">
                <a:solidFill>
                  <a:schemeClr val="tx1">
                    <a:lumMod val="95000"/>
                    <a:lumOff val="5000"/>
                  </a:schemeClr>
                </a:solidFill>
                <a:latin typeface="Arial Narrow" panose="020B0606020202030204" pitchFamily="34" charset="0"/>
                <a:cs typeface="Times New Roman" panose="02020603050405020304" pitchFamily="18" charset="0"/>
              </a:rPr>
              <a:t>The model achieves better generalization ability.</a:t>
            </a:r>
          </a:p>
          <a:p>
            <a:pPr marL="285750" indent="-285750" algn="just">
              <a:buFont typeface="Arial" panose="020B0604020202020204" pitchFamily="34" charset="0"/>
              <a:buChar char="•"/>
            </a:pPr>
            <a:r>
              <a:rPr lang="en-US" dirty="0">
                <a:solidFill>
                  <a:schemeClr val="tx1">
                    <a:lumMod val="95000"/>
                    <a:lumOff val="5000"/>
                  </a:schemeClr>
                </a:solidFill>
                <a:latin typeface="Arial Narrow" panose="020B0606020202030204" pitchFamily="34" charset="0"/>
                <a:cs typeface="Times New Roman" panose="02020603050405020304" pitchFamily="18" charset="0"/>
              </a:rPr>
              <a:t>Model the intrinsic property of the underlying distribution well.</a:t>
            </a:r>
          </a:p>
          <a:p>
            <a:pPr marL="285750" indent="-285750" algn="just">
              <a:buFont typeface="Arial" panose="020B0604020202020204" pitchFamily="34" charset="0"/>
              <a:buChar char="•"/>
            </a:pPr>
            <a:r>
              <a:rPr lang="en-US" dirty="0">
                <a:solidFill>
                  <a:schemeClr val="tx1">
                    <a:lumMod val="95000"/>
                    <a:lumOff val="5000"/>
                  </a:schemeClr>
                </a:solidFill>
                <a:latin typeface="Arial Narrow" panose="020B0606020202030204" pitchFamily="34" charset="0"/>
                <a:cs typeface="Times New Roman" panose="02020603050405020304" pitchFamily="18" charset="0"/>
              </a:rPr>
              <a:t>Model complexity not too high not very simple, not </a:t>
            </a:r>
            <a:r>
              <a:rPr lang="en-US" dirty="0" err="1">
                <a:solidFill>
                  <a:schemeClr val="tx1">
                    <a:lumMod val="95000"/>
                    <a:lumOff val="5000"/>
                  </a:schemeClr>
                </a:solidFill>
                <a:latin typeface="Arial Narrow" panose="020B0606020202030204" pitchFamily="34" charset="0"/>
                <a:cs typeface="Times New Roman" panose="02020603050405020304" pitchFamily="18" charset="0"/>
              </a:rPr>
              <a:t>overfitted</a:t>
            </a:r>
            <a:r>
              <a:rPr lang="en-US" dirty="0">
                <a:solidFill>
                  <a:schemeClr val="tx1">
                    <a:lumMod val="95000"/>
                    <a:lumOff val="5000"/>
                  </a:schemeClr>
                </a:solidFill>
                <a:latin typeface="Arial Narrow" panose="020B0606020202030204" pitchFamily="34" charset="0"/>
                <a:cs typeface="Times New Roman" panose="02020603050405020304" pitchFamily="18" charset="0"/>
              </a:rPr>
              <a:t> as well as </a:t>
            </a:r>
            <a:r>
              <a:rPr lang="en-US" dirty="0" err="1">
                <a:solidFill>
                  <a:schemeClr val="tx1">
                    <a:lumMod val="95000"/>
                    <a:lumOff val="5000"/>
                  </a:schemeClr>
                </a:solidFill>
                <a:latin typeface="Arial Narrow" panose="020B0606020202030204" pitchFamily="34" charset="0"/>
                <a:cs typeface="Times New Roman" panose="02020603050405020304" pitchFamily="18" charset="0"/>
              </a:rPr>
              <a:t>underfitted</a:t>
            </a:r>
            <a:r>
              <a:rPr lang="en-US" dirty="0">
                <a:solidFill>
                  <a:schemeClr val="tx1">
                    <a:lumMod val="95000"/>
                    <a:lumOff val="5000"/>
                  </a:schemeClr>
                </a:solidFill>
                <a:latin typeface="Arial Narrow" panose="020B0606020202030204" pitchFamily="34" charset="0"/>
                <a:cs typeface="Times New Roman" panose="02020603050405020304" pitchFamily="18" charset="0"/>
              </a:rPr>
              <a:t>. Ideal model.</a:t>
            </a:r>
          </a:p>
        </p:txBody>
      </p:sp>
      <p:cxnSp>
        <p:nvCxnSpPr>
          <p:cNvPr id="10" name="Straight Connector 9"/>
          <p:cNvCxnSpPr/>
          <p:nvPr/>
        </p:nvCxnSpPr>
        <p:spPr>
          <a:xfrm flipH="1">
            <a:off x="8490528" y="1182255"/>
            <a:ext cx="9233" cy="254699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2512CB1-A064-4283-B618-F453188F3E05}"/>
                  </a:ext>
                </a:extLst>
              </p:cNvPr>
              <p:cNvSpPr/>
              <p:nvPr/>
            </p:nvSpPr>
            <p:spPr>
              <a:xfrm>
                <a:off x="976744" y="5099582"/>
                <a:ext cx="4760259" cy="677108"/>
              </a:xfrm>
              <a:prstGeom prst="rect">
                <a:avLst/>
              </a:prstGeom>
              <a:solidFill>
                <a:schemeClr val="accent4">
                  <a:lumMod val="40000"/>
                  <a:lumOff val="60000"/>
                  <a:alpha val="33000"/>
                </a:schemeClr>
              </a:solidFill>
            </p:spPr>
            <p:txBody>
              <a:bodyPr wrap="square">
                <a:spAutoFit/>
              </a:bodyPr>
              <a:lstStyle/>
              <a:p>
                <a:pPr algn="just"/>
                <a:r>
                  <a:rPr lang="en-US" sz="2000" b="1" dirty="0">
                    <a:solidFill>
                      <a:srgbClr val="7030A0"/>
                    </a:solidFill>
                    <a:latin typeface="Times New Roman" panose="02020603050405020304" pitchFamily="18" charset="0"/>
                    <a:cs typeface="Times New Roman" panose="02020603050405020304" pitchFamily="18" charset="0"/>
                  </a:rPr>
                  <a:t>Loss</a:t>
                </a:r>
                <a:r>
                  <a:rPr lang="en-US" b="1" dirty="0">
                    <a:solidFill>
                      <a:srgbClr val="7030A0"/>
                    </a:solidFill>
                    <a:latin typeface="Times New Roman" panose="02020603050405020304" pitchFamily="18" charset="0"/>
                    <a:cs typeface="Times New Roman" panose="02020603050405020304" pitchFamily="18" charset="0"/>
                  </a:rPr>
                  <a:t> = </a:t>
                </a:r>
                <a14:m>
                  <m:oMath xmlns:m="http://schemas.openxmlformats.org/officeDocument/2006/math">
                    <m:f>
                      <m:fPr>
                        <m:ctrlPr>
                          <a:rPr lang="en-US" b="1" i="1">
                            <a:solidFill>
                              <a:srgbClr val="7030A0"/>
                            </a:solidFill>
                            <a:latin typeface="Cambria Math" panose="02040503050406030204" pitchFamily="18" charset="0"/>
                          </a:rPr>
                        </m:ctrlPr>
                      </m:fPr>
                      <m:num>
                        <m:r>
                          <a:rPr lang="en-US" b="1" i="1">
                            <a:solidFill>
                              <a:srgbClr val="7030A0"/>
                            </a:solidFill>
                            <a:latin typeface="Cambria Math" panose="02040503050406030204" pitchFamily="18" charset="0"/>
                          </a:rPr>
                          <m:t>𝟏</m:t>
                        </m:r>
                      </m:num>
                      <m:den>
                        <m:r>
                          <a:rPr lang="en-US" b="1" i="1">
                            <a:solidFill>
                              <a:srgbClr val="7030A0"/>
                            </a:solidFill>
                            <a:latin typeface="Cambria Math" panose="02040503050406030204" pitchFamily="18" charset="0"/>
                          </a:rPr>
                          <m:t>𝟐</m:t>
                        </m:r>
                        <m:r>
                          <a:rPr lang="en-US" b="1" i="1">
                            <a:solidFill>
                              <a:srgbClr val="7030A0"/>
                            </a:solidFill>
                            <a:latin typeface="Cambria Math" panose="02040503050406030204" pitchFamily="18" charset="0"/>
                          </a:rPr>
                          <m:t>𝒎</m:t>
                        </m:r>
                      </m:den>
                    </m:f>
                    <m:nary>
                      <m:naryPr>
                        <m:chr m:val="∑"/>
                        <m:ctrlPr>
                          <a:rPr lang="en-US" b="1" i="1">
                            <a:solidFill>
                              <a:srgbClr val="7030A0"/>
                            </a:solidFill>
                            <a:latin typeface="Cambria Math" panose="02040503050406030204" pitchFamily="18" charset="0"/>
                          </a:rPr>
                        </m:ctrlPr>
                      </m:naryPr>
                      <m:sub>
                        <m:r>
                          <m:rPr>
                            <m:brk m:alnAt="23"/>
                          </m:rPr>
                          <a:rPr lang="en-US" b="1" i="1">
                            <a:solidFill>
                              <a:srgbClr val="7030A0"/>
                            </a:solidFill>
                            <a:latin typeface="Cambria Math" panose="02040503050406030204" pitchFamily="18" charset="0"/>
                          </a:rPr>
                          <m:t>𝒊</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𝟏</m:t>
                        </m:r>
                      </m:sub>
                      <m:sup>
                        <m:r>
                          <a:rPr lang="en-US" b="1" i="1">
                            <a:solidFill>
                              <a:srgbClr val="7030A0"/>
                            </a:solidFill>
                            <a:latin typeface="Cambria Math" panose="02040503050406030204" pitchFamily="18" charset="0"/>
                          </a:rPr>
                          <m:t>𝒎</m:t>
                        </m:r>
                      </m:sup>
                      <m:e>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𝒉</m:t>
                        </m:r>
                        <m:r>
                          <a:rPr lang="en-US" b="1" i="1" baseline="-25000">
                            <a:solidFill>
                              <a:srgbClr val="7030A0"/>
                            </a:solidFill>
                            <a:latin typeface="Cambria Math" panose="02040503050406030204" pitchFamily="18" charset="0"/>
                            <a:ea typeface="Cambria Math" panose="02040503050406030204" pitchFamily="18" charset="0"/>
                          </a:rPr>
                          <m:t>𝝓</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𝒙</m:t>
                        </m:r>
                        <m:r>
                          <m:rPr>
                            <m:nor/>
                          </m:rPr>
                          <a:rPr lang="en-IN" b="1" baseline="30000" dirty="0">
                            <a:solidFill>
                              <a:srgbClr val="7030A0"/>
                            </a:solidFill>
                            <a:latin typeface="Times New Roman" panose="02020603050405020304" pitchFamily="18" charset="0"/>
                            <a:cs typeface="Times New Roman" panose="02020603050405020304" pitchFamily="18" charset="0"/>
                          </a:rPr>
                          <m:t>(</m:t>
                        </m:r>
                        <m:r>
                          <m:rPr>
                            <m:nor/>
                          </m:rPr>
                          <a:rPr lang="en-IN" b="1" baseline="30000" dirty="0">
                            <a:solidFill>
                              <a:srgbClr val="7030A0"/>
                            </a:solidFill>
                            <a:latin typeface="Times New Roman" panose="02020603050405020304" pitchFamily="18" charset="0"/>
                            <a:cs typeface="Times New Roman" panose="02020603050405020304" pitchFamily="18" charset="0"/>
                          </a:rPr>
                          <m:t>i</m:t>
                        </m:r>
                        <m:r>
                          <m:rPr>
                            <m:nor/>
                          </m:rPr>
                          <a:rPr lang="en-IN" b="1" baseline="30000" dirty="0">
                            <a:solidFill>
                              <a:srgbClr val="7030A0"/>
                            </a:solidFill>
                            <a:latin typeface="Times New Roman" panose="02020603050405020304" pitchFamily="18" charset="0"/>
                            <a:cs typeface="Times New Roman" panose="02020603050405020304" pitchFamily="18" charset="0"/>
                          </a:rPr>
                          <m:t>)</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𝒚</m:t>
                        </m:r>
                      </m:e>
                    </m:nary>
                  </m:oMath>
                </a14:m>
                <a:r>
                  <a:rPr lang="en-IN" b="1" baseline="30000" dirty="0">
                    <a:solidFill>
                      <a:srgbClr val="7030A0"/>
                    </a:solidFill>
                    <a:latin typeface="Times New Roman" panose="02020603050405020304" pitchFamily="18" charset="0"/>
                    <a:cs typeface="Times New Roman" panose="02020603050405020304" pitchFamily="18" charset="0"/>
                  </a:rPr>
                  <a:t>(</a:t>
                </a:r>
                <a:r>
                  <a:rPr lang="en-IN" b="1" baseline="30000" dirty="0" err="1">
                    <a:solidFill>
                      <a:srgbClr val="7030A0"/>
                    </a:solidFill>
                    <a:latin typeface="Times New Roman" panose="02020603050405020304" pitchFamily="18" charset="0"/>
                    <a:cs typeface="Times New Roman" panose="02020603050405020304" pitchFamily="18" charset="0"/>
                  </a:rPr>
                  <a:t>i</a:t>
                </a:r>
                <a:r>
                  <a:rPr lang="en-IN" b="1" baseline="30000" dirty="0">
                    <a:solidFill>
                      <a:srgbClr val="7030A0"/>
                    </a:solidFill>
                    <a:latin typeface="Times New Roman" panose="02020603050405020304" pitchFamily="18" charset="0"/>
                    <a:cs typeface="Times New Roman" panose="02020603050405020304" pitchFamily="18" charset="0"/>
                  </a:rPr>
                  <a:t>)</a:t>
                </a:r>
                <a:r>
                  <a:rPr lang="en-IN" b="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rPr>
                  <a:t>)</a:t>
                </a:r>
                <a:r>
                  <a:rPr lang="en-IN" b="1" baseline="30000" dirty="0">
                    <a:solidFill>
                      <a:srgbClr val="7030A0"/>
                    </a:solidFill>
                    <a:latin typeface="Times New Roman" panose="02020603050405020304" pitchFamily="18" charset="0"/>
                    <a:cs typeface="Times New Roman" panose="02020603050405020304" pitchFamily="18" charset="0"/>
                  </a:rPr>
                  <a:t>2</a:t>
                </a:r>
                <a:r>
                  <a:rPr lang="en-IN" b="1" dirty="0">
                    <a:solidFill>
                      <a:srgbClr val="7030A0"/>
                    </a:solidFill>
                    <a:latin typeface="Times New Roman" panose="02020603050405020304" pitchFamily="18" charset="0"/>
                    <a:cs typeface="Times New Roman" panose="02020603050405020304" pitchFamily="18" charset="0"/>
                  </a:rPr>
                  <a:t> +</a:t>
                </a:r>
                <a:r>
                  <a:rPr lang="en-IN" dirty="0">
                    <a:latin typeface="Cambria Math" panose="02040503050406030204" pitchFamily="18" charset="0"/>
                    <a:ea typeface="Cambria Math" panose="02040503050406030204" pitchFamily="18" charset="0"/>
                    <a:cs typeface="Times New Roman" panose="02020603050405020304" pitchFamily="18" charset="0"/>
                  </a:rPr>
                  <a:t>𝜆</a:t>
                </a:r>
                <a14:m>
                  <m:oMath xmlns:m="http://schemas.openxmlformats.org/officeDocument/2006/math">
                    <m:nary>
                      <m:naryPr>
                        <m:chr m:val="∑"/>
                        <m:ctrlPr>
                          <a:rPr lang="en-IN" b="1" i="1">
                            <a:solidFill>
                              <a:srgbClr val="7030A0"/>
                            </a:solidFill>
                            <a:latin typeface="Cambria Math" panose="02040503050406030204" pitchFamily="18" charset="0"/>
                            <a:ea typeface="Cambria Math" panose="02040503050406030204" pitchFamily="18" charset="0"/>
                          </a:rPr>
                        </m:ctrlPr>
                      </m:naryPr>
                      <m:sub>
                        <m:r>
                          <m:rPr>
                            <m:brk m:alnAt="23"/>
                          </m:rPr>
                          <a:rPr lang="en-US" b="1" i="1">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r>
                          <a:rPr lang="en-US" b="1" i="1">
                            <a:solidFill>
                              <a:srgbClr val="7030A0"/>
                            </a:solidFill>
                            <a:latin typeface="Cambria Math" panose="02040503050406030204" pitchFamily="18" charset="0"/>
                            <a:ea typeface="Cambria Math" panose="02040503050406030204" pitchFamily="18" charset="0"/>
                          </a:rPr>
                          <m:t>𝟎</m:t>
                        </m:r>
                      </m:sub>
                      <m:sup>
                        <m:r>
                          <a:rPr lang="en-US" b="1" i="1">
                            <a:solidFill>
                              <a:srgbClr val="7030A0"/>
                            </a:solidFill>
                            <a:latin typeface="Cambria Math" panose="02040503050406030204" pitchFamily="18" charset="0"/>
                            <a:ea typeface="Cambria Math" panose="02040503050406030204" pitchFamily="18" charset="0"/>
                          </a:rPr>
                          <m:t>𝒏</m:t>
                        </m:r>
                      </m:sup>
                      <m:e>
                        <m:r>
                          <a:rPr lang="en-US" b="1" i="1">
                            <a:solidFill>
                              <a:srgbClr val="7030A0"/>
                            </a:solidFill>
                            <a:latin typeface="Cambria Math" panose="02040503050406030204" pitchFamily="18" charset="0"/>
                            <a:ea typeface="Cambria Math" panose="02040503050406030204" pitchFamily="18" charset="0"/>
                          </a:rPr>
                          <m:t>|</m:t>
                        </m:r>
                        <m:r>
                          <a:rPr lang="en-IN" b="1" i="1">
                            <a:solidFill>
                              <a:srgbClr val="7030A0"/>
                            </a:solidFill>
                            <a:latin typeface="Cambria Math" panose="02040503050406030204" pitchFamily="18" charset="0"/>
                            <a:ea typeface="Cambria Math" panose="02040503050406030204" pitchFamily="18" charset="0"/>
                          </a:rPr>
                          <m:t>𝝓</m:t>
                        </m:r>
                        <m:r>
                          <a:rPr lang="en-US" b="1" i="1" baseline="-25000">
                            <a:solidFill>
                              <a:srgbClr val="7030A0"/>
                            </a:solidFill>
                            <a:latin typeface="Cambria Math" panose="02040503050406030204" pitchFamily="18" charset="0"/>
                            <a:ea typeface="Cambria Math" panose="02040503050406030204" pitchFamily="18" charset="0"/>
                          </a:rPr>
                          <m:t>𝒋</m:t>
                        </m:r>
                        <m:r>
                          <a:rPr lang="en-US" b="1" i="1">
                            <a:solidFill>
                              <a:srgbClr val="7030A0"/>
                            </a:solidFill>
                            <a:latin typeface="Cambria Math" panose="02040503050406030204" pitchFamily="18" charset="0"/>
                            <a:ea typeface="Cambria Math" panose="02040503050406030204" pitchFamily="18" charset="0"/>
                          </a:rPr>
                          <m:t>|</m:t>
                        </m:r>
                      </m:e>
                    </m:nary>
                  </m:oMath>
                </a14:m>
                <a:endParaRPr lang="en-IN" b="1" baseline="30000" dirty="0">
                  <a:latin typeface="Times New Roman" panose="02020603050405020304" pitchFamily="18" charset="0"/>
                  <a:cs typeface="Times New Roman" panose="02020603050405020304" pitchFamily="18" charset="0"/>
                </a:endParaRPr>
              </a:p>
              <a:p>
                <a:pPr algn="just"/>
                <a:endParaRPr lang="en-IN" baseline="30000" dirty="0">
                  <a:latin typeface="Times New Roman" panose="02020603050405020304" pitchFamily="18" charset="0"/>
                  <a:cs typeface="Times New Roman" panose="02020603050405020304" pitchFamily="18" charset="0"/>
                </a:endParaRPr>
              </a:p>
            </p:txBody>
          </p:sp>
        </mc:Choice>
        <mc:Fallback xmlns="">
          <p:sp>
            <p:nvSpPr>
              <p:cNvPr id="16" name="Rectangle 15">
                <a:extLst>
                  <a:ext uri="{FF2B5EF4-FFF2-40B4-BE49-F238E27FC236}">
                    <a16:creationId xmlns:a16="http://schemas.microsoft.com/office/drawing/2014/main" id="{72512CB1-A064-4283-B618-F453188F3E05}"/>
                  </a:ext>
                </a:extLst>
              </p:cNvPr>
              <p:cNvSpPr>
                <a:spLocks noRot="1" noChangeAspect="1" noMove="1" noResize="1" noEditPoints="1" noAdjustHandles="1" noChangeArrowheads="1" noChangeShapeType="1" noTextEdit="1"/>
              </p:cNvSpPr>
              <p:nvPr/>
            </p:nvSpPr>
            <p:spPr>
              <a:xfrm>
                <a:off x="976744" y="5099582"/>
                <a:ext cx="4760259" cy="677108"/>
              </a:xfrm>
              <a:prstGeom prst="rect">
                <a:avLst/>
              </a:prstGeom>
              <a:blipFill>
                <a:blip r:embed="rId2"/>
                <a:stretch>
                  <a:fillRect l="-1280" t="-55856" b="-65766"/>
                </a:stretch>
              </a:blipFill>
            </p:spPr>
            <p:txBody>
              <a:bodyPr/>
              <a:lstStyle/>
              <a:p>
                <a:r>
                  <a:rPr lang="en-IN">
                    <a:noFill/>
                  </a:rPr>
                  <a:t> </a:t>
                </a:r>
              </a:p>
            </p:txBody>
          </p:sp>
        </mc:Fallback>
      </mc:AlternateContent>
      <p:sp>
        <p:nvSpPr>
          <p:cNvPr id="17" name="Rectangle 16">
            <a:extLst>
              <a:ext uri="{FF2B5EF4-FFF2-40B4-BE49-F238E27FC236}">
                <a16:creationId xmlns:a16="http://schemas.microsoft.com/office/drawing/2014/main" id="{12A458F9-A051-4052-BAC6-03E15062C820}"/>
              </a:ext>
            </a:extLst>
          </p:cNvPr>
          <p:cNvSpPr/>
          <p:nvPr/>
        </p:nvSpPr>
        <p:spPr>
          <a:xfrm>
            <a:off x="1204256" y="4591943"/>
            <a:ext cx="3031599" cy="400110"/>
          </a:xfrm>
          <a:prstGeom prst="rect">
            <a:avLst/>
          </a:prstGeom>
        </p:spPr>
        <p:txBody>
          <a:bodyPr wrap="none">
            <a:spAutoFit/>
          </a:bodyPr>
          <a:lstStyle/>
          <a:p>
            <a:r>
              <a:rPr lang="en-US" sz="2000" b="1" dirty="0">
                <a:solidFill>
                  <a:srgbClr val="7030A0"/>
                </a:solidFill>
                <a:latin typeface="Times New Roman" panose="02020603050405020304" pitchFamily="18" charset="0"/>
                <a:cs typeface="Times New Roman" panose="02020603050405020304" pitchFamily="18" charset="0"/>
              </a:rPr>
              <a:t>L1 Regularization (Lasso)</a:t>
            </a:r>
            <a:endParaRPr lang="en-IN" sz="2000" dirty="0">
              <a:solidFill>
                <a:srgbClr val="7030A0"/>
              </a:solidFill>
            </a:endParaRPr>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276DD0A0-A8B5-486C-B6EB-0D44C4BC21D2}"/>
                  </a:ext>
                </a:extLst>
              </p:cNvPr>
              <p:cNvSpPr/>
              <p:nvPr/>
            </p:nvSpPr>
            <p:spPr>
              <a:xfrm>
                <a:off x="6666343" y="5202804"/>
                <a:ext cx="4950201" cy="536942"/>
              </a:xfrm>
              <a:prstGeom prst="rect">
                <a:avLst/>
              </a:prstGeom>
              <a:solidFill>
                <a:schemeClr val="accent4">
                  <a:lumMod val="40000"/>
                  <a:lumOff val="60000"/>
                  <a:alpha val="44000"/>
                </a:schemeClr>
              </a:solidFill>
            </p:spPr>
            <p:txBody>
              <a:bodyPr wrap="none">
                <a:spAutoFit/>
              </a:bodyPr>
              <a:lstStyle/>
              <a:p>
                <a:r>
                  <a:rPr lang="en-US" sz="2000" b="1" dirty="0">
                    <a:solidFill>
                      <a:srgbClr val="7030A0"/>
                    </a:solidFill>
                    <a:latin typeface="Times New Roman" panose="02020603050405020304" pitchFamily="18" charset="0"/>
                    <a:cs typeface="Times New Roman" panose="02020603050405020304" pitchFamily="18" charset="0"/>
                  </a:rPr>
                  <a:t>Loss = </a:t>
                </a:r>
                <a14:m>
                  <m:oMath xmlns:m="http://schemas.openxmlformats.org/officeDocument/2006/math">
                    <m:f>
                      <m:fPr>
                        <m:ctrlPr>
                          <a:rPr lang="en-US" sz="2000" b="1" i="1">
                            <a:solidFill>
                              <a:srgbClr val="7030A0"/>
                            </a:solidFill>
                            <a:latin typeface="Cambria Math" panose="02040503050406030204" pitchFamily="18" charset="0"/>
                          </a:rPr>
                        </m:ctrlPr>
                      </m:fPr>
                      <m:num>
                        <m:r>
                          <a:rPr lang="en-US" sz="2000" b="1" i="1">
                            <a:solidFill>
                              <a:srgbClr val="7030A0"/>
                            </a:solidFill>
                            <a:latin typeface="Cambria Math" panose="02040503050406030204" pitchFamily="18" charset="0"/>
                          </a:rPr>
                          <m:t>𝟏</m:t>
                        </m:r>
                      </m:num>
                      <m:den>
                        <m:r>
                          <a:rPr lang="en-US" sz="2000" b="1" i="1">
                            <a:solidFill>
                              <a:srgbClr val="7030A0"/>
                            </a:solidFill>
                            <a:latin typeface="Cambria Math" panose="02040503050406030204" pitchFamily="18" charset="0"/>
                          </a:rPr>
                          <m:t>𝟐</m:t>
                        </m:r>
                        <m:r>
                          <a:rPr lang="en-US" sz="2000" b="1" i="1">
                            <a:solidFill>
                              <a:srgbClr val="7030A0"/>
                            </a:solidFill>
                            <a:latin typeface="Cambria Math" panose="02040503050406030204" pitchFamily="18" charset="0"/>
                          </a:rPr>
                          <m:t>𝒎</m:t>
                        </m:r>
                      </m:den>
                    </m:f>
                    <m:nary>
                      <m:naryPr>
                        <m:chr m:val="∑"/>
                        <m:ctrlPr>
                          <a:rPr lang="en-US" sz="2000" b="1" i="1">
                            <a:solidFill>
                              <a:srgbClr val="7030A0"/>
                            </a:solidFill>
                            <a:latin typeface="Cambria Math" panose="02040503050406030204" pitchFamily="18" charset="0"/>
                          </a:rPr>
                        </m:ctrlPr>
                      </m:naryPr>
                      <m:sub>
                        <m:r>
                          <m:rPr>
                            <m:brk m:alnAt="23"/>
                          </m:rPr>
                          <a:rPr lang="en-US" sz="2000" b="1" i="1">
                            <a:solidFill>
                              <a:srgbClr val="7030A0"/>
                            </a:solidFill>
                            <a:latin typeface="Cambria Math" panose="02040503050406030204" pitchFamily="18" charset="0"/>
                          </a:rPr>
                          <m:t>𝒊</m:t>
                        </m:r>
                        <m:r>
                          <a:rPr lang="en-US" sz="2000" b="1" i="1">
                            <a:solidFill>
                              <a:srgbClr val="7030A0"/>
                            </a:solidFill>
                            <a:latin typeface="Cambria Math" panose="02040503050406030204" pitchFamily="18" charset="0"/>
                          </a:rPr>
                          <m:t>=</m:t>
                        </m:r>
                        <m:r>
                          <a:rPr lang="en-US" sz="2000" b="1" i="1">
                            <a:solidFill>
                              <a:srgbClr val="7030A0"/>
                            </a:solidFill>
                            <a:latin typeface="Cambria Math" panose="02040503050406030204" pitchFamily="18" charset="0"/>
                          </a:rPr>
                          <m:t>𝟏</m:t>
                        </m:r>
                      </m:sub>
                      <m:sup>
                        <m:r>
                          <a:rPr lang="en-US" sz="2000" b="1" i="1">
                            <a:solidFill>
                              <a:srgbClr val="7030A0"/>
                            </a:solidFill>
                            <a:latin typeface="Cambria Math" panose="02040503050406030204" pitchFamily="18" charset="0"/>
                          </a:rPr>
                          <m:t>𝒎</m:t>
                        </m:r>
                      </m:sup>
                      <m:e>
                        <m:r>
                          <a:rPr lang="en-US" sz="2000" b="1" i="1">
                            <a:solidFill>
                              <a:srgbClr val="7030A0"/>
                            </a:solidFill>
                            <a:latin typeface="Cambria Math" panose="02040503050406030204" pitchFamily="18" charset="0"/>
                          </a:rPr>
                          <m:t>(</m:t>
                        </m:r>
                        <m:r>
                          <a:rPr lang="en-US" sz="2000" b="1" i="1">
                            <a:solidFill>
                              <a:srgbClr val="7030A0"/>
                            </a:solidFill>
                            <a:latin typeface="Cambria Math" panose="02040503050406030204" pitchFamily="18" charset="0"/>
                          </a:rPr>
                          <m:t>𝒉</m:t>
                        </m:r>
                        <m:r>
                          <a:rPr lang="en-US" sz="2000" b="1" i="1" baseline="-25000">
                            <a:solidFill>
                              <a:srgbClr val="7030A0"/>
                            </a:solidFill>
                            <a:latin typeface="Cambria Math" panose="02040503050406030204" pitchFamily="18" charset="0"/>
                            <a:ea typeface="Cambria Math" panose="02040503050406030204" pitchFamily="18" charset="0"/>
                          </a:rPr>
                          <m:t>𝝓</m:t>
                        </m:r>
                        <m:r>
                          <a:rPr lang="en-US" sz="2000" b="1" i="1">
                            <a:solidFill>
                              <a:srgbClr val="7030A0"/>
                            </a:solidFill>
                            <a:latin typeface="Cambria Math" panose="02040503050406030204" pitchFamily="18" charset="0"/>
                            <a:ea typeface="Cambria Math" panose="02040503050406030204" pitchFamily="18" charset="0"/>
                          </a:rPr>
                          <m:t>(</m:t>
                        </m:r>
                        <m:r>
                          <a:rPr lang="en-US" sz="2000" b="1" i="1">
                            <a:solidFill>
                              <a:srgbClr val="7030A0"/>
                            </a:solidFill>
                            <a:latin typeface="Cambria Math" panose="02040503050406030204" pitchFamily="18" charset="0"/>
                            <a:ea typeface="Cambria Math" panose="02040503050406030204" pitchFamily="18" charset="0"/>
                          </a:rPr>
                          <m:t>𝒙</m:t>
                        </m:r>
                        <m:r>
                          <m:rPr>
                            <m:nor/>
                          </m:rPr>
                          <a:rPr lang="en-IN" sz="2000" b="1" baseline="30000" dirty="0">
                            <a:solidFill>
                              <a:srgbClr val="7030A0"/>
                            </a:solidFill>
                            <a:latin typeface="Times New Roman" panose="02020603050405020304" pitchFamily="18" charset="0"/>
                            <a:cs typeface="Times New Roman" panose="02020603050405020304" pitchFamily="18" charset="0"/>
                          </a:rPr>
                          <m:t>(</m:t>
                        </m:r>
                        <m:r>
                          <m:rPr>
                            <m:nor/>
                          </m:rPr>
                          <a:rPr lang="en-IN" sz="2000" b="1" baseline="30000" dirty="0">
                            <a:solidFill>
                              <a:srgbClr val="7030A0"/>
                            </a:solidFill>
                            <a:latin typeface="Times New Roman" panose="02020603050405020304" pitchFamily="18" charset="0"/>
                            <a:cs typeface="Times New Roman" panose="02020603050405020304" pitchFamily="18" charset="0"/>
                          </a:rPr>
                          <m:t>i</m:t>
                        </m:r>
                        <m:r>
                          <m:rPr>
                            <m:nor/>
                          </m:rPr>
                          <a:rPr lang="en-IN" sz="2000" b="1" baseline="30000" dirty="0">
                            <a:solidFill>
                              <a:srgbClr val="7030A0"/>
                            </a:solidFill>
                            <a:latin typeface="Times New Roman" panose="02020603050405020304" pitchFamily="18" charset="0"/>
                            <a:cs typeface="Times New Roman" panose="02020603050405020304" pitchFamily="18" charset="0"/>
                          </a:rPr>
                          <m:t>)</m:t>
                        </m:r>
                        <m:r>
                          <a:rPr lang="en-US" sz="2000" b="1" i="1">
                            <a:solidFill>
                              <a:srgbClr val="7030A0"/>
                            </a:solidFill>
                            <a:latin typeface="Cambria Math" panose="02040503050406030204" pitchFamily="18" charset="0"/>
                            <a:ea typeface="Cambria Math" panose="02040503050406030204" pitchFamily="18" charset="0"/>
                          </a:rPr>
                          <m:t>)</m:t>
                        </m:r>
                        <m:r>
                          <a:rPr lang="en-US" sz="2000" b="1" i="1">
                            <a:solidFill>
                              <a:srgbClr val="7030A0"/>
                            </a:solidFill>
                            <a:latin typeface="Cambria Math" panose="02040503050406030204" pitchFamily="18" charset="0"/>
                          </a:rPr>
                          <m:t>−</m:t>
                        </m:r>
                        <m:r>
                          <a:rPr lang="en-US" sz="2000" b="1" i="1">
                            <a:solidFill>
                              <a:srgbClr val="7030A0"/>
                            </a:solidFill>
                            <a:latin typeface="Cambria Math" panose="02040503050406030204" pitchFamily="18" charset="0"/>
                          </a:rPr>
                          <m:t>𝒚</m:t>
                        </m:r>
                      </m:e>
                    </m:nary>
                  </m:oMath>
                </a14:m>
                <a:r>
                  <a:rPr lang="en-IN" sz="2000" b="1" baseline="30000" dirty="0">
                    <a:solidFill>
                      <a:srgbClr val="7030A0"/>
                    </a:solidFill>
                    <a:latin typeface="Times New Roman" panose="02020603050405020304" pitchFamily="18" charset="0"/>
                    <a:cs typeface="Times New Roman" panose="02020603050405020304" pitchFamily="18" charset="0"/>
                  </a:rPr>
                  <a:t>(</a:t>
                </a:r>
                <a:r>
                  <a:rPr lang="en-IN" sz="2000" b="1" baseline="30000" dirty="0" err="1">
                    <a:solidFill>
                      <a:srgbClr val="7030A0"/>
                    </a:solidFill>
                    <a:latin typeface="Times New Roman" panose="02020603050405020304" pitchFamily="18" charset="0"/>
                    <a:cs typeface="Times New Roman" panose="02020603050405020304" pitchFamily="18" charset="0"/>
                  </a:rPr>
                  <a:t>i</a:t>
                </a:r>
                <a:r>
                  <a:rPr lang="en-IN" sz="2000" b="1" baseline="30000" dirty="0">
                    <a:solidFill>
                      <a:srgbClr val="7030A0"/>
                    </a:solidFill>
                    <a:latin typeface="Times New Roman" panose="02020603050405020304" pitchFamily="18" charset="0"/>
                    <a:cs typeface="Times New Roman" panose="02020603050405020304" pitchFamily="18" charset="0"/>
                  </a:rPr>
                  <a:t>)</a:t>
                </a:r>
                <a:r>
                  <a:rPr lang="en-IN" sz="2000" b="1" dirty="0">
                    <a:solidFill>
                      <a:srgbClr val="7030A0"/>
                    </a:solidFill>
                    <a:latin typeface="Times New Roman" panose="02020603050405020304" pitchFamily="18" charset="0"/>
                    <a:ea typeface="Cambria Math" panose="02040503050406030204" pitchFamily="18" charset="0"/>
                    <a:cs typeface="Times New Roman" panose="02020603050405020304" pitchFamily="18" charset="0"/>
                  </a:rPr>
                  <a:t>)</a:t>
                </a:r>
                <a:r>
                  <a:rPr lang="en-IN" sz="2000" b="1" baseline="30000" dirty="0">
                    <a:solidFill>
                      <a:srgbClr val="7030A0"/>
                    </a:solidFill>
                    <a:latin typeface="Times New Roman" panose="02020603050405020304" pitchFamily="18" charset="0"/>
                    <a:cs typeface="Times New Roman" panose="02020603050405020304" pitchFamily="18" charset="0"/>
                  </a:rPr>
                  <a:t>2</a:t>
                </a:r>
                <a:r>
                  <a:rPr lang="en-IN" sz="2000" b="1" dirty="0">
                    <a:solidFill>
                      <a:srgbClr val="7030A0"/>
                    </a:solidFill>
                    <a:latin typeface="Times New Roman" panose="02020603050405020304" pitchFamily="18" charset="0"/>
                    <a:cs typeface="Times New Roman" panose="02020603050405020304" pitchFamily="18" charset="0"/>
                  </a:rPr>
                  <a:t> + 𝜆 </a:t>
                </a:r>
                <a14:m>
                  <m:oMath xmlns:m="http://schemas.openxmlformats.org/officeDocument/2006/math">
                    <m:nary>
                      <m:naryPr>
                        <m:chr m:val="∑"/>
                        <m:ctrlPr>
                          <a:rPr lang="en-IN" sz="2000" b="1" i="1">
                            <a:solidFill>
                              <a:srgbClr val="7030A0"/>
                            </a:solidFill>
                            <a:latin typeface="Cambria Math" panose="02040503050406030204" pitchFamily="18" charset="0"/>
                            <a:ea typeface="Cambria Math" panose="02040503050406030204" pitchFamily="18" charset="0"/>
                          </a:rPr>
                        </m:ctrlPr>
                      </m:naryPr>
                      <m:sub>
                        <m:r>
                          <m:rPr>
                            <m:brk m:alnAt="23"/>
                          </m:rPr>
                          <a:rPr lang="en-US" sz="2000" b="1" i="1">
                            <a:solidFill>
                              <a:srgbClr val="7030A0"/>
                            </a:solidFill>
                            <a:latin typeface="Cambria Math" panose="02040503050406030204" pitchFamily="18" charset="0"/>
                            <a:ea typeface="Cambria Math" panose="02040503050406030204" pitchFamily="18" charset="0"/>
                          </a:rPr>
                          <m:t>𝒋</m:t>
                        </m:r>
                        <m:r>
                          <a:rPr lang="en-US" sz="2000" b="1" i="1">
                            <a:solidFill>
                              <a:srgbClr val="7030A0"/>
                            </a:solidFill>
                            <a:latin typeface="Cambria Math" panose="02040503050406030204" pitchFamily="18" charset="0"/>
                            <a:ea typeface="Cambria Math" panose="02040503050406030204" pitchFamily="18" charset="0"/>
                          </a:rPr>
                          <m:t>=</m:t>
                        </m:r>
                        <m:r>
                          <a:rPr lang="en-US" sz="2000" b="1" i="1">
                            <a:solidFill>
                              <a:srgbClr val="7030A0"/>
                            </a:solidFill>
                            <a:latin typeface="Cambria Math" panose="02040503050406030204" pitchFamily="18" charset="0"/>
                            <a:ea typeface="Cambria Math" panose="02040503050406030204" pitchFamily="18" charset="0"/>
                          </a:rPr>
                          <m:t>𝟎</m:t>
                        </m:r>
                      </m:sub>
                      <m:sup>
                        <m:r>
                          <a:rPr lang="en-US" sz="2000" b="1" i="1">
                            <a:solidFill>
                              <a:srgbClr val="7030A0"/>
                            </a:solidFill>
                            <a:latin typeface="Cambria Math" panose="02040503050406030204" pitchFamily="18" charset="0"/>
                            <a:ea typeface="Cambria Math" panose="02040503050406030204" pitchFamily="18" charset="0"/>
                          </a:rPr>
                          <m:t>𝒏</m:t>
                        </m:r>
                      </m:sup>
                      <m:e>
                        <m:r>
                          <a:rPr lang="en-IN" sz="2000" b="1" i="1">
                            <a:solidFill>
                              <a:srgbClr val="7030A0"/>
                            </a:solidFill>
                            <a:latin typeface="Cambria Math" panose="02040503050406030204" pitchFamily="18" charset="0"/>
                            <a:ea typeface="Cambria Math" panose="02040503050406030204" pitchFamily="18" charset="0"/>
                          </a:rPr>
                          <m:t>𝝓</m:t>
                        </m:r>
                        <m:r>
                          <a:rPr lang="en-US" sz="2000" b="1" i="1" baseline="-25000">
                            <a:solidFill>
                              <a:srgbClr val="7030A0"/>
                            </a:solidFill>
                            <a:latin typeface="Cambria Math" panose="02040503050406030204" pitchFamily="18" charset="0"/>
                            <a:ea typeface="Cambria Math" panose="02040503050406030204" pitchFamily="18" charset="0"/>
                          </a:rPr>
                          <m:t>𝒋</m:t>
                        </m:r>
                      </m:e>
                    </m:nary>
                    <m:r>
                      <a:rPr lang="en-US" sz="2000" b="1" i="1" baseline="30000">
                        <a:solidFill>
                          <a:srgbClr val="7030A0"/>
                        </a:solidFill>
                        <a:latin typeface="Cambria Math" panose="02040503050406030204" pitchFamily="18" charset="0"/>
                        <a:ea typeface="Cambria Math" panose="02040503050406030204" pitchFamily="18" charset="0"/>
                      </a:rPr>
                      <m:t>𝟐</m:t>
                    </m:r>
                  </m:oMath>
                </a14:m>
                <a:endParaRPr lang="en-IN" sz="2000" dirty="0">
                  <a:solidFill>
                    <a:srgbClr val="7030A0"/>
                  </a:solidFill>
                </a:endParaRPr>
              </a:p>
            </p:txBody>
          </p:sp>
        </mc:Choice>
        <mc:Fallback xmlns="">
          <p:sp>
            <p:nvSpPr>
              <p:cNvPr id="18" name="Rectangle 17">
                <a:extLst>
                  <a:ext uri="{FF2B5EF4-FFF2-40B4-BE49-F238E27FC236}">
                    <a16:creationId xmlns:a16="http://schemas.microsoft.com/office/drawing/2014/main" id="{276DD0A0-A8B5-486C-B6EB-0D44C4BC21D2}"/>
                  </a:ext>
                </a:extLst>
              </p:cNvPr>
              <p:cNvSpPr>
                <a:spLocks noRot="1" noChangeAspect="1" noMove="1" noResize="1" noEditPoints="1" noAdjustHandles="1" noChangeArrowheads="1" noChangeShapeType="1" noTextEdit="1"/>
              </p:cNvSpPr>
              <p:nvPr/>
            </p:nvSpPr>
            <p:spPr>
              <a:xfrm>
                <a:off x="6666343" y="5202804"/>
                <a:ext cx="4950201" cy="536942"/>
              </a:xfrm>
              <a:prstGeom prst="rect">
                <a:avLst/>
              </a:prstGeom>
              <a:blipFill>
                <a:blip r:embed="rId3"/>
                <a:stretch>
                  <a:fillRect l="-1355" b="-5618"/>
                </a:stretch>
              </a:blipFill>
            </p:spPr>
            <p:txBody>
              <a:bodyPr/>
              <a:lstStyle/>
              <a:p>
                <a:r>
                  <a:rPr lang="en-IN">
                    <a:noFill/>
                  </a:rPr>
                  <a:t> </a:t>
                </a:r>
              </a:p>
            </p:txBody>
          </p:sp>
        </mc:Fallback>
      </mc:AlternateContent>
      <p:sp>
        <p:nvSpPr>
          <p:cNvPr id="19" name="Rectangle 18">
            <a:extLst>
              <a:ext uri="{FF2B5EF4-FFF2-40B4-BE49-F238E27FC236}">
                <a16:creationId xmlns:a16="http://schemas.microsoft.com/office/drawing/2014/main" id="{434BFE04-E3D9-47A1-867C-EAB6F9FF25E2}"/>
              </a:ext>
            </a:extLst>
          </p:cNvPr>
          <p:cNvSpPr/>
          <p:nvPr/>
        </p:nvSpPr>
        <p:spPr>
          <a:xfrm>
            <a:off x="6666343" y="4554999"/>
            <a:ext cx="3110147" cy="400110"/>
          </a:xfrm>
          <a:prstGeom prst="rect">
            <a:avLst/>
          </a:prstGeom>
          <a:noFill/>
        </p:spPr>
        <p:txBody>
          <a:bodyPr wrap="none">
            <a:spAutoFit/>
          </a:bodyPr>
          <a:lstStyle/>
          <a:p>
            <a:r>
              <a:rPr lang="en-US" sz="2000" b="1" dirty="0">
                <a:solidFill>
                  <a:srgbClr val="7030A0"/>
                </a:solidFill>
                <a:latin typeface="Times New Roman" panose="02020603050405020304" pitchFamily="18" charset="0"/>
                <a:cs typeface="Times New Roman" panose="02020603050405020304" pitchFamily="18" charset="0"/>
              </a:rPr>
              <a:t>L2 Regularization (Ridge)</a:t>
            </a:r>
            <a:r>
              <a:rPr lang="en-US" sz="2000" dirty="0">
                <a:solidFill>
                  <a:srgbClr val="7030A0"/>
                </a:solidFill>
                <a:latin typeface="Times New Roman" panose="02020603050405020304" pitchFamily="18" charset="0"/>
                <a:cs typeface="Times New Roman" panose="02020603050405020304" pitchFamily="18" charset="0"/>
              </a:rPr>
              <a:t> </a:t>
            </a:r>
            <a:endParaRPr lang="en-IN" sz="2000" dirty="0">
              <a:solidFill>
                <a:srgbClr val="7030A0"/>
              </a:solidFill>
            </a:endParaRPr>
          </a:p>
        </p:txBody>
      </p:sp>
      <p:cxnSp>
        <p:nvCxnSpPr>
          <p:cNvPr id="21" name="Straight Connector 20"/>
          <p:cNvCxnSpPr/>
          <p:nvPr/>
        </p:nvCxnSpPr>
        <p:spPr>
          <a:xfrm>
            <a:off x="6197596" y="4285673"/>
            <a:ext cx="0" cy="2327563"/>
          </a:xfrm>
          <a:prstGeom prst="line">
            <a:avLst/>
          </a:prstGeom>
          <a:ln w="22225">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0418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1619</TotalTime>
  <Words>2752</Words>
  <Application>Microsoft Office PowerPoint</Application>
  <PresentationFormat>Widescreen</PresentationFormat>
  <Paragraphs>309</Paragraphs>
  <Slides>23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Arial</vt:lpstr>
      <vt:lpstr>Arial Narrow</vt:lpstr>
      <vt:lpstr>Book Antiqua</vt:lpstr>
      <vt:lpstr>Calibri</vt:lpstr>
      <vt:lpstr>Calibri Light</vt:lpstr>
      <vt:lpstr>Cambria Math</vt:lpstr>
      <vt:lpstr>Century</vt:lpstr>
      <vt:lpstr>Ebrima</vt:lpstr>
      <vt:lpstr>Times New Roman</vt:lpstr>
      <vt:lpstr>Wingdings</vt:lpstr>
      <vt:lpstr>Office Theme</vt:lpstr>
      <vt:lpstr>Neural Network Fundamentals Overfitting </vt:lpstr>
      <vt:lpstr>Content</vt:lpstr>
      <vt:lpstr>Overfitting</vt:lpstr>
      <vt:lpstr>Overfitting</vt:lpstr>
      <vt:lpstr>The Problem of Overfitting</vt:lpstr>
      <vt:lpstr>The Problem of Overfitting</vt:lpstr>
      <vt:lpstr>The Problem of Overfitting</vt:lpstr>
      <vt:lpstr>Overfitting</vt:lpstr>
      <vt:lpstr>Bias and Variance </vt:lpstr>
      <vt:lpstr>Bias and Variance </vt:lpstr>
      <vt:lpstr>Bias Variance Trade-off</vt:lpstr>
      <vt:lpstr>Solution for Overfitting</vt:lpstr>
      <vt:lpstr>K-fold Cross Validation</vt:lpstr>
      <vt:lpstr>How K-fold Cross Validation helps Generalization?</vt:lpstr>
      <vt:lpstr>Regularization</vt:lpstr>
      <vt:lpstr>PowerPoint Presentation</vt:lpstr>
      <vt:lpstr>Early Stopping</vt:lpstr>
      <vt:lpstr>PowerPoint Presentation</vt:lpstr>
      <vt:lpstr>Convolutional Neural Network - I</vt:lpstr>
      <vt:lpstr>L1 Regularization </vt:lpstr>
      <vt:lpstr>L2 Regularization </vt:lpstr>
      <vt:lpstr>L1 &amp; L2 Regularization </vt:lpstr>
      <vt:lpstr>Regularization Parameter (λ)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 Fundamentals Overfitting </dc:title>
  <dc:creator>IITG</dc:creator>
  <cp:lastModifiedBy>HP</cp:lastModifiedBy>
  <cp:revision>22</cp:revision>
  <dcterms:created xsi:type="dcterms:W3CDTF">2026-07-07T09:03:07Z</dcterms:created>
  <dcterms:modified xsi:type="dcterms:W3CDTF">2026-07-12T07:02:10Z</dcterms:modified>
</cp:coreProperties>
</file>