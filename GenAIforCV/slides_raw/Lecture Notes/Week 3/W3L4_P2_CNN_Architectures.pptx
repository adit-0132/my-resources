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0"/>
  </p:notesMasterIdLst>
  <p:sldIdLst>
    <p:sldId id="268" r:id="rId2"/>
    <p:sldId id="258" r:id="rId3"/>
    <p:sldId id="269" r:id="rId4"/>
    <p:sldId id="307" r:id="rId5"/>
    <p:sldId id="271" r:id="rId6"/>
    <p:sldId id="310" r:id="rId7"/>
    <p:sldId id="309" r:id="rId8"/>
    <p:sldId id="311" r:id="rId9"/>
    <p:sldId id="281" r:id="rId10"/>
    <p:sldId id="282" r:id="rId11"/>
    <p:sldId id="312" r:id="rId12"/>
    <p:sldId id="313" r:id="rId13"/>
    <p:sldId id="314" r:id="rId14"/>
    <p:sldId id="286" r:id="rId15"/>
    <p:sldId id="315" r:id="rId16"/>
    <p:sldId id="288" r:id="rId17"/>
    <p:sldId id="289" r:id="rId18"/>
    <p:sldId id="290" r:id="rId19"/>
    <p:sldId id="316" r:id="rId20"/>
    <p:sldId id="317" r:id="rId21"/>
    <p:sldId id="318" r:id="rId22"/>
    <p:sldId id="319" r:id="rId23"/>
    <p:sldId id="321" r:id="rId24"/>
    <p:sldId id="294" r:id="rId25"/>
    <p:sldId id="295" r:id="rId26"/>
    <p:sldId id="296" r:id="rId27"/>
    <p:sldId id="320" r:id="rId28"/>
    <p:sldId id="297" r:id="rId29"/>
    <p:sldId id="298" r:id="rId30"/>
    <p:sldId id="299" r:id="rId31"/>
    <p:sldId id="300" r:id="rId32"/>
    <p:sldId id="301" r:id="rId33"/>
    <p:sldId id="323" r:id="rId34"/>
    <p:sldId id="324" r:id="rId35"/>
    <p:sldId id="302" r:id="rId36"/>
    <p:sldId id="303" r:id="rId37"/>
    <p:sldId id="266" r:id="rId38"/>
    <p:sldId id="306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0" d="100"/>
          <a:sy n="50" d="100"/>
        </p:scale>
        <p:origin x="931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456BF5-11D4-41D5-AD0D-CA8706524CC4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B6B78E-75C6-4181-BE76-541A0D6C27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8989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B6B78E-75C6-4181-BE76-541A0D6C277B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17900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00A79-254A-4315-BEDD-69666DEE48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C02103-3475-4C11-97CE-B64592D2E3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A0682C-F7E8-492A-B25A-6DEAA35EC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D033D-3CDC-4ABF-BD28-C38E64CDDA00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14CBB8-01A3-47EB-89EF-D0E22FAB4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05FFF1-C760-4572-9C1E-0E702FB48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AC1FB-D585-4E0D-A40E-765DE8039D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56284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8CF5E-24C7-4974-9C00-BB389EF61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896C0F-94D2-4022-AB67-55DD98BE3A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6A863-A109-4211-91AF-B1100EA94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D033D-3CDC-4ABF-BD28-C38E64CDDA00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5B9A7E-C032-468A-A7AE-45B43E392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BA0B9-1D2A-48EE-9C99-8A3625330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AC1FB-D585-4E0D-A40E-765DE8039D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42458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01265-5E79-470C-A669-E8D0A8389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47D444-D022-4547-B142-4DD345C9D3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7B507D-A6C4-4FB6-A83A-10AFC3D8E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D033D-3CDC-4ABF-BD28-C38E64CDDA00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A7EF8F-124A-45C5-A329-3070667F7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E4F605-D838-481B-A25C-6A5C2B062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AC1FB-D585-4E0D-A40E-765DE8039D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9773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FDA66-793A-4A2D-8124-B7F040763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EFE741-6AAB-49FB-9947-A81D38EA21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6FD764-CAFF-41FB-B0E0-9B1C02AE47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142146-C008-419B-860C-E33A571C0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D033D-3CDC-4ABF-BD28-C38E64CDDA00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8E4851-8A45-47F3-B81C-D52FABBD30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E283F0-84FD-47BB-9170-2D653B87B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AC1FB-D585-4E0D-A40E-765DE8039D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96005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72506-5B24-47AC-88F8-CBB2BEA6A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435291-0B1B-4F5C-8209-2CBF5D28AB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DAD03A-71F6-456F-B9E6-40D8705776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C0F941-11F1-4D31-AB70-BE037C1A58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C83F23-943E-4CF9-8EEB-1B24BB18B5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1356B3-3672-492A-9926-7A7927254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D033D-3CDC-4ABF-BD28-C38E64CDDA00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7F5267-CE3E-4E3C-9AE7-3AEC40DCE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6E5289-6830-4C58-A2B1-1872336A4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AC1FB-D585-4E0D-A40E-765DE8039D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9866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5DC8C-2A27-4187-AA24-44B21DD0A1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19D280-FB8B-4228-944F-EF063B89A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D033D-3CDC-4ABF-BD28-C38E64CDDA00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F420A8-4BAB-48E9-9925-808574066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409287-B291-46CA-BF67-86640BBBF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AC1FB-D585-4E0D-A40E-765DE8039D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19881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305858-DBDC-4C14-A7F4-EF94EFEA7F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D033D-3CDC-4ABF-BD28-C38E64CDDA00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AF348B-4D76-4E9A-BCED-DBD9EED91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06534C-F8E9-428C-90B9-BF2572B0D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AC1FB-D585-4E0D-A40E-765DE8039D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41186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3F76A-70E5-4A42-BE5B-6733639A3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96763B-9916-4B82-BEF2-69B7AB2B9C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10EE9A-160F-4AB5-9D35-79871FEF83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F41DED-0EF0-4171-813C-CE57CAA25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D033D-3CDC-4ABF-BD28-C38E64CDDA00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BD33E0-64E4-4F82-94FA-4160E30AB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F4535C-2B0F-44C9-BD07-B57DE9FAE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AC1FB-D585-4E0D-A40E-765DE8039D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62807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8460C-71C0-4E12-8EBD-581626D60E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D756521-A4D0-4C8F-B5CD-A20AD5696D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D506DF-0217-4B63-8EE7-1479DA4A8A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AFC9DE-E35C-46DF-B965-50937FE882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D033D-3CDC-4ABF-BD28-C38E64CDDA00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32BF2D-26D6-4E96-9413-065F0105B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F6E82A-5530-4303-B481-73AA6B2FCF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AC1FB-D585-4E0D-A40E-765DE8039D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40687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21895-AF5A-4656-8F3D-BB2996F38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751413-F1EC-43E0-9C4A-4E48285C15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DE673D-9308-43C2-A53B-867EC1F62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D033D-3CDC-4ABF-BD28-C38E64CDDA00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5A9C1D-2590-4DD6-8A7F-685B0669E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721E55-BAF0-4ED3-8E8D-045916F08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AC1FB-D585-4E0D-A40E-765DE8039D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39676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A9D66F6-2025-445A-A0A2-0F2E0E735B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96F071-FF9E-4483-8747-53B8840A03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F7EF36-B515-4F2B-B082-1DAB604ABE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D033D-3CDC-4ABF-BD28-C38E64CDDA00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35DD09-9F6D-48DA-B96D-915B5A988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35DBB9-E1C0-4327-9607-6E150BCA8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AC1FB-D585-4E0D-A40E-765DE8039D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98167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444A0B-62EA-4DE0-A6FF-A6BE4425C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D72DA4-AF2B-406B-B61A-6622430D58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F1F990-9769-40A7-8677-9A248568C4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0D033D-3CDC-4ABF-BD28-C38E64CDDA00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0CE5AF-CC20-4092-8E00-7A383BECC0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889A01-AD69-47DE-AD2F-912AE3694B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EAC1FB-D585-4E0D-A40E-765DE8039D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88833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datadriveninvestor.com/lenet-5-a-classic-cnn-architecture-c87d0b03560d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datadriveninvestor.com/lenet-5-a-classic-cnn-architecture-c87d0b03560d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medium.com/@siddheshb008/alexnet-architecture-explained-b6240c528bd5" TargetMode="Externa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miro.medium.com/v2/resize:fit:720/format:webp/0*q5eMDjUHKqEyo7qY.png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miro.medium.com/v2/resize:fit:720/format:webp/0*q5eMDjUHKqEyo7qY.png" TargetMode="Externa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nicolovaligi.com/articles/history-inception-deep-learning-architecture/inception_module.png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nicolovaligi.com/articles/history-inception-deep-learning-architecture/inception_module.png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miro.medium.com/v2/resize:fit:720/format:webp/0*q5eMDjUHKqEyo7qY.png" TargetMode="Externa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miro.medium.com/v2/resize:fit:720/format:webp/0*q5eMDjUHKqEyo7qY.png" TargetMode="Externa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D1312-3FC0-4078-A2B9-78735F9B2C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61661" y="1864199"/>
            <a:ext cx="9144000" cy="2387600"/>
          </a:xfrm>
        </p:spPr>
        <p:txBody>
          <a:bodyPr>
            <a:normAutofit/>
          </a:bodyPr>
          <a:lstStyle/>
          <a:p>
            <a:r>
              <a:rPr lang="en-IN" sz="4000" dirty="0">
                <a:solidFill>
                  <a:srgbClr val="002060"/>
                </a:solidFill>
                <a:latin typeface="Arial Narrow" panose="020B0606020202030204" pitchFamily="34" charset="0"/>
              </a:rPr>
              <a:t>Convolutional Neural Network – II</a:t>
            </a:r>
            <a:br>
              <a:rPr lang="en-IN" sz="4000" dirty="0">
                <a:solidFill>
                  <a:srgbClr val="002060"/>
                </a:solidFill>
                <a:latin typeface="Arial Narrow" panose="020B0606020202030204" pitchFamily="34" charset="0"/>
              </a:rPr>
            </a:br>
            <a:r>
              <a:rPr lang="en-IN" sz="3200" dirty="0">
                <a:solidFill>
                  <a:srgbClr val="002060"/>
                </a:solidFill>
                <a:latin typeface="Arial Narrow" panose="020B0606020202030204" pitchFamily="34" charset="0"/>
              </a:rPr>
              <a:t>Model Architectures</a:t>
            </a:r>
            <a:br>
              <a:rPr lang="en-IN" sz="4000" dirty="0">
                <a:solidFill>
                  <a:srgbClr val="002060"/>
                </a:solidFill>
                <a:latin typeface="Arial Narrow" panose="020B0606020202030204" pitchFamily="34" charset="0"/>
              </a:rPr>
            </a:br>
            <a:endParaRPr lang="en-IN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B6BD41-65D8-4E39-9EB8-873E6D5917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29939"/>
            <a:ext cx="9144000" cy="1655762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00B050"/>
                </a:solidFill>
                <a:latin typeface="Book Antiqua" panose="02040602050305030304" pitchFamily="18" charset="0"/>
              </a:rPr>
              <a:t>Generative AI for Computer Vision</a:t>
            </a:r>
            <a:endParaRPr lang="en-IN" sz="3600" dirty="0">
              <a:solidFill>
                <a:srgbClr val="002060"/>
              </a:solidFill>
              <a:latin typeface="Arial Narrow" panose="020B0606020202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279711-0489-4234-BC9E-AEC0ED47B657}"/>
              </a:ext>
            </a:extLst>
          </p:cNvPr>
          <p:cNvSpPr txBox="1"/>
          <p:nvPr/>
        </p:nvSpPr>
        <p:spPr>
          <a:xfrm>
            <a:off x="4035287" y="860753"/>
            <a:ext cx="379674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>
                <a:latin typeface="Arial Narrow" panose="020B0606020202030204" pitchFamily="34" charset="0"/>
              </a:rPr>
              <a:t>Lecture 4</a:t>
            </a:r>
            <a:endParaRPr lang="en-IN" sz="2800" dirty="0">
              <a:latin typeface="Arial Narrow" panose="020B0606020202030204" pitchFamily="34" charset="0"/>
            </a:endParaRPr>
          </a:p>
          <a:p>
            <a:pPr algn="ctr"/>
            <a:endParaRPr lang="en-IN" sz="2800" dirty="0">
              <a:latin typeface="Arial Narrow" panose="020B0606020202030204" pitchFamily="34" charset="0"/>
            </a:endParaRPr>
          </a:p>
          <a:p>
            <a:pPr algn="ctr"/>
            <a:r>
              <a:rPr lang="en-IN" sz="2800" dirty="0">
                <a:latin typeface="Arial Narrow" panose="020B0606020202030204" pitchFamily="34" charset="0"/>
              </a:rPr>
              <a:t>Part 2</a:t>
            </a:r>
          </a:p>
        </p:txBody>
      </p:sp>
    </p:spTree>
    <p:extLst>
      <p:ext uri="{BB962C8B-B14F-4D97-AF65-F5344CB8AC3E}">
        <p14:creationId xmlns:p14="http://schemas.microsoft.com/office/powerpoint/2010/main" val="25049298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877B3-BB0C-E8EF-D796-A0B6C8D41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entury" panose="02040604050505020304" pitchFamily="18" charset="0"/>
                <a:ea typeface="Calibri Light"/>
                <a:cs typeface="Calibri Light"/>
              </a:rPr>
              <a:t>Content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9001286-9349-A4FD-CF1F-79D5D7F990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89823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IN" sz="3200" dirty="0">
                <a:latin typeface="Arial Narrow" panose="020B0606020202030204" pitchFamily="34" charset="0"/>
                <a:cs typeface="Times New Roman" panose="02020603050405020304" pitchFamily="18" charset="0"/>
              </a:rPr>
              <a:t>CNN Architectures</a:t>
            </a:r>
          </a:p>
          <a:p>
            <a:endParaRPr lang="en-IN" sz="32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  <a:p>
            <a:r>
              <a:rPr lang="en-IN" sz="3200" dirty="0" err="1">
                <a:latin typeface="Arial Narrow" panose="020B0606020202030204" pitchFamily="34" charset="0"/>
                <a:cs typeface="Times New Roman" panose="02020603050405020304" pitchFamily="18" charset="0"/>
              </a:rPr>
              <a:t>LeNet</a:t>
            </a:r>
            <a:endParaRPr lang="en-IN" sz="32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  <a:p>
            <a:r>
              <a:rPr lang="en-IN" sz="3200" dirty="0" err="1">
                <a:latin typeface="Arial Narrow" panose="020B0606020202030204" pitchFamily="34" charset="0"/>
                <a:cs typeface="Times New Roman" panose="02020603050405020304" pitchFamily="18" charset="0"/>
              </a:rPr>
              <a:t>AlexNet</a:t>
            </a:r>
            <a:endParaRPr lang="en-IN" sz="32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  <a:p>
            <a:r>
              <a:rPr lang="en-IN" sz="3200" dirty="0">
                <a:latin typeface="Arial Narrow" panose="020B0606020202030204" pitchFamily="34" charset="0"/>
                <a:cs typeface="Times New Roman" panose="02020603050405020304" pitchFamily="18" charset="0"/>
              </a:rPr>
              <a:t>VGG Net</a:t>
            </a:r>
          </a:p>
          <a:p>
            <a:r>
              <a:rPr lang="en-IN" sz="3200" dirty="0">
                <a:latin typeface="Arial Narrow" panose="020B0606020202030204" pitchFamily="34" charset="0"/>
                <a:cs typeface="Times New Roman" panose="02020603050405020304" pitchFamily="18" charset="0"/>
              </a:rPr>
              <a:t>Google Net</a:t>
            </a:r>
          </a:p>
          <a:p>
            <a:pPr lvl="1"/>
            <a:r>
              <a:rPr lang="en-IN" sz="2800">
                <a:latin typeface="Arial Narrow" panose="020B0606020202030204" pitchFamily="34" charset="0"/>
                <a:cs typeface="Times New Roman" panose="02020603050405020304" pitchFamily="18" charset="0"/>
              </a:rPr>
              <a:t>Inception Module</a:t>
            </a:r>
            <a:endParaRPr lang="en-IN" sz="20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0629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 err="1">
                <a:latin typeface="Century" panose="02040604050505020304" pitchFamily="18" charset="0"/>
              </a:rPr>
              <a:t>LeNet</a:t>
            </a:r>
            <a:r>
              <a:rPr lang="en-IN" sz="3600" dirty="0">
                <a:latin typeface="Century" panose="02040604050505020304" pitchFamily="18" charset="0"/>
              </a:rPr>
              <a:t> – 5</a:t>
            </a:r>
            <a:br>
              <a:rPr lang="en-IN" sz="3600" dirty="0">
                <a:latin typeface="Century" panose="02040604050505020304" pitchFamily="18" charset="0"/>
              </a:rPr>
            </a:br>
            <a:r>
              <a:rPr lang="en-IN" sz="2800" dirty="0">
                <a:solidFill>
                  <a:srgbClr val="DE76E6"/>
                </a:solidFill>
                <a:latin typeface="Century" panose="02040604050505020304" pitchFamily="18" charset="0"/>
              </a:rPr>
              <a:t>[</a:t>
            </a:r>
            <a:r>
              <a:rPr lang="en-IN" sz="2800" dirty="0" err="1">
                <a:solidFill>
                  <a:srgbClr val="DE76E6"/>
                </a:solidFill>
                <a:latin typeface="Century" panose="02040604050505020304" pitchFamily="18" charset="0"/>
              </a:rPr>
              <a:t>LeCun</a:t>
            </a:r>
            <a:r>
              <a:rPr lang="en-IN" sz="2800" dirty="0">
                <a:solidFill>
                  <a:srgbClr val="DE76E6"/>
                </a:solidFill>
                <a:latin typeface="Century" panose="02040604050505020304" pitchFamily="18" charset="0"/>
              </a:rPr>
              <a:t> et al., 1998]</a:t>
            </a:r>
            <a:endParaRPr lang="en-IN" sz="4000" dirty="0">
              <a:solidFill>
                <a:srgbClr val="DE76E6"/>
              </a:solidFill>
              <a:latin typeface="Century" panose="020406040505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28027D-8282-4FD9-9E3B-1AF309F88C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265608"/>
          </a:xfrm>
        </p:spPr>
        <p:txBody>
          <a:bodyPr>
            <a:normAutofit lnSpcReduction="10000"/>
          </a:bodyPr>
          <a:lstStyle/>
          <a:p>
            <a:pPr algn="just"/>
            <a:r>
              <a:rPr lang="en-GB" sz="2000" dirty="0" err="1">
                <a:solidFill>
                  <a:srgbClr val="00B0F0"/>
                </a:solidFill>
                <a:latin typeface="Arial Narrow" panose="020B0606020202030204" pitchFamily="34" charset="0"/>
              </a:rPr>
              <a:t>LeNet</a:t>
            </a:r>
            <a:r>
              <a:rPr lang="en-GB" sz="2000" dirty="0">
                <a:latin typeface="Arial Narrow" panose="020B0606020202030204" pitchFamily="34" charset="0"/>
              </a:rPr>
              <a:t>, introduced by </a:t>
            </a:r>
            <a:r>
              <a:rPr lang="en-GB" sz="2000" dirty="0">
                <a:solidFill>
                  <a:srgbClr val="00B0F0"/>
                </a:solidFill>
                <a:latin typeface="Arial Narrow" panose="020B0606020202030204" pitchFamily="34" charset="0"/>
              </a:rPr>
              <a:t>Yann </a:t>
            </a:r>
            <a:r>
              <a:rPr lang="en-GB" sz="2000" dirty="0" err="1">
                <a:solidFill>
                  <a:srgbClr val="00B0F0"/>
                </a:solidFill>
                <a:latin typeface="Arial Narrow" panose="020B0606020202030204" pitchFamily="34" charset="0"/>
              </a:rPr>
              <a:t>LeCun</a:t>
            </a:r>
            <a:r>
              <a:rPr lang="en-GB" sz="2000" dirty="0">
                <a:solidFill>
                  <a:srgbClr val="00B0F0"/>
                </a:solidFill>
                <a:latin typeface="Arial Narrow" panose="020B0606020202030204" pitchFamily="34" charset="0"/>
              </a:rPr>
              <a:t> </a:t>
            </a:r>
            <a:r>
              <a:rPr lang="en-GB" sz="2000" dirty="0">
                <a:latin typeface="Arial Narrow" panose="020B0606020202030204" pitchFamily="34" charset="0"/>
              </a:rPr>
              <a:t>and colleagues in 1998, is one of the earliest successful convolutional neural network (CNN) architectures for </a:t>
            </a:r>
            <a:r>
              <a:rPr lang="en-GB" sz="2000" dirty="0">
                <a:solidFill>
                  <a:srgbClr val="00B0F0"/>
                </a:solidFill>
                <a:latin typeface="Arial Narrow" panose="020B0606020202030204" pitchFamily="34" charset="0"/>
              </a:rPr>
              <a:t>handwritten digit recognition</a:t>
            </a:r>
            <a:r>
              <a:rPr lang="en-GB" sz="2000" dirty="0">
                <a:latin typeface="Arial Narrow" panose="020B0606020202030204" pitchFamily="34" charset="0"/>
              </a:rPr>
              <a:t>. </a:t>
            </a:r>
          </a:p>
          <a:p>
            <a:pPr algn="just"/>
            <a:endParaRPr lang="en-GB" sz="2000" dirty="0">
              <a:latin typeface="Arial Narrow" panose="020B0606020202030204" pitchFamily="34" charset="0"/>
            </a:endParaRPr>
          </a:p>
          <a:p>
            <a:pPr algn="just"/>
            <a:r>
              <a:rPr lang="en-GB" sz="2000" dirty="0">
                <a:latin typeface="Arial Narrow" panose="020B0606020202030204" pitchFamily="34" charset="0"/>
              </a:rPr>
              <a:t>The most well-known version, </a:t>
            </a:r>
            <a:r>
              <a:rPr lang="en-GB" sz="2000" dirty="0">
                <a:solidFill>
                  <a:srgbClr val="00B0F0"/>
                </a:solidFill>
                <a:latin typeface="Arial Narrow" panose="020B0606020202030204" pitchFamily="34" charset="0"/>
              </a:rPr>
              <a:t>LeNet-5</a:t>
            </a:r>
            <a:r>
              <a:rPr lang="en-GB" sz="2000" dirty="0">
                <a:latin typeface="Arial Narrow" panose="020B0606020202030204" pitchFamily="34" charset="0"/>
              </a:rPr>
              <a:t>, consists of </a:t>
            </a:r>
            <a:r>
              <a:rPr lang="en-GB" sz="2000" dirty="0">
                <a:solidFill>
                  <a:srgbClr val="00B0F0"/>
                </a:solidFill>
                <a:latin typeface="Arial Narrow" panose="020B0606020202030204" pitchFamily="34" charset="0"/>
              </a:rPr>
              <a:t>seven trainable layers</a:t>
            </a:r>
            <a:r>
              <a:rPr lang="en-GB" sz="2000" dirty="0">
                <a:latin typeface="Arial Narrow" panose="020B0606020202030204" pitchFamily="34" charset="0"/>
              </a:rPr>
              <a:t>: an input layer that accepts a </a:t>
            </a:r>
            <a:r>
              <a:rPr lang="en-GB" sz="2000" dirty="0">
                <a:solidFill>
                  <a:srgbClr val="00B0F0"/>
                </a:solidFill>
                <a:latin typeface="Arial Narrow" panose="020B0606020202030204" pitchFamily="34" charset="0"/>
              </a:rPr>
              <a:t>32 × 32 grayscale image</a:t>
            </a:r>
            <a:r>
              <a:rPr lang="en-GB" sz="2000" dirty="0">
                <a:latin typeface="Arial Narrow" panose="020B0606020202030204" pitchFamily="34" charset="0"/>
              </a:rPr>
              <a:t>, followed by </a:t>
            </a:r>
            <a:r>
              <a:rPr lang="en-GB" sz="2000" dirty="0">
                <a:solidFill>
                  <a:srgbClr val="00B0F0"/>
                </a:solidFill>
                <a:latin typeface="Arial Narrow" panose="020B0606020202030204" pitchFamily="34" charset="0"/>
              </a:rPr>
              <a:t>two convolutional layers (C1 and C3)</a:t>
            </a:r>
            <a:r>
              <a:rPr lang="en-GB" sz="2000" dirty="0">
                <a:latin typeface="Arial Narrow" panose="020B0606020202030204" pitchFamily="34" charset="0"/>
              </a:rPr>
              <a:t> that extract local image features using learnable filters, with each convolutional layer followed by an average pooling (subsampling) layer (S2 and S4) to reduce spatial dimensions and improve robustness. </a:t>
            </a:r>
          </a:p>
        </p:txBody>
      </p:sp>
      <p:pic>
        <p:nvPicPr>
          <p:cNvPr id="1026" name="Picture 2" descr="https://miro.medium.com/v2/resize:fit:700/1*lvvWF48t7cyRWqct13eU0w.jpe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4260" y="3955867"/>
            <a:ext cx="7343479" cy="22030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567062" y="6356412"/>
            <a:ext cx="72253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>
                <a:latin typeface="Arial Narrow" panose="020B0606020202030204" pitchFamily="34" charset="0"/>
              </a:rPr>
              <a:t>Image Source :</a:t>
            </a:r>
            <a:r>
              <a:rPr lang="en-IN" sz="1400" dirty="0"/>
              <a:t> </a:t>
            </a:r>
            <a:r>
              <a:rPr lang="en-IN" sz="1400" dirty="0">
                <a:hlinkClick r:id="rId3"/>
              </a:rPr>
              <a:t>https://</a:t>
            </a:r>
            <a:r>
              <a:rPr lang="en-IN" sz="1400" dirty="0">
                <a:latin typeface="Arial Narrow" panose="020B0606020202030204" pitchFamily="34" charset="0"/>
                <a:hlinkClick r:id="rId3"/>
              </a:rPr>
              <a:t>medium.datadriveninvestor.com/lenet-5-a-classic-cnn-architecture-c87d0b03560d</a:t>
            </a:r>
            <a:r>
              <a:rPr lang="en-IN" sz="1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289491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96AD2B-7AA6-4E3B-BE2A-D28F897A8F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43937"/>
            <a:ext cx="10515600" cy="2575131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GB" sz="2000" dirty="0">
                <a:latin typeface="Arial Narrow" panose="020B0606020202030204" pitchFamily="34" charset="0"/>
              </a:rPr>
              <a:t>After feature extraction, the network includes </a:t>
            </a:r>
            <a:r>
              <a:rPr lang="en-GB" sz="2000" dirty="0">
                <a:solidFill>
                  <a:srgbClr val="00B0F0"/>
                </a:solidFill>
                <a:latin typeface="Arial Narrow" panose="020B0606020202030204" pitchFamily="34" charset="0"/>
              </a:rPr>
              <a:t>a fully connected layer (C5)</a:t>
            </a:r>
            <a:r>
              <a:rPr lang="en-GB" sz="2000" dirty="0">
                <a:latin typeface="Arial Narrow" panose="020B0606020202030204" pitchFamily="34" charset="0"/>
              </a:rPr>
              <a:t>, </a:t>
            </a:r>
            <a:r>
              <a:rPr lang="en-GB" sz="2000" dirty="0">
                <a:solidFill>
                  <a:srgbClr val="00B0F0"/>
                </a:solidFill>
                <a:latin typeface="Arial Narrow" panose="020B0606020202030204" pitchFamily="34" charset="0"/>
              </a:rPr>
              <a:t>another fully connected layer (F6)</a:t>
            </a:r>
            <a:r>
              <a:rPr lang="en-GB" sz="2000" dirty="0">
                <a:latin typeface="Arial Narrow" panose="020B0606020202030204" pitchFamily="34" charset="0"/>
              </a:rPr>
              <a:t>, and </a:t>
            </a:r>
            <a:r>
              <a:rPr lang="en-GB" sz="2000" dirty="0">
                <a:solidFill>
                  <a:srgbClr val="00B0F0"/>
                </a:solidFill>
                <a:latin typeface="Arial Narrow" panose="020B0606020202030204" pitchFamily="34" charset="0"/>
              </a:rPr>
              <a:t>an output layer </a:t>
            </a:r>
            <a:r>
              <a:rPr lang="en-GB" sz="2000" dirty="0">
                <a:latin typeface="Arial Narrow" panose="020B0606020202030204" pitchFamily="34" charset="0"/>
              </a:rPr>
              <a:t>with 10 neurons representing the digit classes (0–9). </a:t>
            </a:r>
          </a:p>
          <a:p>
            <a:pPr algn="just"/>
            <a:endParaRPr lang="en-GB" sz="2000" dirty="0">
              <a:latin typeface="Arial Narrow" panose="020B0606020202030204" pitchFamily="34" charset="0"/>
            </a:endParaRPr>
          </a:p>
          <a:p>
            <a:pPr algn="just"/>
            <a:r>
              <a:rPr lang="en-GB" sz="2000" dirty="0" err="1">
                <a:latin typeface="Arial Narrow" panose="020B0606020202030204" pitchFamily="34" charset="0"/>
              </a:rPr>
              <a:t>LeNet</a:t>
            </a:r>
            <a:r>
              <a:rPr lang="en-GB" sz="2000" dirty="0">
                <a:latin typeface="Arial Narrow" panose="020B0606020202030204" pitchFamily="34" charset="0"/>
              </a:rPr>
              <a:t> employs the </a:t>
            </a:r>
            <a:r>
              <a:rPr lang="en-GB" sz="2000" dirty="0">
                <a:solidFill>
                  <a:srgbClr val="00B0F0"/>
                </a:solidFill>
                <a:latin typeface="Arial Narrow" panose="020B0606020202030204" pitchFamily="34" charset="0"/>
              </a:rPr>
              <a:t>sigmoid or hyperbolic tangent (tanh) </a:t>
            </a:r>
            <a:r>
              <a:rPr lang="en-GB" sz="2000" dirty="0">
                <a:latin typeface="Arial Narrow" panose="020B0606020202030204" pitchFamily="34" charset="0"/>
              </a:rPr>
              <a:t>activation functions and uses backpropagation for training. </a:t>
            </a:r>
          </a:p>
          <a:p>
            <a:pPr algn="just"/>
            <a:endParaRPr lang="en-GB" sz="2000" dirty="0">
              <a:latin typeface="Arial Narrow" panose="020B0606020202030204" pitchFamily="34" charset="0"/>
            </a:endParaRPr>
          </a:p>
          <a:p>
            <a:pPr algn="just"/>
            <a:r>
              <a:rPr lang="en-GB" sz="2000" dirty="0">
                <a:latin typeface="Arial Narrow" panose="020B0606020202030204" pitchFamily="34" charset="0"/>
              </a:rPr>
              <a:t>Its architecture demonstrated that </a:t>
            </a:r>
            <a:r>
              <a:rPr lang="en-GB" sz="2000" dirty="0">
                <a:solidFill>
                  <a:srgbClr val="00B0F0"/>
                </a:solidFill>
                <a:latin typeface="Arial Narrow" panose="020B0606020202030204" pitchFamily="34" charset="0"/>
              </a:rPr>
              <a:t>hierarchical feature learning </a:t>
            </a:r>
            <a:r>
              <a:rPr lang="en-GB" sz="2000" dirty="0">
                <a:latin typeface="Arial Narrow" panose="020B0606020202030204" pitchFamily="34" charset="0"/>
              </a:rPr>
              <a:t>through convolution and pooling could achieve high accuracy while </a:t>
            </a:r>
            <a:r>
              <a:rPr lang="en-GB" sz="2000" dirty="0">
                <a:solidFill>
                  <a:srgbClr val="00B0F0"/>
                </a:solidFill>
                <a:latin typeface="Arial Narrow" panose="020B0606020202030204" pitchFamily="34" charset="0"/>
              </a:rPr>
              <a:t>reducing the number of trainable parameters</a:t>
            </a:r>
            <a:r>
              <a:rPr lang="en-GB" sz="2000" dirty="0">
                <a:latin typeface="Arial Narrow" panose="020B0606020202030204" pitchFamily="34" charset="0"/>
              </a:rPr>
              <a:t>, making </a:t>
            </a:r>
            <a:r>
              <a:rPr lang="en-GB" sz="2000" dirty="0" err="1">
                <a:latin typeface="Arial Narrow" panose="020B0606020202030204" pitchFamily="34" charset="0"/>
              </a:rPr>
              <a:t>LeNet</a:t>
            </a:r>
            <a:r>
              <a:rPr lang="en-GB" sz="2000" dirty="0">
                <a:latin typeface="Arial Narrow" panose="020B0606020202030204" pitchFamily="34" charset="0"/>
              </a:rPr>
              <a:t> a foundational model that inspired modern deep convolutional neural networks.</a:t>
            </a:r>
          </a:p>
          <a:p>
            <a:endParaRPr lang="en-GB" dirty="0"/>
          </a:p>
        </p:txBody>
      </p:sp>
      <p:pic>
        <p:nvPicPr>
          <p:cNvPr id="4" name="Picture 2" descr="https://miro.medium.com/v2/resize:fit:700/1*lvvWF48t7cyRWqct13eU0w.jpeg">
            <a:extLst>
              <a:ext uri="{FF2B5EF4-FFF2-40B4-BE49-F238E27FC236}">
                <a16:creationId xmlns:a16="http://schemas.microsoft.com/office/drawing/2014/main" id="{A65CDB8B-D7A6-49BF-962F-6C30B4F562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4260" y="4311012"/>
            <a:ext cx="7343479" cy="22030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9D43AF4-3F23-455D-91CB-5BA6DD1B1F5A}"/>
              </a:ext>
            </a:extLst>
          </p:cNvPr>
          <p:cNvSpPr txBox="1"/>
          <p:nvPr/>
        </p:nvSpPr>
        <p:spPr>
          <a:xfrm>
            <a:off x="303112" y="6492875"/>
            <a:ext cx="72253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>
                <a:latin typeface="Arial Narrow" panose="020B0606020202030204" pitchFamily="34" charset="0"/>
              </a:rPr>
              <a:t>Image Source :</a:t>
            </a:r>
            <a:r>
              <a:rPr lang="en-IN" sz="1400" dirty="0"/>
              <a:t> </a:t>
            </a:r>
            <a:r>
              <a:rPr lang="en-IN" sz="1400" dirty="0">
                <a:hlinkClick r:id="rId3"/>
              </a:rPr>
              <a:t>https://</a:t>
            </a:r>
            <a:r>
              <a:rPr lang="en-IN" sz="1400" dirty="0">
                <a:latin typeface="Arial Narrow" panose="020B0606020202030204" pitchFamily="34" charset="0"/>
                <a:hlinkClick r:id="rId3"/>
              </a:rPr>
              <a:t>medium.datadriveninvestor.com/lenet-5-a-classic-cnn-architecture-c87d0b03560d</a:t>
            </a:r>
            <a:r>
              <a:rPr lang="en-IN" sz="1400" dirty="0"/>
              <a:t>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F4723A7-834D-440E-AB24-DBE0CFE0D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N" sz="3600" dirty="0" err="1">
                <a:latin typeface="Century" panose="02040604050505020304" pitchFamily="18" charset="0"/>
              </a:rPr>
              <a:t>LeNet</a:t>
            </a:r>
            <a:r>
              <a:rPr lang="en-IN" sz="3600" dirty="0">
                <a:latin typeface="Century" panose="02040604050505020304" pitchFamily="18" charset="0"/>
              </a:rPr>
              <a:t> – 5</a:t>
            </a:r>
            <a:br>
              <a:rPr lang="en-IN" sz="3600" dirty="0">
                <a:latin typeface="Century" panose="02040604050505020304" pitchFamily="18" charset="0"/>
              </a:rPr>
            </a:br>
            <a:r>
              <a:rPr lang="en-IN" sz="2800" dirty="0">
                <a:solidFill>
                  <a:srgbClr val="DE76E6"/>
                </a:solidFill>
                <a:latin typeface="Century" panose="02040604050505020304" pitchFamily="18" charset="0"/>
              </a:rPr>
              <a:t>[</a:t>
            </a:r>
            <a:r>
              <a:rPr lang="en-IN" sz="2800" dirty="0" err="1">
                <a:solidFill>
                  <a:srgbClr val="DE76E6"/>
                </a:solidFill>
                <a:latin typeface="Century" panose="02040604050505020304" pitchFamily="18" charset="0"/>
              </a:rPr>
              <a:t>LeCun</a:t>
            </a:r>
            <a:r>
              <a:rPr lang="en-IN" sz="2800" dirty="0">
                <a:solidFill>
                  <a:srgbClr val="DE76E6"/>
                </a:solidFill>
                <a:latin typeface="Century" panose="02040604050505020304" pitchFamily="18" charset="0"/>
              </a:rPr>
              <a:t> et al., 1998]</a:t>
            </a:r>
            <a:endParaRPr lang="en-IN" sz="4000" dirty="0">
              <a:solidFill>
                <a:srgbClr val="DE76E6"/>
              </a:solidFill>
              <a:latin typeface="Century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37762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35817"/>
            <a:ext cx="10515600" cy="724766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Century" panose="02040604050505020304" pitchFamily="18" charset="0"/>
              </a:rPr>
              <a:t>Padding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262206"/>
            <a:ext cx="10827327" cy="2395394"/>
          </a:xfrm>
        </p:spPr>
        <p:txBody>
          <a:bodyPr>
            <a:normAutofit fontScale="85000" lnSpcReduction="20000"/>
          </a:bodyPr>
          <a:lstStyle/>
          <a:p>
            <a:pPr algn="just">
              <a:lnSpc>
                <a:spcPct val="110000"/>
              </a:lnSpc>
            </a:pPr>
            <a:r>
              <a:rPr lang="en-US" dirty="0">
                <a:latin typeface="Arial Narrow" panose="020B0606020202030204" pitchFamily="34" charset="0"/>
              </a:rPr>
              <a:t>Padding in a Convolutional Neural Network (CNN) is the process of </a:t>
            </a: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</a:rPr>
              <a:t>adding extra pixels (typically zeros) around the border </a:t>
            </a:r>
            <a:r>
              <a:rPr lang="en-US" dirty="0">
                <a:latin typeface="Arial Narrow" panose="020B0606020202030204" pitchFamily="34" charset="0"/>
              </a:rPr>
              <a:t>of an input image or feature map before applying convolution.</a:t>
            </a:r>
          </a:p>
          <a:p>
            <a:pPr algn="just">
              <a:lnSpc>
                <a:spcPct val="110000"/>
              </a:lnSpc>
            </a:pPr>
            <a:endParaRPr lang="en-US" dirty="0">
              <a:solidFill>
                <a:srgbClr val="7030A0"/>
              </a:solidFill>
              <a:latin typeface="Arial Narrow" panose="020B0606020202030204" pitchFamily="34" charset="0"/>
            </a:endParaRPr>
          </a:p>
          <a:p>
            <a:pPr algn="just">
              <a:lnSpc>
                <a:spcPct val="110000"/>
              </a:lnSpc>
            </a:pP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</a:rPr>
              <a:t>Prevents rapid reduction in spatial dimensions 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</a:rPr>
              <a:t>and preserves </a:t>
            </a:r>
            <a:r>
              <a:rPr lang="en-US" dirty="0">
                <a:latin typeface="Arial Narrow" panose="020B0606020202030204" pitchFamily="34" charset="0"/>
              </a:rPr>
              <a:t>important information at the image boundaries.</a:t>
            </a:r>
            <a:endParaRPr lang="en-IN" dirty="0">
              <a:latin typeface="Arial Narrow" panose="020B0606020202030204" pitchFamily="34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5EAA12E-B26E-4D90-A002-260EF2FDCF73}"/>
              </a:ext>
            </a:extLst>
          </p:cNvPr>
          <p:cNvGrpSpPr/>
          <p:nvPr/>
        </p:nvGrpSpPr>
        <p:grpSpPr>
          <a:xfrm>
            <a:off x="830282" y="4496264"/>
            <a:ext cx="1171575" cy="942973"/>
            <a:chOff x="6119814" y="2171695"/>
            <a:chExt cx="1171575" cy="94297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ECDB2CF-A27F-4E68-87BC-3105DF8ED7CE}"/>
                </a:ext>
              </a:extLst>
            </p:cNvPr>
            <p:cNvSpPr/>
            <p:nvPr/>
          </p:nvSpPr>
          <p:spPr>
            <a:xfrm>
              <a:off x="6119814" y="2171697"/>
              <a:ext cx="390525" cy="314325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D538DFD-50C6-4E5D-8385-21E764B95743}"/>
                </a:ext>
              </a:extLst>
            </p:cNvPr>
            <p:cNvSpPr/>
            <p:nvPr/>
          </p:nvSpPr>
          <p:spPr>
            <a:xfrm>
              <a:off x="6510339" y="2171695"/>
              <a:ext cx="390525" cy="314325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78C29C7-F2D4-4830-9DD4-8DB5F24B7A28}"/>
                </a:ext>
              </a:extLst>
            </p:cNvPr>
            <p:cNvSpPr/>
            <p:nvPr/>
          </p:nvSpPr>
          <p:spPr>
            <a:xfrm>
              <a:off x="6900864" y="2171695"/>
              <a:ext cx="390525" cy="314325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BEAB2E4-AA41-4F3F-96E0-C3E002AFFD12}"/>
                </a:ext>
              </a:extLst>
            </p:cNvPr>
            <p:cNvSpPr/>
            <p:nvPr/>
          </p:nvSpPr>
          <p:spPr>
            <a:xfrm>
              <a:off x="6119814" y="2486022"/>
              <a:ext cx="390525" cy="314325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7ED22A3-6E7F-45F5-B3C6-D046C85D0BD1}"/>
                </a:ext>
              </a:extLst>
            </p:cNvPr>
            <p:cNvSpPr/>
            <p:nvPr/>
          </p:nvSpPr>
          <p:spPr>
            <a:xfrm>
              <a:off x="6510339" y="2486020"/>
              <a:ext cx="390525" cy="314325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2ED2D12-246D-4F46-B7D6-29C897F29B74}"/>
                </a:ext>
              </a:extLst>
            </p:cNvPr>
            <p:cNvSpPr/>
            <p:nvPr/>
          </p:nvSpPr>
          <p:spPr>
            <a:xfrm>
              <a:off x="6900864" y="2486020"/>
              <a:ext cx="390525" cy="314325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58F1D1B-CF5B-40E7-84DA-A036091557E0}"/>
                </a:ext>
              </a:extLst>
            </p:cNvPr>
            <p:cNvSpPr/>
            <p:nvPr/>
          </p:nvSpPr>
          <p:spPr>
            <a:xfrm>
              <a:off x="6119814" y="2800340"/>
              <a:ext cx="390525" cy="314325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C33B3E0-99C4-4DD6-A08D-28B893A7373E}"/>
                </a:ext>
              </a:extLst>
            </p:cNvPr>
            <p:cNvSpPr/>
            <p:nvPr/>
          </p:nvSpPr>
          <p:spPr>
            <a:xfrm>
              <a:off x="6510339" y="2800342"/>
              <a:ext cx="390525" cy="314325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FD27CA3-9CCC-471E-88D3-8516C624397B}"/>
                </a:ext>
              </a:extLst>
            </p:cNvPr>
            <p:cNvSpPr/>
            <p:nvPr/>
          </p:nvSpPr>
          <p:spPr>
            <a:xfrm>
              <a:off x="6900864" y="2800343"/>
              <a:ext cx="390525" cy="314325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B2A8915A-D5C7-43BB-80DA-3C75C42B0465}"/>
              </a:ext>
            </a:extLst>
          </p:cNvPr>
          <p:cNvSpPr/>
          <p:nvPr/>
        </p:nvSpPr>
        <p:spPr>
          <a:xfrm>
            <a:off x="3027000" y="4496263"/>
            <a:ext cx="390525" cy="3143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206110E-1A5E-4F3B-B604-B45D4126C423}"/>
              </a:ext>
            </a:extLst>
          </p:cNvPr>
          <p:cNvSpPr/>
          <p:nvPr/>
        </p:nvSpPr>
        <p:spPr>
          <a:xfrm>
            <a:off x="3417525" y="4496261"/>
            <a:ext cx="390525" cy="3143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0211A58-DF5E-4AE3-B6A9-BB345158737F}"/>
              </a:ext>
            </a:extLst>
          </p:cNvPr>
          <p:cNvSpPr/>
          <p:nvPr/>
        </p:nvSpPr>
        <p:spPr>
          <a:xfrm>
            <a:off x="3808050" y="4496261"/>
            <a:ext cx="390525" cy="3143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8918DFA-2527-4CB8-9743-6F75686DDFBD}"/>
              </a:ext>
            </a:extLst>
          </p:cNvPr>
          <p:cNvSpPr/>
          <p:nvPr/>
        </p:nvSpPr>
        <p:spPr>
          <a:xfrm>
            <a:off x="3027000" y="4810588"/>
            <a:ext cx="390525" cy="3143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6006521-9A5C-4B12-AD07-7186304DCF54}"/>
              </a:ext>
            </a:extLst>
          </p:cNvPr>
          <p:cNvSpPr/>
          <p:nvPr/>
        </p:nvSpPr>
        <p:spPr>
          <a:xfrm>
            <a:off x="3417525" y="4810586"/>
            <a:ext cx="390525" cy="3143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302CBDF-2889-4C38-BE23-091FF239E6DB}"/>
              </a:ext>
            </a:extLst>
          </p:cNvPr>
          <p:cNvSpPr/>
          <p:nvPr/>
        </p:nvSpPr>
        <p:spPr>
          <a:xfrm>
            <a:off x="3808050" y="4810586"/>
            <a:ext cx="390525" cy="3143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26C01D0-93BE-4E34-BC7F-73AEE2E09C91}"/>
              </a:ext>
            </a:extLst>
          </p:cNvPr>
          <p:cNvSpPr/>
          <p:nvPr/>
        </p:nvSpPr>
        <p:spPr>
          <a:xfrm>
            <a:off x="3027000" y="5124906"/>
            <a:ext cx="390525" cy="3143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E7F21ED-8C45-4E2D-8E44-428353D98860}"/>
              </a:ext>
            </a:extLst>
          </p:cNvPr>
          <p:cNvSpPr/>
          <p:nvPr/>
        </p:nvSpPr>
        <p:spPr>
          <a:xfrm>
            <a:off x="3417525" y="5124908"/>
            <a:ext cx="390525" cy="3143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620BD11-9038-4B11-AC37-A905F00D38B5}"/>
              </a:ext>
            </a:extLst>
          </p:cNvPr>
          <p:cNvSpPr/>
          <p:nvPr/>
        </p:nvSpPr>
        <p:spPr>
          <a:xfrm>
            <a:off x="3808050" y="5124909"/>
            <a:ext cx="390525" cy="3143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A9A5AE0-3D03-4323-9E30-BCF2D73DE6BA}"/>
              </a:ext>
            </a:extLst>
          </p:cNvPr>
          <p:cNvSpPr/>
          <p:nvPr/>
        </p:nvSpPr>
        <p:spPr>
          <a:xfrm>
            <a:off x="5033639" y="4224839"/>
            <a:ext cx="390525" cy="3143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1B227B7-4524-4707-A582-B450375EF6C5}"/>
              </a:ext>
            </a:extLst>
          </p:cNvPr>
          <p:cNvSpPr/>
          <p:nvPr/>
        </p:nvSpPr>
        <p:spPr>
          <a:xfrm>
            <a:off x="5424164" y="4224837"/>
            <a:ext cx="390525" cy="3143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EC32EF9-66A8-4DEA-81B7-53FD8D80E3AA}"/>
              </a:ext>
            </a:extLst>
          </p:cNvPr>
          <p:cNvSpPr/>
          <p:nvPr/>
        </p:nvSpPr>
        <p:spPr>
          <a:xfrm>
            <a:off x="5033639" y="4539164"/>
            <a:ext cx="390525" cy="3143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C6FEF6A-FC5C-43D6-A5D8-E38EBE2D5992}"/>
              </a:ext>
            </a:extLst>
          </p:cNvPr>
          <p:cNvSpPr/>
          <p:nvPr/>
        </p:nvSpPr>
        <p:spPr>
          <a:xfrm>
            <a:off x="5814689" y="4224813"/>
            <a:ext cx="390525" cy="3143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64A903B-BDE5-41A6-A965-41A9763E87CD}"/>
              </a:ext>
            </a:extLst>
          </p:cNvPr>
          <p:cNvSpPr/>
          <p:nvPr/>
        </p:nvSpPr>
        <p:spPr>
          <a:xfrm>
            <a:off x="6205214" y="4224811"/>
            <a:ext cx="390525" cy="3143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52F5ED1-9F58-4FCD-8A74-F6A2C3FC3F00}"/>
              </a:ext>
            </a:extLst>
          </p:cNvPr>
          <p:cNvSpPr/>
          <p:nvPr/>
        </p:nvSpPr>
        <p:spPr>
          <a:xfrm>
            <a:off x="6595739" y="4224810"/>
            <a:ext cx="390525" cy="3143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2D91F8E-5503-49C9-9260-AD89BB8B099B}"/>
              </a:ext>
            </a:extLst>
          </p:cNvPr>
          <p:cNvSpPr/>
          <p:nvPr/>
        </p:nvSpPr>
        <p:spPr>
          <a:xfrm>
            <a:off x="5028876" y="4853456"/>
            <a:ext cx="390525" cy="3143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42C3371-CD77-43D1-BA5B-A84C78204856}"/>
              </a:ext>
            </a:extLst>
          </p:cNvPr>
          <p:cNvSpPr/>
          <p:nvPr/>
        </p:nvSpPr>
        <p:spPr>
          <a:xfrm>
            <a:off x="5033639" y="5167768"/>
            <a:ext cx="390525" cy="3143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9689D2A-17D0-4EA8-822D-3502B12DA8C4}"/>
              </a:ext>
            </a:extLst>
          </p:cNvPr>
          <p:cNvSpPr/>
          <p:nvPr/>
        </p:nvSpPr>
        <p:spPr>
          <a:xfrm>
            <a:off x="5033639" y="5482093"/>
            <a:ext cx="390525" cy="3143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94836EC-F02A-4ACA-B139-72D33F1E3E5B}"/>
              </a:ext>
            </a:extLst>
          </p:cNvPr>
          <p:cNvSpPr/>
          <p:nvPr/>
        </p:nvSpPr>
        <p:spPr>
          <a:xfrm>
            <a:off x="6595739" y="4539164"/>
            <a:ext cx="390525" cy="3143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7544C99-0092-4D82-8B48-E495F8D9F084}"/>
              </a:ext>
            </a:extLst>
          </p:cNvPr>
          <p:cNvSpPr/>
          <p:nvPr/>
        </p:nvSpPr>
        <p:spPr>
          <a:xfrm>
            <a:off x="6590976" y="4853456"/>
            <a:ext cx="390525" cy="3143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106085F-F3DD-4299-8761-AF898A7E36AD}"/>
              </a:ext>
            </a:extLst>
          </p:cNvPr>
          <p:cNvSpPr/>
          <p:nvPr/>
        </p:nvSpPr>
        <p:spPr>
          <a:xfrm>
            <a:off x="6595739" y="5167768"/>
            <a:ext cx="390525" cy="3143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D9325B84-2EB6-4E2D-8372-148248617672}"/>
              </a:ext>
            </a:extLst>
          </p:cNvPr>
          <p:cNvSpPr/>
          <p:nvPr/>
        </p:nvSpPr>
        <p:spPr>
          <a:xfrm>
            <a:off x="6595739" y="5482093"/>
            <a:ext cx="390525" cy="3143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E18CCE23-DA46-402B-9E82-26AC884F21F6}"/>
              </a:ext>
            </a:extLst>
          </p:cNvPr>
          <p:cNvSpPr/>
          <p:nvPr/>
        </p:nvSpPr>
        <p:spPr>
          <a:xfrm>
            <a:off x="5424164" y="5482121"/>
            <a:ext cx="390525" cy="3143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507C719-7C8E-4466-A219-EFA3DB159618}"/>
              </a:ext>
            </a:extLst>
          </p:cNvPr>
          <p:cNvSpPr/>
          <p:nvPr/>
        </p:nvSpPr>
        <p:spPr>
          <a:xfrm>
            <a:off x="5814689" y="5482097"/>
            <a:ext cx="390525" cy="3143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0D5AED8C-26F0-4F3E-8359-284C269B08B5}"/>
              </a:ext>
            </a:extLst>
          </p:cNvPr>
          <p:cNvSpPr/>
          <p:nvPr/>
        </p:nvSpPr>
        <p:spPr>
          <a:xfrm>
            <a:off x="6205214" y="5482095"/>
            <a:ext cx="390525" cy="3143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C8E4AF97-EB76-41D0-A17B-3FD2FC551C95}"/>
              </a:ext>
            </a:extLst>
          </p:cNvPr>
          <p:cNvSpPr/>
          <p:nvPr/>
        </p:nvSpPr>
        <p:spPr>
          <a:xfrm>
            <a:off x="2228368" y="4810586"/>
            <a:ext cx="3593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©</a:t>
            </a:r>
            <a:endParaRPr lang="en-GB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9F5F688-7309-4542-B39D-B0FF7FD28B88}"/>
              </a:ext>
            </a:extLst>
          </p:cNvPr>
          <p:cNvSpPr/>
          <p:nvPr/>
        </p:nvSpPr>
        <p:spPr>
          <a:xfrm rot="5400000">
            <a:off x="4334756" y="4791460"/>
            <a:ext cx="30473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Arial Narrow" panose="020B0606020202030204" pitchFamily="34" charset="0"/>
                <a:cs typeface="Times New Roman" panose="02020603050405020304" pitchFamily="18" charset="0"/>
              </a:rPr>
              <a:t>||</a:t>
            </a:r>
            <a:endParaRPr lang="en-GB" dirty="0">
              <a:latin typeface="Arial Narrow" panose="020B0606020202030204" pitchFamily="34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774621B-431C-4774-BBF8-E5225D91EA91}"/>
              </a:ext>
            </a:extLst>
          </p:cNvPr>
          <p:cNvSpPr txBox="1"/>
          <p:nvPr/>
        </p:nvSpPr>
        <p:spPr>
          <a:xfrm>
            <a:off x="1167905" y="5384220"/>
            <a:ext cx="7024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Arial Narrow" panose="020B0606020202030204" pitchFamily="34" charset="0"/>
                <a:cs typeface="Times New Roman" panose="02020603050405020304" pitchFamily="18" charset="0"/>
              </a:rPr>
              <a:t>3x3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A84441A-2F7F-432F-AFD6-84E9B1E0D127}"/>
              </a:ext>
            </a:extLst>
          </p:cNvPr>
          <p:cNvSpPr txBox="1"/>
          <p:nvPr/>
        </p:nvSpPr>
        <p:spPr>
          <a:xfrm>
            <a:off x="3300845" y="5495113"/>
            <a:ext cx="7024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Arial Narrow" panose="020B0606020202030204" pitchFamily="34" charset="0"/>
                <a:cs typeface="Times New Roman" panose="02020603050405020304" pitchFamily="18" charset="0"/>
              </a:rPr>
              <a:t>3x3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A9ECBB6-EB0A-4A37-9D44-0BDC14761F26}"/>
              </a:ext>
            </a:extLst>
          </p:cNvPr>
          <p:cNvSpPr txBox="1"/>
          <p:nvPr/>
        </p:nvSpPr>
        <p:spPr>
          <a:xfrm>
            <a:off x="5785790" y="5839971"/>
            <a:ext cx="7024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Arial Narrow" panose="020B0606020202030204" pitchFamily="34" charset="0"/>
                <a:cs typeface="Times New Roman" panose="02020603050405020304" pitchFamily="18" charset="0"/>
              </a:rPr>
              <a:t>5x5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6F470675-3874-4E6B-B061-F01EFDC03F7A}"/>
              </a:ext>
            </a:extLst>
          </p:cNvPr>
          <p:cNvSpPr/>
          <p:nvPr/>
        </p:nvSpPr>
        <p:spPr>
          <a:xfrm>
            <a:off x="9036968" y="4416513"/>
            <a:ext cx="390525" cy="314325"/>
          </a:xfrm>
          <a:prstGeom prst="rect">
            <a:avLst/>
          </a:prstGeom>
          <a:solidFill>
            <a:schemeClr val="accent2">
              <a:lumMod val="75000"/>
              <a:alpha val="39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C4EF378C-0082-4FF2-B7B0-6584418FEF50}"/>
              </a:ext>
            </a:extLst>
          </p:cNvPr>
          <p:cNvSpPr/>
          <p:nvPr/>
        </p:nvSpPr>
        <p:spPr>
          <a:xfrm>
            <a:off x="9427493" y="4416511"/>
            <a:ext cx="390525" cy="314325"/>
          </a:xfrm>
          <a:prstGeom prst="rect">
            <a:avLst/>
          </a:prstGeom>
          <a:solidFill>
            <a:schemeClr val="accent2">
              <a:lumMod val="75000"/>
              <a:alpha val="39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30DB4B32-887F-4DAC-9132-7987EE7375D7}"/>
              </a:ext>
            </a:extLst>
          </p:cNvPr>
          <p:cNvSpPr/>
          <p:nvPr/>
        </p:nvSpPr>
        <p:spPr>
          <a:xfrm>
            <a:off x="9818018" y="4416511"/>
            <a:ext cx="390525" cy="314325"/>
          </a:xfrm>
          <a:prstGeom prst="rect">
            <a:avLst/>
          </a:prstGeom>
          <a:solidFill>
            <a:schemeClr val="accent2">
              <a:lumMod val="75000"/>
              <a:alpha val="39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3D793DFC-139E-4825-8407-F95088C5D4F8}"/>
              </a:ext>
            </a:extLst>
          </p:cNvPr>
          <p:cNvSpPr/>
          <p:nvPr/>
        </p:nvSpPr>
        <p:spPr>
          <a:xfrm>
            <a:off x="9036968" y="4730838"/>
            <a:ext cx="390525" cy="314325"/>
          </a:xfrm>
          <a:prstGeom prst="rect">
            <a:avLst/>
          </a:prstGeom>
          <a:solidFill>
            <a:schemeClr val="accent2">
              <a:lumMod val="75000"/>
              <a:alpha val="39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CA6A27FC-550E-4278-8550-648279D3279C}"/>
              </a:ext>
            </a:extLst>
          </p:cNvPr>
          <p:cNvSpPr/>
          <p:nvPr/>
        </p:nvSpPr>
        <p:spPr>
          <a:xfrm>
            <a:off x="9427493" y="4730836"/>
            <a:ext cx="390525" cy="314325"/>
          </a:xfrm>
          <a:prstGeom prst="rect">
            <a:avLst/>
          </a:prstGeom>
          <a:solidFill>
            <a:schemeClr val="accent2">
              <a:lumMod val="75000"/>
              <a:alpha val="39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B5AA4CC4-3B86-4581-BB85-7390D1E829A7}"/>
              </a:ext>
            </a:extLst>
          </p:cNvPr>
          <p:cNvSpPr/>
          <p:nvPr/>
        </p:nvSpPr>
        <p:spPr>
          <a:xfrm>
            <a:off x="9818018" y="4730836"/>
            <a:ext cx="390525" cy="314325"/>
          </a:xfrm>
          <a:prstGeom prst="rect">
            <a:avLst/>
          </a:prstGeom>
          <a:solidFill>
            <a:schemeClr val="accent2">
              <a:lumMod val="75000"/>
              <a:alpha val="39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2F082F38-9F2B-4540-8A0A-CA1023B2F6E7}"/>
              </a:ext>
            </a:extLst>
          </p:cNvPr>
          <p:cNvSpPr/>
          <p:nvPr/>
        </p:nvSpPr>
        <p:spPr>
          <a:xfrm>
            <a:off x="9036968" y="5045156"/>
            <a:ext cx="390525" cy="314325"/>
          </a:xfrm>
          <a:prstGeom prst="rect">
            <a:avLst/>
          </a:prstGeom>
          <a:solidFill>
            <a:schemeClr val="accent2">
              <a:lumMod val="75000"/>
              <a:alpha val="39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1D3D2366-DFE6-4C08-8CFB-E28C82EAF378}"/>
              </a:ext>
            </a:extLst>
          </p:cNvPr>
          <p:cNvSpPr/>
          <p:nvPr/>
        </p:nvSpPr>
        <p:spPr>
          <a:xfrm>
            <a:off x="9427493" y="5045158"/>
            <a:ext cx="390525" cy="314325"/>
          </a:xfrm>
          <a:prstGeom prst="rect">
            <a:avLst/>
          </a:prstGeom>
          <a:solidFill>
            <a:schemeClr val="accent2">
              <a:lumMod val="75000"/>
              <a:alpha val="39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DAAE2A38-626E-46D7-A640-E1DFB5AD5FAD}"/>
              </a:ext>
            </a:extLst>
          </p:cNvPr>
          <p:cNvSpPr/>
          <p:nvPr/>
        </p:nvSpPr>
        <p:spPr>
          <a:xfrm>
            <a:off x="9818018" y="5045159"/>
            <a:ext cx="390525" cy="314325"/>
          </a:xfrm>
          <a:prstGeom prst="rect">
            <a:avLst/>
          </a:prstGeom>
          <a:solidFill>
            <a:schemeClr val="accent2">
              <a:lumMod val="75000"/>
              <a:alpha val="39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0AC7A388-9B9A-4981-AF94-07A5D7F1AC9F}"/>
              </a:ext>
            </a:extLst>
          </p:cNvPr>
          <p:cNvSpPr txBox="1"/>
          <p:nvPr/>
        </p:nvSpPr>
        <p:spPr>
          <a:xfrm>
            <a:off x="9136088" y="4390271"/>
            <a:ext cx="1922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059FDC3-6F98-4559-9B5E-68D5778EFA42}"/>
              </a:ext>
            </a:extLst>
          </p:cNvPr>
          <p:cNvSpPr txBox="1"/>
          <p:nvPr/>
        </p:nvSpPr>
        <p:spPr>
          <a:xfrm>
            <a:off x="9517088" y="4390271"/>
            <a:ext cx="1922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F19CA5D-E59A-4B08-B4DB-0A23F3A683E7}"/>
              </a:ext>
            </a:extLst>
          </p:cNvPr>
          <p:cNvSpPr txBox="1"/>
          <p:nvPr/>
        </p:nvSpPr>
        <p:spPr>
          <a:xfrm>
            <a:off x="9917138" y="4383998"/>
            <a:ext cx="1922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53BA1A19-3044-43E9-B28F-37B00FB039F4}"/>
              </a:ext>
            </a:extLst>
          </p:cNvPr>
          <p:cNvSpPr txBox="1"/>
          <p:nvPr/>
        </p:nvSpPr>
        <p:spPr>
          <a:xfrm>
            <a:off x="9143829" y="4715666"/>
            <a:ext cx="1922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53B71C3-040C-4D98-94E2-76AA6B51293D}"/>
              </a:ext>
            </a:extLst>
          </p:cNvPr>
          <p:cNvSpPr txBox="1"/>
          <p:nvPr/>
        </p:nvSpPr>
        <p:spPr>
          <a:xfrm>
            <a:off x="9136088" y="5028807"/>
            <a:ext cx="1922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66746F42-DA7D-44E5-A300-326601F5D68B}"/>
              </a:ext>
            </a:extLst>
          </p:cNvPr>
          <p:cNvSpPr txBox="1"/>
          <p:nvPr/>
        </p:nvSpPr>
        <p:spPr>
          <a:xfrm>
            <a:off x="5150320" y="4182617"/>
            <a:ext cx="1922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5E3EC73E-1056-4785-8AE3-2FCA1FC1E2A0}"/>
              </a:ext>
            </a:extLst>
          </p:cNvPr>
          <p:cNvSpPr txBox="1"/>
          <p:nvPr/>
        </p:nvSpPr>
        <p:spPr>
          <a:xfrm>
            <a:off x="5158061" y="4508012"/>
            <a:ext cx="1922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5FF0FA3D-A1FA-49EF-A107-781620F17234}"/>
              </a:ext>
            </a:extLst>
          </p:cNvPr>
          <p:cNvSpPr txBox="1"/>
          <p:nvPr/>
        </p:nvSpPr>
        <p:spPr>
          <a:xfrm>
            <a:off x="5159845" y="4821153"/>
            <a:ext cx="1922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9E4E7F3-000A-4239-B905-DEE49CDE2FDA}"/>
              </a:ext>
            </a:extLst>
          </p:cNvPr>
          <p:cNvSpPr txBox="1"/>
          <p:nvPr/>
        </p:nvSpPr>
        <p:spPr>
          <a:xfrm>
            <a:off x="5535791" y="4186438"/>
            <a:ext cx="1922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577E8CB5-2FAF-410B-BBED-6EBB494D584F}"/>
              </a:ext>
            </a:extLst>
          </p:cNvPr>
          <p:cNvSpPr txBox="1"/>
          <p:nvPr/>
        </p:nvSpPr>
        <p:spPr>
          <a:xfrm>
            <a:off x="5916791" y="4186438"/>
            <a:ext cx="1922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A38CFB8C-AA79-43EF-A6E1-D3AC0D358A91}"/>
              </a:ext>
            </a:extLst>
          </p:cNvPr>
          <p:cNvSpPr txBox="1"/>
          <p:nvPr/>
        </p:nvSpPr>
        <p:spPr>
          <a:xfrm>
            <a:off x="6316841" y="4180165"/>
            <a:ext cx="1922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C5530B3-3CAA-404D-8703-296539552759}"/>
              </a:ext>
            </a:extLst>
          </p:cNvPr>
          <p:cNvSpPr txBox="1"/>
          <p:nvPr/>
        </p:nvSpPr>
        <p:spPr>
          <a:xfrm>
            <a:off x="5180051" y="5113945"/>
            <a:ext cx="1488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2F9F9C88-EC85-4823-A0F9-2905CB5F80F5}"/>
              </a:ext>
            </a:extLst>
          </p:cNvPr>
          <p:cNvSpPr txBox="1"/>
          <p:nvPr/>
        </p:nvSpPr>
        <p:spPr>
          <a:xfrm>
            <a:off x="5162785" y="5436611"/>
            <a:ext cx="1922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956A855C-A7C9-4D4C-8C26-318AA848D401}"/>
              </a:ext>
            </a:extLst>
          </p:cNvPr>
          <p:cNvSpPr txBox="1"/>
          <p:nvPr/>
        </p:nvSpPr>
        <p:spPr>
          <a:xfrm>
            <a:off x="6694898" y="4194453"/>
            <a:ext cx="1922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20F1D7DB-0C3F-45CF-9653-231666024040}"/>
              </a:ext>
            </a:extLst>
          </p:cNvPr>
          <p:cNvSpPr txBox="1"/>
          <p:nvPr/>
        </p:nvSpPr>
        <p:spPr>
          <a:xfrm>
            <a:off x="6702639" y="4519848"/>
            <a:ext cx="1922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9E3AECFA-7BF5-4BD4-846F-11FDB0DE46A2}"/>
              </a:ext>
            </a:extLst>
          </p:cNvPr>
          <p:cNvSpPr txBox="1"/>
          <p:nvPr/>
        </p:nvSpPr>
        <p:spPr>
          <a:xfrm>
            <a:off x="6704423" y="4832989"/>
            <a:ext cx="1922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C304F341-B337-4A2C-BF51-BB1FAE455B3E}"/>
              </a:ext>
            </a:extLst>
          </p:cNvPr>
          <p:cNvSpPr txBox="1"/>
          <p:nvPr/>
        </p:nvSpPr>
        <p:spPr>
          <a:xfrm>
            <a:off x="6724629" y="5125781"/>
            <a:ext cx="1488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86E9A70E-76E8-43A0-A05F-7E3A090C9FE4}"/>
              </a:ext>
            </a:extLst>
          </p:cNvPr>
          <p:cNvSpPr txBox="1"/>
          <p:nvPr/>
        </p:nvSpPr>
        <p:spPr>
          <a:xfrm>
            <a:off x="6707363" y="5448447"/>
            <a:ext cx="1922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1F65B153-8502-4339-893F-A77E865063A4}"/>
              </a:ext>
            </a:extLst>
          </p:cNvPr>
          <p:cNvSpPr txBox="1"/>
          <p:nvPr/>
        </p:nvSpPr>
        <p:spPr>
          <a:xfrm>
            <a:off x="6334104" y="5439231"/>
            <a:ext cx="1922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B7E89055-8609-4BA8-93C7-AC904435755A}"/>
              </a:ext>
            </a:extLst>
          </p:cNvPr>
          <p:cNvSpPr txBox="1"/>
          <p:nvPr/>
        </p:nvSpPr>
        <p:spPr>
          <a:xfrm>
            <a:off x="5981233" y="5436611"/>
            <a:ext cx="1922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66F9D72A-D069-4CA5-9001-0A8B58786A80}"/>
              </a:ext>
            </a:extLst>
          </p:cNvPr>
          <p:cNvSpPr txBox="1"/>
          <p:nvPr/>
        </p:nvSpPr>
        <p:spPr>
          <a:xfrm>
            <a:off x="5548293" y="5448447"/>
            <a:ext cx="1922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95EAA12E-B26E-4D90-A002-260EF2FDCF73}"/>
              </a:ext>
            </a:extLst>
          </p:cNvPr>
          <p:cNvGrpSpPr/>
          <p:nvPr/>
        </p:nvGrpSpPr>
        <p:grpSpPr>
          <a:xfrm>
            <a:off x="9433449" y="4735454"/>
            <a:ext cx="1171575" cy="942973"/>
            <a:chOff x="6119814" y="2171695"/>
            <a:chExt cx="1171575" cy="942973"/>
          </a:xfrm>
        </p:grpSpPr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0ECDB2CF-A27F-4E68-87BC-3105DF8ED7CE}"/>
                </a:ext>
              </a:extLst>
            </p:cNvPr>
            <p:cNvSpPr/>
            <p:nvPr/>
          </p:nvSpPr>
          <p:spPr>
            <a:xfrm>
              <a:off x="6119814" y="2171697"/>
              <a:ext cx="390525" cy="314325"/>
            </a:xfrm>
            <a:prstGeom prst="rect">
              <a:avLst/>
            </a:prstGeom>
            <a:solidFill>
              <a:schemeClr val="accent6">
                <a:lumMod val="60000"/>
                <a:lumOff val="40000"/>
                <a:alpha val="4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FD538DFD-50C6-4E5D-8385-21E764B95743}"/>
                </a:ext>
              </a:extLst>
            </p:cNvPr>
            <p:cNvSpPr/>
            <p:nvPr/>
          </p:nvSpPr>
          <p:spPr>
            <a:xfrm>
              <a:off x="6510339" y="2171695"/>
              <a:ext cx="390525" cy="314325"/>
            </a:xfrm>
            <a:prstGeom prst="rect">
              <a:avLst/>
            </a:prstGeom>
            <a:solidFill>
              <a:schemeClr val="accent6">
                <a:lumMod val="60000"/>
                <a:lumOff val="40000"/>
                <a:alpha val="4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378C29C7-F2D4-4830-9DD4-8DB5F24B7A28}"/>
                </a:ext>
              </a:extLst>
            </p:cNvPr>
            <p:cNvSpPr/>
            <p:nvPr/>
          </p:nvSpPr>
          <p:spPr>
            <a:xfrm>
              <a:off x="6900864" y="2171695"/>
              <a:ext cx="390525" cy="314325"/>
            </a:xfrm>
            <a:prstGeom prst="rect">
              <a:avLst/>
            </a:prstGeom>
            <a:solidFill>
              <a:schemeClr val="accent6">
                <a:lumMod val="60000"/>
                <a:lumOff val="40000"/>
                <a:alpha val="4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8BEAB2E4-AA41-4F3F-96E0-C3E002AFFD12}"/>
                </a:ext>
              </a:extLst>
            </p:cNvPr>
            <p:cNvSpPr/>
            <p:nvPr/>
          </p:nvSpPr>
          <p:spPr>
            <a:xfrm>
              <a:off x="6119814" y="2486022"/>
              <a:ext cx="390525" cy="314325"/>
            </a:xfrm>
            <a:prstGeom prst="rect">
              <a:avLst/>
            </a:prstGeom>
            <a:solidFill>
              <a:schemeClr val="accent6">
                <a:lumMod val="60000"/>
                <a:lumOff val="40000"/>
                <a:alpha val="4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07ED22A3-6E7F-45F5-B3C6-D046C85D0BD1}"/>
                </a:ext>
              </a:extLst>
            </p:cNvPr>
            <p:cNvSpPr/>
            <p:nvPr/>
          </p:nvSpPr>
          <p:spPr>
            <a:xfrm>
              <a:off x="6510339" y="2486020"/>
              <a:ext cx="390525" cy="314325"/>
            </a:xfrm>
            <a:prstGeom prst="rect">
              <a:avLst/>
            </a:prstGeom>
            <a:solidFill>
              <a:schemeClr val="accent6">
                <a:lumMod val="60000"/>
                <a:lumOff val="40000"/>
                <a:alpha val="4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02ED2D12-246D-4F46-B7D6-29C897F29B74}"/>
                </a:ext>
              </a:extLst>
            </p:cNvPr>
            <p:cNvSpPr/>
            <p:nvPr/>
          </p:nvSpPr>
          <p:spPr>
            <a:xfrm>
              <a:off x="6900864" y="2486020"/>
              <a:ext cx="390525" cy="314325"/>
            </a:xfrm>
            <a:prstGeom prst="rect">
              <a:avLst/>
            </a:prstGeom>
            <a:solidFill>
              <a:schemeClr val="accent6">
                <a:lumMod val="60000"/>
                <a:lumOff val="40000"/>
                <a:alpha val="4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958F1D1B-CF5B-40E7-84DA-A036091557E0}"/>
                </a:ext>
              </a:extLst>
            </p:cNvPr>
            <p:cNvSpPr/>
            <p:nvPr/>
          </p:nvSpPr>
          <p:spPr>
            <a:xfrm>
              <a:off x="6119814" y="2800340"/>
              <a:ext cx="390525" cy="314325"/>
            </a:xfrm>
            <a:prstGeom prst="rect">
              <a:avLst/>
            </a:prstGeom>
            <a:solidFill>
              <a:schemeClr val="accent6">
                <a:lumMod val="60000"/>
                <a:lumOff val="40000"/>
                <a:alpha val="4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9C33B3E0-99C4-4DD6-A08D-28B893A7373E}"/>
                </a:ext>
              </a:extLst>
            </p:cNvPr>
            <p:cNvSpPr/>
            <p:nvPr/>
          </p:nvSpPr>
          <p:spPr>
            <a:xfrm>
              <a:off x="6510339" y="2800342"/>
              <a:ext cx="390525" cy="314325"/>
            </a:xfrm>
            <a:prstGeom prst="rect">
              <a:avLst/>
            </a:prstGeom>
            <a:solidFill>
              <a:schemeClr val="accent6">
                <a:lumMod val="60000"/>
                <a:lumOff val="40000"/>
                <a:alpha val="4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BFD27CA3-9CCC-471E-88D3-8516C624397B}"/>
                </a:ext>
              </a:extLst>
            </p:cNvPr>
            <p:cNvSpPr/>
            <p:nvPr/>
          </p:nvSpPr>
          <p:spPr>
            <a:xfrm>
              <a:off x="6900864" y="2800343"/>
              <a:ext cx="390525" cy="314325"/>
            </a:xfrm>
            <a:prstGeom prst="rect">
              <a:avLst/>
            </a:prstGeom>
            <a:solidFill>
              <a:schemeClr val="accent6">
                <a:lumMod val="60000"/>
                <a:lumOff val="40000"/>
                <a:alpha val="4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95EAA12E-B26E-4D90-A002-260EF2FDCF73}"/>
              </a:ext>
            </a:extLst>
          </p:cNvPr>
          <p:cNvGrpSpPr/>
          <p:nvPr/>
        </p:nvGrpSpPr>
        <p:grpSpPr>
          <a:xfrm>
            <a:off x="5415707" y="4537433"/>
            <a:ext cx="1171575" cy="942973"/>
            <a:chOff x="6119814" y="2171695"/>
            <a:chExt cx="1171575" cy="942973"/>
          </a:xfrm>
        </p:grpSpPr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0ECDB2CF-A27F-4E68-87BC-3105DF8ED7CE}"/>
                </a:ext>
              </a:extLst>
            </p:cNvPr>
            <p:cNvSpPr/>
            <p:nvPr/>
          </p:nvSpPr>
          <p:spPr>
            <a:xfrm>
              <a:off x="6119814" y="2171697"/>
              <a:ext cx="390525" cy="314325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FD538DFD-50C6-4E5D-8385-21E764B95743}"/>
                </a:ext>
              </a:extLst>
            </p:cNvPr>
            <p:cNvSpPr/>
            <p:nvPr/>
          </p:nvSpPr>
          <p:spPr>
            <a:xfrm>
              <a:off x="6510339" y="2171695"/>
              <a:ext cx="390525" cy="314325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378C29C7-F2D4-4830-9DD4-8DB5F24B7A28}"/>
                </a:ext>
              </a:extLst>
            </p:cNvPr>
            <p:cNvSpPr/>
            <p:nvPr/>
          </p:nvSpPr>
          <p:spPr>
            <a:xfrm>
              <a:off x="6900864" y="2171695"/>
              <a:ext cx="390525" cy="314325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8BEAB2E4-AA41-4F3F-96E0-C3E002AFFD12}"/>
                </a:ext>
              </a:extLst>
            </p:cNvPr>
            <p:cNvSpPr/>
            <p:nvPr/>
          </p:nvSpPr>
          <p:spPr>
            <a:xfrm>
              <a:off x="6119814" y="2486022"/>
              <a:ext cx="390525" cy="314325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07ED22A3-6E7F-45F5-B3C6-D046C85D0BD1}"/>
                </a:ext>
              </a:extLst>
            </p:cNvPr>
            <p:cNvSpPr/>
            <p:nvPr/>
          </p:nvSpPr>
          <p:spPr>
            <a:xfrm>
              <a:off x="6510339" y="2486020"/>
              <a:ext cx="390525" cy="314325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02ED2D12-246D-4F46-B7D6-29C897F29B74}"/>
                </a:ext>
              </a:extLst>
            </p:cNvPr>
            <p:cNvSpPr/>
            <p:nvPr/>
          </p:nvSpPr>
          <p:spPr>
            <a:xfrm>
              <a:off x="6900864" y="2486020"/>
              <a:ext cx="390525" cy="314325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958F1D1B-CF5B-40E7-84DA-A036091557E0}"/>
                </a:ext>
              </a:extLst>
            </p:cNvPr>
            <p:cNvSpPr/>
            <p:nvPr/>
          </p:nvSpPr>
          <p:spPr>
            <a:xfrm>
              <a:off x="6119814" y="2800340"/>
              <a:ext cx="390525" cy="314325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9C33B3E0-99C4-4DD6-A08D-28B893A7373E}"/>
                </a:ext>
              </a:extLst>
            </p:cNvPr>
            <p:cNvSpPr/>
            <p:nvPr/>
          </p:nvSpPr>
          <p:spPr>
            <a:xfrm>
              <a:off x="6510339" y="2800342"/>
              <a:ext cx="390525" cy="314325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BFD27CA3-9CCC-471E-88D3-8516C624397B}"/>
                </a:ext>
              </a:extLst>
            </p:cNvPr>
            <p:cNvSpPr/>
            <p:nvPr/>
          </p:nvSpPr>
          <p:spPr>
            <a:xfrm>
              <a:off x="6900864" y="2800343"/>
              <a:ext cx="390525" cy="314325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5863684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92A8BF1-2B22-47AD-9B89-9D5B2C1F9C5E}"/>
              </a:ext>
            </a:extLst>
          </p:cNvPr>
          <p:cNvSpPr/>
          <p:nvPr/>
        </p:nvSpPr>
        <p:spPr>
          <a:xfrm>
            <a:off x="838200" y="6492875"/>
            <a:ext cx="1051560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200" dirty="0">
                <a:latin typeface="Arial Narrow" panose="020B0606020202030204" pitchFamily="34" charset="0"/>
              </a:rPr>
              <a:t>Source: A. </a:t>
            </a:r>
            <a:r>
              <a:rPr lang="en-GB" sz="1200" dirty="0" err="1">
                <a:latin typeface="Arial Narrow" panose="020B0606020202030204" pitchFamily="34" charset="0"/>
              </a:rPr>
              <a:t>Krizhevsky</a:t>
            </a:r>
            <a:r>
              <a:rPr lang="en-GB" sz="1200" dirty="0">
                <a:latin typeface="Arial Narrow" panose="020B0606020202030204" pitchFamily="34" charset="0"/>
              </a:rPr>
              <a:t>, I. </a:t>
            </a:r>
            <a:r>
              <a:rPr lang="en-GB" sz="1200" dirty="0" err="1">
                <a:latin typeface="Arial Narrow" panose="020B0606020202030204" pitchFamily="34" charset="0"/>
              </a:rPr>
              <a:t>Sulskever</a:t>
            </a:r>
            <a:r>
              <a:rPr lang="en-GB" sz="1200" dirty="0">
                <a:latin typeface="Arial Narrow" panose="020B0606020202030204" pitchFamily="34" charset="0"/>
              </a:rPr>
              <a:t>, and G. E. Hinton, “ImageNet classification with deep convolutional neural networks,” Adv. Neural Inf. Process. Syst., vol. 60, no. 6, pp. 84-90, 2012.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5A42DD2-0292-4C4E-B000-BE8F0E72DFFF}"/>
              </a:ext>
            </a:extLst>
          </p:cNvPr>
          <p:cNvSpPr/>
          <p:nvPr/>
        </p:nvSpPr>
        <p:spPr>
          <a:xfrm>
            <a:off x="838200" y="5661878"/>
            <a:ext cx="105156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 dirty="0">
                <a:latin typeface="Arial Narrow" panose="020B0606020202030204" pitchFamily="34" charset="0"/>
              </a:rPr>
              <a:t>From Source Paper: An illustration of the architecture of our CNN, explicitly showing the delineation of responsibilities between the two GPUs. One GPU runs the layer-parts at the top of the figure while the other runs the layer-parts at the bottom. The GPUs communicate only at certain layers.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00A9011-0AFA-45AC-BDBC-0AAB0661FD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2446" y="2812880"/>
            <a:ext cx="8139138" cy="2865146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7072BAC-051C-4AA4-AD3A-AC99CEAD19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8173"/>
            <a:ext cx="10515600" cy="1700000"/>
          </a:xfrm>
        </p:spPr>
        <p:txBody>
          <a:bodyPr>
            <a:normAutofit/>
          </a:bodyPr>
          <a:lstStyle/>
          <a:p>
            <a:pPr algn="just"/>
            <a:r>
              <a:rPr lang="en-GB" sz="1800" dirty="0" err="1">
                <a:solidFill>
                  <a:srgbClr val="00B0F0"/>
                </a:solidFill>
                <a:latin typeface="Arial Narrow" panose="020B0606020202030204" pitchFamily="34" charset="0"/>
              </a:rPr>
              <a:t>AlexNet</a:t>
            </a:r>
            <a:r>
              <a:rPr lang="en-GB" sz="1800" dirty="0">
                <a:latin typeface="Arial Narrow" panose="020B0606020202030204" pitchFamily="34" charset="0"/>
              </a:rPr>
              <a:t>, proposed by </a:t>
            </a:r>
            <a:r>
              <a:rPr lang="en-GB" sz="1800" dirty="0">
                <a:solidFill>
                  <a:srgbClr val="00B0F0"/>
                </a:solidFill>
                <a:latin typeface="Arial Narrow" panose="020B0606020202030204" pitchFamily="34" charset="0"/>
              </a:rPr>
              <a:t>Alex </a:t>
            </a:r>
            <a:r>
              <a:rPr lang="en-GB" sz="1800" dirty="0" err="1">
                <a:solidFill>
                  <a:srgbClr val="00B0F0"/>
                </a:solidFill>
                <a:latin typeface="Arial Narrow" panose="020B0606020202030204" pitchFamily="34" charset="0"/>
              </a:rPr>
              <a:t>Krizhevsky</a:t>
            </a:r>
            <a:r>
              <a:rPr lang="en-GB" sz="1800" dirty="0">
                <a:solidFill>
                  <a:srgbClr val="00B0F0"/>
                </a:solidFill>
                <a:latin typeface="Arial Narrow" panose="020B0606020202030204" pitchFamily="34" charset="0"/>
              </a:rPr>
              <a:t>, Ilya </a:t>
            </a:r>
            <a:r>
              <a:rPr lang="en-GB" sz="1800" dirty="0" err="1">
                <a:solidFill>
                  <a:srgbClr val="00B0F0"/>
                </a:solidFill>
                <a:latin typeface="Arial Narrow" panose="020B0606020202030204" pitchFamily="34" charset="0"/>
              </a:rPr>
              <a:t>Sutskever</a:t>
            </a:r>
            <a:r>
              <a:rPr lang="en-GB" sz="1800" dirty="0">
                <a:solidFill>
                  <a:srgbClr val="00B0F0"/>
                </a:solidFill>
                <a:latin typeface="Arial Narrow" panose="020B0606020202030204" pitchFamily="34" charset="0"/>
              </a:rPr>
              <a:t>, and Geoffrey Hinton</a:t>
            </a:r>
            <a:r>
              <a:rPr lang="en-GB" sz="1800" dirty="0">
                <a:latin typeface="Arial Narrow" panose="020B0606020202030204" pitchFamily="34" charset="0"/>
              </a:rPr>
              <a:t> in 2012, is a landmark deep convolutional neural network (CNN) architecture that significantly advanced large-scale image classification.</a:t>
            </a:r>
          </a:p>
          <a:p>
            <a:pPr algn="just"/>
            <a:r>
              <a:rPr lang="en-GB" sz="1800" dirty="0">
                <a:latin typeface="Arial Narrow" panose="020B0606020202030204" pitchFamily="34" charset="0"/>
              </a:rPr>
              <a:t>Designed for the ImageNet Large Scale Visual Recognition Challenge (ILSVRC), </a:t>
            </a:r>
            <a:r>
              <a:rPr lang="en-GB" sz="1800" dirty="0" err="1">
                <a:latin typeface="Arial Narrow" panose="020B0606020202030204" pitchFamily="34" charset="0"/>
              </a:rPr>
              <a:t>AlexNet</a:t>
            </a:r>
            <a:r>
              <a:rPr lang="en-GB" sz="1800" dirty="0">
                <a:latin typeface="Arial Narrow" panose="020B0606020202030204" pitchFamily="34" charset="0"/>
              </a:rPr>
              <a:t> consists of </a:t>
            </a:r>
            <a:r>
              <a:rPr lang="en-GB" sz="1800" dirty="0">
                <a:solidFill>
                  <a:srgbClr val="00B0F0"/>
                </a:solidFill>
                <a:latin typeface="Arial Narrow" panose="020B0606020202030204" pitchFamily="34" charset="0"/>
              </a:rPr>
              <a:t>eight learnable layers</a:t>
            </a:r>
            <a:r>
              <a:rPr lang="en-GB" sz="1800" dirty="0">
                <a:latin typeface="Arial Narrow" panose="020B0606020202030204" pitchFamily="34" charset="0"/>
              </a:rPr>
              <a:t>, including </a:t>
            </a:r>
            <a:r>
              <a:rPr lang="en-GB" sz="1800" dirty="0">
                <a:solidFill>
                  <a:srgbClr val="00B0F0"/>
                </a:solidFill>
                <a:latin typeface="Arial Narrow" panose="020B0606020202030204" pitchFamily="34" charset="0"/>
              </a:rPr>
              <a:t>five convolutional layers </a:t>
            </a:r>
            <a:r>
              <a:rPr lang="en-GB" sz="1800" dirty="0">
                <a:latin typeface="Arial Narrow" panose="020B0606020202030204" pitchFamily="34" charset="0"/>
              </a:rPr>
              <a:t>followed by </a:t>
            </a:r>
            <a:r>
              <a:rPr lang="en-GB" sz="1800" dirty="0">
                <a:solidFill>
                  <a:srgbClr val="00B0F0"/>
                </a:solidFill>
                <a:latin typeface="Arial Narrow" panose="020B0606020202030204" pitchFamily="34" charset="0"/>
              </a:rPr>
              <a:t>three fully connected layers</a:t>
            </a:r>
            <a:r>
              <a:rPr lang="en-GB" sz="1800" dirty="0">
                <a:latin typeface="Arial Narrow" panose="020B0606020202030204" pitchFamily="34" charset="0"/>
              </a:rPr>
              <a:t>, with a final </a:t>
            </a:r>
            <a:r>
              <a:rPr lang="en-GB" sz="1800" dirty="0">
                <a:solidFill>
                  <a:srgbClr val="00B0F0"/>
                </a:solidFill>
                <a:latin typeface="Arial Narrow" panose="020B0606020202030204" pitchFamily="34" charset="0"/>
              </a:rPr>
              <a:t>1,000-node </a:t>
            </a:r>
            <a:r>
              <a:rPr lang="en-GB" sz="1800" dirty="0" err="1">
                <a:solidFill>
                  <a:srgbClr val="00B0F0"/>
                </a:solidFill>
                <a:latin typeface="Arial Narrow" panose="020B0606020202030204" pitchFamily="34" charset="0"/>
              </a:rPr>
              <a:t>softmax</a:t>
            </a:r>
            <a:r>
              <a:rPr lang="en-GB" sz="1800" dirty="0">
                <a:solidFill>
                  <a:srgbClr val="00B0F0"/>
                </a:solidFill>
                <a:latin typeface="Arial Narrow" panose="020B0606020202030204" pitchFamily="34" charset="0"/>
              </a:rPr>
              <a:t> output layer</a:t>
            </a:r>
            <a:r>
              <a:rPr lang="en-GB" sz="1800" dirty="0">
                <a:latin typeface="Arial Narrow" panose="020B0606020202030204" pitchFamily="34" charset="0"/>
              </a:rPr>
              <a:t> for classification. 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3CFCAD34-8319-4531-A082-7E5664F01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812" y="65989"/>
            <a:ext cx="10515600" cy="1037547"/>
          </a:xfrm>
        </p:spPr>
        <p:txBody>
          <a:bodyPr/>
          <a:lstStyle/>
          <a:p>
            <a:r>
              <a:rPr lang="en-IN" sz="4000" dirty="0" err="1">
                <a:latin typeface="Century" panose="02040604050505020304" pitchFamily="18" charset="0"/>
              </a:rPr>
              <a:t>AlexNet</a:t>
            </a:r>
            <a:br>
              <a:rPr lang="en-IN" dirty="0">
                <a:latin typeface="Century" panose="02040604050505020304" pitchFamily="18" charset="0"/>
              </a:rPr>
            </a:br>
            <a:r>
              <a:rPr lang="en-IN" sz="2400" dirty="0" err="1">
                <a:solidFill>
                  <a:srgbClr val="DE76E6"/>
                </a:solidFill>
                <a:latin typeface="Century" panose="02040604050505020304" pitchFamily="18" charset="0"/>
              </a:rPr>
              <a:t>Krizhevsky</a:t>
            </a:r>
            <a:r>
              <a:rPr lang="en-IN" sz="2400" dirty="0">
                <a:solidFill>
                  <a:srgbClr val="DE76E6"/>
                </a:solidFill>
                <a:latin typeface="Century" panose="02040604050505020304" pitchFamily="18" charset="0"/>
              </a:rPr>
              <a:t> et. al. 2012</a:t>
            </a:r>
          </a:p>
        </p:txBody>
      </p:sp>
    </p:spTree>
    <p:extLst>
      <p:ext uri="{BB962C8B-B14F-4D97-AF65-F5344CB8AC3E}">
        <p14:creationId xmlns:p14="http://schemas.microsoft.com/office/powerpoint/2010/main" val="28891714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1A2559-BD83-458C-BA57-B43DC07717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56695"/>
            <a:ext cx="10515600" cy="2510705"/>
          </a:xfrm>
        </p:spPr>
        <p:txBody>
          <a:bodyPr>
            <a:normAutofit/>
          </a:bodyPr>
          <a:lstStyle/>
          <a:p>
            <a:pPr algn="just"/>
            <a:r>
              <a:rPr lang="en-GB" sz="2000" dirty="0">
                <a:latin typeface="Arial Narrow" panose="020B0606020202030204" pitchFamily="34" charset="0"/>
              </a:rPr>
              <a:t>The network takes </a:t>
            </a:r>
            <a:r>
              <a:rPr lang="en-GB" sz="2000" dirty="0">
                <a:solidFill>
                  <a:srgbClr val="00B0F0"/>
                </a:solidFill>
                <a:latin typeface="Arial Narrow" panose="020B0606020202030204" pitchFamily="34" charset="0"/>
              </a:rPr>
              <a:t>227 × 227 × 3 RGB images </a:t>
            </a:r>
            <a:r>
              <a:rPr lang="en-GB" sz="2000" dirty="0">
                <a:latin typeface="Arial Narrow" panose="020B0606020202030204" pitchFamily="34" charset="0"/>
              </a:rPr>
              <a:t>as input and introduces several key innovations, including the use of </a:t>
            </a:r>
            <a:r>
              <a:rPr lang="en-GB" sz="2000" dirty="0">
                <a:solidFill>
                  <a:srgbClr val="00B0F0"/>
                </a:solidFill>
                <a:latin typeface="Arial Narrow" panose="020B0606020202030204" pitchFamily="34" charset="0"/>
              </a:rPr>
              <a:t>Rectified Linear Unit (</a:t>
            </a:r>
            <a:r>
              <a:rPr lang="en-GB" sz="2000" dirty="0" err="1">
                <a:solidFill>
                  <a:srgbClr val="00B0F0"/>
                </a:solidFill>
                <a:latin typeface="Arial Narrow" panose="020B0606020202030204" pitchFamily="34" charset="0"/>
              </a:rPr>
              <a:t>ReLU</a:t>
            </a:r>
            <a:r>
              <a:rPr lang="en-GB" sz="2000" dirty="0">
                <a:solidFill>
                  <a:srgbClr val="00B0F0"/>
                </a:solidFill>
                <a:latin typeface="Arial Narrow" panose="020B0606020202030204" pitchFamily="34" charset="0"/>
              </a:rPr>
              <a:t>) </a:t>
            </a:r>
            <a:r>
              <a:rPr lang="en-GB" sz="2000" dirty="0">
                <a:latin typeface="Arial Narrow" panose="020B0606020202030204" pitchFamily="34" charset="0"/>
              </a:rPr>
              <a:t>activation functions for faster training, </a:t>
            </a:r>
            <a:r>
              <a:rPr lang="en-GB" sz="2000" dirty="0">
                <a:solidFill>
                  <a:srgbClr val="00B0F0"/>
                </a:solidFill>
                <a:latin typeface="Arial Narrow" panose="020B0606020202030204" pitchFamily="34" charset="0"/>
              </a:rPr>
              <a:t>overlapping max-pooling</a:t>
            </a:r>
            <a:r>
              <a:rPr lang="en-GB" sz="2000" dirty="0">
                <a:latin typeface="Arial Narrow" panose="020B0606020202030204" pitchFamily="34" charset="0"/>
              </a:rPr>
              <a:t> layers for </a:t>
            </a:r>
            <a:r>
              <a:rPr lang="en-GB" sz="2000" dirty="0">
                <a:solidFill>
                  <a:srgbClr val="00B0F0"/>
                </a:solidFill>
                <a:latin typeface="Arial Narrow" panose="020B0606020202030204" pitchFamily="34" charset="0"/>
              </a:rPr>
              <a:t>spatial down-sampling</a:t>
            </a:r>
            <a:r>
              <a:rPr lang="en-GB" sz="2000" dirty="0">
                <a:latin typeface="Arial Narrow" panose="020B0606020202030204" pitchFamily="34" charset="0"/>
              </a:rPr>
              <a:t>, </a:t>
            </a:r>
            <a:r>
              <a:rPr lang="en-GB" sz="2000" dirty="0">
                <a:solidFill>
                  <a:srgbClr val="00B0F0"/>
                </a:solidFill>
                <a:latin typeface="Arial Narrow" panose="020B0606020202030204" pitchFamily="34" charset="0"/>
              </a:rPr>
              <a:t>dropout</a:t>
            </a:r>
            <a:r>
              <a:rPr lang="en-GB" sz="2000" dirty="0">
                <a:latin typeface="Arial Narrow" panose="020B0606020202030204" pitchFamily="34" charset="0"/>
              </a:rPr>
              <a:t> in the fully connected layers to reduce overfitting, and </a:t>
            </a:r>
            <a:r>
              <a:rPr lang="en-GB" sz="2000" dirty="0">
                <a:solidFill>
                  <a:srgbClr val="00B0F0"/>
                </a:solidFill>
                <a:latin typeface="Arial Narrow" panose="020B0606020202030204" pitchFamily="34" charset="0"/>
              </a:rPr>
              <a:t>data augmentation </a:t>
            </a:r>
            <a:r>
              <a:rPr lang="en-GB" sz="2000" dirty="0">
                <a:latin typeface="Arial Narrow" panose="020B0606020202030204" pitchFamily="34" charset="0"/>
              </a:rPr>
              <a:t>techniques such as image translations and horizontal flipping to improve generalization. </a:t>
            </a:r>
          </a:p>
          <a:p>
            <a:pPr algn="just"/>
            <a:r>
              <a:rPr lang="en-GB" sz="2000" dirty="0" err="1">
                <a:latin typeface="Arial Narrow" panose="020B0606020202030204" pitchFamily="34" charset="0"/>
              </a:rPr>
              <a:t>AlexNet</a:t>
            </a:r>
            <a:r>
              <a:rPr lang="en-GB" sz="2000" dirty="0">
                <a:latin typeface="Arial Narrow" panose="020B0606020202030204" pitchFamily="34" charset="0"/>
              </a:rPr>
              <a:t> was trained using </a:t>
            </a:r>
            <a:r>
              <a:rPr lang="en-GB" sz="2000" dirty="0">
                <a:solidFill>
                  <a:srgbClr val="00B0F0"/>
                </a:solidFill>
                <a:latin typeface="Arial Narrow" panose="020B0606020202030204" pitchFamily="34" charset="0"/>
              </a:rPr>
              <a:t>stochastic gradient descent (SGD) </a:t>
            </a:r>
            <a:r>
              <a:rPr lang="en-GB" sz="2000" dirty="0">
                <a:latin typeface="Arial Narrow" panose="020B0606020202030204" pitchFamily="34" charset="0"/>
              </a:rPr>
              <a:t>on GPUs, enabling efficient optimization of its approximately </a:t>
            </a:r>
            <a:r>
              <a:rPr lang="en-GB" sz="2000" dirty="0">
                <a:solidFill>
                  <a:srgbClr val="00B0F0"/>
                </a:solidFill>
                <a:latin typeface="Arial Narrow" panose="020B0606020202030204" pitchFamily="34" charset="0"/>
              </a:rPr>
              <a:t>60 million parameters</a:t>
            </a:r>
            <a:r>
              <a:rPr lang="en-GB" sz="2000" dirty="0">
                <a:latin typeface="Arial Narrow" panose="020B0606020202030204" pitchFamily="34" charset="0"/>
              </a:rPr>
              <a:t>. By achieving a substantial reduction in ImageNet classification error, </a:t>
            </a:r>
            <a:r>
              <a:rPr lang="en-GB" sz="2000" dirty="0" err="1">
                <a:latin typeface="Arial Narrow" panose="020B0606020202030204" pitchFamily="34" charset="0"/>
              </a:rPr>
              <a:t>AlexNet</a:t>
            </a:r>
            <a:r>
              <a:rPr lang="en-GB" sz="2000" dirty="0">
                <a:latin typeface="Arial Narrow" panose="020B0606020202030204" pitchFamily="34" charset="0"/>
              </a:rPr>
              <a:t> demonstrated the effectiveness of deep learning for computer vision and laid the foundation for subsequent CNN architectures such as </a:t>
            </a:r>
            <a:r>
              <a:rPr lang="en-GB" sz="2000" dirty="0" err="1">
                <a:latin typeface="Arial Narrow" panose="020B0606020202030204" pitchFamily="34" charset="0"/>
              </a:rPr>
              <a:t>VGGNet</a:t>
            </a:r>
            <a:r>
              <a:rPr lang="en-GB" sz="2000" dirty="0">
                <a:latin typeface="Arial Narrow" panose="020B0606020202030204" pitchFamily="34" charset="0"/>
              </a:rPr>
              <a:t>, </a:t>
            </a:r>
            <a:r>
              <a:rPr lang="en-GB" sz="2000" dirty="0" err="1">
                <a:latin typeface="Arial Narrow" panose="020B0606020202030204" pitchFamily="34" charset="0"/>
              </a:rPr>
              <a:t>GoogLeNet</a:t>
            </a:r>
            <a:r>
              <a:rPr lang="en-GB" sz="2000" dirty="0">
                <a:latin typeface="Arial Narrow" panose="020B0606020202030204" pitchFamily="34" charset="0"/>
              </a:rPr>
              <a:t>, and </a:t>
            </a:r>
            <a:r>
              <a:rPr lang="en-GB" sz="2000" dirty="0" err="1">
                <a:latin typeface="Arial Narrow" panose="020B0606020202030204" pitchFamily="34" charset="0"/>
              </a:rPr>
              <a:t>ResNet</a:t>
            </a:r>
            <a:r>
              <a:rPr lang="en-GB" sz="2000" dirty="0">
                <a:latin typeface="Arial Narrow" panose="020B0606020202030204" pitchFamily="34" charset="0"/>
              </a:rPr>
              <a:t>.</a:t>
            </a:r>
          </a:p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C0A1F42-5AB9-4C31-A978-E07A0352C42A}"/>
              </a:ext>
            </a:extLst>
          </p:cNvPr>
          <p:cNvSpPr/>
          <p:nvPr/>
        </p:nvSpPr>
        <p:spPr>
          <a:xfrm>
            <a:off x="838200" y="6515012"/>
            <a:ext cx="1051560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200" dirty="0">
                <a:latin typeface="Arial Narrow" panose="020B0606020202030204" pitchFamily="34" charset="0"/>
              </a:rPr>
              <a:t>A. </a:t>
            </a:r>
            <a:r>
              <a:rPr lang="en-GB" sz="1200" dirty="0" err="1">
                <a:latin typeface="Arial Narrow" panose="020B0606020202030204" pitchFamily="34" charset="0"/>
              </a:rPr>
              <a:t>Krizhevsky</a:t>
            </a:r>
            <a:r>
              <a:rPr lang="en-GB" sz="1200" dirty="0">
                <a:latin typeface="Arial Narrow" panose="020B0606020202030204" pitchFamily="34" charset="0"/>
              </a:rPr>
              <a:t>, I. </a:t>
            </a:r>
            <a:r>
              <a:rPr lang="en-GB" sz="1200" dirty="0" err="1">
                <a:latin typeface="Arial Narrow" panose="020B0606020202030204" pitchFamily="34" charset="0"/>
              </a:rPr>
              <a:t>Sulskever</a:t>
            </a:r>
            <a:r>
              <a:rPr lang="en-GB" sz="1200" dirty="0">
                <a:latin typeface="Arial Narrow" panose="020B0606020202030204" pitchFamily="34" charset="0"/>
              </a:rPr>
              <a:t>, and G. E. Hinton, “ImageNet classification with deep convolutional neural networks,” Adv. Neural Inf. Process. Syst., vol. 60, no. 6, pp. 84-90, 2012.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85DD3D8-1BC7-449D-A22B-BD33C6720C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812" y="65989"/>
            <a:ext cx="10515600" cy="1037547"/>
          </a:xfrm>
        </p:spPr>
        <p:txBody>
          <a:bodyPr/>
          <a:lstStyle/>
          <a:p>
            <a:r>
              <a:rPr lang="en-IN" sz="4000" dirty="0" err="1">
                <a:latin typeface="Century" panose="02040604050505020304" pitchFamily="18" charset="0"/>
              </a:rPr>
              <a:t>AlexNet</a:t>
            </a:r>
            <a:br>
              <a:rPr lang="en-IN" dirty="0">
                <a:latin typeface="Century" panose="02040604050505020304" pitchFamily="18" charset="0"/>
              </a:rPr>
            </a:br>
            <a:r>
              <a:rPr lang="en-IN" sz="2400" dirty="0" err="1">
                <a:solidFill>
                  <a:srgbClr val="DE76E6"/>
                </a:solidFill>
                <a:latin typeface="Century" panose="02040604050505020304" pitchFamily="18" charset="0"/>
              </a:rPr>
              <a:t>Krizhevsky</a:t>
            </a:r>
            <a:r>
              <a:rPr lang="en-IN" sz="2400" dirty="0">
                <a:solidFill>
                  <a:srgbClr val="DE76E6"/>
                </a:solidFill>
                <a:latin typeface="Century" panose="02040604050505020304" pitchFamily="18" charset="0"/>
              </a:rPr>
              <a:t> et. al. 2012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A6EE0D6-7F52-4D67-909A-82ACE618D3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7381" y="3545012"/>
            <a:ext cx="8192890" cy="2884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28955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miro.medium.com/v2/resize:fit:700/1*0dsWFuc0pDmcAmHJUh7wqg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4870" y="1231268"/>
            <a:ext cx="6667500" cy="304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Oval 5"/>
          <p:cNvSpPr/>
          <p:nvPr/>
        </p:nvSpPr>
        <p:spPr>
          <a:xfrm>
            <a:off x="6367894" y="1078869"/>
            <a:ext cx="1931426" cy="1474328"/>
          </a:xfrm>
          <a:prstGeom prst="ellipse">
            <a:avLst/>
          </a:prstGeom>
          <a:solidFill>
            <a:schemeClr val="accent3">
              <a:lumMod val="40000"/>
              <a:lumOff val="60000"/>
              <a:alpha val="28000"/>
            </a:schemeClr>
          </a:solidFill>
          <a:ln w="127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Oval 6"/>
          <p:cNvSpPr/>
          <p:nvPr/>
        </p:nvSpPr>
        <p:spPr>
          <a:xfrm>
            <a:off x="8388598" y="1059437"/>
            <a:ext cx="1931426" cy="1474328"/>
          </a:xfrm>
          <a:prstGeom prst="ellipse">
            <a:avLst/>
          </a:prstGeom>
          <a:solidFill>
            <a:schemeClr val="accent3">
              <a:lumMod val="40000"/>
              <a:lumOff val="60000"/>
              <a:alpha val="28000"/>
            </a:schemeClr>
          </a:solidFill>
          <a:ln w="127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Oval 7"/>
          <p:cNvSpPr/>
          <p:nvPr/>
        </p:nvSpPr>
        <p:spPr>
          <a:xfrm>
            <a:off x="5089175" y="2405415"/>
            <a:ext cx="2109994" cy="1527290"/>
          </a:xfrm>
          <a:prstGeom prst="ellipse">
            <a:avLst/>
          </a:prstGeom>
          <a:solidFill>
            <a:schemeClr val="accent3">
              <a:lumMod val="40000"/>
              <a:lumOff val="60000"/>
              <a:alpha val="28000"/>
            </a:schemeClr>
          </a:solidFill>
          <a:ln w="127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Oval 8"/>
          <p:cNvSpPr/>
          <p:nvPr/>
        </p:nvSpPr>
        <p:spPr>
          <a:xfrm>
            <a:off x="7199169" y="2341176"/>
            <a:ext cx="2405569" cy="1745673"/>
          </a:xfrm>
          <a:prstGeom prst="ellipse">
            <a:avLst/>
          </a:prstGeom>
          <a:solidFill>
            <a:schemeClr val="accent3">
              <a:lumMod val="40000"/>
              <a:lumOff val="60000"/>
              <a:alpha val="28000"/>
            </a:schemeClr>
          </a:solidFill>
          <a:ln w="127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Rectangle 13"/>
              <p:cNvSpPr/>
              <p:nvPr/>
            </p:nvSpPr>
            <p:spPr>
              <a:xfrm>
                <a:off x="5460620" y="4188298"/>
                <a:ext cx="6096000" cy="2585323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r>
                  <a:rPr lang="en-IN" dirty="0">
                    <a:latin typeface="Arial Narrow" panose="020B0606020202030204" pitchFamily="34" charset="0"/>
                  </a:rPr>
                  <a:t>Input: Images of size </a:t>
                </a:r>
                <a:r>
                  <a:rPr lang="en-IN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227 X 227 X 3</a:t>
                </a:r>
              </a:p>
              <a:p>
                <a:r>
                  <a:rPr lang="en-IN" dirty="0">
                    <a:latin typeface="Arial Narrow" panose="020B0606020202030204" pitchFamily="34" charset="0"/>
                  </a:rPr>
                  <a:t>First layer (CONV1):</a:t>
                </a:r>
                <a:br>
                  <a:rPr lang="en-IN" dirty="0">
                    <a:latin typeface="Arial Narrow" panose="020B0606020202030204" pitchFamily="34" charset="0"/>
                  </a:rPr>
                </a:br>
                <a:r>
                  <a:rPr lang="en-IN" dirty="0">
                    <a:latin typeface="Arial Narrow" panose="020B0606020202030204" pitchFamily="34" charset="0"/>
                  </a:rPr>
                  <a:t>96 convolutional filters of size </a:t>
                </a:r>
                <a:r>
                  <a:rPr lang="en-IN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11 X 11</a:t>
                </a:r>
                <a:r>
                  <a:rPr lang="en-IN" dirty="0">
                    <a:latin typeface="Arial Narrow" panose="020B0606020202030204" pitchFamily="34" charset="0"/>
                  </a:rPr>
                  <a:t>, applied with a </a:t>
                </a:r>
                <a:r>
                  <a:rPr lang="en-IN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stride of 4</a:t>
                </a:r>
              </a:p>
              <a:p>
                <a:r>
                  <a:rPr lang="en-IN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arrow" panose="020B0606020202030204" pitchFamily="34" charset="0"/>
                  </a:rPr>
                  <a:t>Question:</a:t>
                </a:r>
                <a:r>
                  <a:rPr lang="en-IN" dirty="0">
                    <a:solidFill>
                      <a:srgbClr val="00B050"/>
                    </a:solidFill>
                    <a:latin typeface="Arial Narrow" panose="020B0606020202030204" pitchFamily="34" charset="0"/>
                  </a:rPr>
                  <a:t> What is the size of the output volume?</a:t>
                </a:r>
              </a:p>
              <a:p>
                <a:r>
                  <a:rPr lang="en-IN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arrow" panose="020B0606020202030204" pitchFamily="34" charset="0"/>
                  </a:rPr>
                  <a:t>Hint : </a:t>
                </a:r>
                <a:r>
                  <a:rPr lang="en-IN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(227 </a:t>
                </a:r>
                <a14:m>
                  <m:oMath xmlns:m="http://schemas.openxmlformats.org/officeDocument/2006/math">
                    <m:r>
                      <a:rPr lang="ar-AE" b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IN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 11)</a:t>
                </a:r>
                <a:r>
                  <a:rPr lang="ar-AE" dirty="0">
                    <a:solidFill>
                      <a:srgbClr val="7030A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ar-AE" b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/</m:t>
                    </m:r>
                  </m:oMath>
                </a14:m>
                <a:r>
                  <a:rPr lang="en-IN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 4 + 1 = 55</a:t>
                </a:r>
                <a:endParaRPr lang="ar-AE" dirty="0">
                  <a:solidFill>
                    <a:srgbClr val="7030A0"/>
                  </a:solidFill>
                  <a:latin typeface="Arial Narrow" panose="020B0606020202030204" pitchFamily="34" charset="0"/>
                </a:endParaRPr>
              </a:p>
              <a:p>
                <a:r>
                  <a:rPr lang="en-IN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arrow" panose="020B0606020202030204" pitchFamily="34" charset="0"/>
                  </a:rPr>
                  <a:t>Output Volume :</a:t>
                </a:r>
                <a:r>
                  <a:rPr lang="en-IN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 55 X 55 X 96</a:t>
                </a:r>
              </a:p>
              <a:p>
                <a:r>
                  <a:rPr lang="en-IN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 Narrow" panose="020B0606020202030204" pitchFamily="34" charset="0"/>
                  </a:rPr>
                  <a:t>Question</a:t>
                </a:r>
                <a:r>
                  <a:rPr lang="en-IN" dirty="0">
                    <a:solidFill>
                      <a:srgbClr val="00B050"/>
                    </a:solidFill>
                    <a:latin typeface="Arial Narrow" panose="020B0606020202030204" pitchFamily="34" charset="0"/>
                  </a:rPr>
                  <a:t>: What is the total number of parameters in this layer?</a:t>
                </a:r>
                <a:endParaRPr lang="en-IN" dirty="0">
                  <a:solidFill>
                    <a:srgbClr val="7030A0"/>
                  </a:solidFill>
                  <a:latin typeface="Arial Narrow" panose="020B0606020202030204" pitchFamily="34" charset="0"/>
                </a:endParaRPr>
              </a:p>
              <a:p>
                <a:r>
                  <a:rPr lang="en-IN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arrow" panose="020B0606020202030204" pitchFamily="34" charset="0"/>
                  </a:rPr>
                  <a:t>Number of parameters : </a:t>
                </a:r>
                <a:r>
                  <a:rPr lang="en-IN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( 11 X 11 X 3) X 96 = 35K parameters</a:t>
                </a:r>
                <a:endParaRPr lang="ar-AE" dirty="0">
                  <a:solidFill>
                    <a:srgbClr val="7030A0"/>
                  </a:solidFill>
                  <a:latin typeface="Arial Narrow" panose="020B0606020202030204" pitchFamily="34" charset="0"/>
                </a:endParaRPr>
              </a:p>
              <a:p>
                <a:endParaRPr lang="ar-AE" dirty="0">
                  <a:solidFill>
                    <a:srgbClr val="7030A0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0620" y="4188298"/>
                <a:ext cx="6096000" cy="2585323"/>
              </a:xfrm>
              <a:prstGeom prst="rect">
                <a:avLst/>
              </a:prstGeom>
              <a:blipFill>
                <a:blip r:embed="rId4"/>
                <a:stretch>
                  <a:fillRect l="-900" t="-94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461303" y="126344"/>
            <a:ext cx="10515600" cy="1037547"/>
          </a:xfrm>
        </p:spPr>
        <p:txBody>
          <a:bodyPr/>
          <a:lstStyle/>
          <a:p>
            <a:r>
              <a:rPr lang="en-IN" sz="4000" dirty="0" err="1">
                <a:latin typeface="Century" panose="02040604050505020304" pitchFamily="18" charset="0"/>
              </a:rPr>
              <a:t>AlexNet</a:t>
            </a:r>
            <a:br>
              <a:rPr lang="en-IN" dirty="0">
                <a:latin typeface="Century" panose="02040604050505020304" pitchFamily="18" charset="0"/>
              </a:rPr>
            </a:br>
            <a:r>
              <a:rPr lang="en-IN" sz="2400" dirty="0" err="1">
                <a:solidFill>
                  <a:srgbClr val="DE76E6"/>
                </a:solidFill>
                <a:latin typeface="Century" panose="02040604050505020304" pitchFamily="18" charset="0"/>
              </a:rPr>
              <a:t>Krizhevsky</a:t>
            </a:r>
            <a:r>
              <a:rPr lang="en-IN" sz="2400" dirty="0">
                <a:solidFill>
                  <a:srgbClr val="DE76E6"/>
                </a:solidFill>
                <a:latin typeface="Century" panose="02040604050505020304" pitchFamily="18" charset="0"/>
              </a:rPr>
              <a:t> et. al. 2012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9679" y="6550150"/>
            <a:ext cx="93249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>
                <a:latin typeface="Arial Narrow" panose="020B0606020202030204" pitchFamily="34" charset="0"/>
              </a:rPr>
              <a:t>Slide idea: Fei </a:t>
            </a:r>
            <a:r>
              <a:rPr lang="en-IN" sz="1400" dirty="0" err="1">
                <a:latin typeface="Arial Narrow" panose="020B0606020202030204" pitchFamily="34" charset="0"/>
              </a:rPr>
              <a:t>Fei</a:t>
            </a:r>
            <a:r>
              <a:rPr lang="en-IN" sz="1400" dirty="0">
                <a:latin typeface="Arial Narrow" panose="020B0606020202030204" pitchFamily="34" charset="0"/>
              </a:rPr>
              <a:t> Li, Stanford Lectures, Image Source : </a:t>
            </a:r>
            <a:r>
              <a:rPr lang="en-IN" sz="1400" dirty="0">
                <a:latin typeface="Arial Narrow" panose="020B0606020202030204" pitchFamily="34" charset="0"/>
                <a:hlinkClick r:id="rId5"/>
              </a:rPr>
              <a:t>https://medium.com/@siddheshb008/alexnet-architecture-explained-b6240c528bd5</a:t>
            </a:r>
            <a:endParaRPr lang="en-IN" sz="1400" dirty="0">
              <a:latin typeface="Arial Narrow" panose="020B0606020202030204" pitchFamily="34" charset="0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9623942" y="2078108"/>
            <a:ext cx="2275711" cy="2353560"/>
          </a:xfrm>
          <a:prstGeom prst="ellipse">
            <a:avLst/>
          </a:prstGeom>
          <a:solidFill>
            <a:schemeClr val="accent3">
              <a:lumMod val="40000"/>
              <a:lumOff val="60000"/>
              <a:alpha val="28000"/>
            </a:schemeClr>
          </a:solidFill>
          <a:ln w="127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D244D3A9-72C9-1077-54AA-F9CF2C1FD0B6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263344" y="1338624"/>
          <a:ext cx="4327650" cy="4970804"/>
        </p:xfrm>
        <a:graphic>
          <a:graphicData uri="http://schemas.openxmlformats.org/drawingml/2006/table">
            <a:tbl>
              <a:tblPr>
                <a:tableStyleId>{16D9F66E-5EB9-4882-86FB-DCBF35E3C3E4}</a:tableStyleId>
              </a:tblPr>
              <a:tblGrid>
                <a:gridCol w="1057048">
                  <a:extLst>
                    <a:ext uri="{9D8B030D-6E8A-4147-A177-3AD203B41FA5}">
                      <a16:colId xmlns:a16="http://schemas.microsoft.com/office/drawing/2014/main" val="3940798507"/>
                    </a:ext>
                  </a:extLst>
                </a:gridCol>
                <a:gridCol w="1045096">
                  <a:extLst>
                    <a:ext uri="{9D8B030D-6E8A-4147-A177-3AD203B41FA5}">
                      <a16:colId xmlns:a16="http://schemas.microsoft.com/office/drawing/2014/main" val="2229158176"/>
                    </a:ext>
                  </a:extLst>
                </a:gridCol>
                <a:gridCol w="2225506">
                  <a:extLst>
                    <a:ext uri="{9D8B030D-6E8A-4147-A177-3AD203B41FA5}">
                      <a16:colId xmlns:a16="http://schemas.microsoft.com/office/drawing/2014/main" val="2424027266"/>
                    </a:ext>
                  </a:extLst>
                </a:gridCol>
              </a:tblGrid>
              <a:tr h="183251">
                <a:tc>
                  <a:txBody>
                    <a:bodyPr/>
                    <a:lstStyle/>
                    <a:p>
                      <a:pPr algn="just" rtl="0">
                        <a:buNone/>
                      </a:pPr>
                      <a:r>
                        <a:rPr lang="en-IN" sz="1200" b="1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cs typeface="Times New Roman" panose="02020603050405020304" pitchFamily="18" charset="0"/>
                        </a:rPr>
                        <a:t>Layer</a:t>
                      </a:r>
                      <a:endParaRPr lang="en-IN" sz="1200" dirty="0">
                        <a:solidFill>
                          <a:srgbClr val="1F1F1F"/>
                        </a:solidFill>
                        <a:effectLst/>
                        <a:latin typeface="Arial Narrow" panose="020B0606020202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708" marR="67708" marT="45138" marB="45138"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 rtl="0">
                        <a:buNone/>
                      </a:pPr>
                      <a:r>
                        <a:rPr lang="en-IN" sz="1200" b="1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cs typeface="Times New Roman" panose="02020603050405020304" pitchFamily="18" charset="0"/>
                        </a:rPr>
                        <a:t>Type</a:t>
                      </a:r>
                      <a:endParaRPr lang="en-IN" sz="1200" dirty="0">
                        <a:solidFill>
                          <a:srgbClr val="1F1F1F"/>
                        </a:solidFill>
                        <a:effectLst/>
                        <a:latin typeface="Arial Narrow" panose="020B0606020202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708" marR="67708" marT="45138" marB="45138"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 rtl="0">
                        <a:buNone/>
                      </a:pPr>
                      <a:r>
                        <a:rPr lang="en-IN" sz="1200" b="1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cs typeface="Times New Roman" panose="02020603050405020304" pitchFamily="18" charset="0"/>
                        </a:rPr>
                        <a:t>Standard Kernel/Filter Details</a:t>
                      </a:r>
                      <a:endParaRPr lang="en-IN" sz="1200" dirty="0">
                        <a:solidFill>
                          <a:srgbClr val="1F1F1F"/>
                        </a:solidFill>
                        <a:effectLst/>
                        <a:latin typeface="Arial Narrow" panose="020B0606020202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708" marR="67708" marT="45138" marB="45138"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3395296"/>
                  </a:ext>
                </a:extLst>
              </a:tr>
              <a:tr h="173027">
                <a:tc>
                  <a:txBody>
                    <a:bodyPr/>
                    <a:lstStyle/>
                    <a:p>
                      <a:pPr algn="just" rtl="0">
                        <a:buNone/>
                      </a:pPr>
                      <a:r>
                        <a:rPr lang="en-IN" sz="1200" b="1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cs typeface="Times New Roman" panose="02020603050405020304" pitchFamily="18" charset="0"/>
                        </a:rPr>
                        <a:t>CONV1</a:t>
                      </a:r>
                      <a:endParaRPr lang="en-IN" sz="1200" dirty="0">
                        <a:solidFill>
                          <a:srgbClr val="1F1F1F"/>
                        </a:solidFill>
                        <a:effectLst/>
                        <a:latin typeface="Arial Narrow" panose="020B0606020202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708" marR="67708" marT="45138" marB="45138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 rtl="0">
                        <a:buNone/>
                      </a:pPr>
                      <a:r>
                        <a:rPr lang="en-IN" sz="1200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cs typeface="Times New Roman" panose="02020603050405020304" pitchFamily="18" charset="0"/>
                        </a:rPr>
                        <a:t>Convolution</a:t>
                      </a:r>
                    </a:p>
                  </a:txBody>
                  <a:tcPr marL="67708" marR="67708" marT="45138" marB="45138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 rtl="0">
                        <a:buNone/>
                      </a:pPr>
                      <a:r>
                        <a:rPr lang="da-DK" sz="1200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cs typeface="Times New Roman" panose="02020603050405020304" pitchFamily="18" charset="0"/>
                        </a:rPr>
                        <a:t>96 filters, 11x11 kernel, Stride 4, Pad 0</a:t>
                      </a:r>
                    </a:p>
                  </a:txBody>
                  <a:tcPr marL="67708" marR="67708" marT="45138" marB="45138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745348"/>
                  </a:ext>
                </a:extLst>
              </a:tr>
              <a:tr h="173027">
                <a:tc>
                  <a:txBody>
                    <a:bodyPr/>
                    <a:lstStyle/>
                    <a:p>
                      <a:pPr algn="just" rtl="0">
                        <a:buNone/>
                      </a:pPr>
                      <a:r>
                        <a:rPr lang="en-IN" sz="1200" b="1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cs typeface="Times New Roman" panose="02020603050405020304" pitchFamily="18" charset="0"/>
                        </a:rPr>
                        <a:t>MAX POOL1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Arial Narrow" panose="020B0606020202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708" marR="67708" marT="45138" marB="45138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 rtl="0">
                        <a:buNone/>
                      </a:pPr>
                      <a:r>
                        <a:rPr lang="en-IN" sz="1200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cs typeface="Times New Roman" panose="02020603050405020304" pitchFamily="18" charset="0"/>
                        </a:rPr>
                        <a:t>Pooling</a:t>
                      </a:r>
                    </a:p>
                  </a:txBody>
                  <a:tcPr marL="67708" marR="67708" marT="45138" marB="45138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 rtl="0">
                        <a:buNone/>
                      </a:pPr>
                      <a:r>
                        <a:rPr lang="en-IN" sz="1200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cs typeface="Times New Roman" panose="02020603050405020304" pitchFamily="18" charset="0"/>
                        </a:rPr>
                        <a:t>3x3 kernel, Stride 2</a:t>
                      </a:r>
                    </a:p>
                  </a:txBody>
                  <a:tcPr marL="67708" marR="67708" marT="45138" marB="45138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9830528"/>
                  </a:ext>
                </a:extLst>
              </a:tr>
              <a:tr h="285491">
                <a:tc>
                  <a:txBody>
                    <a:bodyPr/>
                    <a:lstStyle/>
                    <a:p>
                      <a:pPr algn="just" rtl="0">
                        <a:buNone/>
                      </a:pPr>
                      <a:r>
                        <a:rPr lang="en-IN" sz="1200" b="1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cs typeface="Times New Roman" panose="02020603050405020304" pitchFamily="18" charset="0"/>
                        </a:rPr>
                        <a:t>NORM1</a:t>
                      </a:r>
                      <a:endParaRPr lang="en-IN" sz="1200" dirty="0">
                        <a:solidFill>
                          <a:srgbClr val="1F1F1F"/>
                        </a:solidFill>
                        <a:effectLst/>
                        <a:latin typeface="Arial Narrow" panose="020B0606020202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708" marR="67708" marT="45138" marB="45138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 rtl="0">
                        <a:buNone/>
                      </a:pPr>
                      <a:r>
                        <a:rPr lang="en-IN" sz="120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cs typeface="Times New Roman" panose="02020603050405020304" pitchFamily="18" charset="0"/>
                        </a:rPr>
                        <a:t>Normalization</a:t>
                      </a:r>
                    </a:p>
                  </a:txBody>
                  <a:tcPr marL="67708" marR="67708" marT="45138" marB="45138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 rtl="0">
                        <a:buNone/>
                      </a:pPr>
                      <a:r>
                        <a:rPr lang="en-IN" sz="1200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cs typeface="Times New Roman" panose="02020603050405020304" pitchFamily="18" charset="0"/>
                        </a:rPr>
                        <a:t>Local Response Normalization (LRN)</a:t>
                      </a:r>
                    </a:p>
                  </a:txBody>
                  <a:tcPr marL="67708" marR="67708" marT="45138" marB="45138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6085234"/>
                  </a:ext>
                </a:extLst>
              </a:tr>
              <a:tr h="173027">
                <a:tc>
                  <a:txBody>
                    <a:bodyPr/>
                    <a:lstStyle/>
                    <a:p>
                      <a:pPr algn="just" rtl="0">
                        <a:buNone/>
                      </a:pPr>
                      <a:r>
                        <a:rPr lang="en-IN" sz="1200" b="1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cs typeface="Times New Roman" panose="02020603050405020304" pitchFamily="18" charset="0"/>
                        </a:rPr>
                        <a:t>CONV2</a:t>
                      </a:r>
                      <a:endParaRPr lang="en-IN" sz="1200" dirty="0">
                        <a:solidFill>
                          <a:srgbClr val="1F1F1F"/>
                        </a:solidFill>
                        <a:effectLst/>
                        <a:latin typeface="Arial Narrow" panose="020B0606020202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708" marR="67708" marT="45138" marB="45138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 rtl="0">
                        <a:buNone/>
                      </a:pPr>
                      <a:r>
                        <a:rPr lang="en-IN" sz="1200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cs typeface="Times New Roman" panose="02020603050405020304" pitchFamily="18" charset="0"/>
                        </a:rPr>
                        <a:t>Convolution</a:t>
                      </a:r>
                    </a:p>
                  </a:txBody>
                  <a:tcPr marL="67708" marR="67708" marT="45138" marB="45138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 rtl="0">
                        <a:buNone/>
                      </a:pPr>
                      <a:r>
                        <a:rPr lang="en-IN" sz="1200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cs typeface="Times New Roman" panose="02020603050405020304" pitchFamily="18" charset="0"/>
                        </a:rPr>
                        <a:t>256 filters, 5x5 kernel, Stride 1, Padding 2</a:t>
                      </a:r>
                    </a:p>
                  </a:txBody>
                  <a:tcPr marL="67708" marR="67708" marT="45138" marB="45138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5138950"/>
                  </a:ext>
                </a:extLst>
              </a:tr>
              <a:tr h="173027">
                <a:tc>
                  <a:txBody>
                    <a:bodyPr/>
                    <a:lstStyle/>
                    <a:p>
                      <a:pPr algn="just" rtl="0">
                        <a:buNone/>
                      </a:pPr>
                      <a:r>
                        <a:rPr lang="en-IN" sz="1200" b="1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cs typeface="Times New Roman" panose="02020603050405020304" pitchFamily="18" charset="0"/>
                        </a:rPr>
                        <a:t>MAX POOL2</a:t>
                      </a:r>
                      <a:endParaRPr lang="en-IN" sz="1200" dirty="0">
                        <a:solidFill>
                          <a:srgbClr val="1F1F1F"/>
                        </a:solidFill>
                        <a:effectLst/>
                        <a:latin typeface="Arial Narrow" panose="020B0606020202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708" marR="67708" marT="45138" marB="45138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 rtl="0">
                        <a:buNone/>
                      </a:pPr>
                      <a:r>
                        <a:rPr lang="en-IN" sz="1200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cs typeface="Times New Roman" panose="02020603050405020304" pitchFamily="18" charset="0"/>
                        </a:rPr>
                        <a:t>Pooling</a:t>
                      </a:r>
                    </a:p>
                  </a:txBody>
                  <a:tcPr marL="67708" marR="67708" marT="45138" marB="45138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 rtl="0">
                        <a:buNone/>
                      </a:pPr>
                      <a:r>
                        <a:rPr lang="en-IN" sz="1200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cs typeface="Times New Roman" panose="02020603050405020304" pitchFamily="18" charset="0"/>
                        </a:rPr>
                        <a:t>3x3 kernel, Stride 2</a:t>
                      </a:r>
                    </a:p>
                  </a:txBody>
                  <a:tcPr marL="67708" marR="67708" marT="45138" marB="45138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2299588"/>
                  </a:ext>
                </a:extLst>
              </a:tr>
              <a:tr h="285491">
                <a:tc>
                  <a:txBody>
                    <a:bodyPr/>
                    <a:lstStyle/>
                    <a:p>
                      <a:pPr algn="just" rtl="0">
                        <a:buNone/>
                      </a:pPr>
                      <a:r>
                        <a:rPr lang="en-IN" sz="1200" b="1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cs typeface="Times New Roman" panose="02020603050405020304" pitchFamily="18" charset="0"/>
                        </a:rPr>
                        <a:t>NORM2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Arial Narrow" panose="020B0606020202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708" marR="67708" marT="45138" marB="45138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 rtl="0">
                        <a:buNone/>
                      </a:pPr>
                      <a:r>
                        <a:rPr lang="en-IN" sz="1200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cs typeface="Times New Roman" panose="02020603050405020304" pitchFamily="18" charset="0"/>
                        </a:rPr>
                        <a:t>Normalization</a:t>
                      </a:r>
                    </a:p>
                  </a:txBody>
                  <a:tcPr marL="67708" marR="67708" marT="45138" marB="45138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 rtl="0">
                        <a:buNone/>
                      </a:pPr>
                      <a:r>
                        <a:rPr lang="en-IN" sz="1200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cs typeface="Times New Roman" panose="02020603050405020304" pitchFamily="18" charset="0"/>
                        </a:rPr>
                        <a:t>Local Response Normalization (LRN)</a:t>
                      </a:r>
                    </a:p>
                  </a:txBody>
                  <a:tcPr marL="67708" marR="67708" marT="45138" marB="45138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902886"/>
                  </a:ext>
                </a:extLst>
              </a:tr>
              <a:tr h="173027">
                <a:tc>
                  <a:txBody>
                    <a:bodyPr/>
                    <a:lstStyle/>
                    <a:p>
                      <a:pPr algn="just" rtl="0">
                        <a:buNone/>
                      </a:pPr>
                      <a:r>
                        <a:rPr lang="en-IN" sz="1200" b="1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cs typeface="Times New Roman" panose="02020603050405020304" pitchFamily="18" charset="0"/>
                        </a:rPr>
                        <a:t>CONV3</a:t>
                      </a:r>
                      <a:endParaRPr lang="en-IN" sz="1200" dirty="0">
                        <a:solidFill>
                          <a:srgbClr val="1F1F1F"/>
                        </a:solidFill>
                        <a:effectLst/>
                        <a:latin typeface="Arial Narrow" panose="020B0606020202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708" marR="67708" marT="45138" marB="45138" anchor="ctr">
                    <a:solidFill>
                      <a:srgbClr val="7030A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just" rtl="0">
                        <a:buNone/>
                      </a:pPr>
                      <a:r>
                        <a:rPr lang="en-IN" sz="1200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cs typeface="Times New Roman" panose="02020603050405020304" pitchFamily="18" charset="0"/>
                        </a:rPr>
                        <a:t>Convolution</a:t>
                      </a:r>
                    </a:p>
                  </a:txBody>
                  <a:tcPr marL="67708" marR="67708" marT="45138" marB="45138" anchor="ctr">
                    <a:solidFill>
                      <a:srgbClr val="7030A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just" rtl="0">
                        <a:buNone/>
                      </a:pPr>
                      <a:r>
                        <a:rPr lang="en-IN" sz="1200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cs typeface="Times New Roman" panose="02020603050405020304" pitchFamily="18" charset="0"/>
                        </a:rPr>
                        <a:t>384 filters, 3x3 kernel, Stride 1, Padding 1</a:t>
                      </a:r>
                    </a:p>
                  </a:txBody>
                  <a:tcPr marL="67708" marR="67708" marT="45138" marB="45138" anchor="ctr">
                    <a:solidFill>
                      <a:srgbClr val="7030A0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5839084"/>
                  </a:ext>
                </a:extLst>
              </a:tr>
              <a:tr h="173027">
                <a:tc>
                  <a:txBody>
                    <a:bodyPr/>
                    <a:lstStyle/>
                    <a:p>
                      <a:pPr algn="just" rtl="0">
                        <a:buNone/>
                      </a:pPr>
                      <a:r>
                        <a:rPr lang="en-IN" sz="1200" b="1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cs typeface="Times New Roman" panose="02020603050405020304" pitchFamily="18" charset="0"/>
                        </a:rPr>
                        <a:t>CONV4</a:t>
                      </a:r>
                      <a:endParaRPr lang="en-IN" sz="1200" dirty="0">
                        <a:solidFill>
                          <a:srgbClr val="1F1F1F"/>
                        </a:solidFill>
                        <a:effectLst/>
                        <a:latin typeface="Arial Narrow" panose="020B0606020202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708" marR="67708" marT="45138" marB="45138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 rtl="0">
                        <a:buNone/>
                      </a:pPr>
                      <a:r>
                        <a:rPr lang="en-IN" sz="1200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cs typeface="Times New Roman" panose="02020603050405020304" pitchFamily="18" charset="0"/>
                        </a:rPr>
                        <a:t>Convolution</a:t>
                      </a:r>
                    </a:p>
                  </a:txBody>
                  <a:tcPr marL="67708" marR="67708" marT="45138" marB="45138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 rtl="0">
                        <a:buNone/>
                      </a:pPr>
                      <a:r>
                        <a:rPr lang="en-IN" sz="1200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cs typeface="Times New Roman" panose="02020603050405020304" pitchFamily="18" charset="0"/>
                        </a:rPr>
                        <a:t>384 filters, 3x3 kernel, Stride 1, Padding 1</a:t>
                      </a:r>
                    </a:p>
                  </a:txBody>
                  <a:tcPr marL="67708" marR="67708" marT="45138" marB="45138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6250169"/>
                  </a:ext>
                </a:extLst>
              </a:tr>
              <a:tr h="173027">
                <a:tc>
                  <a:txBody>
                    <a:bodyPr/>
                    <a:lstStyle/>
                    <a:p>
                      <a:pPr algn="just" rtl="0">
                        <a:buNone/>
                      </a:pPr>
                      <a:r>
                        <a:rPr lang="en-IN" sz="1200" b="1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cs typeface="Times New Roman" panose="02020603050405020304" pitchFamily="18" charset="0"/>
                        </a:rPr>
                        <a:t>CONV5</a:t>
                      </a:r>
                      <a:endParaRPr lang="en-IN" sz="1200" dirty="0">
                        <a:solidFill>
                          <a:srgbClr val="1F1F1F"/>
                        </a:solidFill>
                        <a:effectLst/>
                        <a:latin typeface="Arial Narrow" panose="020B0606020202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708" marR="67708" marT="45138" marB="45138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 rtl="0">
                        <a:buNone/>
                      </a:pPr>
                      <a:r>
                        <a:rPr lang="en-IN" sz="1200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cs typeface="Times New Roman" panose="02020603050405020304" pitchFamily="18" charset="0"/>
                        </a:rPr>
                        <a:t>Convolution</a:t>
                      </a:r>
                    </a:p>
                  </a:txBody>
                  <a:tcPr marL="67708" marR="67708" marT="45138" marB="45138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 rtl="0">
                        <a:buNone/>
                      </a:pPr>
                      <a:r>
                        <a:rPr lang="en-IN" sz="1200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cs typeface="Times New Roman" panose="02020603050405020304" pitchFamily="18" charset="0"/>
                        </a:rPr>
                        <a:t>256 filters, 3x3 kernel, Stride 1, Padding 1</a:t>
                      </a:r>
                    </a:p>
                  </a:txBody>
                  <a:tcPr marL="67708" marR="67708" marT="45138" marB="45138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8965837"/>
                  </a:ext>
                </a:extLst>
              </a:tr>
              <a:tr h="173027">
                <a:tc>
                  <a:txBody>
                    <a:bodyPr/>
                    <a:lstStyle/>
                    <a:p>
                      <a:pPr algn="just" rtl="0">
                        <a:buNone/>
                      </a:pPr>
                      <a:r>
                        <a:rPr lang="en-IN" sz="1200" b="1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cs typeface="Times New Roman" panose="02020603050405020304" pitchFamily="18" charset="0"/>
                        </a:rPr>
                        <a:t>MAX POOL3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Arial Narrow" panose="020B0606020202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708" marR="67708" marT="45138" marB="45138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 rtl="0">
                        <a:buNone/>
                      </a:pPr>
                      <a:r>
                        <a:rPr lang="en-IN" sz="1200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cs typeface="Times New Roman" panose="02020603050405020304" pitchFamily="18" charset="0"/>
                        </a:rPr>
                        <a:t>Pooling</a:t>
                      </a:r>
                    </a:p>
                  </a:txBody>
                  <a:tcPr marL="67708" marR="67708" marT="45138" marB="45138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 rtl="0">
                        <a:buNone/>
                      </a:pPr>
                      <a:r>
                        <a:rPr lang="en-IN" sz="1200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cs typeface="Times New Roman" panose="02020603050405020304" pitchFamily="18" charset="0"/>
                        </a:rPr>
                        <a:t>3x3 kernel, Stride 2</a:t>
                      </a:r>
                    </a:p>
                  </a:txBody>
                  <a:tcPr marL="67708" marR="67708" marT="45138" marB="45138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9829865"/>
                  </a:ext>
                </a:extLst>
              </a:tr>
              <a:tr h="285491">
                <a:tc>
                  <a:txBody>
                    <a:bodyPr/>
                    <a:lstStyle/>
                    <a:p>
                      <a:pPr algn="just" rtl="0">
                        <a:buNone/>
                      </a:pPr>
                      <a:r>
                        <a:rPr lang="en-IN" sz="1200" b="1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cs typeface="Times New Roman" panose="02020603050405020304" pitchFamily="18" charset="0"/>
                        </a:rPr>
                        <a:t>FC6</a:t>
                      </a:r>
                      <a:endParaRPr lang="en-IN" sz="1200" dirty="0">
                        <a:solidFill>
                          <a:srgbClr val="1F1F1F"/>
                        </a:solidFill>
                        <a:effectLst/>
                        <a:latin typeface="Arial Narrow" panose="020B0606020202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708" marR="67708" marT="45138" marB="45138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 rtl="0">
                        <a:buNone/>
                      </a:pPr>
                      <a:r>
                        <a:rPr lang="en-IN" sz="1200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cs typeface="Times New Roman" panose="02020603050405020304" pitchFamily="18" charset="0"/>
                        </a:rPr>
                        <a:t>Fully Connected</a:t>
                      </a:r>
                    </a:p>
                  </a:txBody>
                  <a:tcPr marL="67708" marR="67708" marT="45138" marB="45138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 rtl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cs typeface="Times New Roman" panose="02020603050405020304" pitchFamily="18" charset="0"/>
                        </a:rPr>
                        <a:t>4096 neurons (typically with Dropout)</a:t>
                      </a:r>
                    </a:p>
                  </a:txBody>
                  <a:tcPr marL="67708" marR="67708" marT="45138" marB="45138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9832335"/>
                  </a:ext>
                </a:extLst>
              </a:tr>
              <a:tr h="285491">
                <a:tc>
                  <a:txBody>
                    <a:bodyPr/>
                    <a:lstStyle/>
                    <a:p>
                      <a:pPr algn="just" rtl="0">
                        <a:buNone/>
                      </a:pPr>
                      <a:r>
                        <a:rPr lang="en-IN" sz="1200" b="1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cs typeface="Times New Roman" panose="02020603050405020304" pitchFamily="18" charset="0"/>
                        </a:rPr>
                        <a:t>FC7</a:t>
                      </a:r>
                      <a:endParaRPr lang="en-IN" sz="1200" dirty="0">
                        <a:solidFill>
                          <a:srgbClr val="1F1F1F"/>
                        </a:solidFill>
                        <a:effectLst/>
                        <a:latin typeface="Arial Narrow" panose="020B0606020202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708" marR="67708" marT="45138" marB="45138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 rtl="0">
                        <a:buNone/>
                      </a:pPr>
                      <a:r>
                        <a:rPr lang="en-IN" sz="1200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cs typeface="Times New Roman" panose="02020603050405020304" pitchFamily="18" charset="0"/>
                        </a:rPr>
                        <a:t>Fully Connected</a:t>
                      </a:r>
                    </a:p>
                  </a:txBody>
                  <a:tcPr marL="67708" marR="67708" marT="45138" marB="45138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 rtl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cs typeface="Times New Roman" panose="02020603050405020304" pitchFamily="18" charset="0"/>
                        </a:rPr>
                        <a:t>4096 neurons (typically with Dropout)</a:t>
                      </a:r>
                    </a:p>
                  </a:txBody>
                  <a:tcPr marL="67708" marR="67708" marT="45138" marB="45138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7111843"/>
                  </a:ext>
                </a:extLst>
              </a:tr>
              <a:tr h="285491">
                <a:tc>
                  <a:txBody>
                    <a:bodyPr/>
                    <a:lstStyle/>
                    <a:p>
                      <a:pPr algn="just" rtl="0">
                        <a:buNone/>
                      </a:pPr>
                      <a:r>
                        <a:rPr lang="en-IN" sz="1200" b="1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cs typeface="Times New Roman" panose="02020603050405020304" pitchFamily="18" charset="0"/>
                        </a:rPr>
                        <a:t>FC8</a:t>
                      </a:r>
                      <a:endParaRPr lang="en-IN" sz="1200" dirty="0">
                        <a:solidFill>
                          <a:srgbClr val="1F1F1F"/>
                        </a:solidFill>
                        <a:effectLst/>
                        <a:latin typeface="Arial Narrow" panose="020B0606020202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708" marR="67708" marT="45138" marB="45138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 rtl="0">
                        <a:buNone/>
                      </a:pPr>
                      <a:r>
                        <a:rPr lang="en-IN" sz="120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cs typeface="Times New Roman" panose="02020603050405020304" pitchFamily="18" charset="0"/>
                        </a:rPr>
                        <a:t>Fully Connected</a:t>
                      </a:r>
                    </a:p>
                  </a:txBody>
                  <a:tcPr marL="67708" marR="67708" marT="45138" marB="45138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 rtl="0">
                        <a:buNone/>
                      </a:pPr>
                      <a:r>
                        <a:rPr lang="en-IN" sz="1200" dirty="0">
                          <a:solidFill>
                            <a:srgbClr val="1F1F1F"/>
                          </a:solidFill>
                          <a:effectLst/>
                          <a:latin typeface="Arial Narrow" panose="020B0606020202030204" pitchFamily="34" charset="0"/>
                          <a:cs typeface="Times New Roman" panose="02020603050405020304" pitchFamily="18" charset="0"/>
                        </a:rPr>
                        <a:t>1000 neurons (Class scores/ Softmax)</a:t>
                      </a:r>
                    </a:p>
                  </a:txBody>
                  <a:tcPr marL="67708" marR="67708" marT="45138" marB="45138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46870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345783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18528"/>
            <a:ext cx="9330192" cy="552290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9827" y="6280172"/>
            <a:ext cx="117486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Arial Narrow" panose="020B0606020202030204" pitchFamily="34" charset="0"/>
              </a:rPr>
              <a:t>Image Source : </a:t>
            </a:r>
            <a:r>
              <a:rPr lang="en-US" sz="1400" dirty="0">
                <a:solidFill>
                  <a:srgbClr val="00B0F0"/>
                </a:solidFill>
                <a:latin typeface="Arial Narrow" panose="020B0606020202030204" pitchFamily="34" charset="0"/>
              </a:rPr>
              <a:t>Hu, </a:t>
            </a:r>
            <a:r>
              <a:rPr lang="en-US" sz="1400" dirty="0" err="1">
                <a:solidFill>
                  <a:srgbClr val="00B0F0"/>
                </a:solidFill>
                <a:latin typeface="Arial Narrow" panose="020B0606020202030204" pitchFamily="34" charset="0"/>
              </a:rPr>
              <a:t>Hanqing</a:t>
            </a:r>
            <a:r>
              <a:rPr lang="en-US" sz="1400" dirty="0">
                <a:solidFill>
                  <a:srgbClr val="00B0F0"/>
                </a:solidFill>
                <a:latin typeface="Arial Narrow" panose="020B0606020202030204" pitchFamily="34" charset="0"/>
              </a:rPr>
              <a:t> &amp; </a:t>
            </a:r>
            <a:r>
              <a:rPr lang="en-US" sz="1400" dirty="0" err="1">
                <a:solidFill>
                  <a:srgbClr val="00B0F0"/>
                </a:solidFill>
                <a:latin typeface="Arial Narrow" panose="020B0606020202030204" pitchFamily="34" charset="0"/>
              </a:rPr>
              <a:t>Lyu</a:t>
            </a:r>
            <a:r>
              <a:rPr lang="en-US" sz="1400" dirty="0">
                <a:solidFill>
                  <a:srgbClr val="00B0F0"/>
                </a:solidFill>
                <a:latin typeface="Arial Narrow" panose="020B0606020202030204" pitchFamily="34" charset="0"/>
              </a:rPr>
              <a:t>, </a:t>
            </a:r>
            <a:r>
              <a:rPr lang="en-US" sz="1400" dirty="0" err="1">
                <a:solidFill>
                  <a:srgbClr val="00B0F0"/>
                </a:solidFill>
                <a:latin typeface="Arial Narrow" panose="020B0606020202030204" pitchFamily="34" charset="0"/>
              </a:rPr>
              <a:t>Jin</a:t>
            </a:r>
            <a:r>
              <a:rPr lang="en-US" sz="1400" dirty="0">
                <a:solidFill>
                  <a:srgbClr val="00B0F0"/>
                </a:solidFill>
                <a:latin typeface="Arial Narrow" panose="020B0606020202030204" pitchFamily="34" charset="0"/>
              </a:rPr>
              <a:t> &amp; Yin, </a:t>
            </a:r>
            <a:r>
              <a:rPr lang="en-US" sz="1400" dirty="0" err="1">
                <a:solidFill>
                  <a:srgbClr val="00B0F0"/>
                </a:solidFill>
                <a:latin typeface="Arial Narrow" panose="020B0606020202030204" pitchFamily="34" charset="0"/>
              </a:rPr>
              <a:t>Xiaolin</a:t>
            </a:r>
            <a:r>
              <a:rPr lang="en-US" sz="1400" dirty="0">
                <a:solidFill>
                  <a:srgbClr val="00B0F0"/>
                </a:solidFill>
                <a:latin typeface="Arial Narrow" panose="020B0606020202030204" pitchFamily="34" charset="0"/>
              </a:rPr>
              <a:t>. (2020). Research and Prospect of Image Recognition Based on Convolutional Neural Network. Journal of Physics: Conference Series. 1574. 012161. 10.1088/1742-6596/1574/1/012161. </a:t>
            </a:r>
            <a:endParaRPr lang="en-IN" sz="1400" dirty="0">
              <a:solidFill>
                <a:srgbClr val="00B0F0"/>
              </a:solidFill>
              <a:latin typeface="Arial Narrow" panose="020B060602020203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756727" y="387931"/>
            <a:ext cx="2514855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</a:rPr>
              <a:t>First CNN based winner</a:t>
            </a:r>
          </a:p>
        </p:txBody>
      </p:sp>
      <p:cxnSp>
        <p:nvCxnSpPr>
          <p:cNvPr id="8" name="Straight Arrow Connector 7"/>
          <p:cNvCxnSpPr>
            <a:stCxn id="6" idx="2"/>
          </p:cNvCxnSpPr>
          <p:nvPr/>
        </p:nvCxnSpPr>
        <p:spPr>
          <a:xfrm>
            <a:off x="6014155" y="757263"/>
            <a:ext cx="1439590" cy="923755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761672" y="5439703"/>
            <a:ext cx="68799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ImageNet Large Scale Visual Recognition Challenge (ILSVRC) winners </a:t>
            </a:r>
          </a:p>
        </p:txBody>
      </p:sp>
    </p:spTree>
    <p:extLst>
      <p:ext uri="{BB962C8B-B14F-4D97-AF65-F5344CB8AC3E}">
        <p14:creationId xmlns:p14="http://schemas.microsoft.com/office/powerpoint/2010/main" val="28958460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37382"/>
            <a:ext cx="9330192" cy="552290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02309" y="6119336"/>
            <a:ext cx="117486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Arial Narrow" panose="020B0606020202030204" pitchFamily="34" charset="0"/>
              </a:rPr>
              <a:t>Image Source </a:t>
            </a:r>
            <a:r>
              <a:rPr lang="en-IN" sz="1400" b="1" dirty="0">
                <a:latin typeface="Arial Narrow" panose="020B0606020202030204" pitchFamily="34" charset="0"/>
              </a:rPr>
              <a:t>:</a:t>
            </a:r>
            <a:r>
              <a:rPr lang="en-IN" sz="1400" dirty="0">
                <a:latin typeface="Arial Narrow" panose="020B0606020202030204" pitchFamily="34" charset="0"/>
              </a:rPr>
              <a:t> </a:t>
            </a:r>
            <a:r>
              <a:rPr lang="en-US" sz="1400" dirty="0">
                <a:solidFill>
                  <a:srgbClr val="00B0F0"/>
                </a:solidFill>
                <a:latin typeface="Arial Narrow" panose="020B0606020202030204" pitchFamily="34" charset="0"/>
              </a:rPr>
              <a:t>Hu, </a:t>
            </a:r>
            <a:r>
              <a:rPr lang="en-US" sz="1400" dirty="0" err="1">
                <a:solidFill>
                  <a:srgbClr val="00B0F0"/>
                </a:solidFill>
                <a:latin typeface="Arial Narrow" panose="020B0606020202030204" pitchFamily="34" charset="0"/>
              </a:rPr>
              <a:t>Hanqing</a:t>
            </a:r>
            <a:r>
              <a:rPr lang="en-US" sz="1400" dirty="0">
                <a:solidFill>
                  <a:srgbClr val="00B0F0"/>
                </a:solidFill>
                <a:latin typeface="Arial Narrow" panose="020B0606020202030204" pitchFamily="34" charset="0"/>
              </a:rPr>
              <a:t> &amp; </a:t>
            </a:r>
            <a:r>
              <a:rPr lang="en-US" sz="1400" dirty="0" err="1">
                <a:solidFill>
                  <a:srgbClr val="00B0F0"/>
                </a:solidFill>
                <a:latin typeface="Arial Narrow" panose="020B0606020202030204" pitchFamily="34" charset="0"/>
              </a:rPr>
              <a:t>Lyu</a:t>
            </a:r>
            <a:r>
              <a:rPr lang="en-US" sz="1400" dirty="0">
                <a:solidFill>
                  <a:srgbClr val="00B0F0"/>
                </a:solidFill>
                <a:latin typeface="Arial Narrow" panose="020B0606020202030204" pitchFamily="34" charset="0"/>
              </a:rPr>
              <a:t>, </a:t>
            </a:r>
            <a:r>
              <a:rPr lang="en-US" sz="1400" dirty="0" err="1">
                <a:solidFill>
                  <a:srgbClr val="00B0F0"/>
                </a:solidFill>
                <a:latin typeface="Arial Narrow" panose="020B0606020202030204" pitchFamily="34" charset="0"/>
              </a:rPr>
              <a:t>Jin</a:t>
            </a:r>
            <a:r>
              <a:rPr lang="en-US" sz="1400" dirty="0">
                <a:solidFill>
                  <a:srgbClr val="00B0F0"/>
                </a:solidFill>
                <a:latin typeface="Arial Narrow" panose="020B0606020202030204" pitchFamily="34" charset="0"/>
              </a:rPr>
              <a:t> &amp; Yin, </a:t>
            </a:r>
            <a:r>
              <a:rPr lang="en-US" sz="1400" dirty="0" err="1">
                <a:solidFill>
                  <a:srgbClr val="00B0F0"/>
                </a:solidFill>
                <a:latin typeface="Arial Narrow" panose="020B0606020202030204" pitchFamily="34" charset="0"/>
              </a:rPr>
              <a:t>Xiaolin</a:t>
            </a:r>
            <a:r>
              <a:rPr lang="en-US" sz="1400" dirty="0">
                <a:solidFill>
                  <a:srgbClr val="00B0F0"/>
                </a:solidFill>
                <a:latin typeface="Arial Narrow" panose="020B0606020202030204" pitchFamily="34" charset="0"/>
              </a:rPr>
              <a:t>. (2020). Research and Prospect of Image Recognition Based on Convolutional Neural Network. Journal of Physics: Conference Series. 1574. 012161. 10.1088/1742-6596/1574/1/012161. </a:t>
            </a:r>
            <a:endParaRPr lang="en-IN" sz="1400" dirty="0">
              <a:solidFill>
                <a:srgbClr val="00B0F0"/>
              </a:solidFill>
              <a:latin typeface="Arial Narrow" panose="020B060602020203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761672" y="5439703"/>
            <a:ext cx="68799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ImageNet Large Scale Visual Recognition Challenge (ILSVRC) winners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57104" y="1488954"/>
            <a:ext cx="1705916" cy="40011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IN" sz="2000" dirty="0">
                <a:latin typeface="Arial Narrow" panose="020B0606020202030204" pitchFamily="34" charset="0"/>
              </a:rPr>
              <a:t>Deeper Network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48000" y="2028825"/>
            <a:ext cx="2524125" cy="2457450"/>
          </a:xfrm>
          <a:prstGeom prst="roundRect">
            <a:avLst/>
          </a:prstGeom>
          <a:solidFill>
            <a:schemeClr val="accent3">
              <a:lumMod val="60000"/>
              <a:lumOff val="40000"/>
              <a:alpha val="4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81756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427FAA-1708-49CB-B304-210419C5DD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1523968"/>
            <a:ext cx="4874443" cy="4351338"/>
          </a:xfrm>
        </p:spPr>
        <p:txBody>
          <a:bodyPr>
            <a:normAutofit/>
          </a:bodyPr>
          <a:lstStyle/>
          <a:p>
            <a:pPr algn="just"/>
            <a:r>
              <a:rPr lang="en-GB" sz="2000" dirty="0" err="1">
                <a:solidFill>
                  <a:srgbClr val="00B0F0"/>
                </a:solidFill>
                <a:latin typeface="Arial Narrow" panose="020B0606020202030204" pitchFamily="34" charset="0"/>
              </a:rPr>
              <a:t>VGGNet</a:t>
            </a:r>
            <a:r>
              <a:rPr lang="en-GB" sz="2000" dirty="0">
                <a:latin typeface="Arial Narrow" panose="020B0606020202030204" pitchFamily="34" charset="0"/>
              </a:rPr>
              <a:t>, proposed by </a:t>
            </a:r>
            <a:r>
              <a:rPr lang="en-GB" sz="2000" dirty="0">
                <a:solidFill>
                  <a:srgbClr val="00B0F0"/>
                </a:solidFill>
                <a:latin typeface="Arial Narrow" panose="020B0606020202030204" pitchFamily="34" charset="0"/>
              </a:rPr>
              <a:t>Karen </a:t>
            </a:r>
            <a:r>
              <a:rPr lang="en-GB" sz="2000" dirty="0" err="1">
                <a:solidFill>
                  <a:srgbClr val="00B0F0"/>
                </a:solidFill>
                <a:latin typeface="Arial Narrow" panose="020B0606020202030204" pitchFamily="34" charset="0"/>
              </a:rPr>
              <a:t>Simonyan</a:t>
            </a:r>
            <a:r>
              <a:rPr lang="en-GB" sz="2000" dirty="0">
                <a:solidFill>
                  <a:srgbClr val="00B0F0"/>
                </a:solidFill>
                <a:latin typeface="Arial Narrow" panose="020B0606020202030204" pitchFamily="34" charset="0"/>
              </a:rPr>
              <a:t> and Andrew Zisserman</a:t>
            </a:r>
            <a:r>
              <a:rPr lang="en-GB" sz="2000" dirty="0">
                <a:latin typeface="Arial Narrow" panose="020B0606020202030204" pitchFamily="34" charset="0"/>
              </a:rPr>
              <a:t> in 2014, is a deep convolutional neural network (CNN) architecture designed to improve image classification performance by </a:t>
            </a:r>
            <a:r>
              <a:rPr lang="en-GB" sz="2000" dirty="0">
                <a:solidFill>
                  <a:srgbClr val="00B0F0"/>
                </a:solidFill>
                <a:latin typeface="Arial Narrow" panose="020B0606020202030204" pitchFamily="34" charset="0"/>
              </a:rPr>
              <a:t>increasing network depth while using a simple and uniform design</a:t>
            </a:r>
            <a:r>
              <a:rPr lang="en-GB" sz="2000" dirty="0">
                <a:latin typeface="Arial Narrow" panose="020B0606020202030204" pitchFamily="34" charset="0"/>
              </a:rPr>
              <a:t>. </a:t>
            </a:r>
          </a:p>
          <a:p>
            <a:pPr algn="just"/>
            <a:endParaRPr lang="en-GB" sz="2000" dirty="0">
              <a:latin typeface="Arial Narrow" panose="020B0606020202030204" pitchFamily="34" charset="0"/>
            </a:endParaRPr>
          </a:p>
          <a:p>
            <a:pPr algn="just"/>
            <a:r>
              <a:rPr lang="en-GB" sz="2000" dirty="0">
                <a:latin typeface="Arial Narrow" panose="020B0606020202030204" pitchFamily="34" charset="0"/>
              </a:rPr>
              <a:t>The most widely used variants, </a:t>
            </a:r>
            <a:r>
              <a:rPr lang="en-GB" sz="2000" dirty="0">
                <a:solidFill>
                  <a:srgbClr val="00B0F0"/>
                </a:solidFill>
                <a:latin typeface="Arial Narrow" panose="020B0606020202030204" pitchFamily="34" charset="0"/>
              </a:rPr>
              <a:t>VGG-16</a:t>
            </a:r>
            <a:r>
              <a:rPr lang="en-GB" sz="2000" dirty="0">
                <a:latin typeface="Arial Narrow" panose="020B0606020202030204" pitchFamily="34" charset="0"/>
              </a:rPr>
              <a:t> and </a:t>
            </a:r>
            <a:r>
              <a:rPr lang="en-GB" sz="2000" dirty="0">
                <a:solidFill>
                  <a:srgbClr val="00B0F0"/>
                </a:solidFill>
                <a:latin typeface="Arial Narrow" panose="020B0606020202030204" pitchFamily="34" charset="0"/>
              </a:rPr>
              <a:t>VGG-19</a:t>
            </a:r>
            <a:r>
              <a:rPr lang="en-GB" sz="2000" dirty="0">
                <a:latin typeface="Arial Narrow" panose="020B0606020202030204" pitchFamily="34" charset="0"/>
              </a:rPr>
              <a:t>, contain </a:t>
            </a:r>
            <a:r>
              <a:rPr lang="en-GB" sz="2000" dirty="0">
                <a:solidFill>
                  <a:srgbClr val="00B0F0"/>
                </a:solidFill>
                <a:latin typeface="Arial Narrow" panose="020B0606020202030204" pitchFamily="34" charset="0"/>
              </a:rPr>
              <a:t>16</a:t>
            </a:r>
            <a:r>
              <a:rPr lang="en-GB" sz="2000" dirty="0">
                <a:latin typeface="Arial Narrow" panose="020B0606020202030204" pitchFamily="34" charset="0"/>
              </a:rPr>
              <a:t> and </a:t>
            </a:r>
            <a:r>
              <a:rPr lang="en-GB" sz="2000" dirty="0">
                <a:solidFill>
                  <a:srgbClr val="00B0F0"/>
                </a:solidFill>
                <a:latin typeface="Arial Narrow" panose="020B0606020202030204" pitchFamily="34" charset="0"/>
              </a:rPr>
              <a:t>19 learnable layers</a:t>
            </a:r>
            <a:r>
              <a:rPr lang="en-GB" sz="2000" dirty="0">
                <a:latin typeface="Arial Narrow" panose="020B0606020202030204" pitchFamily="34" charset="0"/>
              </a:rPr>
              <a:t>, respectively, composed of multiple </a:t>
            </a:r>
            <a:r>
              <a:rPr lang="en-GB" sz="2000" dirty="0">
                <a:solidFill>
                  <a:srgbClr val="00B0F0"/>
                </a:solidFill>
                <a:latin typeface="Arial Narrow" panose="020B0606020202030204" pitchFamily="34" charset="0"/>
              </a:rPr>
              <a:t>3 × 3 convolutional layers </a:t>
            </a:r>
            <a:r>
              <a:rPr lang="en-GB" sz="2000" dirty="0">
                <a:latin typeface="Arial Narrow" panose="020B0606020202030204" pitchFamily="34" charset="0"/>
              </a:rPr>
              <a:t>with a stride of 1 and padding to preserve spatial dimensions, interleaved with </a:t>
            </a:r>
            <a:r>
              <a:rPr lang="en-GB" sz="2000" dirty="0">
                <a:solidFill>
                  <a:srgbClr val="00B0F0"/>
                </a:solidFill>
                <a:latin typeface="Arial Narrow" panose="020B0606020202030204" pitchFamily="34" charset="0"/>
              </a:rPr>
              <a:t>2 × 2 max-pooling layers </a:t>
            </a:r>
            <a:r>
              <a:rPr lang="en-GB" sz="2000" dirty="0">
                <a:latin typeface="Arial Narrow" panose="020B0606020202030204" pitchFamily="34" charset="0"/>
              </a:rPr>
              <a:t>that reduce the feature map size.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4EFCD8E-2D0B-47B7-A2F1-E231EDC3FA41}"/>
              </a:ext>
            </a:extLst>
          </p:cNvPr>
          <p:cNvSpPr txBox="1">
            <a:spLocks/>
          </p:cNvSpPr>
          <p:nvPr/>
        </p:nvSpPr>
        <p:spPr>
          <a:xfrm>
            <a:off x="371475" y="289902"/>
            <a:ext cx="6974844" cy="10999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600" dirty="0">
                <a:latin typeface="Century" panose="02040604050505020304" pitchFamily="18" charset="0"/>
              </a:rPr>
              <a:t>VGG Net </a:t>
            </a:r>
            <a:br>
              <a:rPr lang="en-IN" sz="3600" dirty="0">
                <a:latin typeface="Century" panose="02040604050505020304" pitchFamily="18" charset="0"/>
              </a:rPr>
            </a:br>
            <a:r>
              <a:rPr lang="en-IN" sz="2400" dirty="0" err="1">
                <a:solidFill>
                  <a:srgbClr val="DE76E6"/>
                </a:solidFill>
                <a:latin typeface="Century" panose="02040604050505020304" pitchFamily="18" charset="0"/>
              </a:rPr>
              <a:t>Simonyan</a:t>
            </a:r>
            <a:r>
              <a:rPr lang="en-IN" sz="2400" dirty="0">
                <a:solidFill>
                  <a:srgbClr val="DE76E6"/>
                </a:solidFill>
                <a:latin typeface="Century" panose="02040604050505020304" pitchFamily="18" charset="0"/>
              </a:rPr>
              <a:t> and Zisserman 2014</a:t>
            </a:r>
            <a:endParaRPr lang="en-IN" sz="3600" dirty="0">
              <a:solidFill>
                <a:srgbClr val="DE76E6"/>
              </a:solidFill>
              <a:latin typeface="Century" panose="020406040505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9BC474-334A-4F9D-9BCC-0ABD9BBC0688}"/>
              </a:ext>
            </a:extLst>
          </p:cNvPr>
          <p:cNvSpPr txBox="1"/>
          <p:nvPr/>
        </p:nvSpPr>
        <p:spPr>
          <a:xfrm>
            <a:off x="5551632" y="2639868"/>
            <a:ext cx="2257425" cy="369332"/>
          </a:xfrm>
          <a:prstGeom prst="rect">
            <a:avLst/>
          </a:prstGeom>
          <a:solidFill>
            <a:schemeClr val="accent2">
              <a:lumMod val="60000"/>
              <a:lumOff val="40000"/>
              <a:alpha val="47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  <a:t>3x3 Conv + </a:t>
            </a:r>
            <a:r>
              <a:rPr lang="en-IN" dirty="0" err="1">
                <a:latin typeface="Arial Narrow" panose="020B0606020202030204" pitchFamily="34" charset="0"/>
                <a:cs typeface="Times New Roman" panose="02020603050405020304" pitchFamily="18" charset="0"/>
              </a:rPr>
              <a:t>ReLU</a:t>
            </a:r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  <a:t> 64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C2B422-823E-4063-AE83-4F4EB2F9A16F}"/>
              </a:ext>
            </a:extLst>
          </p:cNvPr>
          <p:cNvSpPr txBox="1"/>
          <p:nvPr/>
        </p:nvSpPr>
        <p:spPr>
          <a:xfrm>
            <a:off x="5555549" y="3009200"/>
            <a:ext cx="2257425" cy="369332"/>
          </a:xfrm>
          <a:prstGeom prst="rect">
            <a:avLst/>
          </a:prstGeom>
          <a:solidFill>
            <a:schemeClr val="accent2">
              <a:lumMod val="60000"/>
              <a:lumOff val="40000"/>
              <a:alpha val="47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  <a:t>3x3 Conv + </a:t>
            </a:r>
            <a:r>
              <a:rPr lang="en-IN" dirty="0" err="1">
                <a:latin typeface="Arial Narrow" panose="020B0606020202030204" pitchFamily="34" charset="0"/>
                <a:cs typeface="Times New Roman" panose="02020603050405020304" pitchFamily="18" charset="0"/>
              </a:rPr>
              <a:t>ReLU</a:t>
            </a:r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  <a:t> 64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FFC267-1B48-43CE-8792-2230A33E6553}"/>
              </a:ext>
            </a:extLst>
          </p:cNvPr>
          <p:cNvSpPr txBox="1"/>
          <p:nvPr/>
        </p:nvSpPr>
        <p:spPr>
          <a:xfrm>
            <a:off x="5551631" y="3378532"/>
            <a:ext cx="2257425" cy="369332"/>
          </a:xfrm>
          <a:prstGeom prst="rect">
            <a:avLst/>
          </a:prstGeom>
          <a:solidFill>
            <a:schemeClr val="accent6">
              <a:lumMod val="60000"/>
              <a:lumOff val="40000"/>
              <a:alpha val="54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  <a:t>2x2 Max-Pool 64</a:t>
            </a:r>
          </a:p>
        </p:txBody>
      </p:sp>
      <p:cxnSp>
        <p:nvCxnSpPr>
          <p:cNvPr id="8" name="Elbow Connector 10">
            <a:extLst>
              <a:ext uri="{FF2B5EF4-FFF2-40B4-BE49-F238E27FC236}">
                <a16:creationId xmlns:a16="http://schemas.microsoft.com/office/drawing/2014/main" id="{7F797734-2FCA-4FA3-B276-C9473A9A2804}"/>
              </a:ext>
            </a:extLst>
          </p:cNvPr>
          <p:cNvCxnSpPr>
            <a:stCxn id="48" idx="1"/>
            <a:endCxn id="5" idx="0"/>
          </p:cNvCxnSpPr>
          <p:nvPr/>
        </p:nvCxnSpPr>
        <p:spPr>
          <a:xfrm rot="10800000" flipV="1">
            <a:off x="6680345" y="1191878"/>
            <a:ext cx="1560624" cy="1447990"/>
          </a:xfrm>
          <a:prstGeom prst="bentConnector2">
            <a:avLst/>
          </a:prstGeom>
          <a:ln w="158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715214FD-400C-4E14-AD00-DBA7D724C78B}"/>
              </a:ext>
            </a:extLst>
          </p:cNvPr>
          <p:cNvGrpSpPr/>
          <p:nvPr/>
        </p:nvGrpSpPr>
        <p:grpSpPr>
          <a:xfrm>
            <a:off x="8240969" y="207523"/>
            <a:ext cx="1698092" cy="6584703"/>
            <a:chOff x="6175635" y="51083"/>
            <a:chExt cx="1698092" cy="6584703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4B32E3E-A6FA-467F-AA29-4B5AFE922883}"/>
                </a:ext>
              </a:extLst>
            </p:cNvPr>
            <p:cNvSpPr/>
            <p:nvPr/>
          </p:nvSpPr>
          <p:spPr>
            <a:xfrm>
              <a:off x="6721202" y="775592"/>
              <a:ext cx="1152525" cy="180975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47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 X 3 </a:t>
              </a:r>
              <a:r>
                <a:rPr lang="en-IN" sz="7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conv</a:t>
              </a:r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+ </a:t>
              </a:r>
              <a:r>
                <a:rPr lang="en-IN" sz="7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Relu</a:t>
              </a:r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64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C696734-FCCB-49FA-BCEB-7BF141369DB7}"/>
                </a:ext>
              </a:extLst>
            </p:cNvPr>
            <p:cNvSpPr/>
            <p:nvPr/>
          </p:nvSpPr>
          <p:spPr>
            <a:xfrm>
              <a:off x="6721202" y="956567"/>
              <a:ext cx="1152525" cy="180975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47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 X 3 </a:t>
              </a:r>
              <a:r>
                <a:rPr lang="en-IN" sz="7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conv</a:t>
              </a:r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+ </a:t>
              </a:r>
              <a:r>
                <a:rPr lang="en-IN" sz="7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Relu</a:t>
              </a:r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64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01E63E0-0F64-48AA-AB84-6F9174893F6F}"/>
                </a:ext>
              </a:extLst>
            </p:cNvPr>
            <p:cNvSpPr/>
            <p:nvPr/>
          </p:nvSpPr>
          <p:spPr>
            <a:xfrm>
              <a:off x="6721202" y="1137542"/>
              <a:ext cx="1152525" cy="180975"/>
            </a:xfrm>
            <a:prstGeom prst="rect">
              <a:avLst/>
            </a:prstGeom>
            <a:solidFill>
              <a:schemeClr val="accent6">
                <a:lumMod val="60000"/>
                <a:lumOff val="40000"/>
                <a:alpha val="54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 X 2 Max – Pool 64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50E7286-2A1E-48E2-A003-C78007F4218B}"/>
                </a:ext>
              </a:extLst>
            </p:cNvPr>
            <p:cNvSpPr/>
            <p:nvPr/>
          </p:nvSpPr>
          <p:spPr>
            <a:xfrm>
              <a:off x="6721202" y="1543942"/>
              <a:ext cx="1152525" cy="180975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47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 X 3 </a:t>
              </a:r>
              <a:r>
                <a:rPr lang="en-IN" sz="7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conv</a:t>
              </a:r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+ </a:t>
              </a:r>
              <a:r>
                <a:rPr lang="en-IN" sz="7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Relu</a:t>
              </a:r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128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7AC1AEE-D5FC-42D9-85C3-902D60EF1163}"/>
                </a:ext>
              </a:extLst>
            </p:cNvPr>
            <p:cNvSpPr/>
            <p:nvPr/>
          </p:nvSpPr>
          <p:spPr>
            <a:xfrm>
              <a:off x="6721202" y="1724917"/>
              <a:ext cx="1152525" cy="180975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47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 X 3 </a:t>
              </a:r>
              <a:r>
                <a:rPr lang="en-IN" sz="7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conv</a:t>
              </a:r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+ </a:t>
              </a:r>
              <a:r>
                <a:rPr lang="en-IN" sz="7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Relu</a:t>
              </a:r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128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FE18B82-D069-4BBD-8343-4B2E92FB7C71}"/>
                </a:ext>
              </a:extLst>
            </p:cNvPr>
            <p:cNvSpPr/>
            <p:nvPr/>
          </p:nvSpPr>
          <p:spPr>
            <a:xfrm>
              <a:off x="6721202" y="1905892"/>
              <a:ext cx="1152525" cy="180975"/>
            </a:xfrm>
            <a:prstGeom prst="rect">
              <a:avLst/>
            </a:prstGeom>
            <a:solidFill>
              <a:schemeClr val="accent6">
                <a:lumMod val="60000"/>
                <a:lumOff val="40000"/>
                <a:alpha val="54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 X 2 Max – Pool 128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69C217F-6BDA-45C8-A9F4-71907ADD9E40}"/>
                </a:ext>
              </a:extLst>
            </p:cNvPr>
            <p:cNvSpPr/>
            <p:nvPr/>
          </p:nvSpPr>
          <p:spPr>
            <a:xfrm>
              <a:off x="6721198" y="2317423"/>
              <a:ext cx="1152525" cy="180975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47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 X 3 </a:t>
              </a:r>
              <a:r>
                <a:rPr lang="en-IN" sz="7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conv</a:t>
              </a:r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+ </a:t>
              </a:r>
              <a:r>
                <a:rPr lang="en-IN" sz="7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Relu</a:t>
              </a:r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256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B5190EA9-D00B-4AF7-A1B8-CE38EAAACFAB}"/>
                </a:ext>
              </a:extLst>
            </p:cNvPr>
            <p:cNvSpPr/>
            <p:nvPr/>
          </p:nvSpPr>
          <p:spPr>
            <a:xfrm>
              <a:off x="6721198" y="2498398"/>
              <a:ext cx="1152525" cy="180975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47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 X 3 </a:t>
              </a:r>
              <a:r>
                <a:rPr lang="en-IN" sz="7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conv</a:t>
              </a:r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+ </a:t>
              </a:r>
              <a:r>
                <a:rPr lang="en-IN" sz="7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Relu</a:t>
              </a:r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256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5132192-0DB7-4C89-BB3E-3B5D8EE998FE}"/>
                </a:ext>
              </a:extLst>
            </p:cNvPr>
            <p:cNvSpPr/>
            <p:nvPr/>
          </p:nvSpPr>
          <p:spPr>
            <a:xfrm>
              <a:off x="6721198" y="2679373"/>
              <a:ext cx="1152525" cy="180975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47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 X 3 </a:t>
              </a:r>
              <a:r>
                <a:rPr lang="en-IN" sz="7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conv</a:t>
              </a:r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+ </a:t>
              </a:r>
              <a:r>
                <a:rPr lang="en-IN" sz="7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Relu</a:t>
              </a:r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256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D81784B3-87DC-4CF7-87DA-8E1C9FD4E1DA}"/>
                </a:ext>
              </a:extLst>
            </p:cNvPr>
            <p:cNvSpPr/>
            <p:nvPr/>
          </p:nvSpPr>
          <p:spPr>
            <a:xfrm>
              <a:off x="6721197" y="2860348"/>
              <a:ext cx="1152525" cy="180975"/>
            </a:xfrm>
            <a:prstGeom prst="rect">
              <a:avLst/>
            </a:prstGeom>
            <a:solidFill>
              <a:schemeClr val="accent6">
                <a:lumMod val="60000"/>
                <a:lumOff val="40000"/>
                <a:alpha val="54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 X 2 Max – Pool 256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4EE7636C-06C3-42A6-8FEE-F1FADACA7387}"/>
                </a:ext>
              </a:extLst>
            </p:cNvPr>
            <p:cNvSpPr/>
            <p:nvPr/>
          </p:nvSpPr>
          <p:spPr>
            <a:xfrm>
              <a:off x="6721197" y="3266563"/>
              <a:ext cx="1152525" cy="180975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47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 X 3 </a:t>
              </a:r>
              <a:r>
                <a:rPr lang="en-IN" sz="7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conv</a:t>
              </a:r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+ </a:t>
              </a:r>
              <a:r>
                <a:rPr lang="en-IN" sz="7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Relu</a:t>
              </a:r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512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80780333-B577-4656-A4C2-DD0457EA782F}"/>
                </a:ext>
              </a:extLst>
            </p:cNvPr>
            <p:cNvSpPr/>
            <p:nvPr/>
          </p:nvSpPr>
          <p:spPr>
            <a:xfrm>
              <a:off x="6721197" y="3447538"/>
              <a:ext cx="1152525" cy="180975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47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 X 3 </a:t>
              </a:r>
              <a:r>
                <a:rPr lang="en-IN" sz="7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conv</a:t>
              </a:r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+ </a:t>
              </a:r>
              <a:r>
                <a:rPr lang="en-IN" sz="7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Relu</a:t>
              </a:r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512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D649F394-967C-4813-833C-3BE58C1802D8}"/>
                </a:ext>
              </a:extLst>
            </p:cNvPr>
            <p:cNvSpPr/>
            <p:nvPr/>
          </p:nvSpPr>
          <p:spPr>
            <a:xfrm>
              <a:off x="6721197" y="3628513"/>
              <a:ext cx="1152525" cy="180975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47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 X 3 </a:t>
              </a:r>
              <a:r>
                <a:rPr lang="en-IN" sz="7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conv</a:t>
              </a:r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+ </a:t>
              </a:r>
              <a:r>
                <a:rPr lang="en-IN" sz="7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Relu</a:t>
              </a:r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512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FE43174B-954F-4995-BF2E-D3D6B920F88C}"/>
                </a:ext>
              </a:extLst>
            </p:cNvPr>
            <p:cNvSpPr/>
            <p:nvPr/>
          </p:nvSpPr>
          <p:spPr>
            <a:xfrm>
              <a:off x="6721196" y="3809488"/>
              <a:ext cx="1152525" cy="180975"/>
            </a:xfrm>
            <a:prstGeom prst="rect">
              <a:avLst/>
            </a:prstGeom>
            <a:solidFill>
              <a:schemeClr val="accent6">
                <a:lumMod val="60000"/>
                <a:lumOff val="40000"/>
                <a:alpha val="54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 X 2 Max – Pool 512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592ED444-F0ED-4AED-9323-B0C7B22B4460}"/>
                </a:ext>
              </a:extLst>
            </p:cNvPr>
            <p:cNvSpPr/>
            <p:nvPr/>
          </p:nvSpPr>
          <p:spPr>
            <a:xfrm>
              <a:off x="6721197" y="4219245"/>
              <a:ext cx="1152525" cy="180975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47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 X 3 </a:t>
              </a:r>
              <a:r>
                <a:rPr lang="en-IN" sz="7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conv</a:t>
              </a:r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+ </a:t>
              </a:r>
              <a:r>
                <a:rPr lang="en-IN" sz="7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Relu</a:t>
              </a:r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512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BF2967D8-974A-40CF-8660-CCDADA76CD69}"/>
                </a:ext>
              </a:extLst>
            </p:cNvPr>
            <p:cNvSpPr/>
            <p:nvPr/>
          </p:nvSpPr>
          <p:spPr>
            <a:xfrm>
              <a:off x="6721197" y="4400220"/>
              <a:ext cx="1152525" cy="180975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47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 X 3 </a:t>
              </a:r>
              <a:r>
                <a:rPr lang="en-IN" sz="7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conv</a:t>
              </a:r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+ </a:t>
              </a:r>
              <a:r>
                <a:rPr lang="en-IN" sz="7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Relu</a:t>
              </a:r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512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17FDB2C9-4AE5-415D-BAB9-21642528BF0C}"/>
                </a:ext>
              </a:extLst>
            </p:cNvPr>
            <p:cNvSpPr/>
            <p:nvPr/>
          </p:nvSpPr>
          <p:spPr>
            <a:xfrm>
              <a:off x="6721197" y="4581195"/>
              <a:ext cx="1152525" cy="180975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47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 X 3 </a:t>
              </a:r>
              <a:r>
                <a:rPr lang="en-IN" sz="7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conv</a:t>
              </a:r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+ </a:t>
              </a:r>
              <a:r>
                <a:rPr lang="en-IN" sz="7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Relu</a:t>
              </a:r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512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D39DCB87-7DC6-4423-9A17-87F82BA8368F}"/>
                </a:ext>
              </a:extLst>
            </p:cNvPr>
            <p:cNvSpPr/>
            <p:nvPr/>
          </p:nvSpPr>
          <p:spPr>
            <a:xfrm>
              <a:off x="6721196" y="4762170"/>
              <a:ext cx="1152525" cy="180975"/>
            </a:xfrm>
            <a:prstGeom prst="rect">
              <a:avLst/>
            </a:prstGeom>
            <a:solidFill>
              <a:schemeClr val="accent6">
                <a:lumMod val="60000"/>
                <a:lumOff val="40000"/>
                <a:alpha val="54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7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 X 2 Max – Pool 512</a:t>
              </a:r>
              <a:endParaRPr lang="en-IN" sz="7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43326B92-893B-424A-98BF-DCF439C41A23}"/>
                </a:ext>
              </a:extLst>
            </p:cNvPr>
            <p:cNvSpPr/>
            <p:nvPr/>
          </p:nvSpPr>
          <p:spPr>
            <a:xfrm>
              <a:off x="6721197" y="5177972"/>
              <a:ext cx="1152525" cy="180975"/>
            </a:xfrm>
            <a:prstGeom prst="rect">
              <a:avLst/>
            </a:prstGeom>
            <a:solidFill>
              <a:schemeClr val="accent4">
                <a:lumMod val="40000"/>
                <a:lumOff val="60000"/>
                <a:alpha val="7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FC 4096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A5764DD1-4C3B-4FA1-8A4E-530A31047967}"/>
                </a:ext>
              </a:extLst>
            </p:cNvPr>
            <p:cNvSpPr/>
            <p:nvPr/>
          </p:nvSpPr>
          <p:spPr>
            <a:xfrm>
              <a:off x="6721197" y="5588646"/>
              <a:ext cx="1152525" cy="180975"/>
            </a:xfrm>
            <a:prstGeom prst="rect">
              <a:avLst/>
            </a:prstGeom>
            <a:solidFill>
              <a:schemeClr val="accent4">
                <a:lumMod val="40000"/>
                <a:lumOff val="60000"/>
                <a:alpha val="7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FC 4096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30F54850-F1F0-4A2C-940F-89129DBAC394}"/>
                </a:ext>
              </a:extLst>
            </p:cNvPr>
            <p:cNvSpPr/>
            <p:nvPr/>
          </p:nvSpPr>
          <p:spPr>
            <a:xfrm>
              <a:off x="6721196" y="6005183"/>
              <a:ext cx="1152525" cy="180975"/>
            </a:xfrm>
            <a:prstGeom prst="rect">
              <a:avLst/>
            </a:prstGeom>
            <a:solidFill>
              <a:schemeClr val="accent4">
                <a:lumMod val="40000"/>
                <a:lumOff val="60000"/>
                <a:alpha val="7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FC Output 1000</a:t>
              </a:r>
            </a:p>
          </p:txBody>
        </p:sp>
        <p:sp>
          <p:nvSpPr>
            <p:cNvPr id="31" name="Down Arrow 277">
              <a:extLst>
                <a:ext uri="{FF2B5EF4-FFF2-40B4-BE49-F238E27FC236}">
                  <a16:creationId xmlns:a16="http://schemas.microsoft.com/office/drawing/2014/main" id="{918AD664-79CA-420B-BB2D-0B41CF5DB379}"/>
                </a:ext>
              </a:extLst>
            </p:cNvPr>
            <p:cNvSpPr/>
            <p:nvPr/>
          </p:nvSpPr>
          <p:spPr>
            <a:xfrm>
              <a:off x="7223694" y="545036"/>
              <a:ext cx="141177" cy="225425"/>
            </a:xfrm>
            <a:prstGeom prst="downArrow">
              <a:avLst/>
            </a:prstGeom>
            <a:solidFill>
              <a:schemeClr val="accent4">
                <a:lumMod val="75000"/>
                <a:alpha val="43000"/>
              </a:schemeClr>
            </a:solidFill>
            <a:ln w="15875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2" name="Down Arrow 278">
              <a:extLst>
                <a:ext uri="{FF2B5EF4-FFF2-40B4-BE49-F238E27FC236}">
                  <a16:creationId xmlns:a16="http://schemas.microsoft.com/office/drawing/2014/main" id="{26927B41-6AFF-4D22-967F-87C929E800E2}"/>
                </a:ext>
              </a:extLst>
            </p:cNvPr>
            <p:cNvSpPr/>
            <p:nvPr/>
          </p:nvSpPr>
          <p:spPr>
            <a:xfrm>
              <a:off x="7223693" y="1319799"/>
              <a:ext cx="141177" cy="216392"/>
            </a:xfrm>
            <a:prstGeom prst="downArrow">
              <a:avLst/>
            </a:prstGeom>
            <a:solidFill>
              <a:schemeClr val="accent4">
                <a:lumMod val="75000"/>
                <a:alpha val="43000"/>
              </a:schemeClr>
            </a:solidFill>
            <a:ln w="15875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70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" name="Down Arrow 279">
              <a:extLst>
                <a:ext uri="{FF2B5EF4-FFF2-40B4-BE49-F238E27FC236}">
                  <a16:creationId xmlns:a16="http://schemas.microsoft.com/office/drawing/2014/main" id="{0641535A-EB24-4A71-A4E5-2B3682AB7886}"/>
                </a:ext>
              </a:extLst>
            </p:cNvPr>
            <p:cNvSpPr/>
            <p:nvPr/>
          </p:nvSpPr>
          <p:spPr>
            <a:xfrm>
              <a:off x="7223692" y="2086682"/>
              <a:ext cx="141177" cy="216392"/>
            </a:xfrm>
            <a:prstGeom prst="downArrow">
              <a:avLst/>
            </a:prstGeom>
            <a:solidFill>
              <a:schemeClr val="accent4">
                <a:lumMod val="75000"/>
                <a:alpha val="43000"/>
              </a:schemeClr>
            </a:solidFill>
            <a:ln w="15875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70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4" name="Down Arrow 280">
              <a:extLst>
                <a:ext uri="{FF2B5EF4-FFF2-40B4-BE49-F238E27FC236}">
                  <a16:creationId xmlns:a16="http://schemas.microsoft.com/office/drawing/2014/main" id="{26306136-17E3-4C01-B3DD-6434E043B884}"/>
                </a:ext>
              </a:extLst>
            </p:cNvPr>
            <p:cNvSpPr/>
            <p:nvPr/>
          </p:nvSpPr>
          <p:spPr>
            <a:xfrm>
              <a:off x="7223691" y="3045775"/>
              <a:ext cx="141177" cy="216392"/>
            </a:xfrm>
            <a:prstGeom prst="downArrow">
              <a:avLst/>
            </a:prstGeom>
            <a:solidFill>
              <a:schemeClr val="accent4">
                <a:lumMod val="75000"/>
                <a:alpha val="43000"/>
              </a:schemeClr>
            </a:solidFill>
            <a:ln w="15875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70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5" name="Down Arrow 281">
              <a:extLst>
                <a:ext uri="{FF2B5EF4-FFF2-40B4-BE49-F238E27FC236}">
                  <a16:creationId xmlns:a16="http://schemas.microsoft.com/office/drawing/2014/main" id="{389CFCBD-F7EC-4A21-B04D-7AB94BD4901E}"/>
                </a:ext>
              </a:extLst>
            </p:cNvPr>
            <p:cNvSpPr/>
            <p:nvPr/>
          </p:nvSpPr>
          <p:spPr>
            <a:xfrm>
              <a:off x="7223690" y="3998090"/>
              <a:ext cx="141177" cy="216392"/>
            </a:xfrm>
            <a:prstGeom prst="downArrow">
              <a:avLst/>
            </a:prstGeom>
            <a:solidFill>
              <a:schemeClr val="accent4">
                <a:lumMod val="75000"/>
                <a:alpha val="43000"/>
              </a:schemeClr>
            </a:solidFill>
            <a:ln w="15875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70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" name="Down Arrow 282">
              <a:extLst>
                <a:ext uri="{FF2B5EF4-FFF2-40B4-BE49-F238E27FC236}">
                  <a16:creationId xmlns:a16="http://schemas.microsoft.com/office/drawing/2014/main" id="{079DAEAC-B677-4B3D-9028-29C962886577}"/>
                </a:ext>
              </a:extLst>
            </p:cNvPr>
            <p:cNvSpPr/>
            <p:nvPr/>
          </p:nvSpPr>
          <p:spPr>
            <a:xfrm>
              <a:off x="7223690" y="4946060"/>
              <a:ext cx="141177" cy="216392"/>
            </a:xfrm>
            <a:prstGeom prst="downArrow">
              <a:avLst/>
            </a:prstGeom>
            <a:solidFill>
              <a:schemeClr val="accent4">
                <a:lumMod val="75000"/>
                <a:alpha val="43000"/>
              </a:schemeClr>
            </a:solidFill>
            <a:ln w="15875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7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7" name="Down Arrow 283">
              <a:extLst>
                <a:ext uri="{FF2B5EF4-FFF2-40B4-BE49-F238E27FC236}">
                  <a16:creationId xmlns:a16="http://schemas.microsoft.com/office/drawing/2014/main" id="{9A7BB7CF-3AF8-4CDB-A99B-356A179269C9}"/>
                </a:ext>
              </a:extLst>
            </p:cNvPr>
            <p:cNvSpPr/>
            <p:nvPr/>
          </p:nvSpPr>
          <p:spPr>
            <a:xfrm>
              <a:off x="7223689" y="5358947"/>
              <a:ext cx="141177" cy="216392"/>
            </a:xfrm>
            <a:prstGeom prst="downArrow">
              <a:avLst/>
            </a:prstGeom>
            <a:solidFill>
              <a:schemeClr val="accent4">
                <a:lumMod val="75000"/>
                <a:alpha val="43000"/>
              </a:schemeClr>
            </a:solidFill>
            <a:ln w="15875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7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8" name="Down Arrow 284">
              <a:extLst>
                <a:ext uri="{FF2B5EF4-FFF2-40B4-BE49-F238E27FC236}">
                  <a16:creationId xmlns:a16="http://schemas.microsoft.com/office/drawing/2014/main" id="{FAA1D64D-BBE3-44CE-A184-875205F01751}"/>
                </a:ext>
              </a:extLst>
            </p:cNvPr>
            <p:cNvSpPr/>
            <p:nvPr/>
          </p:nvSpPr>
          <p:spPr>
            <a:xfrm>
              <a:off x="7223689" y="5773158"/>
              <a:ext cx="141177" cy="216392"/>
            </a:xfrm>
            <a:prstGeom prst="downArrow">
              <a:avLst/>
            </a:prstGeom>
            <a:solidFill>
              <a:schemeClr val="accent4">
                <a:lumMod val="75000"/>
                <a:alpha val="43000"/>
              </a:schemeClr>
            </a:solidFill>
            <a:ln w="15875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7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9" name="Down Arrow 285">
              <a:extLst>
                <a:ext uri="{FF2B5EF4-FFF2-40B4-BE49-F238E27FC236}">
                  <a16:creationId xmlns:a16="http://schemas.microsoft.com/office/drawing/2014/main" id="{A478664D-2EA5-4728-8191-FC3E9D2BA292}"/>
                </a:ext>
              </a:extLst>
            </p:cNvPr>
            <p:cNvSpPr/>
            <p:nvPr/>
          </p:nvSpPr>
          <p:spPr>
            <a:xfrm>
              <a:off x="7223689" y="6186158"/>
              <a:ext cx="141177" cy="216392"/>
            </a:xfrm>
            <a:prstGeom prst="downArrow">
              <a:avLst/>
            </a:prstGeom>
            <a:solidFill>
              <a:schemeClr val="accent4">
                <a:lumMod val="75000"/>
                <a:alpha val="43000"/>
              </a:schemeClr>
            </a:solidFill>
            <a:ln w="15875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F36C5935-660B-4B73-8A1A-32711B48F26C}"/>
                </a:ext>
              </a:extLst>
            </p:cNvPr>
            <p:cNvSpPr txBox="1"/>
            <p:nvPr/>
          </p:nvSpPr>
          <p:spPr>
            <a:xfrm>
              <a:off x="6181458" y="928224"/>
              <a:ext cx="56778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800" b="1" dirty="0">
                  <a:solidFill>
                    <a:srgbClr val="7030A0"/>
                  </a:solidFill>
                  <a:latin typeface="Arial Narrow" panose="020B0606020202030204" pitchFamily="34" charset="0"/>
                </a:rPr>
                <a:t>224 X 224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71F7C2A4-0E0B-43E3-BA25-BBBA0B575A66}"/>
                </a:ext>
              </a:extLst>
            </p:cNvPr>
            <p:cNvSpPr txBox="1"/>
            <p:nvPr/>
          </p:nvSpPr>
          <p:spPr>
            <a:xfrm>
              <a:off x="6181458" y="1696756"/>
              <a:ext cx="56778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800" b="1" dirty="0">
                  <a:solidFill>
                    <a:srgbClr val="7030A0"/>
                  </a:solidFill>
                  <a:latin typeface="Arial Narrow" panose="020B0606020202030204" pitchFamily="34" charset="0"/>
                </a:rPr>
                <a:t>112 X 112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F358459B-3193-42CE-B550-0CB5D626BE9E}"/>
                </a:ext>
              </a:extLst>
            </p:cNvPr>
            <p:cNvSpPr txBox="1"/>
            <p:nvPr/>
          </p:nvSpPr>
          <p:spPr>
            <a:xfrm>
              <a:off x="6181458" y="2570451"/>
              <a:ext cx="47481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800" b="1" dirty="0">
                  <a:solidFill>
                    <a:srgbClr val="7030A0"/>
                  </a:solidFill>
                  <a:latin typeface="Arial Narrow" panose="020B0606020202030204" pitchFamily="34" charset="0"/>
                </a:rPr>
                <a:t>56 X 56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B4D021D0-1521-4535-913E-B77955520922}"/>
                </a:ext>
              </a:extLst>
            </p:cNvPr>
            <p:cNvSpPr txBox="1"/>
            <p:nvPr/>
          </p:nvSpPr>
          <p:spPr>
            <a:xfrm>
              <a:off x="6175635" y="3504818"/>
              <a:ext cx="47481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800" b="1" dirty="0">
                  <a:solidFill>
                    <a:srgbClr val="7030A0"/>
                  </a:solidFill>
                  <a:latin typeface="Arial Narrow" panose="020B0606020202030204" pitchFamily="34" charset="0"/>
                </a:rPr>
                <a:t>28 X 28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7600570A-CF55-4A35-A26D-0E0F2E1359A9}"/>
                </a:ext>
              </a:extLst>
            </p:cNvPr>
            <p:cNvSpPr txBox="1"/>
            <p:nvPr/>
          </p:nvSpPr>
          <p:spPr>
            <a:xfrm>
              <a:off x="6175635" y="4474002"/>
              <a:ext cx="47481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800" b="1" dirty="0">
                  <a:solidFill>
                    <a:srgbClr val="7030A0"/>
                  </a:solidFill>
                  <a:latin typeface="Arial Narrow" panose="020B0606020202030204" pitchFamily="34" charset="0"/>
                </a:rPr>
                <a:t>14 X 14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678AB8E4-DC7F-4B54-9522-0EEF01E37F23}"/>
                </a:ext>
              </a:extLst>
            </p:cNvPr>
            <p:cNvSpPr txBox="1"/>
            <p:nvPr/>
          </p:nvSpPr>
          <p:spPr>
            <a:xfrm>
              <a:off x="6227371" y="5137759"/>
              <a:ext cx="38183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800" b="1" dirty="0">
                  <a:solidFill>
                    <a:srgbClr val="7030A0"/>
                  </a:solidFill>
                  <a:latin typeface="Arial Narrow" panose="020B0606020202030204" pitchFamily="34" charset="0"/>
                </a:rPr>
                <a:t>7 X 7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FE871AE8-DCA4-4D9D-8ECE-02887DEE36AB}"/>
                </a:ext>
              </a:extLst>
            </p:cNvPr>
            <p:cNvSpPr txBox="1"/>
            <p:nvPr/>
          </p:nvSpPr>
          <p:spPr>
            <a:xfrm>
              <a:off x="6883747" y="51083"/>
              <a:ext cx="821058" cy="5078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IN" sz="1600" dirty="0" err="1">
                  <a:solidFill>
                    <a:srgbClr val="7030A0"/>
                  </a:solidFill>
                  <a:latin typeface="Arial Narrow" panose="020B0606020202030204" pitchFamily="34" charset="0"/>
                </a:rPr>
                <a:t>VGGNet</a:t>
              </a:r>
              <a:endParaRPr lang="en-IN" sz="1600" dirty="0">
                <a:solidFill>
                  <a:srgbClr val="7030A0"/>
                </a:solidFill>
                <a:latin typeface="Arial Narrow" panose="020B0606020202030204" pitchFamily="34" charset="0"/>
              </a:endParaRPr>
            </a:p>
            <a:p>
              <a:pPr algn="ctr"/>
              <a:r>
                <a:rPr lang="en-IN" sz="1100" b="1" dirty="0">
                  <a:solidFill>
                    <a:srgbClr val="00B050"/>
                  </a:solidFill>
                  <a:latin typeface="Arial Narrow" panose="020B0606020202030204" pitchFamily="34" charset="0"/>
                </a:rPr>
                <a:t>INPUT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C4C52564-2FBF-4985-A105-FBDA951C8118}"/>
                </a:ext>
              </a:extLst>
            </p:cNvPr>
            <p:cNvSpPr txBox="1"/>
            <p:nvPr/>
          </p:nvSpPr>
          <p:spPr>
            <a:xfrm>
              <a:off x="6954279" y="6374176"/>
              <a:ext cx="67999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100" b="1" dirty="0">
                  <a:solidFill>
                    <a:srgbClr val="00B050"/>
                  </a:solidFill>
                </a:rPr>
                <a:t>OUTPUT</a:t>
              </a:r>
            </a:p>
          </p:txBody>
        </p:sp>
      </p:grpSp>
      <p:sp>
        <p:nvSpPr>
          <p:cNvPr id="48" name="Rectangle 47">
            <a:extLst>
              <a:ext uri="{FF2B5EF4-FFF2-40B4-BE49-F238E27FC236}">
                <a16:creationId xmlns:a16="http://schemas.microsoft.com/office/drawing/2014/main" id="{21A9A7DC-0043-4D26-A354-CFFC9E5F8E82}"/>
              </a:ext>
            </a:extLst>
          </p:cNvPr>
          <p:cNvSpPr/>
          <p:nvPr/>
        </p:nvSpPr>
        <p:spPr>
          <a:xfrm>
            <a:off x="8240969" y="829928"/>
            <a:ext cx="1845474" cy="723900"/>
          </a:xfrm>
          <a:prstGeom prst="rect">
            <a:avLst/>
          </a:prstGeom>
          <a:solidFill>
            <a:schemeClr val="accent1">
              <a:lumMod val="75000"/>
              <a:alpha val="2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806C7A01-F35A-4399-9A29-4D46B9E3A104}"/>
              </a:ext>
            </a:extLst>
          </p:cNvPr>
          <p:cNvSpPr txBox="1"/>
          <p:nvPr/>
        </p:nvSpPr>
        <p:spPr>
          <a:xfrm>
            <a:off x="371475" y="6482938"/>
            <a:ext cx="25443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>
                <a:latin typeface="Book Antiqua" panose="02040602050305030304" pitchFamily="18" charset="0"/>
              </a:rPr>
              <a:t> </a:t>
            </a:r>
            <a:r>
              <a:rPr lang="en-IN" sz="1200" dirty="0">
                <a:latin typeface="Arial Narrow" panose="020B0606020202030204" pitchFamily="34" charset="0"/>
              </a:rPr>
              <a:t>Figure source: Fei </a:t>
            </a:r>
            <a:r>
              <a:rPr lang="en-IN" sz="1200" dirty="0" err="1">
                <a:latin typeface="Arial Narrow" panose="020B0606020202030204" pitchFamily="34" charset="0"/>
              </a:rPr>
              <a:t>Fei</a:t>
            </a:r>
            <a:r>
              <a:rPr lang="en-IN" sz="1200" dirty="0">
                <a:latin typeface="Arial Narrow" panose="020B0606020202030204" pitchFamily="34" charset="0"/>
              </a:rPr>
              <a:t> Li et. al. Stanford</a:t>
            </a:r>
          </a:p>
        </p:txBody>
      </p:sp>
    </p:spTree>
    <p:extLst>
      <p:ext uri="{BB962C8B-B14F-4D97-AF65-F5344CB8AC3E}">
        <p14:creationId xmlns:p14="http://schemas.microsoft.com/office/powerpoint/2010/main" val="1567014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26E1CB-9812-4E18-9183-C0E99FC466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3648" y="1734081"/>
            <a:ext cx="6661342" cy="4594029"/>
          </a:xfrm>
        </p:spPr>
        <p:txBody>
          <a:bodyPr>
            <a:normAutofit/>
          </a:bodyPr>
          <a:lstStyle/>
          <a:p>
            <a:pPr algn="just"/>
            <a:r>
              <a:rPr lang="en-GB" sz="2000" dirty="0">
                <a:latin typeface="Arial Narrow" panose="020B0606020202030204" pitchFamily="34" charset="0"/>
              </a:rPr>
              <a:t>The network accepts </a:t>
            </a:r>
            <a:r>
              <a:rPr lang="en-GB" sz="2000" dirty="0">
                <a:solidFill>
                  <a:srgbClr val="00B0F0"/>
                </a:solidFill>
                <a:latin typeface="Arial Narrow" panose="020B0606020202030204" pitchFamily="34" charset="0"/>
              </a:rPr>
              <a:t>224 × 224 × 3 RGB images </a:t>
            </a:r>
            <a:r>
              <a:rPr lang="en-GB" sz="2000" dirty="0">
                <a:latin typeface="Arial Narrow" panose="020B0606020202030204" pitchFamily="34" charset="0"/>
              </a:rPr>
              <a:t>as input and concludes with </a:t>
            </a:r>
            <a:r>
              <a:rPr lang="en-GB" sz="2000" dirty="0">
                <a:solidFill>
                  <a:srgbClr val="00B0F0"/>
                </a:solidFill>
                <a:latin typeface="Arial Narrow" panose="020B0606020202030204" pitchFamily="34" charset="0"/>
              </a:rPr>
              <a:t>three fully connected layers</a:t>
            </a:r>
            <a:r>
              <a:rPr lang="en-GB" sz="2000" dirty="0">
                <a:latin typeface="Arial Narrow" panose="020B0606020202030204" pitchFamily="34" charset="0"/>
              </a:rPr>
              <a:t>, where the final layer uses a </a:t>
            </a:r>
            <a:r>
              <a:rPr lang="en-GB" sz="2000" dirty="0" err="1">
                <a:solidFill>
                  <a:srgbClr val="00B0F0"/>
                </a:solidFill>
                <a:latin typeface="Arial Narrow" panose="020B0606020202030204" pitchFamily="34" charset="0"/>
              </a:rPr>
              <a:t>softmax</a:t>
            </a:r>
            <a:r>
              <a:rPr lang="en-GB" sz="2000" dirty="0">
                <a:solidFill>
                  <a:srgbClr val="00B0F0"/>
                </a:solidFill>
                <a:latin typeface="Arial Narrow" panose="020B0606020202030204" pitchFamily="34" charset="0"/>
              </a:rPr>
              <a:t> classifier </a:t>
            </a:r>
            <a:r>
              <a:rPr lang="en-GB" sz="2000" dirty="0">
                <a:latin typeface="Arial Narrow" panose="020B0606020202030204" pitchFamily="34" charset="0"/>
              </a:rPr>
              <a:t>for output prediction.</a:t>
            </a:r>
          </a:p>
          <a:p>
            <a:pPr marL="0" indent="0" algn="just">
              <a:buNone/>
            </a:pPr>
            <a:endParaRPr lang="en-GB" sz="2000" dirty="0">
              <a:latin typeface="Arial Narrow" panose="020B0606020202030204" pitchFamily="34" charset="0"/>
            </a:endParaRPr>
          </a:p>
          <a:p>
            <a:pPr algn="just"/>
            <a:r>
              <a:rPr lang="en-GB" sz="2000" dirty="0" err="1">
                <a:latin typeface="Arial Narrow" panose="020B0606020202030204" pitchFamily="34" charset="0"/>
              </a:rPr>
              <a:t>VGGNet</a:t>
            </a:r>
            <a:r>
              <a:rPr lang="en-GB" sz="2000" dirty="0">
                <a:latin typeface="Arial Narrow" panose="020B0606020202030204" pitchFamily="34" charset="0"/>
              </a:rPr>
              <a:t> employs </a:t>
            </a:r>
            <a:r>
              <a:rPr lang="en-GB" sz="2000" dirty="0">
                <a:solidFill>
                  <a:srgbClr val="00B0F0"/>
                </a:solidFill>
                <a:latin typeface="Arial Narrow" panose="020B0606020202030204" pitchFamily="34" charset="0"/>
              </a:rPr>
              <a:t>Rectified Linear Unit (</a:t>
            </a:r>
            <a:r>
              <a:rPr lang="en-GB" sz="2000" dirty="0" err="1">
                <a:solidFill>
                  <a:srgbClr val="00B0F0"/>
                </a:solidFill>
                <a:latin typeface="Arial Narrow" panose="020B0606020202030204" pitchFamily="34" charset="0"/>
              </a:rPr>
              <a:t>ReLU</a:t>
            </a:r>
            <a:r>
              <a:rPr lang="en-GB" sz="2000" dirty="0">
                <a:solidFill>
                  <a:srgbClr val="00B0F0"/>
                </a:solidFill>
                <a:latin typeface="Arial Narrow" panose="020B0606020202030204" pitchFamily="34" charset="0"/>
              </a:rPr>
              <a:t>) </a:t>
            </a:r>
            <a:r>
              <a:rPr lang="en-GB" sz="2000" dirty="0">
                <a:latin typeface="Arial Narrow" panose="020B0606020202030204" pitchFamily="34" charset="0"/>
              </a:rPr>
              <a:t>activation functions throughout the network, enabling efficient training and improved convergence. </a:t>
            </a:r>
          </a:p>
          <a:p>
            <a:pPr marL="0" indent="0" algn="just">
              <a:buNone/>
            </a:pPr>
            <a:endParaRPr lang="en-GB" sz="2000" dirty="0">
              <a:latin typeface="Arial Narrow" panose="020B0606020202030204" pitchFamily="34" charset="0"/>
            </a:endParaRPr>
          </a:p>
          <a:p>
            <a:pPr algn="just"/>
            <a:r>
              <a:rPr lang="en-GB" sz="2000" dirty="0">
                <a:latin typeface="Arial Narrow" panose="020B0606020202030204" pitchFamily="34" charset="0"/>
              </a:rPr>
              <a:t>By demonstrating that </a:t>
            </a:r>
            <a:r>
              <a:rPr lang="en-GB" sz="2000" dirty="0">
                <a:solidFill>
                  <a:srgbClr val="00B0F0"/>
                </a:solidFill>
                <a:latin typeface="Arial Narrow" panose="020B0606020202030204" pitchFamily="34" charset="0"/>
              </a:rPr>
              <a:t>deeper networks with small convolutional filters</a:t>
            </a:r>
            <a:r>
              <a:rPr lang="en-GB" sz="2000" dirty="0">
                <a:latin typeface="Arial Narrow" panose="020B0606020202030204" pitchFamily="34" charset="0"/>
              </a:rPr>
              <a:t> can achieve superior recognition accuracy, </a:t>
            </a:r>
            <a:r>
              <a:rPr lang="en-GB" sz="2000" dirty="0" err="1">
                <a:latin typeface="Arial Narrow" panose="020B0606020202030204" pitchFamily="34" charset="0"/>
              </a:rPr>
              <a:t>VGGNet</a:t>
            </a:r>
            <a:r>
              <a:rPr lang="en-GB" sz="2000" dirty="0">
                <a:latin typeface="Arial Narrow" panose="020B0606020202030204" pitchFamily="34" charset="0"/>
              </a:rPr>
              <a:t> achieved outstanding performance on the ImageNet dataset and became a </a:t>
            </a:r>
            <a:r>
              <a:rPr lang="en-GB" sz="2000" dirty="0">
                <a:solidFill>
                  <a:srgbClr val="00B0F0"/>
                </a:solidFill>
                <a:latin typeface="Arial Narrow" panose="020B0606020202030204" pitchFamily="34" charset="0"/>
              </a:rPr>
              <a:t>widely adopted feature extractor </a:t>
            </a:r>
            <a:r>
              <a:rPr lang="en-GB" sz="2000" dirty="0">
                <a:latin typeface="Arial Narrow" panose="020B0606020202030204" pitchFamily="34" charset="0"/>
              </a:rPr>
              <a:t>and </a:t>
            </a:r>
            <a:r>
              <a:rPr lang="en-GB" sz="2000" dirty="0">
                <a:solidFill>
                  <a:srgbClr val="00B0F0"/>
                </a:solidFill>
                <a:latin typeface="Arial Narrow" panose="020B0606020202030204" pitchFamily="34" charset="0"/>
              </a:rPr>
              <a:t>benchmark architecture for numerous computer vision applications</a:t>
            </a:r>
            <a:r>
              <a:rPr lang="en-GB" sz="2000" dirty="0">
                <a:latin typeface="Arial Narrow" panose="020B0606020202030204" pitchFamily="34" charset="0"/>
              </a:rPr>
              <a:t>, despite its relatively high computational cost and large number of parameters.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E247F2B-6310-4F3A-983A-2CDC66E15B5E}"/>
              </a:ext>
            </a:extLst>
          </p:cNvPr>
          <p:cNvGrpSpPr/>
          <p:nvPr/>
        </p:nvGrpSpPr>
        <p:grpSpPr>
          <a:xfrm>
            <a:off x="7195597" y="100114"/>
            <a:ext cx="1698092" cy="6584703"/>
            <a:chOff x="6175635" y="51083"/>
            <a:chExt cx="1698092" cy="6584703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CD4CEE9-6E17-4B27-A99B-558926367BDF}"/>
                </a:ext>
              </a:extLst>
            </p:cNvPr>
            <p:cNvSpPr/>
            <p:nvPr/>
          </p:nvSpPr>
          <p:spPr>
            <a:xfrm>
              <a:off x="6721202" y="775592"/>
              <a:ext cx="1152525" cy="180975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47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 X 3 </a:t>
              </a:r>
              <a:r>
                <a:rPr lang="en-IN" sz="7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conv</a:t>
              </a:r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+ </a:t>
              </a:r>
              <a:r>
                <a:rPr lang="en-IN" sz="7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Relu</a:t>
              </a:r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64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257AD5D-FF76-4852-82BE-D1730B31A1FB}"/>
                </a:ext>
              </a:extLst>
            </p:cNvPr>
            <p:cNvSpPr/>
            <p:nvPr/>
          </p:nvSpPr>
          <p:spPr>
            <a:xfrm>
              <a:off x="6721202" y="956567"/>
              <a:ext cx="1152525" cy="180975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47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 X 3 </a:t>
              </a:r>
              <a:r>
                <a:rPr lang="en-IN" sz="7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conv</a:t>
              </a:r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+ </a:t>
              </a:r>
              <a:r>
                <a:rPr lang="en-IN" sz="7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Relu</a:t>
              </a:r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64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F00FA38-1413-4B2F-8821-251227500131}"/>
                </a:ext>
              </a:extLst>
            </p:cNvPr>
            <p:cNvSpPr/>
            <p:nvPr/>
          </p:nvSpPr>
          <p:spPr>
            <a:xfrm>
              <a:off x="6721202" y="1137542"/>
              <a:ext cx="1152525" cy="180975"/>
            </a:xfrm>
            <a:prstGeom prst="rect">
              <a:avLst/>
            </a:prstGeom>
            <a:solidFill>
              <a:schemeClr val="accent6">
                <a:lumMod val="60000"/>
                <a:lumOff val="40000"/>
                <a:alpha val="54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 X 2 Max – Pool 64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C0C4593-A1E1-41C2-A10E-8B0B26B64DD0}"/>
                </a:ext>
              </a:extLst>
            </p:cNvPr>
            <p:cNvSpPr/>
            <p:nvPr/>
          </p:nvSpPr>
          <p:spPr>
            <a:xfrm>
              <a:off x="6721202" y="1543942"/>
              <a:ext cx="1152525" cy="180975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47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 X 3 </a:t>
              </a:r>
              <a:r>
                <a:rPr lang="en-IN" sz="7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conv</a:t>
              </a:r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+ </a:t>
              </a:r>
              <a:r>
                <a:rPr lang="en-IN" sz="7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Relu</a:t>
              </a:r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128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77EEBF0-5324-47BB-8F7E-37A290856CB3}"/>
                </a:ext>
              </a:extLst>
            </p:cNvPr>
            <p:cNvSpPr/>
            <p:nvPr/>
          </p:nvSpPr>
          <p:spPr>
            <a:xfrm>
              <a:off x="6721202" y="1724917"/>
              <a:ext cx="1152525" cy="180975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47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 X 3 </a:t>
              </a:r>
              <a:r>
                <a:rPr lang="en-IN" sz="7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conv</a:t>
              </a:r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+ </a:t>
              </a:r>
              <a:r>
                <a:rPr lang="en-IN" sz="7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Relu</a:t>
              </a:r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128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1C14E63-9140-4600-ADA7-21E02E888500}"/>
                </a:ext>
              </a:extLst>
            </p:cNvPr>
            <p:cNvSpPr/>
            <p:nvPr/>
          </p:nvSpPr>
          <p:spPr>
            <a:xfrm>
              <a:off x="6721202" y="1905892"/>
              <a:ext cx="1152525" cy="180975"/>
            </a:xfrm>
            <a:prstGeom prst="rect">
              <a:avLst/>
            </a:prstGeom>
            <a:solidFill>
              <a:schemeClr val="accent6">
                <a:lumMod val="60000"/>
                <a:lumOff val="40000"/>
                <a:alpha val="54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 X 2 Max – Pool 128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9152918-B076-49C4-B4A1-4B338E8F915B}"/>
                </a:ext>
              </a:extLst>
            </p:cNvPr>
            <p:cNvSpPr/>
            <p:nvPr/>
          </p:nvSpPr>
          <p:spPr>
            <a:xfrm>
              <a:off x="6721198" y="2317423"/>
              <a:ext cx="1152525" cy="180975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47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 X 3 </a:t>
              </a:r>
              <a:r>
                <a:rPr lang="en-IN" sz="7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conv</a:t>
              </a:r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+ </a:t>
              </a:r>
              <a:r>
                <a:rPr lang="en-IN" sz="7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Relu</a:t>
              </a:r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256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FE29FE4-C66F-453D-8CC0-9EA350A14EBF}"/>
                </a:ext>
              </a:extLst>
            </p:cNvPr>
            <p:cNvSpPr/>
            <p:nvPr/>
          </p:nvSpPr>
          <p:spPr>
            <a:xfrm>
              <a:off x="6721198" y="2498398"/>
              <a:ext cx="1152525" cy="180975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47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 X 3 </a:t>
              </a:r>
              <a:r>
                <a:rPr lang="en-IN" sz="7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conv</a:t>
              </a:r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+ </a:t>
              </a:r>
              <a:r>
                <a:rPr lang="en-IN" sz="7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Relu</a:t>
              </a:r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256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CF7E5C0-CE53-430E-9630-CB02AB3BBF96}"/>
                </a:ext>
              </a:extLst>
            </p:cNvPr>
            <p:cNvSpPr/>
            <p:nvPr/>
          </p:nvSpPr>
          <p:spPr>
            <a:xfrm>
              <a:off x="6721198" y="2679373"/>
              <a:ext cx="1152525" cy="180975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47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 X 3 </a:t>
              </a:r>
              <a:r>
                <a:rPr lang="en-IN" sz="7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conv</a:t>
              </a:r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+ </a:t>
              </a:r>
              <a:r>
                <a:rPr lang="en-IN" sz="7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Relu</a:t>
              </a:r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256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65CDFF87-9089-405F-801F-00AAB0A9EDED}"/>
                </a:ext>
              </a:extLst>
            </p:cNvPr>
            <p:cNvSpPr/>
            <p:nvPr/>
          </p:nvSpPr>
          <p:spPr>
            <a:xfrm>
              <a:off x="6721197" y="2860348"/>
              <a:ext cx="1152525" cy="180975"/>
            </a:xfrm>
            <a:prstGeom prst="rect">
              <a:avLst/>
            </a:prstGeom>
            <a:solidFill>
              <a:schemeClr val="accent6">
                <a:lumMod val="60000"/>
                <a:lumOff val="40000"/>
                <a:alpha val="54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 X 2 Max – Pool 256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E50CBD5-EBEF-41E9-BFB9-0F5BFAB3613E}"/>
                </a:ext>
              </a:extLst>
            </p:cNvPr>
            <p:cNvSpPr/>
            <p:nvPr/>
          </p:nvSpPr>
          <p:spPr>
            <a:xfrm>
              <a:off x="6721197" y="3266563"/>
              <a:ext cx="1152525" cy="180975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47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 X 3 </a:t>
              </a:r>
              <a:r>
                <a:rPr lang="en-IN" sz="7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conv</a:t>
              </a:r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+ </a:t>
              </a:r>
              <a:r>
                <a:rPr lang="en-IN" sz="7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Relu</a:t>
              </a:r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512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B46F437F-D396-4975-A0AC-7D2FE99DE389}"/>
                </a:ext>
              </a:extLst>
            </p:cNvPr>
            <p:cNvSpPr/>
            <p:nvPr/>
          </p:nvSpPr>
          <p:spPr>
            <a:xfrm>
              <a:off x="6721197" y="3447538"/>
              <a:ext cx="1152525" cy="180975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47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 X 3 </a:t>
              </a:r>
              <a:r>
                <a:rPr lang="en-IN" sz="7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conv</a:t>
              </a:r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+ </a:t>
              </a:r>
              <a:r>
                <a:rPr lang="en-IN" sz="7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Relu</a:t>
              </a:r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512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5BBA7BC4-519F-4EF0-9A73-09D62A3E2C62}"/>
                </a:ext>
              </a:extLst>
            </p:cNvPr>
            <p:cNvSpPr/>
            <p:nvPr/>
          </p:nvSpPr>
          <p:spPr>
            <a:xfrm>
              <a:off x="6721197" y="3628513"/>
              <a:ext cx="1152525" cy="180975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47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 X 3 </a:t>
              </a:r>
              <a:r>
                <a:rPr lang="en-IN" sz="7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conv</a:t>
              </a:r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+ </a:t>
              </a:r>
              <a:r>
                <a:rPr lang="en-IN" sz="7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Relu</a:t>
              </a:r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512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341CA812-8B27-4952-8219-3E24F1C55CC9}"/>
                </a:ext>
              </a:extLst>
            </p:cNvPr>
            <p:cNvSpPr/>
            <p:nvPr/>
          </p:nvSpPr>
          <p:spPr>
            <a:xfrm>
              <a:off x="6721196" y="3809488"/>
              <a:ext cx="1152525" cy="180975"/>
            </a:xfrm>
            <a:prstGeom prst="rect">
              <a:avLst/>
            </a:prstGeom>
            <a:solidFill>
              <a:schemeClr val="accent6">
                <a:lumMod val="60000"/>
                <a:lumOff val="40000"/>
                <a:alpha val="54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 X 2 Max – Pool 512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72683F83-F6FA-49DB-9C3A-F53C8CE1807B}"/>
                </a:ext>
              </a:extLst>
            </p:cNvPr>
            <p:cNvSpPr/>
            <p:nvPr/>
          </p:nvSpPr>
          <p:spPr>
            <a:xfrm>
              <a:off x="6721197" y="4219245"/>
              <a:ext cx="1152525" cy="180975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47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 X 3 </a:t>
              </a:r>
              <a:r>
                <a:rPr lang="en-IN" sz="7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conv</a:t>
              </a:r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+ </a:t>
              </a:r>
              <a:r>
                <a:rPr lang="en-IN" sz="7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Relu</a:t>
              </a:r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512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266478B7-729D-4CC1-A8AA-B42786EE71E7}"/>
                </a:ext>
              </a:extLst>
            </p:cNvPr>
            <p:cNvSpPr/>
            <p:nvPr/>
          </p:nvSpPr>
          <p:spPr>
            <a:xfrm>
              <a:off x="6721197" y="4400220"/>
              <a:ext cx="1152525" cy="180975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47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 X 3 </a:t>
              </a:r>
              <a:r>
                <a:rPr lang="en-IN" sz="7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conv</a:t>
              </a:r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+ </a:t>
              </a:r>
              <a:r>
                <a:rPr lang="en-IN" sz="7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Relu</a:t>
              </a:r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512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E41431EE-AED0-4AAB-BB13-46A4696EB7CE}"/>
                </a:ext>
              </a:extLst>
            </p:cNvPr>
            <p:cNvSpPr/>
            <p:nvPr/>
          </p:nvSpPr>
          <p:spPr>
            <a:xfrm>
              <a:off x="6721197" y="4581195"/>
              <a:ext cx="1152525" cy="180975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47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 X 3 </a:t>
              </a:r>
              <a:r>
                <a:rPr lang="en-IN" sz="7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conv</a:t>
              </a:r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+ </a:t>
              </a:r>
              <a:r>
                <a:rPr lang="en-IN" sz="7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Relu</a:t>
              </a:r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512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8649F2CA-EFEF-41FD-9556-283DC4C63E93}"/>
                </a:ext>
              </a:extLst>
            </p:cNvPr>
            <p:cNvSpPr/>
            <p:nvPr/>
          </p:nvSpPr>
          <p:spPr>
            <a:xfrm>
              <a:off x="6721196" y="4762170"/>
              <a:ext cx="1152525" cy="180975"/>
            </a:xfrm>
            <a:prstGeom prst="rect">
              <a:avLst/>
            </a:prstGeom>
            <a:solidFill>
              <a:schemeClr val="accent6">
                <a:lumMod val="60000"/>
                <a:lumOff val="40000"/>
                <a:alpha val="54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7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 X 2 Max – Pool 512</a:t>
              </a:r>
              <a:endParaRPr lang="en-IN" sz="7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04F9F3E7-E683-4159-B1D6-CEE939B0AF2D}"/>
                </a:ext>
              </a:extLst>
            </p:cNvPr>
            <p:cNvSpPr/>
            <p:nvPr/>
          </p:nvSpPr>
          <p:spPr>
            <a:xfrm>
              <a:off x="6721197" y="5177972"/>
              <a:ext cx="1152525" cy="180975"/>
            </a:xfrm>
            <a:prstGeom prst="rect">
              <a:avLst/>
            </a:prstGeom>
            <a:solidFill>
              <a:schemeClr val="accent4">
                <a:lumMod val="40000"/>
                <a:lumOff val="60000"/>
                <a:alpha val="7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FC 4096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DC558216-07ED-43F1-A87F-538E9CB655E2}"/>
                </a:ext>
              </a:extLst>
            </p:cNvPr>
            <p:cNvSpPr/>
            <p:nvPr/>
          </p:nvSpPr>
          <p:spPr>
            <a:xfrm>
              <a:off x="6721197" y="5588646"/>
              <a:ext cx="1152525" cy="180975"/>
            </a:xfrm>
            <a:prstGeom prst="rect">
              <a:avLst/>
            </a:prstGeom>
            <a:solidFill>
              <a:schemeClr val="accent4">
                <a:lumMod val="40000"/>
                <a:lumOff val="60000"/>
                <a:alpha val="7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FC 4096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299527CB-0D9D-4121-A8EC-20261A988319}"/>
                </a:ext>
              </a:extLst>
            </p:cNvPr>
            <p:cNvSpPr/>
            <p:nvPr/>
          </p:nvSpPr>
          <p:spPr>
            <a:xfrm>
              <a:off x="6721196" y="6005183"/>
              <a:ext cx="1152525" cy="180975"/>
            </a:xfrm>
            <a:prstGeom prst="rect">
              <a:avLst/>
            </a:prstGeom>
            <a:solidFill>
              <a:schemeClr val="accent4">
                <a:lumMod val="40000"/>
                <a:lumOff val="60000"/>
                <a:alpha val="7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FC Output 1000</a:t>
              </a:r>
            </a:p>
          </p:txBody>
        </p:sp>
        <p:sp>
          <p:nvSpPr>
            <p:cNvPr id="27" name="Down Arrow 275">
              <a:extLst>
                <a:ext uri="{FF2B5EF4-FFF2-40B4-BE49-F238E27FC236}">
                  <a16:creationId xmlns:a16="http://schemas.microsoft.com/office/drawing/2014/main" id="{3FA24FFA-C36E-4DD4-B626-26AFF944019E}"/>
                </a:ext>
              </a:extLst>
            </p:cNvPr>
            <p:cNvSpPr/>
            <p:nvPr/>
          </p:nvSpPr>
          <p:spPr>
            <a:xfrm>
              <a:off x="7223694" y="545036"/>
              <a:ext cx="141177" cy="225425"/>
            </a:xfrm>
            <a:prstGeom prst="downArrow">
              <a:avLst/>
            </a:prstGeom>
            <a:solidFill>
              <a:schemeClr val="accent4">
                <a:lumMod val="75000"/>
                <a:alpha val="43000"/>
              </a:schemeClr>
            </a:solidFill>
            <a:ln w="15875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8" name="Down Arrow 276">
              <a:extLst>
                <a:ext uri="{FF2B5EF4-FFF2-40B4-BE49-F238E27FC236}">
                  <a16:creationId xmlns:a16="http://schemas.microsoft.com/office/drawing/2014/main" id="{8582A08C-9E0B-4081-8AA4-6E0C317ACCD5}"/>
                </a:ext>
              </a:extLst>
            </p:cNvPr>
            <p:cNvSpPr/>
            <p:nvPr/>
          </p:nvSpPr>
          <p:spPr>
            <a:xfrm>
              <a:off x="7223693" y="1319799"/>
              <a:ext cx="141177" cy="216392"/>
            </a:xfrm>
            <a:prstGeom prst="downArrow">
              <a:avLst/>
            </a:prstGeom>
            <a:solidFill>
              <a:schemeClr val="accent4">
                <a:lumMod val="75000"/>
                <a:alpha val="43000"/>
              </a:schemeClr>
            </a:solidFill>
            <a:ln w="15875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70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" name="Down Arrow 277">
              <a:extLst>
                <a:ext uri="{FF2B5EF4-FFF2-40B4-BE49-F238E27FC236}">
                  <a16:creationId xmlns:a16="http://schemas.microsoft.com/office/drawing/2014/main" id="{235C053A-659E-4D11-A76A-FD355AC985A5}"/>
                </a:ext>
              </a:extLst>
            </p:cNvPr>
            <p:cNvSpPr/>
            <p:nvPr/>
          </p:nvSpPr>
          <p:spPr>
            <a:xfrm>
              <a:off x="7223692" y="2086682"/>
              <a:ext cx="141177" cy="216392"/>
            </a:xfrm>
            <a:prstGeom prst="downArrow">
              <a:avLst/>
            </a:prstGeom>
            <a:solidFill>
              <a:schemeClr val="accent4">
                <a:lumMod val="75000"/>
                <a:alpha val="43000"/>
              </a:schemeClr>
            </a:solidFill>
            <a:ln w="15875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70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Down Arrow 278">
              <a:extLst>
                <a:ext uri="{FF2B5EF4-FFF2-40B4-BE49-F238E27FC236}">
                  <a16:creationId xmlns:a16="http://schemas.microsoft.com/office/drawing/2014/main" id="{67581C6D-F125-439B-95C7-18CC91FF76A0}"/>
                </a:ext>
              </a:extLst>
            </p:cNvPr>
            <p:cNvSpPr/>
            <p:nvPr/>
          </p:nvSpPr>
          <p:spPr>
            <a:xfrm>
              <a:off x="7223691" y="3045775"/>
              <a:ext cx="141177" cy="216392"/>
            </a:xfrm>
            <a:prstGeom prst="downArrow">
              <a:avLst/>
            </a:prstGeom>
            <a:solidFill>
              <a:schemeClr val="accent4">
                <a:lumMod val="75000"/>
                <a:alpha val="43000"/>
              </a:schemeClr>
            </a:solidFill>
            <a:ln w="15875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70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Down Arrow 279">
              <a:extLst>
                <a:ext uri="{FF2B5EF4-FFF2-40B4-BE49-F238E27FC236}">
                  <a16:creationId xmlns:a16="http://schemas.microsoft.com/office/drawing/2014/main" id="{3E062E60-6576-4136-A0C9-9FD70444DBC8}"/>
                </a:ext>
              </a:extLst>
            </p:cNvPr>
            <p:cNvSpPr/>
            <p:nvPr/>
          </p:nvSpPr>
          <p:spPr>
            <a:xfrm>
              <a:off x="7223690" y="3998090"/>
              <a:ext cx="141177" cy="216392"/>
            </a:xfrm>
            <a:prstGeom prst="downArrow">
              <a:avLst/>
            </a:prstGeom>
            <a:solidFill>
              <a:schemeClr val="accent4">
                <a:lumMod val="75000"/>
                <a:alpha val="43000"/>
              </a:schemeClr>
            </a:solidFill>
            <a:ln w="15875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70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" name="Down Arrow 280">
              <a:extLst>
                <a:ext uri="{FF2B5EF4-FFF2-40B4-BE49-F238E27FC236}">
                  <a16:creationId xmlns:a16="http://schemas.microsoft.com/office/drawing/2014/main" id="{B7758A7A-145F-4D54-8B5A-24A7CF96D57C}"/>
                </a:ext>
              </a:extLst>
            </p:cNvPr>
            <p:cNvSpPr/>
            <p:nvPr/>
          </p:nvSpPr>
          <p:spPr>
            <a:xfrm>
              <a:off x="7223690" y="4946060"/>
              <a:ext cx="141177" cy="216392"/>
            </a:xfrm>
            <a:prstGeom prst="downArrow">
              <a:avLst/>
            </a:prstGeom>
            <a:solidFill>
              <a:schemeClr val="accent4">
                <a:lumMod val="75000"/>
                <a:alpha val="43000"/>
              </a:schemeClr>
            </a:solidFill>
            <a:ln w="15875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7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" name="Down Arrow 281">
              <a:extLst>
                <a:ext uri="{FF2B5EF4-FFF2-40B4-BE49-F238E27FC236}">
                  <a16:creationId xmlns:a16="http://schemas.microsoft.com/office/drawing/2014/main" id="{F1AA1487-51CF-4ACC-B8D7-7E25B9D893EC}"/>
                </a:ext>
              </a:extLst>
            </p:cNvPr>
            <p:cNvSpPr/>
            <p:nvPr/>
          </p:nvSpPr>
          <p:spPr>
            <a:xfrm>
              <a:off x="7223689" y="5358947"/>
              <a:ext cx="141177" cy="216392"/>
            </a:xfrm>
            <a:prstGeom prst="downArrow">
              <a:avLst/>
            </a:prstGeom>
            <a:solidFill>
              <a:schemeClr val="accent4">
                <a:lumMod val="75000"/>
                <a:alpha val="43000"/>
              </a:schemeClr>
            </a:solidFill>
            <a:ln w="15875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7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4" name="Down Arrow 282">
              <a:extLst>
                <a:ext uri="{FF2B5EF4-FFF2-40B4-BE49-F238E27FC236}">
                  <a16:creationId xmlns:a16="http://schemas.microsoft.com/office/drawing/2014/main" id="{4CB60978-B943-4D6E-830E-A881BA8AA0EC}"/>
                </a:ext>
              </a:extLst>
            </p:cNvPr>
            <p:cNvSpPr/>
            <p:nvPr/>
          </p:nvSpPr>
          <p:spPr>
            <a:xfrm>
              <a:off x="7223689" y="5773158"/>
              <a:ext cx="141177" cy="216392"/>
            </a:xfrm>
            <a:prstGeom prst="downArrow">
              <a:avLst/>
            </a:prstGeom>
            <a:solidFill>
              <a:schemeClr val="accent4">
                <a:lumMod val="75000"/>
                <a:alpha val="43000"/>
              </a:schemeClr>
            </a:solidFill>
            <a:ln w="15875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7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5" name="Down Arrow 283">
              <a:extLst>
                <a:ext uri="{FF2B5EF4-FFF2-40B4-BE49-F238E27FC236}">
                  <a16:creationId xmlns:a16="http://schemas.microsoft.com/office/drawing/2014/main" id="{11CDA4DF-CA22-4108-A00C-E20F0BC9F157}"/>
                </a:ext>
              </a:extLst>
            </p:cNvPr>
            <p:cNvSpPr/>
            <p:nvPr/>
          </p:nvSpPr>
          <p:spPr>
            <a:xfrm>
              <a:off x="7223689" y="6186158"/>
              <a:ext cx="141177" cy="216392"/>
            </a:xfrm>
            <a:prstGeom prst="downArrow">
              <a:avLst/>
            </a:prstGeom>
            <a:solidFill>
              <a:schemeClr val="accent4">
                <a:lumMod val="75000"/>
                <a:alpha val="43000"/>
              </a:schemeClr>
            </a:solidFill>
            <a:ln w="15875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68E9A408-976B-4759-99E3-B975DBFA1D7E}"/>
                </a:ext>
              </a:extLst>
            </p:cNvPr>
            <p:cNvSpPr txBox="1"/>
            <p:nvPr/>
          </p:nvSpPr>
          <p:spPr>
            <a:xfrm>
              <a:off x="6181458" y="928224"/>
              <a:ext cx="56778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800" b="1" dirty="0">
                  <a:solidFill>
                    <a:srgbClr val="7030A0"/>
                  </a:solidFill>
                  <a:latin typeface="Arial Narrow" panose="020B0606020202030204" pitchFamily="34" charset="0"/>
                </a:rPr>
                <a:t>224 X 224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E9D0BB51-DA01-451C-A7BE-5B05D182F713}"/>
                </a:ext>
              </a:extLst>
            </p:cNvPr>
            <p:cNvSpPr txBox="1"/>
            <p:nvPr/>
          </p:nvSpPr>
          <p:spPr>
            <a:xfrm>
              <a:off x="6181458" y="1696756"/>
              <a:ext cx="56778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800" b="1" dirty="0">
                  <a:solidFill>
                    <a:srgbClr val="7030A0"/>
                  </a:solidFill>
                  <a:latin typeface="Arial Narrow" panose="020B0606020202030204" pitchFamily="34" charset="0"/>
                </a:rPr>
                <a:t>112 X 112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BDF195DD-90F3-4352-9EEB-94B0CABC3D8B}"/>
                </a:ext>
              </a:extLst>
            </p:cNvPr>
            <p:cNvSpPr txBox="1"/>
            <p:nvPr/>
          </p:nvSpPr>
          <p:spPr>
            <a:xfrm>
              <a:off x="6181458" y="2570451"/>
              <a:ext cx="47481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800" b="1" dirty="0">
                  <a:solidFill>
                    <a:srgbClr val="7030A0"/>
                  </a:solidFill>
                  <a:latin typeface="Arial Narrow" panose="020B0606020202030204" pitchFamily="34" charset="0"/>
                </a:rPr>
                <a:t>56 X 56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BB4C2E10-25BD-4980-A09C-87A3FD055927}"/>
                </a:ext>
              </a:extLst>
            </p:cNvPr>
            <p:cNvSpPr txBox="1"/>
            <p:nvPr/>
          </p:nvSpPr>
          <p:spPr>
            <a:xfrm>
              <a:off x="6175635" y="3504818"/>
              <a:ext cx="47481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800" b="1" dirty="0">
                  <a:solidFill>
                    <a:srgbClr val="7030A0"/>
                  </a:solidFill>
                  <a:latin typeface="Arial Narrow" panose="020B0606020202030204" pitchFamily="34" charset="0"/>
                </a:rPr>
                <a:t>28 X 28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40A3E57F-9CB8-43E1-8522-7B9752895F04}"/>
                </a:ext>
              </a:extLst>
            </p:cNvPr>
            <p:cNvSpPr txBox="1"/>
            <p:nvPr/>
          </p:nvSpPr>
          <p:spPr>
            <a:xfrm>
              <a:off x="6175635" y="4474002"/>
              <a:ext cx="47481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800" b="1" dirty="0">
                  <a:solidFill>
                    <a:srgbClr val="7030A0"/>
                  </a:solidFill>
                  <a:latin typeface="Arial Narrow" panose="020B0606020202030204" pitchFamily="34" charset="0"/>
                </a:rPr>
                <a:t>14 X 14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78B17F8E-12F8-4923-AA88-D8F14B2E5263}"/>
                </a:ext>
              </a:extLst>
            </p:cNvPr>
            <p:cNvSpPr txBox="1"/>
            <p:nvPr/>
          </p:nvSpPr>
          <p:spPr>
            <a:xfrm>
              <a:off x="6227371" y="5137759"/>
              <a:ext cx="38183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800" b="1" dirty="0">
                  <a:solidFill>
                    <a:srgbClr val="7030A0"/>
                  </a:solidFill>
                  <a:latin typeface="Arial Narrow" panose="020B0606020202030204" pitchFamily="34" charset="0"/>
                </a:rPr>
                <a:t>7 X 7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320EDBBA-710B-4C48-83B2-E45131AE4F51}"/>
                </a:ext>
              </a:extLst>
            </p:cNvPr>
            <p:cNvSpPr txBox="1"/>
            <p:nvPr/>
          </p:nvSpPr>
          <p:spPr>
            <a:xfrm>
              <a:off x="6790773" y="51083"/>
              <a:ext cx="1007007" cy="5078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IN" sz="1600" dirty="0">
                  <a:solidFill>
                    <a:srgbClr val="7030A0"/>
                  </a:solidFill>
                  <a:latin typeface="Arial Narrow" panose="020B0606020202030204" pitchFamily="34" charset="0"/>
                </a:rPr>
                <a:t>VGG16Net</a:t>
              </a:r>
            </a:p>
            <a:p>
              <a:pPr algn="ctr"/>
              <a:r>
                <a:rPr lang="en-IN" sz="1100" b="1" dirty="0">
                  <a:solidFill>
                    <a:srgbClr val="00B050"/>
                  </a:solidFill>
                  <a:latin typeface="Arial Narrow" panose="020B0606020202030204" pitchFamily="34" charset="0"/>
                </a:rPr>
                <a:t>INPUT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095F6527-1181-47FB-853D-8AE0056642EB}"/>
                </a:ext>
              </a:extLst>
            </p:cNvPr>
            <p:cNvSpPr txBox="1"/>
            <p:nvPr/>
          </p:nvSpPr>
          <p:spPr>
            <a:xfrm>
              <a:off x="6954279" y="6374176"/>
              <a:ext cx="67999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100" b="1" dirty="0">
                  <a:solidFill>
                    <a:srgbClr val="00B050"/>
                  </a:solidFill>
                </a:rPr>
                <a:t>OUTPUT</a:t>
              </a: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7E382D47-D961-491E-9BF9-EACAAB5074C0}"/>
              </a:ext>
            </a:extLst>
          </p:cNvPr>
          <p:cNvGrpSpPr/>
          <p:nvPr/>
        </p:nvGrpSpPr>
        <p:grpSpPr>
          <a:xfrm>
            <a:off x="9218630" y="126459"/>
            <a:ext cx="1644133" cy="6731541"/>
            <a:chOff x="8220076" y="-29981"/>
            <a:chExt cx="1644133" cy="6731541"/>
          </a:xfrm>
        </p:grpSpPr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8E820EB0-49D3-45D4-B9FB-17F417FAE1BF}"/>
                </a:ext>
              </a:extLst>
            </p:cNvPr>
            <p:cNvSpPr txBox="1"/>
            <p:nvPr/>
          </p:nvSpPr>
          <p:spPr>
            <a:xfrm>
              <a:off x="9296425" y="815391"/>
              <a:ext cx="56778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800" b="1" dirty="0">
                  <a:solidFill>
                    <a:srgbClr val="7030A0"/>
                  </a:solidFill>
                  <a:latin typeface="Arial Narrow" panose="020B0606020202030204" pitchFamily="34" charset="0"/>
                </a:rPr>
                <a:t>224 X 224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3AF9CE5B-6DAC-4DFE-BAD8-F17982359D44}"/>
                </a:ext>
              </a:extLst>
            </p:cNvPr>
            <p:cNvSpPr txBox="1"/>
            <p:nvPr/>
          </p:nvSpPr>
          <p:spPr>
            <a:xfrm>
              <a:off x="9296425" y="1538854"/>
              <a:ext cx="56778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800" b="1" dirty="0">
                  <a:solidFill>
                    <a:srgbClr val="7030A0"/>
                  </a:solidFill>
                  <a:latin typeface="Arial Narrow" panose="020B0606020202030204" pitchFamily="34" charset="0"/>
                </a:rPr>
                <a:t>112 X 112</a:t>
              </a: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87A8C24E-42D6-4319-BC84-08ED25429752}"/>
                </a:ext>
              </a:extLst>
            </p:cNvPr>
            <p:cNvSpPr/>
            <p:nvPr/>
          </p:nvSpPr>
          <p:spPr>
            <a:xfrm>
              <a:off x="8220076" y="662199"/>
              <a:ext cx="1050923" cy="169257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47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 X 3 </a:t>
              </a:r>
              <a:r>
                <a:rPr lang="en-IN" sz="7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conv</a:t>
              </a:r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+ </a:t>
              </a:r>
              <a:r>
                <a:rPr lang="en-IN" sz="7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Relu</a:t>
              </a:r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64</a:t>
              </a: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B7AA5FAB-C390-49C1-9A52-A478F8AB4385}"/>
                </a:ext>
              </a:extLst>
            </p:cNvPr>
            <p:cNvSpPr/>
            <p:nvPr/>
          </p:nvSpPr>
          <p:spPr>
            <a:xfrm>
              <a:off x="8220077" y="831456"/>
              <a:ext cx="1050923" cy="169257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47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7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 X 3 conv + Relu 64</a:t>
              </a:r>
              <a:endParaRPr lang="en-IN" sz="7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EE2ED36B-68EE-4794-B989-3D834562788B}"/>
                </a:ext>
              </a:extLst>
            </p:cNvPr>
            <p:cNvSpPr/>
            <p:nvPr/>
          </p:nvSpPr>
          <p:spPr>
            <a:xfrm>
              <a:off x="8220078" y="1000713"/>
              <a:ext cx="1050923" cy="169257"/>
            </a:xfrm>
            <a:prstGeom prst="rect">
              <a:avLst/>
            </a:prstGeom>
            <a:solidFill>
              <a:schemeClr val="accent6">
                <a:lumMod val="60000"/>
                <a:lumOff val="40000"/>
                <a:alpha val="54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7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 X 2 Max – Pool 64</a:t>
              </a:r>
              <a:endParaRPr lang="en-IN" sz="7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5B1F293B-04FE-4ED9-AA33-A1F4821E2DB2}"/>
                </a:ext>
              </a:extLst>
            </p:cNvPr>
            <p:cNvSpPr/>
            <p:nvPr/>
          </p:nvSpPr>
          <p:spPr>
            <a:xfrm>
              <a:off x="8220079" y="1380800"/>
              <a:ext cx="1050924" cy="169257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47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 X 3 </a:t>
              </a:r>
              <a:r>
                <a:rPr lang="en-IN" sz="7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conv</a:t>
              </a:r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+ </a:t>
              </a:r>
              <a:r>
                <a:rPr lang="en-IN" sz="7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Relu</a:t>
              </a:r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128</a:t>
              </a: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DFA62F59-4462-4B84-83B1-179C7C732804}"/>
                </a:ext>
              </a:extLst>
            </p:cNvPr>
            <p:cNvSpPr/>
            <p:nvPr/>
          </p:nvSpPr>
          <p:spPr>
            <a:xfrm>
              <a:off x="8220080" y="1550057"/>
              <a:ext cx="1050924" cy="169257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47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 X 3 </a:t>
              </a:r>
              <a:r>
                <a:rPr lang="en-IN" sz="7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conv</a:t>
              </a:r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+ </a:t>
              </a:r>
              <a:r>
                <a:rPr lang="en-IN" sz="7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Relu</a:t>
              </a:r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128</a:t>
              </a: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04B51E07-1A4B-4DB1-9B11-4F09F9D3C326}"/>
                </a:ext>
              </a:extLst>
            </p:cNvPr>
            <p:cNvSpPr/>
            <p:nvPr/>
          </p:nvSpPr>
          <p:spPr>
            <a:xfrm>
              <a:off x="8220081" y="1719315"/>
              <a:ext cx="1050924" cy="169257"/>
            </a:xfrm>
            <a:prstGeom prst="rect">
              <a:avLst/>
            </a:prstGeom>
            <a:solidFill>
              <a:schemeClr val="accent6">
                <a:lumMod val="60000"/>
                <a:lumOff val="40000"/>
                <a:alpha val="54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7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 X 2 Max – Pool 128</a:t>
              </a:r>
              <a:endParaRPr lang="en-IN" sz="7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7BBEDDAD-955B-47A6-A10D-0E4E66435251}"/>
                </a:ext>
              </a:extLst>
            </p:cNvPr>
            <p:cNvSpPr/>
            <p:nvPr/>
          </p:nvSpPr>
          <p:spPr>
            <a:xfrm>
              <a:off x="8220082" y="2116472"/>
              <a:ext cx="1050924" cy="169257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47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 X 3 </a:t>
              </a:r>
              <a:r>
                <a:rPr lang="en-IN" sz="7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conv</a:t>
              </a:r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+ </a:t>
              </a:r>
              <a:r>
                <a:rPr lang="en-IN" sz="7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Relu</a:t>
              </a:r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256</a:t>
              </a: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5F02CE25-D860-4B22-9611-7BC41DC0C54B}"/>
                </a:ext>
              </a:extLst>
            </p:cNvPr>
            <p:cNvSpPr/>
            <p:nvPr/>
          </p:nvSpPr>
          <p:spPr>
            <a:xfrm>
              <a:off x="8220082" y="2285729"/>
              <a:ext cx="1050924" cy="169257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47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 X 3 </a:t>
              </a:r>
              <a:r>
                <a:rPr lang="en-IN" sz="7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conv</a:t>
              </a:r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+ </a:t>
              </a:r>
              <a:r>
                <a:rPr lang="en-IN" sz="7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Relu</a:t>
              </a:r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256</a:t>
              </a: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24AE3E69-E65B-48F0-985D-DD9AE08BAD30}"/>
                </a:ext>
              </a:extLst>
            </p:cNvPr>
            <p:cNvSpPr/>
            <p:nvPr/>
          </p:nvSpPr>
          <p:spPr>
            <a:xfrm>
              <a:off x="8220082" y="2454986"/>
              <a:ext cx="1050924" cy="169257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47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7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 X 3 conv + Relu 256</a:t>
              </a:r>
              <a:endParaRPr lang="en-IN" sz="7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0D94DE4F-2856-447F-BADF-F50D9AD6CF57}"/>
                </a:ext>
              </a:extLst>
            </p:cNvPr>
            <p:cNvSpPr/>
            <p:nvPr/>
          </p:nvSpPr>
          <p:spPr>
            <a:xfrm>
              <a:off x="8220081" y="2624244"/>
              <a:ext cx="1050924" cy="169257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47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 X 3 </a:t>
              </a:r>
              <a:r>
                <a:rPr lang="en-IN" sz="7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conv</a:t>
              </a:r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+ </a:t>
              </a:r>
              <a:r>
                <a:rPr lang="en-IN" sz="7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Relu</a:t>
              </a:r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256</a:t>
              </a: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993574F0-FBC0-46F5-97C9-FF5E37435C7D}"/>
                </a:ext>
              </a:extLst>
            </p:cNvPr>
            <p:cNvSpPr/>
            <p:nvPr/>
          </p:nvSpPr>
          <p:spPr>
            <a:xfrm>
              <a:off x="8220081" y="2793501"/>
              <a:ext cx="1050924" cy="169257"/>
            </a:xfrm>
            <a:prstGeom prst="rect">
              <a:avLst/>
            </a:prstGeom>
            <a:solidFill>
              <a:schemeClr val="accent6">
                <a:lumMod val="60000"/>
                <a:lumOff val="40000"/>
                <a:alpha val="54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7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 X 2 Max – Pool 256</a:t>
              </a:r>
              <a:endParaRPr lang="en-IN" sz="7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E3FAF04D-A68B-49E9-95B4-C7F4B3400E73}"/>
                </a:ext>
              </a:extLst>
            </p:cNvPr>
            <p:cNvSpPr/>
            <p:nvPr/>
          </p:nvSpPr>
          <p:spPr>
            <a:xfrm>
              <a:off x="8220082" y="3185694"/>
              <a:ext cx="1050924" cy="169257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47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 X 3 </a:t>
              </a:r>
              <a:r>
                <a:rPr lang="en-IN" sz="7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conv</a:t>
              </a:r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+ </a:t>
              </a:r>
              <a:r>
                <a:rPr lang="en-IN" sz="7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Relu</a:t>
              </a:r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512</a:t>
              </a: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D057A272-F618-4BA6-B2E3-E051959095F3}"/>
                </a:ext>
              </a:extLst>
            </p:cNvPr>
            <p:cNvSpPr/>
            <p:nvPr/>
          </p:nvSpPr>
          <p:spPr>
            <a:xfrm>
              <a:off x="8220082" y="3354952"/>
              <a:ext cx="1050924" cy="169257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47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 X 3 </a:t>
              </a:r>
              <a:r>
                <a:rPr lang="en-IN" sz="7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conv</a:t>
              </a:r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+ </a:t>
              </a:r>
              <a:r>
                <a:rPr lang="en-IN" sz="7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Relu</a:t>
              </a:r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512</a:t>
              </a: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52FD12CE-3415-4D53-A84A-C7DA8EA48A50}"/>
                </a:ext>
              </a:extLst>
            </p:cNvPr>
            <p:cNvSpPr/>
            <p:nvPr/>
          </p:nvSpPr>
          <p:spPr>
            <a:xfrm>
              <a:off x="8220082" y="3524209"/>
              <a:ext cx="1050924" cy="169257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47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 X 3 </a:t>
              </a:r>
              <a:r>
                <a:rPr lang="en-IN" sz="7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conv</a:t>
              </a:r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+ </a:t>
              </a:r>
              <a:r>
                <a:rPr lang="en-IN" sz="7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Relu</a:t>
              </a:r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512</a:t>
              </a: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F4C68BC6-A420-4D15-9DFD-57E24D7DE9A0}"/>
                </a:ext>
              </a:extLst>
            </p:cNvPr>
            <p:cNvSpPr/>
            <p:nvPr/>
          </p:nvSpPr>
          <p:spPr>
            <a:xfrm>
              <a:off x="8220081" y="3693466"/>
              <a:ext cx="1050924" cy="169257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47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 X 3 </a:t>
              </a:r>
              <a:r>
                <a:rPr lang="en-IN" sz="7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conv</a:t>
              </a:r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+ </a:t>
              </a:r>
              <a:r>
                <a:rPr lang="en-IN" sz="7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Relu</a:t>
              </a:r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512</a:t>
              </a: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CFD8AD4B-2F9C-443A-A877-D28DEBCBDE88}"/>
                </a:ext>
              </a:extLst>
            </p:cNvPr>
            <p:cNvSpPr/>
            <p:nvPr/>
          </p:nvSpPr>
          <p:spPr>
            <a:xfrm>
              <a:off x="8220081" y="3862724"/>
              <a:ext cx="1050924" cy="169257"/>
            </a:xfrm>
            <a:prstGeom prst="rect">
              <a:avLst/>
            </a:prstGeom>
            <a:solidFill>
              <a:schemeClr val="accent6">
                <a:lumMod val="60000"/>
                <a:lumOff val="40000"/>
                <a:alpha val="54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7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 X 2 Max – Pool 512</a:t>
              </a:r>
              <a:endParaRPr lang="en-IN" sz="7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BC85A6DD-C3B6-4C2F-9D7C-989520695533}"/>
                </a:ext>
              </a:extLst>
            </p:cNvPr>
            <p:cNvSpPr/>
            <p:nvPr/>
          </p:nvSpPr>
          <p:spPr>
            <a:xfrm>
              <a:off x="8220081" y="4248535"/>
              <a:ext cx="1050924" cy="169257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47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 X 3 </a:t>
              </a:r>
              <a:r>
                <a:rPr lang="en-IN" sz="7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conv</a:t>
              </a:r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+ </a:t>
              </a:r>
              <a:r>
                <a:rPr lang="en-IN" sz="7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Relu</a:t>
              </a:r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512</a:t>
              </a: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B6B023DC-157F-485D-BF37-AC152858D3D9}"/>
                </a:ext>
              </a:extLst>
            </p:cNvPr>
            <p:cNvSpPr/>
            <p:nvPr/>
          </p:nvSpPr>
          <p:spPr>
            <a:xfrm>
              <a:off x="8220081" y="4417793"/>
              <a:ext cx="1050924" cy="169257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47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7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 X 3 conv + Relu 512</a:t>
              </a:r>
              <a:endParaRPr lang="en-IN" sz="7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54FCC1EC-706D-471E-ACE1-617421BEE5EB}"/>
                </a:ext>
              </a:extLst>
            </p:cNvPr>
            <p:cNvSpPr/>
            <p:nvPr/>
          </p:nvSpPr>
          <p:spPr>
            <a:xfrm>
              <a:off x="8220081" y="4587050"/>
              <a:ext cx="1050924" cy="169257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47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 X 3 </a:t>
              </a:r>
              <a:r>
                <a:rPr lang="en-IN" sz="7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conv</a:t>
              </a:r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+ </a:t>
              </a:r>
              <a:r>
                <a:rPr lang="en-IN" sz="7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Relu</a:t>
              </a:r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512</a:t>
              </a: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0C56E2F7-1317-4209-BC26-92CCC42C357A}"/>
                </a:ext>
              </a:extLst>
            </p:cNvPr>
            <p:cNvSpPr/>
            <p:nvPr/>
          </p:nvSpPr>
          <p:spPr>
            <a:xfrm>
              <a:off x="8220081" y="4756307"/>
              <a:ext cx="1050924" cy="169257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47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 X 3 </a:t>
              </a:r>
              <a:r>
                <a:rPr lang="en-IN" sz="7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conv</a:t>
              </a:r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+ </a:t>
              </a:r>
              <a:r>
                <a:rPr lang="en-IN" sz="7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Relu</a:t>
              </a:r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512</a:t>
              </a: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B078DD2A-81FE-46B6-A1BC-E2A9179A819C}"/>
                </a:ext>
              </a:extLst>
            </p:cNvPr>
            <p:cNvSpPr/>
            <p:nvPr/>
          </p:nvSpPr>
          <p:spPr>
            <a:xfrm>
              <a:off x="8220082" y="4925565"/>
              <a:ext cx="1050924" cy="169257"/>
            </a:xfrm>
            <a:prstGeom prst="rect">
              <a:avLst/>
            </a:prstGeom>
            <a:solidFill>
              <a:schemeClr val="accent6">
                <a:lumMod val="60000"/>
                <a:lumOff val="40000"/>
                <a:alpha val="54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7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 X 2 Max – Pool 512</a:t>
              </a:r>
              <a:endParaRPr lang="en-IN" sz="7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73D7DBB4-DEB1-4C82-B76B-676693AB1A15}"/>
                </a:ext>
              </a:extLst>
            </p:cNvPr>
            <p:cNvSpPr/>
            <p:nvPr/>
          </p:nvSpPr>
          <p:spPr>
            <a:xfrm>
              <a:off x="8220083" y="5305992"/>
              <a:ext cx="1050924" cy="169257"/>
            </a:xfrm>
            <a:prstGeom prst="rect">
              <a:avLst/>
            </a:prstGeom>
            <a:solidFill>
              <a:schemeClr val="accent4">
                <a:lumMod val="40000"/>
                <a:lumOff val="60000"/>
                <a:alpha val="58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7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FC 4096</a:t>
              </a:r>
              <a:endParaRPr lang="en-IN" sz="7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753678C1-0A7D-47CD-AA31-3EB57A413433}"/>
                </a:ext>
              </a:extLst>
            </p:cNvPr>
            <p:cNvSpPr/>
            <p:nvPr/>
          </p:nvSpPr>
          <p:spPr>
            <a:xfrm>
              <a:off x="8220084" y="5696018"/>
              <a:ext cx="1050924" cy="169257"/>
            </a:xfrm>
            <a:prstGeom prst="rect">
              <a:avLst/>
            </a:prstGeom>
            <a:solidFill>
              <a:schemeClr val="accent4">
                <a:lumMod val="40000"/>
                <a:lumOff val="60000"/>
                <a:alpha val="7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7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FC 4096</a:t>
              </a:r>
              <a:endParaRPr lang="en-IN" sz="7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0FBC2ACD-3136-472F-93A0-1828F5A93F87}"/>
                </a:ext>
              </a:extLst>
            </p:cNvPr>
            <p:cNvSpPr/>
            <p:nvPr/>
          </p:nvSpPr>
          <p:spPr>
            <a:xfrm>
              <a:off x="8220083" y="6100433"/>
              <a:ext cx="1050924" cy="169257"/>
            </a:xfrm>
            <a:prstGeom prst="rect">
              <a:avLst/>
            </a:prstGeom>
            <a:solidFill>
              <a:schemeClr val="accent4">
                <a:lumMod val="40000"/>
                <a:lumOff val="60000"/>
                <a:alpha val="7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7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FC Output 1000</a:t>
              </a:r>
              <a:endParaRPr lang="en-IN" sz="7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1" name="Down Arrow 359">
              <a:extLst>
                <a:ext uri="{FF2B5EF4-FFF2-40B4-BE49-F238E27FC236}">
                  <a16:creationId xmlns:a16="http://schemas.microsoft.com/office/drawing/2014/main" id="{83C765AE-CA08-4D38-95A2-684D40D45E39}"/>
                </a:ext>
              </a:extLst>
            </p:cNvPr>
            <p:cNvSpPr/>
            <p:nvPr/>
          </p:nvSpPr>
          <p:spPr>
            <a:xfrm>
              <a:off x="8682688" y="1169971"/>
              <a:ext cx="128731" cy="210829"/>
            </a:xfrm>
            <a:prstGeom prst="downArrow">
              <a:avLst/>
            </a:prstGeom>
            <a:solidFill>
              <a:schemeClr val="accent4">
                <a:lumMod val="75000"/>
                <a:alpha val="43000"/>
              </a:schemeClr>
            </a:solidFill>
            <a:ln w="15875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7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2" name="Down Arrow 360">
              <a:extLst>
                <a:ext uri="{FF2B5EF4-FFF2-40B4-BE49-F238E27FC236}">
                  <a16:creationId xmlns:a16="http://schemas.microsoft.com/office/drawing/2014/main" id="{61195760-9683-47CD-9A30-F1D215C9F1CA}"/>
                </a:ext>
              </a:extLst>
            </p:cNvPr>
            <p:cNvSpPr/>
            <p:nvPr/>
          </p:nvSpPr>
          <p:spPr>
            <a:xfrm>
              <a:off x="8682688" y="1896825"/>
              <a:ext cx="128731" cy="210829"/>
            </a:xfrm>
            <a:prstGeom prst="downArrow">
              <a:avLst/>
            </a:prstGeom>
            <a:solidFill>
              <a:schemeClr val="accent4">
                <a:lumMod val="75000"/>
                <a:alpha val="43000"/>
              </a:schemeClr>
            </a:solidFill>
            <a:ln w="15875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7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3" name="Down Arrow 361">
              <a:extLst>
                <a:ext uri="{FF2B5EF4-FFF2-40B4-BE49-F238E27FC236}">
                  <a16:creationId xmlns:a16="http://schemas.microsoft.com/office/drawing/2014/main" id="{72F63C1E-D1A7-4BEC-8950-7D11EC99CBF9}"/>
                </a:ext>
              </a:extLst>
            </p:cNvPr>
            <p:cNvSpPr/>
            <p:nvPr/>
          </p:nvSpPr>
          <p:spPr>
            <a:xfrm>
              <a:off x="8682687" y="2964185"/>
              <a:ext cx="128731" cy="210829"/>
            </a:xfrm>
            <a:prstGeom prst="downArrow">
              <a:avLst/>
            </a:prstGeom>
            <a:solidFill>
              <a:schemeClr val="accent4">
                <a:lumMod val="75000"/>
                <a:alpha val="43000"/>
              </a:schemeClr>
            </a:solidFill>
            <a:ln w="15875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7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4" name="Down Arrow 362">
              <a:extLst>
                <a:ext uri="{FF2B5EF4-FFF2-40B4-BE49-F238E27FC236}">
                  <a16:creationId xmlns:a16="http://schemas.microsoft.com/office/drawing/2014/main" id="{CA6A109D-6AAD-4C36-A833-A16C58A747FD}"/>
                </a:ext>
              </a:extLst>
            </p:cNvPr>
            <p:cNvSpPr/>
            <p:nvPr/>
          </p:nvSpPr>
          <p:spPr>
            <a:xfrm>
              <a:off x="8682687" y="4035858"/>
              <a:ext cx="128731" cy="210829"/>
            </a:xfrm>
            <a:prstGeom prst="downArrow">
              <a:avLst/>
            </a:prstGeom>
            <a:solidFill>
              <a:schemeClr val="accent4">
                <a:lumMod val="75000"/>
                <a:alpha val="43000"/>
              </a:schemeClr>
            </a:solidFill>
            <a:ln w="15875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7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5" name="Down Arrow 363">
              <a:extLst>
                <a:ext uri="{FF2B5EF4-FFF2-40B4-BE49-F238E27FC236}">
                  <a16:creationId xmlns:a16="http://schemas.microsoft.com/office/drawing/2014/main" id="{3B5D46DE-C31B-4EE3-945A-AC23BDECE968}"/>
                </a:ext>
              </a:extLst>
            </p:cNvPr>
            <p:cNvSpPr/>
            <p:nvPr/>
          </p:nvSpPr>
          <p:spPr>
            <a:xfrm>
              <a:off x="8682687" y="5093834"/>
              <a:ext cx="128731" cy="210829"/>
            </a:xfrm>
            <a:prstGeom prst="downArrow">
              <a:avLst/>
            </a:prstGeom>
            <a:solidFill>
              <a:schemeClr val="accent4">
                <a:lumMod val="75000"/>
                <a:alpha val="43000"/>
              </a:schemeClr>
            </a:solidFill>
            <a:ln w="15875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7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6" name="Down Arrow 364">
              <a:extLst>
                <a:ext uri="{FF2B5EF4-FFF2-40B4-BE49-F238E27FC236}">
                  <a16:creationId xmlns:a16="http://schemas.microsoft.com/office/drawing/2014/main" id="{0317A833-DD0B-46F2-90E1-B7DDBE7E3A80}"/>
                </a:ext>
              </a:extLst>
            </p:cNvPr>
            <p:cNvSpPr/>
            <p:nvPr/>
          </p:nvSpPr>
          <p:spPr>
            <a:xfrm>
              <a:off x="8682700" y="5480633"/>
              <a:ext cx="128731" cy="210829"/>
            </a:xfrm>
            <a:prstGeom prst="downArrow">
              <a:avLst/>
            </a:prstGeom>
            <a:solidFill>
              <a:schemeClr val="accent4">
                <a:lumMod val="75000"/>
                <a:alpha val="43000"/>
              </a:schemeClr>
            </a:solidFill>
            <a:ln w="15875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7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7" name="Down Arrow 365">
              <a:extLst>
                <a:ext uri="{FF2B5EF4-FFF2-40B4-BE49-F238E27FC236}">
                  <a16:creationId xmlns:a16="http://schemas.microsoft.com/office/drawing/2014/main" id="{41568744-704C-42C3-B826-0F75AB0EC726}"/>
                </a:ext>
              </a:extLst>
            </p:cNvPr>
            <p:cNvSpPr/>
            <p:nvPr/>
          </p:nvSpPr>
          <p:spPr>
            <a:xfrm>
              <a:off x="8682678" y="5875215"/>
              <a:ext cx="128730" cy="210829"/>
            </a:xfrm>
            <a:prstGeom prst="downArrow">
              <a:avLst/>
            </a:prstGeom>
            <a:solidFill>
              <a:schemeClr val="accent4">
                <a:lumMod val="75000"/>
                <a:alpha val="43000"/>
              </a:schemeClr>
            </a:solidFill>
            <a:ln w="15875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7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8" name="Down Arrow 366">
              <a:extLst>
                <a:ext uri="{FF2B5EF4-FFF2-40B4-BE49-F238E27FC236}">
                  <a16:creationId xmlns:a16="http://schemas.microsoft.com/office/drawing/2014/main" id="{7377BF35-B7C4-49BD-AF0C-B6FD68DCA1B1}"/>
                </a:ext>
              </a:extLst>
            </p:cNvPr>
            <p:cNvSpPr/>
            <p:nvPr/>
          </p:nvSpPr>
          <p:spPr>
            <a:xfrm>
              <a:off x="8682651" y="6273336"/>
              <a:ext cx="128730" cy="210829"/>
            </a:xfrm>
            <a:prstGeom prst="downArrow">
              <a:avLst/>
            </a:prstGeom>
            <a:solidFill>
              <a:schemeClr val="accent4">
                <a:lumMod val="75000"/>
                <a:alpha val="43000"/>
              </a:schemeClr>
            </a:solidFill>
            <a:ln w="15875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9" name="Down Arrow 367">
              <a:extLst>
                <a:ext uri="{FF2B5EF4-FFF2-40B4-BE49-F238E27FC236}">
                  <a16:creationId xmlns:a16="http://schemas.microsoft.com/office/drawing/2014/main" id="{445103E0-7167-45E8-AA5A-5062F7E286E2}"/>
                </a:ext>
              </a:extLst>
            </p:cNvPr>
            <p:cNvSpPr/>
            <p:nvPr/>
          </p:nvSpPr>
          <p:spPr>
            <a:xfrm>
              <a:off x="8682624" y="438032"/>
              <a:ext cx="128730" cy="210829"/>
            </a:xfrm>
            <a:prstGeom prst="downArrow">
              <a:avLst/>
            </a:prstGeom>
            <a:solidFill>
              <a:schemeClr val="accent4">
                <a:lumMod val="75000"/>
                <a:alpha val="43000"/>
              </a:schemeClr>
            </a:solidFill>
            <a:ln w="15875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500"/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E4C22B12-C61F-4B9A-A0F8-C7B1F528A061}"/>
                </a:ext>
              </a:extLst>
            </p:cNvPr>
            <p:cNvSpPr txBox="1"/>
            <p:nvPr/>
          </p:nvSpPr>
          <p:spPr>
            <a:xfrm>
              <a:off x="9296425" y="2342857"/>
              <a:ext cx="47481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800" b="1" dirty="0">
                  <a:solidFill>
                    <a:srgbClr val="7030A0"/>
                  </a:solidFill>
                  <a:latin typeface="Arial Narrow" panose="020B0606020202030204" pitchFamily="34" charset="0"/>
                </a:rPr>
                <a:t>56 X 56</a:t>
              </a: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3590E6BD-9F92-466C-8109-623E055854B6}"/>
                </a:ext>
              </a:extLst>
            </p:cNvPr>
            <p:cNvSpPr txBox="1"/>
            <p:nvPr/>
          </p:nvSpPr>
          <p:spPr>
            <a:xfrm>
              <a:off x="9296425" y="3418017"/>
              <a:ext cx="47481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800" b="1" dirty="0">
                  <a:solidFill>
                    <a:srgbClr val="7030A0"/>
                  </a:solidFill>
                  <a:latin typeface="Arial Narrow" panose="020B0606020202030204" pitchFamily="34" charset="0"/>
                </a:rPr>
                <a:t>28 X 28</a:t>
              </a: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A20FEAD9-44FB-411F-BA78-91B0505E21D4}"/>
                </a:ext>
              </a:extLst>
            </p:cNvPr>
            <p:cNvSpPr txBox="1"/>
            <p:nvPr/>
          </p:nvSpPr>
          <p:spPr>
            <a:xfrm>
              <a:off x="9296425" y="4493177"/>
              <a:ext cx="47481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800" b="1" dirty="0">
                  <a:solidFill>
                    <a:srgbClr val="7030A0"/>
                  </a:solidFill>
                  <a:latin typeface="Arial Narrow" panose="020B0606020202030204" pitchFamily="34" charset="0"/>
                </a:rPr>
                <a:t>14 X 14</a:t>
              </a: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AA5F0ACB-E91B-445A-B6A5-F38B1DD74DDD}"/>
                </a:ext>
              </a:extLst>
            </p:cNvPr>
            <p:cNvSpPr txBox="1"/>
            <p:nvPr/>
          </p:nvSpPr>
          <p:spPr>
            <a:xfrm>
              <a:off x="9338103" y="5275194"/>
              <a:ext cx="38183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800" b="1" dirty="0">
                  <a:solidFill>
                    <a:srgbClr val="7030A0"/>
                  </a:solidFill>
                  <a:latin typeface="Arial Narrow" panose="020B0606020202030204" pitchFamily="34" charset="0"/>
                </a:rPr>
                <a:t>7 X 7</a:t>
              </a: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A9DAC753-9508-4215-8A28-C386D8743059}"/>
                </a:ext>
              </a:extLst>
            </p:cNvPr>
            <p:cNvSpPr txBox="1"/>
            <p:nvPr/>
          </p:nvSpPr>
          <p:spPr>
            <a:xfrm>
              <a:off x="8263992" y="-29981"/>
              <a:ext cx="1007007" cy="5078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IN" sz="1600" dirty="0">
                  <a:solidFill>
                    <a:srgbClr val="7030A0"/>
                  </a:solidFill>
                  <a:latin typeface="Arial Narrow" panose="020B0606020202030204" pitchFamily="34" charset="0"/>
                </a:rPr>
                <a:t>VGG19Net</a:t>
              </a:r>
            </a:p>
            <a:p>
              <a:pPr algn="ctr"/>
              <a:r>
                <a:rPr lang="en-IN" sz="1100" b="1" dirty="0">
                  <a:solidFill>
                    <a:srgbClr val="00B050"/>
                  </a:solidFill>
                  <a:latin typeface="Arial Narrow" panose="020B0606020202030204" pitchFamily="34" charset="0"/>
                </a:rPr>
                <a:t>INPUT</a:t>
              </a: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EE549944-D1F0-4EC0-A899-8C157FE36909}"/>
                </a:ext>
              </a:extLst>
            </p:cNvPr>
            <p:cNvSpPr txBox="1"/>
            <p:nvPr/>
          </p:nvSpPr>
          <p:spPr>
            <a:xfrm>
              <a:off x="8405540" y="6439950"/>
              <a:ext cx="67999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100" b="1" dirty="0">
                  <a:solidFill>
                    <a:srgbClr val="00B050"/>
                  </a:solidFill>
                </a:rPr>
                <a:t>OUTPUT</a:t>
              </a:r>
            </a:p>
          </p:txBody>
        </p:sp>
      </p:grpSp>
      <p:sp>
        <p:nvSpPr>
          <p:cNvPr id="86" name="Title 1">
            <a:extLst>
              <a:ext uri="{FF2B5EF4-FFF2-40B4-BE49-F238E27FC236}">
                <a16:creationId xmlns:a16="http://schemas.microsoft.com/office/drawing/2014/main" id="{7D1CAB78-ABB3-4C1E-9C45-83F3E1F889F7}"/>
              </a:ext>
            </a:extLst>
          </p:cNvPr>
          <p:cNvSpPr txBox="1">
            <a:spLocks/>
          </p:cNvSpPr>
          <p:nvPr/>
        </p:nvSpPr>
        <p:spPr>
          <a:xfrm>
            <a:off x="371475" y="289902"/>
            <a:ext cx="6974844" cy="10999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600" dirty="0">
                <a:latin typeface="Century" panose="02040604050505020304" pitchFamily="18" charset="0"/>
              </a:rPr>
              <a:t>VGG Net </a:t>
            </a:r>
            <a:br>
              <a:rPr lang="en-IN" sz="3600" dirty="0">
                <a:latin typeface="Century" panose="02040604050505020304" pitchFamily="18" charset="0"/>
              </a:rPr>
            </a:br>
            <a:r>
              <a:rPr lang="en-IN" sz="2400" dirty="0" err="1">
                <a:solidFill>
                  <a:srgbClr val="DE76E6"/>
                </a:solidFill>
                <a:latin typeface="Century" panose="02040604050505020304" pitchFamily="18" charset="0"/>
              </a:rPr>
              <a:t>Simonyan</a:t>
            </a:r>
            <a:r>
              <a:rPr lang="en-IN" sz="2400" dirty="0">
                <a:solidFill>
                  <a:srgbClr val="DE76E6"/>
                </a:solidFill>
                <a:latin typeface="Century" panose="02040604050505020304" pitchFamily="18" charset="0"/>
              </a:rPr>
              <a:t> and Zisserman 2014</a:t>
            </a:r>
            <a:endParaRPr lang="en-IN" sz="3600" dirty="0">
              <a:solidFill>
                <a:srgbClr val="DE76E6"/>
              </a:solidFill>
              <a:latin typeface="Century" panose="02040604050505020304" pitchFamily="18" charset="0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7B7BF20D-A53E-4402-95AB-B1BE8E67DD41}"/>
              </a:ext>
            </a:extLst>
          </p:cNvPr>
          <p:cNvSpPr txBox="1"/>
          <p:nvPr/>
        </p:nvSpPr>
        <p:spPr>
          <a:xfrm>
            <a:off x="371475" y="6482938"/>
            <a:ext cx="25443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>
                <a:latin typeface="Book Antiqua" panose="02040602050305030304" pitchFamily="18" charset="0"/>
              </a:rPr>
              <a:t> </a:t>
            </a:r>
            <a:r>
              <a:rPr lang="en-IN" sz="1200" dirty="0">
                <a:latin typeface="Arial Narrow" panose="020B0606020202030204" pitchFamily="34" charset="0"/>
              </a:rPr>
              <a:t>Figure source: Fei </a:t>
            </a:r>
            <a:r>
              <a:rPr lang="en-IN" sz="1200" dirty="0" err="1">
                <a:latin typeface="Arial Narrow" panose="020B0606020202030204" pitchFamily="34" charset="0"/>
              </a:rPr>
              <a:t>Fei</a:t>
            </a:r>
            <a:r>
              <a:rPr lang="en-IN" sz="1200" dirty="0">
                <a:latin typeface="Arial Narrow" panose="020B0606020202030204" pitchFamily="34" charset="0"/>
              </a:rPr>
              <a:t> Li et. al. Stanford</a:t>
            </a:r>
          </a:p>
        </p:txBody>
      </p:sp>
    </p:spTree>
    <p:extLst>
      <p:ext uri="{BB962C8B-B14F-4D97-AF65-F5344CB8AC3E}">
        <p14:creationId xmlns:p14="http://schemas.microsoft.com/office/powerpoint/2010/main" val="12849410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22276D-D4F9-4310-A883-5AFDA6AF6C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4" y="1514535"/>
            <a:ext cx="11280055" cy="4876838"/>
          </a:xfrm>
        </p:spPr>
        <p:txBody>
          <a:bodyPr>
            <a:normAutofit/>
          </a:bodyPr>
          <a:lstStyle/>
          <a:p>
            <a:pPr algn="just"/>
            <a:r>
              <a:rPr lang="en-GB" sz="2000" dirty="0">
                <a:latin typeface="Arial Narrow" panose="020B0606020202030204" pitchFamily="34" charset="0"/>
              </a:rPr>
              <a:t>A key design principle of </a:t>
            </a:r>
            <a:r>
              <a:rPr lang="en-GB" sz="2000" dirty="0" err="1">
                <a:latin typeface="Arial Narrow" panose="020B0606020202030204" pitchFamily="34" charset="0"/>
              </a:rPr>
              <a:t>VGGNet</a:t>
            </a:r>
            <a:r>
              <a:rPr lang="en-GB" sz="2000" dirty="0">
                <a:latin typeface="Arial Narrow" panose="020B0606020202030204" pitchFamily="34" charset="0"/>
              </a:rPr>
              <a:t> is the use of </a:t>
            </a:r>
            <a:r>
              <a:rPr lang="en-GB" sz="2000" dirty="0">
                <a:solidFill>
                  <a:srgbClr val="00B0F0"/>
                </a:solidFill>
                <a:latin typeface="Arial Narrow" panose="020B0606020202030204" pitchFamily="34" charset="0"/>
              </a:rPr>
              <a:t>stacked 3 × 3 convolutional layers</a:t>
            </a:r>
            <a:r>
              <a:rPr lang="en-GB" sz="2000" dirty="0">
                <a:latin typeface="Arial Narrow" panose="020B0606020202030204" pitchFamily="34" charset="0"/>
              </a:rPr>
              <a:t> instead of larger convolutional filters. </a:t>
            </a:r>
          </a:p>
          <a:p>
            <a:pPr algn="just"/>
            <a:endParaRPr lang="en-GB" sz="2000" dirty="0">
              <a:latin typeface="Arial Narrow" panose="020B0606020202030204" pitchFamily="34" charset="0"/>
            </a:endParaRPr>
          </a:p>
          <a:p>
            <a:pPr algn="just"/>
            <a:r>
              <a:rPr lang="en-GB" sz="2000" dirty="0">
                <a:latin typeface="Arial Narrow" panose="020B0606020202030204" pitchFamily="34" charset="0"/>
              </a:rPr>
              <a:t>Specifically, </a:t>
            </a:r>
            <a:r>
              <a:rPr lang="en-GB" sz="2000" dirty="0">
                <a:solidFill>
                  <a:srgbClr val="00B0F0"/>
                </a:solidFill>
                <a:latin typeface="Arial Narrow" panose="020B0606020202030204" pitchFamily="34" charset="0"/>
              </a:rPr>
              <a:t>three consecutive 3 × 3 convolutional layers</a:t>
            </a:r>
            <a:r>
              <a:rPr lang="en-GB" sz="2000" dirty="0">
                <a:latin typeface="Arial Narrow" panose="020B0606020202030204" pitchFamily="34" charset="0"/>
              </a:rPr>
              <a:t> with a stride of 1 provide the </a:t>
            </a:r>
            <a:r>
              <a:rPr lang="en-GB" sz="2000" dirty="0">
                <a:solidFill>
                  <a:srgbClr val="00B0F0"/>
                </a:solidFill>
                <a:latin typeface="Arial Narrow" panose="020B0606020202030204" pitchFamily="34" charset="0"/>
              </a:rPr>
              <a:t>same effective receptive field as a single 7 × 7 convolutional layer</a:t>
            </a:r>
            <a:r>
              <a:rPr lang="en-GB" sz="2000" dirty="0">
                <a:latin typeface="Arial Narrow" panose="020B0606020202030204" pitchFamily="34" charset="0"/>
              </a:rPr>
              <a:t>, allowing the network to capture equivalent spatial context while using a more efficient architecture. </a:t>
            </a:r>
          </a:p>
          <a:p>
            <a:pPr algn="just"/>
            <a:endParaRPr lang="en-GB" sz="2000" dirty="0">
              <a:latin typeface="Arial Narrow" panose="020B0606020202030204" pitchFamily="34" charset="0"/>
            </a:endParaRPr>
          </a:p>
          <a:p>
            <a:pPr algn="just"/>
            <a:r>
              <a:rPr lang="en-GB" sz="2000" dirty="0">
                <a:latin typeface="Arial Narrow" panose="020B0606020202030204" pitchFamily="34" charset="0"/>
              </a:rPr>
              <a:t>This design offers two major advantages. </a:t>
            </a:r>
          </a:p>
          <a:p>
            <a:pPr algn="just"/>
            <a:r>
              <a:rPr lang="en-GB" sz="2000" dirty="0">
                <a:latin typeface="Arial Narrow" panose="020B0606020202030204" pitchFamily="34" charset="0"/>
              </a:rPr>
              <a:t>First, </a:t>
            </a:r>
            <a:r>
              <a:rPr lang="en-GB" sz="2000" dirty="0">
                <a:solidFill>
                  <a:srgbClr val="00B0F0"/>
                </a:solidFill>
                <a:latin typeface="Arial Narrow" panose="020B0606020202030204" pitchFamily="34" charset="0"/>
              </a:rPr>
              <a:t>increased non-linearity</a:t>
            </a:r>
            <a:r>
              <a:rPr lang="en-GB" sz="2000" dirty="0">
                <a:latin typeface="Arial Narrow" panose="020B0606020202030204" pitchFamily="34" charset="0"/>
              </a:rPr>
              <a:t>: each 3 × 3 convolution is followed by a </a:t>
            </a:r>
            <a:r>
              <a:rPr lang="en-GB" sz="2000" dirty="0" err="1">
                <a:latin typeface="Arial Narrow" panose="020B0606020202030204" pitchFamily="34" charset="0"/>
              </a:rPr>
              <a:t>ReLU</a:t>
            </a:r>
            <a:r>
              <a:rPr lang="en-GB" sz="2000" dirty="0">
                <a:latin typeface="Arial Narrow" panose="020B0606020202030204" pitchFamily="34" charset="0"/>
              </a:rPr>
              <a:t> activation function, so stacking three such layers introduces </a:t>
            </a:r>
            <a:r>
              <a:rPr lang="en-GB" sz="2000" dirty="0">
                <a:solidFill>
                  <a:srgbClr val="00B0F0"/>
                </a:solidFill>
                <a:latin typeface="Arial Narrow" panose="020B0606020202030204" pitchFamily="34" charset="0"/>
              </a:rPr>
              <a:t>three non-linear transformations instead of one</a:t>
            </a:r>
            <a:r>
              <a:rPr lang="en-GB" sz="2000" dirty="0">
                <a:latin typeface="Arial Narrow" panose="020B0606020202030204" pitchFamily="34" charset="0"/>
              </a:rPr>
              <a:t>, enabling the network to learn more complex, hierarchical, and discriminative feature representations. </a:t>
            </a:r>
          </a:p>
          <a:p>
            <a:pPr algn="just"/>
            <a:r>
              <a:rPr lang="en-GB" sz="2000" dirty="0">
                <a:latin typeface="Arial Narrow" panose="020B0606020202030204" pitchFamily="34" charset="0"/>
              </a:rPr>
              <a:t>Second, </a:t>
            </a:r>
            <a:r>
              <a:rPr lang="en-GB" sz="2000" dirty="0">
                <a:solidFill>
                  <a:srgbClr val="00B0F0"/>
                </a:solidFill>
                <a:latin typeface="Arial Narrow" panose="020B0606020202030204" pitchFamily="34" charset="0"/>
              </a:rPr>
              <a:t>parameter efficiency</a:t>
            </a:r>
            <a:r>
              <a:rPr lang="en-GB" sz="2000" dirty="0">
                <a:latin typeface="Arial Narrow" panose="020B0606020202030204" pitchFamily="34" charset="0"/>
              </a:rPr>
              <a:t>: replacing a single 7 × 7 convolution with three 3 × 3 convolutions significantly reduces the number of trainable parameters.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2F80E83-53EF-44C6-AB85-B6A82A8C2976}"/>
              </a:ext>
            </a:extLst>
          </p:cNvPr>
          <p:cNvSpPr txBox="1">
            <a:spLocks/>
          </p:cNvSpPr>
          <p:nvPr/>
        </p:nvSpPr>
        <p:spPr>
          <a:xfrm>
            <a:off x="371475" y="289902"/>
            <a:ext cx="6974844" cy="10999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600" dirty="0">
                <a:latin typeface="Century" panose="02040604050505020304" pitchFamily="18" charset="0"/>
              </a:rPr>
              <a:t>VGG Net </a:t>
            </a:r>
            <a:br>
              <a:rPr lang="en-IN" sz="3600" dirty="0">
                <a:latin typeface="Century" panose="02040604050505020304" pitchFamily="18" charset="0"/>
              </a:rPr>
            </a:br>
            <a:r>
              <a:rPr lang="en-IN" sz="2400" dirty="0" err="1">
                <a:solidFill>
                  <a:srgbClr val="DE76E6"/>
                </a:solidFill>
                <a:latin typeface="Century" panose="02040604050505020304" pitchFamily="18" charset="0"/>
              </a:rPr>
              <a:t>Simonyan</a:t>
            </a:r>
            <a:r>
              <a:rPr lang="en-IN" sz="2400" dirty="0">
                <a:solidFill>
                  <a:srgbClr val="DE76E6"/>
                </a:solidFill>
                <a:latin typeface="Century" panose="02040604050505020304" pitchFamily="18" charset="0"/>
              </a:rPr>
              <a:t> and Zisserman 2014</a:t>
            </a:r>
            <a:endParaRPr lang="en-IN" sz="3600" dirty="0">
              <a:solidFill>
                <a:srgbClr val="DE76E6"/>
              </a:solidFill>
              <a:latin typeface="Century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13968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41300"/>
            <a:ext cx="8213196" cy="1325563"/>
          </a:xfrm>
        </p:spPr>
        <p:txBody>
          <a:bodyPr>
            <a:normAutofit/>
          </a:bodyPr>
          <a:lstStyle/>
          <a:p>
            <a:r>
              <a:rPr lang="en-IN" sz="2800" dirty="0">
                <a:latin typeface="Century" panose="02040604050505020304" pitchFamily="18" charset="0"/>
              </a:rPr>
              <a:t>Stack of 3 X 3 </a:t>
            </a:r>
            <a:r>
              <a:rPr lang="en-IN" sz="2800" dirty="0" err="1">
                <a:latin typeface="Century" panose="02040604050505020304" pitchFamily="18" charset="0"/>
              </a:rPr>
              <a:t>conv</a:t>
            </a:r>
            <a:r>
              <a:rPr lang="en-IN" sz="2800" dirty="0">
                <a:latin typeface="Century" panose="02040604050505020304" pitchFamily="18" charset="0"/>
              </a:rPr>
              <a:t> (stride 1) layers has same effective receptive field as one 7 X 7 </a:t>
            </a:r>
            <a:r>
              <a:rPr lang="en-IN" sz="2800" dirty="0" err="1">
                <a:latin typeface="Century" panose="02040604050505020304" pitchFamily="18" charset="0"/>
              </a:rPr>
              <a:t>conv</a:t>
            </a:r>
            <a:r>
              <a:rPr lang="en-IN" sz="2800" dirty="0">
                <a:latin typeface="Century" panose="02040604050505020304" pitchFamily="18" charset="0"/>
              </a:rPr>
              <a:t> layer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5EAA12E-B26E-4D90-A002-260EF2FDCF73}"/>
              </a:ext>
            </a:extLst>
          </p:cNvPr>
          <p:cNvGrpSpPr/>
          <p:nvPr/>
        </p:nvGrpSpPr>
        <p:grpSpPr>
          <a:xfrm>
            <a:off x="4271214" y="1931819"/>
            <a:ext cx="1171575" cy="942973"/>
            <a:chOff x="6119814" y="2171695"/>
            <a:chExt cx="1171575" cy="94297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ECDB2CF-A27F-4E68-87BC-3105DF8ED7CE}"/>
                </a:ext>
              </a:extLst>
            </p:cNvPr>
            <p:cNvSpPr/>
            <p:nvPr/>
          </p:nvSpPr>
          <p:spPr>
            <a:xfrm>
              <a:off x="6119814" y="2171697"/>
              <a:ext cx="390525" cy="314325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D538DFD-50C6-4E5D-8385-21E764B95743}"/>
                </a:ext>
              </a:extLst>
            </p:cNvPr>
            <p:cNvSpPr/>
            <p:nvPr/>
          </p:nvSpPr>
          <p:spPr>
            <a:xfrm>
              <a:off x="6510339" y="2171695"/>
              <a:ext cx="390525" cy="314325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78C29C7-F2D4-4830-9DD4-8DB5F24B7A28}"/>
                </a:ext>
              </a:extLst>
            </p:cNvPr>
            <p:cNvSpPr/>
            <p:nvPr/>
          </p:nvSpPr>
          <p:spPr>
            <a:xfrm>
              <a:off x="6900864" y="2171695"/>
              <a:ext cx="390525" cy="314325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BEAB2E4-AA41-4F3F-96E0-C3E002AFFD12}"/>
                </a:ext>
              </a:extLst>
            </p:cNvPr>
            <p:cNvSpPr/>
            <p:nvPr/>
          </p:nvSpPr>
          <p:spPr>
            <a:xfrm>
              <a:off x="6119814" y="2486022"/>
              <a:ext cx="390525" cy="314325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7ED22A3-6E7F-45F5-B3C6-D046C85D0BD1}"/>
                </a:ext>
              </a:extLst>
            </p:cNvPr>
            <p:cNvSpPr/>
            <p:nvPr/>
          </p:nvSpPr>
          <p:spPr>
            <a:xfrm>
              <a:off x="6510339" y="2486020"/>
              <a:ext cx="390525" cy="314325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2ED2D12-246D-4F46-B7D6-29C897F29B74}"/>
                </a:ext>
              </a:extLst>
            </p:cNvPr>
            <p:cNvSpPr/>
            <p:nvPr/>
          </p:nvSpPr>
          <p:spPr>
            <a:xfrm>
              <a:off x="6900864" y="2486020"/>
              <a:ext cx="390525" cy="314325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58F1D1B-CF5B-40E7-84DA-A036091557E0}"/>
                </a:ext>
              </a:extLst>
            </p:cNvPr>
            <p:cNvSpPr/>
            <p:nvPr/>
          </p:nvSpPr>
          <p:spPr>
            <a:xfrm>
              <a:off x="6119814" y="2800340"/>
              <a:ext cx="390525" cy="314325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C33B3E0-99C4-4DD6-A08D-28B893A7373E}"/>
                </a:ext>
              </a:extLst>
            </p:cNvPr>
            <p:cNvSpPr/>
            <p:nvPr/>
          </p:nvSpPr>
          <p:spPr>
            <a:xfrm>
              <a:off x="6510339" y="2800342"/>
              <a:ext cx="390525" cy="314325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FD27CA3-9CCC-471E-88D3-8516C624397B}"/>
                </a:ext>
              </a:extLst>
            </p:cNvPr>
            <p:cNvSpPr/>
            <p:nvPr/>
          </p:nvSpPr>
          <p:spPr>
            <a:xfrm>
              <a:off x="6900864" y="2800343"/>
              <a:ext cx="390525" cy="314325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40" name="Rectangle 39">
            <a:extLst>
              <a:ext uri="{FF2B5EF4-FFF2-40B4-BE49-F238E27FC236}">
                <a16:creationId xmlns:a16="http://schemas.microsoft.com/office/drawing/2014/main" id="{C8E4AF97-EB76-41D0-A17B-3FD2FC551C95}"/>
              </a:ext>
            </a:extLst>
          </p:cNvPr>
          <p:cNvSpPr/>
          <p:nvPr/>
        </p:nvSpPr>
        <p:spPr>
          <a:xfrm>
            <a:off x="5669300" y="2246141"/>
            <a:ext cx="3593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©</a:t>
            </a:r>
            <a:endParaRPr lang="en-GB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9F5F688-7309-4542-B39D-B0FF7FD28B88}"/>
              </a:ext>
            </a:extLst>
          </p:cNvPr>
          <p:cNvSpPr/>
          <p:nvPr/>
        </p:nvSpPr>
        <p:spPr>
          <a:xfrm rot="5400000">
            <a:off x="7775688" y="2227015"/>
            <a:ext cx="30473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Arial Narrow" panose="020B0606020202030204" pitchFamily="34" charset="0"/>
                <a:cs typeface="Times New Roman" panose="02020603050405020304" pitchFamily="18" charset="0"/>
              </a:rPr>
              <a:t>||</a:t>
            </a:r>
            <a:endParaRPr lang="en-GB" dirty="0">
              <a:latin typeface="Arial Narrow" panose="020B0606020202030204" pitchFamily="34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774621B-431C-4774-BBF8-E5225D91EA91}"/>
              </a:ext>
            </a:extLst>
          </p:cNvPr>
          <p:cNvSpPr txBox="1"/>
          <p:nvPr/>
        </p:nvSpPr>
        <p:spPr>
          <a:xfrm>
            <a:off x="4608837" y="2819775"/>
            <a:ext cx="7024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Arial Narrow" panose="020B0606020202030204" pitchFamily="34" charset="0"/>
                <a:cs typeface="Times New Roman" panose="02020603050405020304" pitchFamily="18" charset="0"/>
              </a:rPr>
              <a:t>3 x 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A9ECBB6-EB0A-4A37-9D44-0BDC14761F26}"/>
              </a:ext>
            </a:extLst>
          </p:cNvPr>
          <p:cNvSpPr txBox="1"/>
          <p:nvPr/>
        </p:nvSpPr>
        <p:spPr>
          <a:xfrm>
            <a:off x="9226722" y="3275526"/>
            <a:ext cx="7024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Arial Narrow" panose="020B0606020202030204" pitchFamily="34" charset="0"/>
                <a:cs typeface="Times New Roman" panose="02020603050405020304" pitchFamily="18" charset="0"/>
              </a:rPr>
              <a:t>5 x 5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6A9ECBB6-EB0A-4A37-9D44-0BDC14761F26}"/>
              </a:ext>
            </a:extLst>
          </p:cNvPr>
          <p:cNvSpPr txBox="1"/>
          <p:nvPr/>
        </p:nvSpPr>
        <p:spPr>
          <a:xfrm>
            <a:off x="4740322" y="5599811"/>
            <a:ext cx="7024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Arial Narrow" panose="020B0606020202030204" pitchFamily="34" charset="0"/>
                <a:cs typeface="Times New Roman" panose="02020603050405020304" pitchFamily="18" charset="0"/>
              </a:rPr>
              <a:t>5 x 5</a:t>
            </a:r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C8E4AF97-EB76-41D0-A17B-3FD2FC551C95}"/>
              </a:ext>
            </a:extLst>
          </p:cNvPr>
          <p:cNvSpPr/>
          <p:nvPr/>
        </p:nvSpPr>
        <p:spPr>
          <a:xfrm>
            <a:off x="6002281" y="4579654"/>
            <a:ext cx="3593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©</a:t>
            </a:r>
            <a:endParaRPr lang="en-GB" dirty="0"/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79F5F688-7309-4542-B39D-B0FF7FD28B88}"/>
              </a:ext>
            </a:extLst>
          </p:cNvPr>
          <p:cNvSpPr/>
          <p:nvPr/>
        </p:nvSpPr>
        <p:spPr>
          <a:xfrm rot="5400000">
            <a:off x="8108669" y="4560528"/>
            <a:ext cx="30473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Arial Narrow" panose="020B0606020202030204" pitchFamily="34" charset="0"/>
                <a:cs typeface="Times New Roman" panose="02020603050405020304" pitchFamily="18" charset="0"/>
              </a:rPr>
              <a:t>||</a:t>
            </a:r>
            <a:endParaRPr lang="en-GB" dirty="0">
              <a:latin typeface="Arial Narrow" panose="020B0606020202030204" pitchFamily="34" charset="0"/>
            </a:endParaRPr>
          </a:p>
        </p:txBody>
      </p: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6801F016-8798-470B-941B-9A47224088D1}"/>
              </a:ext>
            </a:extLst>
          </p:cNvPr>
          <p:cNvGrpSpPr/>
          <p:nvPr/>
        </p:nvGrpSpPr>
        <p:grpSpPr>
          <a:xfrm>
            <a:off x="6515601" y="4372629"/>
            <a:ext cx="1171575" cy="942973"/>
            <a:chOff x="7681914" y="2171692"/>
            <a:chExt cx="1171575" cy="942973"/>
          </a:xfrm>
        </p:grpSpPr>
        <p:sp>
          <p:nvSpPr>
            <p:cNvPr id="150" name="Rectangle 149">
              <a:extLst>
                <a:ext uri="{FF2B5EF4-FFF2-40B4-BE49-F238E27FC236}">
                  <a16:creationId xmlns:a16="http://schemas.microsoft.com/office/drawing/2014/main" id="{B2A8915A-D5C7-43BB-80DA-3C75C42B0465}"/>
                </a:ext>
              </a:extLst>
            </p:cNvPr>
            <p:cNvSpPr/>
            <p:nvPr/>
          </p:nvSpPr>
          <p:spPr>
            <a:xfrm>
              <a:off x="7681914" y="2171694"/>
              <a:ext cx="390526" cy="314325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1" name="Rectangle 150">
              <a:extLst>
                <a:ext uri="{FF2B5EF4-FFF2-40B4-BE49-F238E27FC236}">
                  <a16:creationId xmlns:a16="http://schemas.microsoft.com/office/drawing/2014/main" id="{4206110E-1A5E-4F3B-B604-B45D4126C423}"/>
                </a:ext>
              </a:extLst>
            </p:cNvPr>
            <p:cNvSpPr/>
            <p:nvPr/>
          </p:nvSpPr>
          <p:spPr>
            <a:xfrm>
              <a:off x="8072439" y="2171692"/>
              <a:ext cx="390526" cy="314325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2" name="Rectangle 151">
              <a:extLst>
                <a:ext uri="{FF2B5EF4-FFF2-40B4-BE49-F238E27FC236}">
                  <a16:creationId xmlns:a16="http://schemas.microsoft.com/office/drawing/2014/main" id="{E0211A58-DF5E-4AE3-B6A9-BB345158737F}"/>
                </a:ext>
              </a:extLst>
            </p:cNvPr>
            <p:cNvSpPr/>
            <p:nvPr/>
          </p:nvSpPr>
          <p:spPr>
            <a:xfrm>
              <a:off x="8462964" y="2171692"/>
              <a:ext cx="390525" cy="314325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3" name="Rectangle 152">
              <a:extLst>
                <a:ext uri="{FF2B5EF4-FFF2-40B4-BE49-F238E27FC236}">
                  <a16:creationId xmlns:a16="http://schemas.microsoft.com/office/drawing/2014/main" id="{98918DFA-2527-4CB8-9743-6F75686DDFBD}"/>
                </a:ext>
              </a:extLst>
            </p:cNvPr>
            <p:cNvSpPr/>
            <p:nvPr/>
          </p:nvSpPr>
          <p:spPr>
            <a:xfrm>
              <a:off x="7681914" y="2486019"/>
              <a:ext cx="390526" cy="314325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4" name="Rectangle 153">
              <a:extLst>
                <a:ext uri="{FF2B5EF4-FFF2-40B4-BE49-F238E27FC236}">
                  <a16:creationId xmlns:a16="http://schemas.microsoft.com/office/drawing/2014/main" id="{76006521-9A5C-4B12-AD07-7186304DCF54}"/>
                </a:ext>
              </a:extLst>
            </p:cNvPr>
            <p:cNvSpPr/>
            <p:nvPr/>
          </p:nvSpPr>
          <p:spPr>
            <a:xfrm>
              <a:off x="8072439" y="2486017"/>
              <a:ext cx="390525" cy="314325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5" name="Rectangle 154">
              <a:extLst>
                <a:ext uri="{FF2B5EF4-FFF2-40B4-BE49-F238E27FC236}">
                  <a16:creationId xmlns:a16="http://schemas.microsoft.com/office/drawing/2014/main" id="{5302CBDF-2889-4C38-BE23-091FF239E6DB}"/>
                </a:ext>
              </a:extLst>
            </p:cNvPr>
            <p:cNvSpPr/>
            <p:nvPr/>
          </p:nvSpPr>
          <p:spPr>
            <a:xfrm>
              <a:off x="8462964" y="2486017"/>
              <a:ext cx="390525" cy="314325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6" name="Rectangle 155">
              <a:extLst>
                <a:ext uri="{FF2B5EF4-FFF2-40B4-BE49-F238E27FC236}">
                  <a16:creationId xmlns:a16="http://schemas.microsoft.com/office/drawing/2014/main" id="{B26C01D0-93BE-4E34-BC7F-73AEE2E09C91}"/>
                </a:ext>
              </a:extLst>
            </p:cNvPr>
            <p:cNvSpPr/>
            <p:nvPr/>
          </p:nvSpPr>
          <p:spPr>
            <a:xfrm>
              <a:off x="7681914" y="2800337"/>
              <a:ext cx="390526" cy="314325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7" name="Rectangle 156">
              <a:extLst>
                <a:ext uri="{FF2B5EF4-FFF2-40B4-BE49-F238E27FC236}">
                  <a16:creationId xmlns:a16="http://schemas.microsoft.com/office/drawing/2014/main" id="{5E7F21ED-8C45-4E2D-8E44-428353D98860}"/>
                </a:ext>
              </a:extLst>
            </p:cNvPr>
            <p:cNvSpPr/>
            <p:nvPr/>
          </p:nvSpPr>
          <p:spPr>
            <a:xfrm>
              <a:off x="8072439" y="2800339"/>
              <a:ext cx="390525" cy="314325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8" name="Rectangle 157">
              <a:extLst>
                <a:ext uri="{FF2B5EF4-FFF2-40B4-BE49-F238E27FC236}">
                  <a16:creationId xmlns:a16="http://schemas.microsoft.com/office/drawing/2014/main" id="{A620BD11-9038-4B11-AC37-A905F00D38B5}"/>
                </a:ext>
              </a:extLst>
            </p:cNvPr>
            <p:cNvSpPr/>
            <p:nvPr/>
          </p:nvSpPr>
          <p:spPr>
            <a:xfrm>
              <a:off x="8462964" y="2800340"/>
              <a:ext cx="390525" cy="314325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160" name="Rectangle 159">
            <a:extLst>
              <a:ext uri="{FF2B5EF4-FFF2-40B4-BE49-F238E27FC236}">
                <a16:creationId xmlns:a16="http://schemas.microsoft.com/office/drawing/2014/main" id="{4A9A5AE0-3D03-4323-9E30-BCF2D73DE6BA}"/>
              </a:ext>
            </a:extLst>
          </p:cNvPr>
          <p:cNvSpPr/>
          <p:nvPr/>
        </p:nvSpPr>
        <p:spPr>
          <a:xfrm>
            <a:off x="3974807" y="3978457"/>
            <a:ext cx="390525" cy="3143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21B227B7-4524-4707-A582-B450375EF6C5}"/>
              </a:ext>
            </a:extLst>
          </p:cNvPr>
          <p:cNvSpPr/>
          <p:nvPr/>
        </p:nvSpPr>
        <p:spPr>
          <a:xfrm>
            <a:off x="4365332" y="3978455"/>
            <a:ext cx="390525" cy="3143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EEC32EF9-66A8-4DEA-81B7-53FD8D80E3AA}"/>
              </a:ext>
            </a:extLst>
          </p:cNvPr>
          <p:cNvSpPr/>
          <p:nvPr/>
        </p:nvSpPr>
        <p:spPr>
          <a:xfrm>
            <a:off x="3974807" y="4292782"/>
            <a:ext cx="390525" cy="3143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BC6FEF6A-FC5C-43D6-A5D8-E38EBE2D5992}"/>
              </a:ext>
            </a:extLst>
          </p:cNvPr>
          <p:cNvSpPr/>
          <p:nvPr/>
        </p:nvSpPr>
        <p:spPr>
          <a:xfrm>
            <a:off x="4755857" y="3978431"/>
            <a:ext cx="390525" cy="3143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064A903B-BDE5-41A6-A965-41A9763E87CD}"/>
              </a:ext>
            </a:extLst>
          </p:cNvPr>
          <p:cNvSpPr/>
          <p:nvPr/>
        </p:nvSpPr>
        <p:spPr>
          <a:xfrm>
            <a:off x="5146382" y="3978429"/>
            <a:ext cx="390525" cy="3143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152F5ED1-9F58-4FCD-8A74-F6A2C3FC3F00}"/>
              </a:ext>
            </a:extLst>
          </p:cNvPr>
          <p:cNvSpPr/>
          <p:nvPr/>
        </p:nvSpPr>
        <p:spPr>
          <a:xfrm>
            <a:off x="5536907" y="3978428"/>
            <a:ext cx="390525" cy="3143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A2D91F8E-5503-49C9-9260-AD89BB8B099B}"/>
              </a:ext>
            </a:extLst>
          </p:cNvPr>
          <p:cNvSpPr/>
          <p:nvPr/>
        </p:nvSpPr>
        <p:spPr>
          <a:xfrm>
            <a:off x="3970044" y="4607074"/>
            <a:ext cx="390525" cy="3143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7" name="Rectangle 166">
            <a:extLst>
              <a:ext uri="{FF2B5EF4-FFF2-40B4-BE49-F238E27FC236}">
                <a16:creationId xmlns:a16="http://schemas.microsoft.com/office/drawing/2014/main" id="{D42C3371-CD77-43D1-BA5B-A84C78204856}"/>
              </a:ext>
            </a:extLst>
          </p:cNvPr>
          <p:cNvSpPr/>
          <p:nvPr/>
        </p:nvSpPr>
        <p:spPr>
          <a:xfrm>
            <a:off x="3974807" y="4921386"/>
            <a:ext cx="390525" cy="3143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8" name="Rectangle 167">
            <a:extLst>
              <a:ext uri="{FF2B5EF4-FFF2-40B4-BE49-F238E27FC236}">
                <a16:creationId xmlns:a16="http://schemas.microsoft.com/office/drawing/2014/main" id="{09689D2A-17D0-4EA8-822D-3502B12DA8C4}"/>
              </a:ext>
            </a:extLst>
          </p:cNvPr>
          <p:cNvSpPr/>
          <p:nvPr/>
        </p:nvSpPr>
        <p:spPr>
          <a:xfrm>
            <a:off x="3974807" y="5235711"/>
            <a:ext cx="390525" cy="3143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794836EC-F02A-4ACA-B139-72D33F1E3E5B}"/>
              </a:ext>
            </a:extLst>
          </p:cNvPr>
          <p:cNvSpPr/>
          <p:nvPr/>
        </p:nvSpPr>
        <p:spPr>
          <a:xfrm>
            <a:off x="5536907" y="4292782"/>
            <a:ext cx="390525" cy="3143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C7544C99-0092-4D82-8B48-E495F8D9F084}"/>
              </a:ext>
            </a:extLst>
          </p:cNvPr>
          <p:cNvSpPr/>
          <p:nvPr/>
        </p:nvSpPr>
        <p:spPr>
          <a:xfrm>
            <a:off x="5532144" y="4607074"/>
            <a:ext cx="390525" cy="3143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0106085F-F3DD-4299-8761-AF898A7E36AD}"/>
              </a:ext>
            </a:extLst>
          </p:cNvPr>
          <p:cNvSpPr/>
          <p:nvPr/>
        </p:nvSpPr>
        <p:spPr>
          <a:xfrm>
            <a:off x="5536907" y="4921386"/>
            <a:ext cx="390525" cy="3143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D9325B84-2EB6-4E2D-8372-148248617672}"/>
              </a:ext>
            </a:extLst>
          </p:cNvPr>
          <p:cNvSpPr/>
          <p:nvPr/>
        </p:nvSpPr>
        <p:spPr>
          <a:xfrm>
            <a:off x="5536907" y="5235711"/>
            <a:ext cx="390525" cy="3143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E18CCE23-DA46-402B-9E82-26AC884F21F6}"/>
              </a:ext>
            </a:extLst>
          </p:cNvPr>
          <p:cNvSpPr/>
          <p:nvPr/>
        </p:nvSpPr>
        <p:spPr>
          <a:xfrm>
            <a:off x="4365332" y="5235739"/>
            <a:ext cx="390525" cy="3143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D507C719-7C8E-4466-A219-EFA3DB159618}"/>
              </a:ext>
            </a:extLst>
          </p:cNvPr>
          <p:cNvSpPr/>
          <p:nvPr/>
        </p:nvSpPr>
        <p:spPr>
          <a:xfrm>
            <a:off x="4755857" y="5235715"/>
            <a:ext cx="390525" cy="3143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0D5AED8C-26F0-4F3E-8359-284C269B08B5}"/>
              </a:ext>
            </a:extLst>
          </p:cNvPr>
          <p:cNvSpPr/>
          <p:nvPr/>
        </p:nvSpPr>
        <p:spPr>
          <a:xfrm>
            <a:off x="5146382" y="5235713"/>
            <a:ext cx="390525" cy="3143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176" name="Group 175">
            <a:extLst>
              <a:ext uri="{FF2B5EF4-FFF2-40B4-BE49-F238E27FC236}">
                <a16:creationId xmlns:a16="http://schemas.microsoft.com/office/drawing/2014/main" id="{95EAA12E-B26E-4D90-A002-260EF2FDCF73}"/>
              </a:ext>
            </a:extLst>
          </p:cNvPr>
          <p:cNvGrpSpPr/>
          <p:nvPr/>
        </p:nvGrpSpPr>
        <p:grpSpPr>
          <a:xfrm>
            <a:off x="4356875" y="4291051"/>
            <a:ext cx="1171575" cy="942973"/>
            <a:chOff x="6119814" y="2171695"/>
            <a:chExt cx="1171575" cy="942973"/>
          </a:xfrm>
        </p:grpSpPr>
        <p:sp>
          <p:nvSpPr>
            <p:cNvPr id="177" name="Rectangle 176">
              <a:extLst>
                <a:ext uri="{FF2B5EF4-FFF2-40B4-BE49-F238E27FC236}">
                  <a16:creationId xmlns:a16="http://schemas.microsoft.com/office/drawing/2014/main" id="{0ECDB2CF-A27F-4E68-87BC-3105DF8ED7CE}"/>
                </a:ext>
              </a:extLst>
            </p:cNvPr>
            <p:cNvSpPr/>
            <p:nvPr/>
          </p:nvSpPr>
          <p:spPr>
            <a:xfrm>
              <a:off x="6119814" y="2171697"/>
              <a:ext cx="390525" cy="314325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8" name="Rectangle 177">
              <a:extLst>
                <a:ext uri="{FF2B5EF4-FFF2-40B4-BE49-F238E27FC236}">
                  <a16:creationId xmlns:a16="http://schemas.microsoft.com/office/drawing/2014/main" id="{FD538DFD-50C6-4E5D-8385-21E764B95743}"/>
                </a:ext>
              </a:extLst>
            </p:cNvPr>
            <p:cNvSpPr/>
            <p:nvPr/>
          </p:nvSpPr>
          <p:spPr>
            <a:xfrm>
              <a:off x="6510339" y="2171695"/>
              <a:ext cx="390525" cy="314325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9" name="Rectangle 178">
              <a:extLst>
                <a:ext uri="{FF2B5EF4-FFF2-40B4-BE49-F238E27FC236}">
                  <a16:creationId xmlns:a16="http://schemas.microsoft.com/office/drawing/2014/main" id="{378C29C7-F2D4-4830-9DD4-8DB5F24B7A28}"/>
                </a:ext>
              </a:extLst>
            </p:cNvPr>
            <p:cNvSpPr/>
            <p:nvPr/>
          </p:nvSpPr>
          <p:spPr>
            <a:xfrm>
              <a:off x="6900864" y="2171695"/>
              <a:ext cx="390525" cy="314325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0" name="Rectangle 179">
              <a:extLst>
                <a:ext uri="{FF2B5EF4-FFF2-40B4-BE49-F238E27FC236}">
                  <a16:creationId xmlns:a16="http://schemas.microsoft.com/office/drawing/2014/main" id="{8BEAB2E4-AA41-4F3F-96E0-C3E002AFFD12}"/>
                </a:ext>
              </a:extLst>
            </p:cNvPr>
            <p:cNvSpPr/>
            <p:nvPr/>
          </p:nvSpPr>
          <p:spPr>
            <a:xfrm>
              <a:off x="6119814" y="2486022"/>
              <a:ext cx="390525" cy="314325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1" name="Rectangle 180">
              <a:extLst>
                <a:ext uri="{FF2B5EF4-FFF2-40B4-BE49-F238E27FC236}">
                  <a16:creationId xmlns:a16="http://schemas.microsoft.com/office/drawing/2014/main" id="{07ED22A3-6E7F-45F5-B3C6-D046C85D0BD1}"/>
                </a:ext>
              </a:extLst>
            </p:cNvPr>
            <p:cNvSpPr/>
            <p:nvPr/>
          </p:nvSpPr>
          <p:spPr>
            <a:xfrm>
              <a:off x="6510339" y="2486020"/>
              <a:ext cx="390525" cy="314325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2" name="Rectangle 181">
              <a:extLst>
                <a:ext uri="{FF2B5EF4-FFF2-40B4-BE49-F238E27FC236}">
                  <a16:creationId xmlns:a16="http://schemas.microsoft.com/office/drawing/2014/main" id="{02ED2D12-246D-4F46-B7D6-29C897F29B74}"/>
                </a:ext>
              </a:extLst>
            </p:cNvPr>
            <p:cNvSpPr/>
            <p:nvPr/>
          </p:nvSpPr>
          <p:spPr>
            <a:xfrm>
              <a:off x="6900864" y="2486020"/>
              <a:ext cx="390525" cy="314325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3" name="Rectangle 182">
              <a:extLst>
                <a:ext uri="{FF2B5EF4-FFF2-40B4-BE49-F238E27FC236}">
                  <a16:creationId xmlns:a16="http://schemas.microsoft.com/office/drawing/2014/main" id="{958F1D1B-CF5B-40E7-84DA-A036091557E0}"/>
                </a:ext>
              </a:extLst>
            </p:cNvPr>
            <p:cNvSpPr/>
            <p:nvPr/>
          </p:nvSpPr>
          <p:spPr>
            <a:xfrm>
              <a:off x="6119814" y="2800340"/>
              <a:ext cx="390525" cy="314325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4" name="Rectangle 183">
              <a:extLst>
                <a:ext uri="{FF2B5EF4-FFF2-40B4-BE49-F238E27FC236}">
                  <a16:creationId xmlns:a16="http://schemas.microsoft.com/office/drawing/2014/main" id="{9C33B3E0-99C4-4DD6-A08D-28B893A7373E}"/>
                </a:ext>
              </a:extLst>
            </p:cNvPr>
            <p:cNvSpPr/>
            <p:nvPr/>
          </p:nvSpPr>
          <p:spPr>
            <a:xfrm>
              <a:off x="6510339" y="2800342"/>
              <a:ext cx="390525" cy="314325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5" name="Rectangle 184">
              <a:extLst>
                <a:ext uri="{FF2B5EF4-FFF2-40B4-BE49-F238E27FC236}">
                  <a16:creationId xmlns:a16="http://schemas.microsoft.com/office/drawing/2014/main" id="{BFD27CA3-9CCC-471E-88D3-8516C624397B}"/>
                </a:ext>
              </a:extLst>
            </p:cNvPr>
            <p:cNvSpPr/>
            <p:nvPr/>
          </p:nvSpPr>
          <p:spPr>
            <a:xfrm>
              <a:off x="6900864" y="2800343"/>
              <a:ext cx="390525" cy="314325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186" name="Rectangle 185">
            <a:extLst>
              <a:ext uri="{FF2B5EF4-FFF2-40B4-BE49-F238E27FC236}">
                <a16:creationId xmlns:a16="http://schemas.microsoft.com/office/drawing/2014/main" id="{4A9A5AE0-3D03-4323-9E30-BCF2D73DE6BA}"/>
              </a:ext>
            </a:extLst>
          </p:cNvPr>
          <p:cNvSpPr/>
          <p:nvPr/>
        </p:nvSpPr>
        <p:spPr>
          <a:xfrm>
            <a:off x="9056159" y="4028230"/>
            <a:ext cx="390525" cy="3143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21B227B7-4524-4707-A582-B450375EF6C5}"/>
              </a:ext>
            </a:extLst>
          </p:cNvPr>
          <p:cNvSpPr/>
          <p:nvPr/>
        </p:nvSpPr>
        <p:spPr>
          <a:xfrm>
            <a:off x="9446684" y="4028228"/>
            <a:ext cx="390525" cy="3143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EEC32EF9-66A8-4DEA-81B7-53FD8D80E3AA}"/>
              </a:ext>
            </a:extLst>
          </p:cNvPr>
          <p:cNvSpPr/>
          <p:nvPr/>
        </p:nvSpPr>
        <p:spPr>
          <a:xfrm>
            <a:off x="9056159" y="4342555"/>
            <a:ext cx="390525" cy="3143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9" name="Rectangle 188">
            <a:extLst>
              <a:ext uri="{FF2B5EF4-FFF2-40B4-BE49-F238E27FC236}">
                <a16:creationId xmlns:a16="http://schemas.microsoft.com/office/drawing/2014/main" id="{BC6FEF6A-FC5C-43D6-A5D8-E38EBE2D5992}"/>
              </a:ext>
            </a:extLst>
          </p:cNvPr>
          <p:cNvSpPr/>
          <p:nvPr/>
        </p:nvSpPr>
        <p:spPr>
          <a:xfrm>
            <a:off x="9837209" y="4028204"/>
            <a:ext cx="390525" cy="3143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0" name="Rectangle 189">
            <a:extLst>
              <a:ext uri="{FF2B5EF4-FFF2-40B4-BE49-F238E27FC236}">
                <a16:creationId xmlns:a16="http://schemas.microsoft.com/office/drawing/2014/main" id="{064A903B-BDE5-41A6-A965-41A9763E87CD}"/>
              </a:ext>
            </a:extLst>
          </p:cNvPr>
          <p:cNvSpPr/>
          <p:nvPr/>
        </p:nvSpPr>
        <p:spPr>
          <a:xfrm>
            <a:off x="10227734" y="4028202"/>
            <a:ext cx="390525" cy="3143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1" name="Rectangle 190">
            <a:extLst>
              <a:ext uri="{FF2B5EF4-FFF2-40B4-BE49-F238E27FC236}">
                <a16:creationId xmlns:a16="http://schemas.microsoft.com/office/drawing/2014/main" id="{152F5ED1-9F58-4FCD-8A74-F6A2C3FC3F00}"/>
              </a:ext>
            </a:extLst>
          </p:cNvPr>
          <p:cNvSpPr/>
          <p:nvPr/>
        </p:nvSpPr>
        <p:spPr>
          <a:xfrm>
            <a:off x="10618259" y="4028201"/>
            <a:ext cx="390525" cy="3143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2" name="Rectangle 191">
            <a:extLst>
              <a:ext uri="{FF2B5EF4-FFF2-40B4-BE49-F238E27FC236}">
                <a16:creationId xmlns:a16="http://schemas.microsoft.com/office/drawing/2014/main" id="{A2D91F8E-5503-49C9-9260-AD89BB8B099B}"/>
              </a:ext>
            </a:extLst>
          </p:cNvPr>
          <p:cNvSpPr/>
          <p:nvPr/>
        </p:nvSpPr>
        <p:spPr>
          <a:xfrm>
            <a:off x="9051396" y="4656847"/>
            <a:ext cx="390525" cy="3143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3" name="Rectangle 192">
            <a:extLst>
              <a:ext uri="{FF2B5EF4-FFF2-40B4-BE49-F238E27FC236}">
                <a16:creationId xmlns:a16="http://schemas.microsoft.com/office/drawing/2014/main" id="{D42C3371-CD77-43D1-BA5B-A84C78204856}"/>
              </a:ext>
            </a:extLst>
          </p:cNvPr>
          <p:cNvSpPr/>
          <p:nvPr/>
        </p:nvSpPr>
        <p:spPr>
          <a:xfrm>
            <a:off x="9056159" y="4971159"/>
            <a:ext cx="390525" cy="3143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09689D2A-17D0-4EA8-822D-3502B12DA8C4}"/>
              </a:ext>
            </a:extLst>
          </p:cNvPr>
          <p:cNvSpPr/>
          <p:nvPr/>
        </p:nvSpPr>
        <p:spPr>
          <a:xfrm>
            <a:off x="9056159" y="5285484"/>
            <a:ext cx="390525" cy="3143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794836EC-F02A-4ACA-B139-72D33F1E3E5B}"/>
              </a:ext>
            </a:extLst>
          </p:cNvPr>
          <p:cNvSpPr/>
          <p:nvPr/>
        </p:nvSpPr>
        <p:spPr>
          <a:xfrm>
            <a:off x="10624609" y="4342555"/>
            <a:ext cx="390525" cy="3143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6" name="Rectangle 195">
            <a:extLst>
              <a:ext uri="{FF2B5EF4-FFF2-40B4-BE49-F238E27FC236}">
                <a16:creationId xmlns:a16="http://schemas.microsoft.com/office/drawing/2014/main" id="{C7544C99-0092-4D82-8B48-E495F8D9F084}"/>
              </a:ext>
            </a:extLst>
          </p:cNvPr>
          <p:cNvSpPr/>
          <p:nvPr/>
        </p:nvSpPr>
        <p:spPr>
          <a:xfrm>
            <a:off x="10622549" y="4656847"/>
            <a:ext cx="390525" cy="3143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7" name="Rectangle 196">
            <a:extLst>
              <a:ext uri="{FF2B5EF4-FFF2-40B4-BE49-F238E27FC236}">
                <a16:creationId xmlns:a16="http://schemas.microsoft.com/office/drawing/2014/main" id="{0106085F-F3DD-4299-8761-AF898A7E36AD}"/>
              </a:ext>
            </a:extLst>
          </p:cNvPr>
          <p:cNvSpPr/>
          <p:nvPr/>
        </p:nvSpPr>
        <p:spPr>
          <a:xfrm>
            <a:off x="10618259" y="4971159"/>
            <a:ext cx="390525" cy="3143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D9325B84-2EB6-4E2D-8372-148248617672}"/>
              </a:ext>
            </a:extLst>
          </p:cNvPr>
          <p:cNvSpPr/>
          <p:nvPr/>
        </p:nvSpPr>
        <p:spPr>
          <a:xfrm>
            <a:off x="10618259" y="5285484"/>
            <a:ext cx="390525" cy="3143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9" name="Rectangle 198">
            <a:extLst>
              <a:ext uri="{FF2B5EF4-FFF2-40B4-BE49-F238E27FC236}">
                <a16:creationId xmlns:a16="http://schemas.microsoft.com/office/drawing/2014/main" id="{E18CCE23-DA46-402B-9E82-26AC884F21F6}"/>
              </a:ext>
            </a:extLst>
          </p:cNvPr>
          <p:cNvSpPr/>
          <p:nvPr/>
        </p:nvSpPr>
        <p:spPr>
          <a:xfrm>
            <a:off x="9446684" y="5285512"/>
            <a:ext cx="390525" cy="3143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0" name="Rectangle 199">
            <a:extLst>
              <a:ext uri="{FF2B5EF4-FFF2-40B4-BE49-F238E27FC236}">
                <a16:creationId xmlns:a16="http://schemas.microsoft.com/office/drawing/2014/main" id="{D507C719-7C8E-4466-A219-EFA3DB159618}"/>
              </a:ext>
            </a:extLst>
          </p:cNvPr>
          <p:cNvSpPr/>
          <p:nvPr/>
        </p:nvSpPr>
        <p:spPr>
          <a:xfrm>
            <a:off x="9837209" y="5285488"/>
            <a:ext cx="390525" cy="3143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1" name="Rectangle 200">
            <a:extLst>
              <a:ext uri="{FF2B5EF4-FFF2-40B4-BE49-F238E27FC236}">
                <a16:creationId xmlns:a16="http://schemas.microsoft.com/office/drawing/2014/main" id="{0D5AED8C-26F0-4F3E-8359-284C269B08B5}"/>
              </a:ext>
            </a:extLst>
          </p:cNvPr>
          <p:cNvSpPr/>
          <p:nvPr/>
        </p:nvSpPr>
        <p:spPr>
          <a:xfrm>
            <a:off x="10227734" y="5285486"/>
            <a:ext cx="390525" cy="3143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202" name="Group 201">
            <a:extLst>
              <a:ext uri="{FF2B5EF4-FFF2-40B4-BE49-F238E27FC236}">
                <a16:creationId xmlns:a16="http://schemas.microsoft.com/office/drawing/2014/main" id="{95EAA12E-B26E-4D90-A002-260EF2FDCF73}"/>
              </a:ext>
            </a:extLst>
          </p:cNvPr>
          <p:cNvGrpSpPr/>
          <p:nvPr/>
        </p:nvGrpSpPr>
        <p:grpSpPr>
          <a:xfrm>
            <a:off x="9438227" y="4340824"/>
            <a:ext cx="1171575" cy="942973"/>
            <a:chOff x="6119814" y="2171695"/>
            <a:chExt cx="1171575" cy="942973"/>
          </a:xfrm>
        </p:grpSpPr>
        <p:sp>
          <p:nvSpPr>
            <p:cNvPr id="203" name="Rectangle 202">
              <a:extLst>
                <a:ext uri="{FF2B5EF4-FFF2-40B4-BE49-F238E27FC236}">
                  <a16:creationId xmlns:a16="http://schemas.microsoft.com/office/drawing/2014/main" id="{0ECDB2CF-A27F-4E68-87BC-3105DF8ED7CE}"/>
                </a:ext>
              </a:extLst>
            </p:cNvPr>
            <p:cNvSpPr/>
            <p:nvPr/>
          </p:nvSpPr>
          <p:spPr>
            <a:xfrm>
              <a:off x="6119814" y="2171697"/>
              <a:ext cx="390525" cy="314325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4" name="Rectangle 203">
              <a:extLst>
                <a:ext uri="{FF2B5EF4-FFF2-40B4-BE49-F238E27FC236}">
                  <a16:creationId xmlns:a16="http://schemas.microsoft.com/office/drawing/2014/main" id="{FD538DFD-50C6-4E5D-8385-21E764B95743}"/>
                </a:ext>
              </a:extLst>
            </p:cNvPr>
            <p:cNvSpPr/>
            <p:nvPr/>
          </p:nvSpPr>
          <p:spPr>
            <a:xfrm>
              <a:off x="6510339" y="2171695"/>
              <a:ext cx="390525" cy="314325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5" name="Rectangle 204">
              <a:extLst>
                <a:ext uri="{FF2B5EF4-FFF2-40B4-BE49-F238E27FC236}">
                  <a16:creationId xmlns:a16="http://schemas.microsoft.com/office/drawing/2014/main" id="{378C29C7-F2D4-4830-9DD4-8DB5F24B7A28}"/>
                </a:ext>
              </a:extLst>
            </p:cNvPr>
            <p:cNvSpPr/>
            <p:nvPr/>
          </p:nvSpPr>
          <p:spPr>
            <a:xfrm>
              <a:off x="6900864" y="2171695"/>
              <a:ext cx="390525" cy="314325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6" name="Rectangle 205">
              <a:extLst>
                <a:ext uri="{FF2B5EF4-FFF2-40B4-BE49-F238E27FC236}">
                  <a16:creationId xmlns:a16="http://schemas.microsoft.com/office/drawing/2014/main" id="{8BEAB2E4-AA41-4F3F-96E0-C3E002AFFD12}"/>
                </a:ext>
              </a:extLst>
            </p:cNvPr>
            <p:cNvSpPr/>
            <p:nvPr/>
          </p:nvSpPr>
          <p:spPr>
            <a:xfrm>
              <a:off x="6119814" y="2486022"/>
              <a:ext cx="390525" cy="314325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7" name="Rectangle 206">
              <a:extLst>
                <a:ext uri="{FF2B5EF4-FFF2-40B4-BE49-F238E27FC236}">
                  <a16:creationId xmlns:a16="http://schemas.microsoft.com/office/drawing/2014/main" id="{07ED22A3-6E7F-45F5-B3C6-D046C85D0BD1}"/>
                </a:ext>
              </a:extLst>
            </p:cNvPr>
            <p:cNvSpPr/>
            <p:nvPr/>
          </p:nvSpPr>
          <p:spPr>
            <a:xfrm>
              <a:off x="6510339" y="2486020"/>
              <a:ext cx="390525" cy="314325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8" name="Rectangle 207">
              <a:extLst>
                <a:ext uri="{FF2B5EF4-FFF2-40B4-BE49-F238E27FC236}">
                  <a16:creationId xmlns:a16="http://schemas.microsoft.com/office/drawing/2014/main" id="{02ED2D12-246D-4F46-B7D6-29C897F29B74}"/>
                </a:ext>
              </a:extLst>
            </p:cNvPr>
            <p:cNvSpPr/>
            <p:nvPr/>
          </p:nvSpPr>
          <p:spPr>
            <a:xfrm>
              <a:off x="6900864" y="2486020"/>
              <a:ext cx="390525" cy="314325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9" name="Rectangle 208">
              <a:extLst>
                <a:ext uri="{FF2B5EF4-FFF2-40B4-BE49-F238E27FC236}">
                  <a16:creationId xmlns:a16="http://schemas.microsoft.com/office/drawing/2014/main" id="{958F1D1B-CF5B-40E7-84DA-A036091557E0}"/>
                </a:ext>
              </a:extLst>
            </p:cNvPr>
            <p:cNvSpPr/>
            <p:nvPr/>
          </p:nvSpPr>
          <p:spPr>
            <a:xfrm>
              <a:off x="6119814" y="2800340"/>
              <a:ext cx="390525" cy="314325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0" name="Rectangle 209">
              <a:extLst>
                <a:ext uri="{FF2B5EF4-FFF2-40B4-BE49-F238E27FC236}">
                  <a16:creationId xmlns:a16="http://schemas.microsoft.com/office/drawing/2014/main" id="{9C33B3E0-99C4-4DD6-A08D-28B893A7373E}"/>
                </a:ext>
              </a:extLst>
            </p:cNvPr>
            <p:cNvSpPr/>
            <p:nvPr/>
          </p:nvSpPr>
          <p:spPr>
            <a:xfrm>
              <a:off x="6510339" y="2800342"/>
              <a:ext cx="390525" cy="314325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1" name="Rectangle 210">
              <a:extLst>
                <a:ext uri="{FF2B5EF4-FFF2-40B4-BE49-F238E27FC236}">
                  <a16:creationId xmlns:a16="http://schemas.microsoft.com/office/drawing/2014/main" id="{BFD27CA3-9CCC-471E-88D3-8516C624397B}"/>
                </a:ext>
              </a:extLst>
            </p:cNvPr>
            <p:cNvSpPr/>
            <p:nvPr/>
          </p:nvSpPr>
          <p:spPr>
            <a:xfrm>
              <a:off x="6900864" y="2800343"/>
              <a:ext cx="390525" cy="314325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212" name="Rectangle 211">
            <a:extLst>
              <a:ext uri="{FF2B5EF4-FFF2-40B4-BE49-F238E27FC236}">
                <a16:creationId xmlns:a16="http://schemas.microsoft.com/office/drawing/2014/main" id="{B2A8915A-D5C7-43BB-80DA-3C75C42B0465}"/>
              </a:ext>
            </a:extLst>
          </p:cNvPr>
          <p:cNvSpPr/>
          <p:nvPr/>
        </p:nvSpPr>
        <p:spPr>
          <a:xfrm>
            <a:off x="9044815" y="3722189"/>
            <a:ext cx="390526" cy="3143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3" name="Rectangle 212">
            <a:extLst>
              <a:ext uri="{FF2B5EF4-FFF2-40B4-BE49-F238E27FC236}">
                <a16:creationId xmlns:a16="http://schemas.microsoft.com/office/drawing/2014/main" id="{B2A8915A-D5C7-43BB-80DA-3C75C42B0465}"/>
              </a:ext>
            </a:extLst>
          </p:cNvPr>
          <p:cNvSpPr/>
          <p:nvPr/>
        </p:nvSpPr>
        <p:spPr>
          <a:xfrm>
            <a:off x="9432163" y="3722188"/>
            <a:ext cx="390526" cy="3143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B2A8915A-D5C7-43BB-80DA-3C75C42B0465}"/>
              </a:ext>
            </a:extLst>
          </p:cNvPr>
          <p:cNvSpPr/>
          <p:nvPr/>
        </p:nvSpPr>
        <p:spPr>
          <a:xfrm>
            <a:off x="9824796" y="3722188"/>
            <a:ext cx="390526" cy="3143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5" name="Rectangle 214">
            <a:extLst>
              <a:ext uri="{FF2B5EF4-FFF2-40B4-BE49-F238E27FC236}">
                <a16:creationId xmlns:a16="http://schemas.microsoft.com/office/drawing/2014/main" id="{B2A8915A-D5C7-43BB-80DA-3C75C42B0465}"/>
              </a:ext>
            </a:extLst>
          </p:cNvPr>
          <p:cNvSpPr/>
          <p:nvPr/>
        </p:nvSpPr>
        <p:spPr>
          <a:xfrm>
            <a:off x="10217960" y="3722243"/>
            <a:ext cx="390526" cy="3143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B2A8915A-D5C7-43BB-80DA-3C75C42B0465}"/>
              </a:ext>
            </a:extLst>
          </p:cNvPr>
          <p:cNvSpPr/>
          <p:nvPr/>
        </p:nvSpPr>
        <p:spPr>
          <a:xfrm>
            <a:off x="10611228" y="3723985"/>
            <a:ext cx="390526" cy="3143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7" name="Rectangle 216">
            <a:extLst>
              <a:ext uri="{FF2B5EF4-FFF2-40B4-BE49-F238E27FC236}">
                <a16:creationId xmlns:a16="http://schemas.microsoft.com/office/drawing/2014/main" id="{B2A8915A-D5C7-43BB-80DA-3C75C42B0465}"/>
              </a:ext>
            </a:extLst>
          </p:cNvPr>
          <p:cNvSpPr/>
          <p:nvPr/>
        </p:nvSpPr>
        <p:spPr>
          <a:xfrm>
            <a:off x="11001980" y="3719484"/>
            <a:ext cx="390526" cy="3143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0" name="Rectangle 219">
            <a:extLst>
              <a:ext uri="{FF2B5EF4-FFF2-40B4-BE49-F238E27FC236}">
                <a16:creationId xmlns:a16="http://schemas.microsoft.com/office/drawing/2014/main" id="{B2A8915A-D5C7-43BB-80DA-3C75C42B0465}"/>
              </a:ext>
            </a:extLst>
          </p:cNvPr>
          <p:cNvSpPr/>
          <p:nvPr/>
        </p:nvSpPr>
        <p:spPr>
          <a:xfrm>
            <a:off x="9057410" y="5593989"/>
            <a:ext cx="390526" cy="3143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1" name="Rectangle 220">
            <a:extLst>
              <a:ext uri="{FF2B5EF4-FFF2-40B4-BE49-F238E27FC236}">
                <a16:creationId xmlns:a16="http://schemas.microsoft.com/office/drawing/2014/main" id="{B2A8915A-D5C7-43BB-80DA-3C75C42B0465}"/>
              </a:ext>
            </a:extLst>
          </p:cNvPr>
          <p:cNvSpPr/>
          <p:nvPr/>
        </p:nvSpPr>
        <p:spPr>
          <a:xfrm>
            <a:off x="9444575" y="5593988"/>
            <a:ext cx="390526" cy="3143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2" name="Rectangle 221">
            <a:extLst>
              <a:ext uri="{FF2B5EF4-FFF2-40B4-BE49-F238E27FC236}">
                <a16:creationId xmlns:a16="http://schemas.microsoft.com/office/drawing/2014/main" id="{B2A8915A-D5C7-43BB-80DA-3C75C42B0465}"/>
              </a:ext>
            </a:extLst>
          </p:cNvPr>
          <p:cNvSpPr/>
          <p:nvPr/>
        </p:nvSpPr>
        <p:spPr>
          <a:xfrm>
            <a:off x="9837208" y="5593988"/>
            <a:ext cx="390526" cy="3143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3" name="Rectangle 222">
            <a:extLst>
              <a:ext uri="{FF2B5EF4-FFF2-40B4-BE49-F238E27FC236}">
                <a16:creationId xmlns:a16="http://schemas.microsoft.com/office/drawing/2014/main" id="{B2A8915A-D5C7-43BB-80DA-3C75C42B0465}"/>
              </a:ext>
            </a:extLst>
          </p:cNvPr>
          <p:cNvSpPr/>
          <p:nvPr/>
        </p:nvSpPr>
        <p:spPr>
          <a:xfrm>
            <a:off x="10224311" y="5594043"/>
            <a:ext cx="390526" cy="3143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4" name="Rectangle 223">
            <a:extLst>
              <a:ext uri="{FF2B5EF4-FFF2-40B4-BE49-F238E27FC236}">
                <a16:creationId xmlns:a16="http://schemas.microsoft.com/office/drawing/2014/main" id="{B2A8915A-D5C7-43BB-80DA-3C75C42B0465}"/>
              </a:ext>
            </a:extLst>
          </p:cNvPr>
          <p:cNvSpPr/>
          <p:nvPr/>
        </p:nvSpPr>
        <p:spPr>
          <a:xfrm>
            <a:off x="10614404" y="5588963"/>
            <a:ext cx="390526" cy="3143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5" name="Rectangle 224">
            <a:extLst>
              <a:ext uri="{FF2B5EF4-FFF2-40B4-BE49-F238E27FC236}">
                <a16:creationId xmlns:a16="http://schemas.microsoft.com/office/drawing/2014/main" id="{B2A8915A-D5C7-43BB-80DA-3C75C42B0465}"/>
              </a:ext>
            </a:extLst>
          </p:cNvPr>
          <p:cNvSpPr/>
          <p:nvPr/>
        </p:nvSpPr>
        <p:spPr>
          <a:xfrm>
            <a:off x="11007611" y="5588213"/>
            <a:ext cx="390526" cy="3143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4" name="Rectangle 233">
            <a:extLst>
              <a:ext uri="{FF2B5EF4-FFF2-40B4-BE49-F238E27FC236}">
                <a16:creationId xmlns:a16="http://schemas.microsoft.com/office/drawing/2014/main" id="{B2A8915A-D5C7-43BB-80DA-3C75C42B0465}"/>
              </a:ext>
            </a:extLst>
          </p:cNvPr>
          <p:cNvSpPr/>
          <p:nvPr/>
        </p:nvSpPr>
        <p:spPr>
          <a:xfrm>
            <a:off x="11001508" y="4023511"/>
            <a:ext cx="390526" cy="3143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5" name="Rectangle 234">
            <a:extLst>
              <a:ext uri="{FF2B5EF4-FFF2-40B4-BE49-F238E27FC236}">
                <a16:creationId xmlns:a16="http://schemas.microsoft.com/office/drawing/2014/main" id="{B2A8915A-D5C7-43BB-80DA-3C75C42B0465}"/>
              </a:ext>
            </a:extLst>
          </p:cNvPr>
          <p:cNvSpPr/>
          <p:nvPr/>
        </p:nvSpPr>
        <p:spPr>
          <a:xfrm>
            <a:off x="11007611" y="4333528"/>
            <a:ext cx="390526" cy="3143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6" name="Rectangle 235">
            <a:extLst>
              <a:ext uri="{FF2B5EF4-FFF2-40B4-BE49-F238E27FC236}">
                <a16:creationId xmlns:a16="http://schemas.microsoft.com/office/drawing/2014/main" id="{B2A8915A-D5C7-43BB-80DA-3C75C42B0465}"/>
              </a:ext>
            </a:extLst>
          </p:cNvPr>
          <p:cNvSpPr/>
          <p:nvPr/>
        </p:nvSpPr>
        <p:spPr>
          <a:xfrm>
            <a:off x="11009044" y="4647564"/>
            <a:ext cx="390526" cy="3143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7" name="Rectangle 236">
            <a:extLst>
              <a:ext uri="{FF2B5EF4-FFF2-40B4-BE49-F238E27FC236}">
                <a16:creationId xmlns:a16="http://schemas.microsoft.com/office/drawing/2014/main" id="{B2A8915A-D5C7-43BB-80DA-3C75C42B0465}"/>
              </a:ext>
            </a:extLst>
          </p:cNvPr>
          <p:cNvSpPr/>
          <p:nvPr/>
        </p:nvSpPr>
        <p:spPr>
          <a:xfrm>
            <a:off x="11010702" y="5279752"/>
            <a:ext cx="390526" cy="3143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8" name="Rectangle 237">
            <a:extLst>
              <a:ext uri="{FF2B5EF4-FFF2-40B4-BE49-F238E27FC236}">
                <a16:creationId xmlns:a16="http://schemas.microsoft.com/office/drawing/2014/main" id="{B2A8915A-D5C7-43BB-80DA-3C75C42B0465}"/>
              </a:ext>
            </a:extLst>
          </p:cNvPr>
          <p:cNvSpPr/>
          <p:nvPr/>
        </p:nvSpPr>
        <p:spPr>
          <a:xfrm>
            <a:off x="11005785" y="4965397"/>
            <a:ext cx="390526" cy="3143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9" name="Rectangle 238">
            <a:extLst>
              <a:ext uri="{FF2B5EF4-FFF2-40B4-BE49-F238E27FC236}">
                <a16:creationId xmlns:a16="http://schemas.microsoft.com/office/drawing/2014/main" id="{B2A8915A-D5C7-43BB-80DA-3C75C42B0465}"/>
              </a:ext>
            </a:extLst>
          </p:cNvPr>
          <p:cNvSpPr/>
          <p:nvPr/>
        </p:nvSpPr>
        <p:spPr>
          <a:xfrm>
            <a:off x="8662780" y="3720902"/>
            <a:ext cx="390526" cy="3143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0" name="Rectangle 239">
            <a:extLst>
              <a:ext uri="{FF2B5EF4-FFF2-40B4-BE49-F238E27FC236}">
                <a16:creationId xmlns:a16="http://schemas.microsoft.com/office/drawing/2014/main" id="{B2A8915A-D5C7-43BB-80DA-3C75C42B0465}"/>
              </a:ext>
            </a:extLst>
          </p:cNvPr>
          <p:cNvSpPr/>
          <p:nvPr/>
        </p:nvSpPr>
        <p:spPr>
          <a:xfrm>
            <a:off x="8666322" y="5601755"/>
            <a:ext cx="390526" cy="3143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1" name="Rectangle 240">
            <a:extLst>
              <a:ext uri="{FF2B5EF4-FFF2-40B4-BE49-F238E27FC236}">
                <a16:creationId xmlns:a16="http://schemas.microsoft.com/office/drawing/2014/main" id="{B2A8915A-D5C7-43BB-80DA-3C75C42B0465}"/>
              </a:ext>
            </a:extLst>
          </p:cNvPr>
          <p:cNvSpPr/>
          <p:nvPr/>
        </p:nvSpPr>
        <p:spPr>
          <a:xfrm>
            <a:off x="8663252" y="4040332"/>
            <a:ext cx="390526" cy="3143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2" name="Rectangle 241">
            <a:extLst>
              <a:ext uri="{FF2B5EF4-FFF2-40B4-BE49-F238E27FC236}">
                <a16:creationId xmlns:a16="http://schemas.microsoft.com/office/drawing/2014/main" id="{B2A8915A-D5C7-43BB-80DA-3C75C42B0465}"/>
              </a:ext>
            </a:extLst>
          </p:cNvPr>
          <p:cNvSpPr/>
          <p:nvPr/>
        </p:nvSpPr>
        <p:spPr>
          <a:xfrm>
            <a:off x="8663005" y="4350349"/>
            <a:ext cx="390526" cy="3143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3" name="Rectangle 242">
            <a:extLst>
              <a:ext uri="{FF2B5EF4-FFF2-40B4-BE49-F238E27FC236}">
                <a16:creationId xmlns:a16="http://schemas.microsoft.com/office/drawing/2014/main" id="{B2A8915A-D5C7-43BB-80DA-3C75C42B0465}"/>
              </a:ext>
            </a:extLst>
          </p:cNvPr>
          <p:cNvSpPr/>
          <p:nvPr/>
        </p:nvSpPr>
        <p:spPr>
          <a:xfrm>
            <a:off x="8662716" y="4655149"/>
            <a:ext cx="390526" cy="3143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4" name="Rectangle 243">
            <a:extLst>
              <a:ext uri="{FF2B5EF4-FFF2-40B4-BE49-F238E27FC236}">
                <a16:creationId xmlns:a16="http://schemas.microsoft.com/office/drawing/2014/main" id="{B2A8915A-D5C7-43BB-80DA-3C75C42B0465}"/>
              </a:ext>
            </a:extLst>
          </p:cNvPr>
          <p:cNvSpPr/>
          <p:nvPr/>
        </p:nvSpPr>
        <p:spPr>
          <a:xfrm>
            <a:off x="8660035" y="5287520"/>
            <a:ext cx="390526" cy="3143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5" name="Rectangle 244">
            <a:extLst>
              <a:ext uri="{FF2B5EF4-FFF2-40B4-BE49-F238E27FC236}">
                <a16:creationId xmlns:a16="http://schemas.microsoft.com/office/drawing/2014/main" id="{B2A8915A-D5C7-43BB-80DA-3C75C42B0465}"/>
              </a:ext>
            </a:extLst>
          </p:cNvPr>
          <p:cNvSpPr/>
          <p:nvPr/>
        </p:nvSpPr>
        <p:spPr>
          <a:xfrm>
            <a:off x="8661940" y="4973165"/>
            <a:ext cx="390526" cy="3143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6" name="TextBox 245">
            <a:extLst>
              <a:ext uri="{FF2B5EF4-FFF2-40B4-BE49-F238E27FC236}">
                <a16:creationId xmlns:a16="http://schemas.microsoft.com/office/drawing/2014/main" id="{6A9ECBB6-EB0A-4A37-9D44-0BDC14761F26}"/>
              </a:ext>
            </a:extLst>
          </p:cNvPr>
          <p:cNvSpPr txBox="1"/>
          <p:nvPr/>
        </p:nvSpPr>
        <p:spPr>
          <a:xfrm>
            <a:off x="9907335" y="5969143"/>
            <a:ext cx="7024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Arial Narrow" panose="020B0606020202030204" pitchFamily="34" charset="0"/>
                <a:cs typeface="Times New Roman" panose="02020603050405020304" pitchFamily="18" charset="0"/>
              </a:rPr>
              <a:t>7 X 7</a:t>
            </a:r>
          </a:p>
        </p:txBody>
      </p:sp>
      <p:sp>
        <p:nvSpPr>
          <p:cNvPr id="248" name="TextBox 247">
            <a:extLst>
              <a:ext uri="{FF2B5EF4-FFF2-40B4-BE49-F238E27FC236}">
                <a16:creationId xmlns:a16="http://schemas.microsoft.com/office/drawing/2014/main" id="{1774621B-431C-4774-BBF8-E5225D91EA91}"/>
              </a:ext>
            </a:extLst>
          </p:cNvPr>
          <p:cNvSpPr txBox="1"/>
          <p:nvPr/>
        </p:nvSpPr>
        <p:spPr>
          <a:xfrm>
            <a:off x="6756335" y="2875661"/>
            <a:ext cx="7024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Arial Narrow" panose="020B0606020202030204" pitchFamily="34" charset="0"/>
                <a:cs typeface="Times New Roman" panose="02020603050405020304" pitchFamily="18" charset="0"/>
              </a:rPr>
              <a:t>3 x 3</a:t>
            </a:r>
          </a:p>
        </p:txBody>
      </p:sp>
      <p:sp>
        <p:nvSpPr>
          <p:cNvPr id="249" name="TextBox 248">
            <a:extLst>
              <a:ext uri="{FF2B5EF4-FFF2-40B4-BE49-F238E27FC236}">
                <a16:creationId xmlns:a16="http://schemas.microsoft.com/office/drawing/2014/main" id="{1774621B-431C-4774-BBF8-E5225D91EA91}"/>
              </a:ext>
            </a:extLst>
          </p:cNvPr>
          <p:cNvSpPr txBox="1"/>
          <p:nvPr/>
        </p:nvSpPr>
        <p:spPr>
          <a:xfrm>
            <a:off x="6806173" y="5315597"/>
            <a:ext cx="7024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Arial Narrow" panose="020B0606020202030204" pitchFamily="34" charset="0"/>
                <a:cs typeface="Times New Roman" panose="02020603050405020304" pitchFamily="18" charset="0"/>
              </a:rPr>
              <a:t>3 x 3</a:t>
            </a:r>
          </a:p>
        </p:txBody>
      </p:sp>
      <p:grpSp>
        <p:nvGrpSpPr>
          <p:cNvPr id="219" name="Group 218">
            <a:extLst>
              <a:ext uri="{FF2B5EF4-FFF2-40B4-BE49-F238E27FC236}">
                <a16:creationId xmlns:a16="http://schemas.microsoft.com/office/drawing/2014/main" id="{95EAA12E-B26E-4D90-A002-260EF2FDCF73}"/>
              </a:ext>
            </a:extLst>
          </p:cNvPr>
          <p:cNvGrpSpPr/>
          <p:nvPr/>
        </p:nvGrpSpPr>
        <p:grpSpPr>
          <a:xfrm>
            <a:off x="981471" y="1774654"/>
            <a:ext cx="1171575" cy="942973"/>
            <a:chOff x="6119814" y="2171695"/>
            <a:chExt cx="1171575" cy="942973"/>
          </a:xfrm>
        </p:grpSpPr>
        <p:sp>
          <p:nvSpPr>
            <p:cNvPr id="226" name="Rectangle 225">
              <a:extLst>
                <a:ext uri="{FF2B5EF4-FFF2-40B4-BE49-F238E27FC236}">
                  <a16:creationId xmlns:a16="http://schemas.microsoft.com/office/drawing/2014/main" id="{0ECDB2CF-A27F-4E68-87BC-3105DF8ED7CE}"/>
                </a:ext>
              </a:extLst>
            </p:cNvPr>
            <p:cNvSpPr/>
            <p:nvPr/>
          </p:nvSpPr>
          <p:spPr>
            <a:xfrm>
              <a:off x="6119814" y="2171697"/>
              <a:ext cx="390525" cy="314325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27" name="Rectangle 226">
              <a:extLst>
                <a:ext uri="{FF2B5EF4-FFF2-40B4-BE49-F238E27FC236}">
                  <a16:creationId xmlns:a16="http://schemas.microsoft.com/office/drawing/2014/main" id="{FD538DFD-50C6-4E5D-8385-21E764B95743}"/>
                </a:ext>
              </a:extLst>
            </p:cNvPr>
            <p:cNvSpPr/>
            <p:nvPr/>
          </p:nvSpPr>
          <p:spPr>
            <a:xfrm>
              <a:off x="6510339" y="2171695"/>
              <a:ext cx="390525" cy="314325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28" name="Rectangle 227">
              <a:extLst>
                <a:ext uri="{FF2B5EF4-FFF2-40B4-BE49-F238E27FC236}">
                  <a16:creationId xmlns:a16="http://schemas.microsoft.com/office/drawing/2014/main" id="{378C29C7-F2D4-4830-9DD4-8DB5F24B7A28}"/>
                </a:ext>
              </a:extLst>
            </p:cNvPr>
            <p:cNvSpPr/>
            <p:nvPr/>
          </p:nvSpPr>
          <p:spPr>
            <a:xfrm>
              <a:off x="6900864" y="2171695"/>
              <a:ext cx="390525" cy="314325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29" name="Rectangle 228">
              <a:extLst>
                <a:ext uri="{FF2B5EF4-FFF2-40B4-BE49-F238E27FC236}">
                  <a16:creationId xmlns:a16="http://schemas.microsoft.com/office/drawing/2014/main" id="{8BEAB2E4-AA41-4F3F-96E0-C3E002AFFD12}"/>
                </a:ext>
              </a:extLst>
            </p:cNvPr>
            <p:cNvSpPr/>
            <p:nvPr/>
          </p:nvSpPr>
          <p:spPr>
            <a:xfrm>
              <a:off x="6119814" y="2486022"/>
              <a:ext cx="390525" cy="314325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30" name="Rectangle 229">
              <a:extLst>
                <a:ext uri="{FF2B5EF4-FFF2-40B4-BE49-F238E27FC236}">
                  <a16:creationId xmlns:a16="http://schemas.microsoft.com/office/drawing/2014/main" id="{07ED22A3-6E7F-45F5-B3C6-D046C85D0BD1}"/>
                </a:ext>
              </a:extLst>
            </p:cNvPr>
            <p:cNvSpPr/>
            <p:nvPr/>
          </p:nvSpPr>
          <p:spPr>
            <a:xfrm>
              <a:off x="6510339" y="2486020"/>
              <a:ext cx="390525" cy="314325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31" name="Rectangle 230">
              <a:extLst>
                <a:ext uri="{FF2B5EF4-FFF2-40B4-BE49-F238E27FC236}">
                  <a16:creationId xmlns:a16="http://schemas.microsoft.com/office/drawing/2014/main" id="{02ED2D12-246D-4F46-B7D6-29C897F29B74}"/>
                </a:ext>
              </a:extLst>
            </p:cNvPr>
            <p:cNvSpPr/>
            <p:nvPr/>
          </p:nvSpPr>
          <p:spPr>
            <a:xfrm>
              <a:off x="6900864" y="2486020"/>
              <a:ext cx="390525" cy="314325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32" name="Rectangle 231">
              <a:extLst>
                <a:ext uri="{FF2B5EF4-FFF2-40B4-BE49-F238E27FC236}">
                  <a16:creationId xmlns:a16="http://schemas.microsoft.com/office/drawing/2014/main" id="{958F1D1B-CF5B-40E7-84DA-A036091557E0}"/>
                </a:ext>
              </a:extLst>
            </p:cNvPr>
            <p:cNvSpPr/>
            <p:nvPr/>
          </p:nvSpPr>
          <p:spPr>
            <a:xfrm>
              <a:off x="6119814" y="2800340"/>
              <a:ext cx="390525" cy="314325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33" name="Rectangle 232">
              <a:extLst>
                <a:ext uri="{FF2B5EF4-FFF2-40B4-BE49-F238E27FC236}">
                  <a16:creationId xmlns:a16="http://schemas.microsoft.com/office/drawing/2014/main" id="{9C33B3E0-99C4-4DD6-A08D-28B893A7373E}"/>
                </a:ext>
              </a:extLst>
            </p:cNvPr>
            <p:cNvSpPr/>
            <p:nvPr/>
          </p:nvSpPr>
          <p:spPr>
            <a:xfrm>
              <a:off x="6510339" y="2800342"/>
              <a:ext cx="390525" cy="314325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7" name="Rectangle 246">
              <a:extLst>
                <a:ext uri="{FF2B5EF4-FFF2-40B4-BE49-F238E27FC236}">
                  <a16:creationId xmlns:a16="http://schemas.microsoft.com/office/drawing/2014/main" id="{BFD27CA3-9CCC-471E-88D3-8516C624397B}"/>
                </a:ext>
              </a:extLst>
            </p:cNvPr>
            <p:cNvSpPr/>
            <p:nvPr/>
          </p:nvSpPr>
          <p:spPr>
            <a:xfrm>
              <a:off x="6900864" y="2800343"/>
              <a:ext cx="390525" cy="314325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60" name="Group 259"/>
          <p:cNvGrpSpPr/>
          <p:nvPr/>
        </p:nvGrpSpPr>
        <p:grpSpPr>
          <a:xfrm>
            <a:off x="981470" y="4944762"/>
            <a:ext cx="1171575" cy="942973"/>
            <a:chOff x="10109008" y="4837888"/>
            <a:chExt cx="1171575" cy="942973"/>
          </a:xfrm>
        </p:grpSpPr>
        <p:sp>
          <p:nvSpPr>
            <p:cNvPr id="261" name="Rectangle 260">
              <a:extLst>
                <a:ext uri="{FF2B5EF4-FFF2-40B4-BE49-F238E27FC236}">
                  <a16:creationId xmlns:a16="http://schemas.microsoft.com/office/drawing/2014/main" id="{B2A8915A-D5C7-43BB-80DA-3C75C42B0465}"/>
                </a:ext>
              </a:extLst>
            </p:cNvPr>
            <p:cNvSpPr/>
            <p:nvPr/>
          </p:nvSpPr>
          <p:spPr>
            <a:xfrm>
              <a:off x="10109008" y="4837890"/>
              <a:ext cx="390526" cy="314325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62" name="Rectangle 261">
              <a:extLst>
                <a:ext uri="{FF2B5EF4-FFF2-40B4-BE49-F238E27FC236}">
                  <a16:creationId xmlns:a16="http://schemas.microsoft.com/office/drawing/2014/main" id="{4206110E-1A5E-4F3B-B604-B45D4126C423}"/>
                </a:ext>
              </a:extLst>
            </p:cNvPr>
            <p:cNvSpPr/>
            <p:nvPr/>
          </p:nvSpPr>
          <p:spPr>
            <a:xfrm>
              <a:off x="10499533" y="4837888"/>
              <a:ext cx="390526" cy="314325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63" name="Rectangle 262">
              <a:extLst>
                <a:ext uri="{FF2B5EF4-FFF2-40B4-BE49-F238E27FC236}">
                  <a16:creationId xmlns:a16="http://schemas.microsoft.com/office/drawing/2014/main" id="{E0211A58-DF5E-4AE3-B6A9-BB345158737F}"/>
                </a:ext>
              </a:extLst>
            </p:cNvPr>
            <p:cNvSpPr/>
            <p:nvPr/>
          </p:nvSpPr>
          <p:spPr>
            <a:xfrm>
              <a:off x="10890058" y="4837888"/>
              <a:ext cx="390525" cy="314325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64" name="Rectangle 263">
              <a:extLst>
                <a:ext uri="{FF2B5EF4-FFF2-40B4-BE49-F238E27FC236}">
                  <a16:creationId xmlns:a16="http://schemas.microsoft.com/office/drawing/2014/main" id="{98918DFA-2527-4CB8-9743-6F75686DDFBD}"/>
                </a:ext>
              </a:extLst>
            </p:cNvPr>
            <p:cNvSpPr/>
            <p:nvPr/>
          </p:nvSpPr>
          <p:spPr>
            <a:xfrm>
              <a:off x="10109008" y="5152215"/>
              <a:ext cx="390526" cy="314325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65" name="Rectangle 264">
              <a:extLst>
                <a:ext uri="{FF2B5EF4-FFF2-40B4-BE49-F238E27FC236}">
                  <a16:creationId xmlns:a16="http://schemas.microsoft.com/office/drawing/2014/main" id="{76006521-9A5C-4B12-AD07-7186304DCF54}"/>
                </a:ext>
              </a:extLst>
            </p:cNvPr>
            <p:cNvSpPr/>
            <p:nvPr/>
          </p:nvSpPr>
          <p:spPr>
            <a:xfrm>
              <a:off x="10499533" y="5152213"/>
              <a:ext cx="390525" cy="314325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66" name="Rectangle 265">
              <a:extLst>
                <a:ext uri="{FF2B5EF4-FFF2-40B4-BE49-F238E27FC236}">
                  <a16:creationId xmlns:a16="http://schemas.microsoft.com/office/drawing/2014/main" id="{5302CBDF-2889-4C38-BE23-091FF239E6DB}"/>
                </a:ext>
              </a:extLst>
            </p:cNvPr>
            <p:cNvSpPr/>
            <p:nvPr/>
          </p:nvSpPr>
          <p:spPr>
            <a:xfrm>
              <a:off x="10890058" y="5152213"/>
              <a:ext cx="390525" cy="314325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67" name="Rectangle 266">
              <a:extLst>
                <a:ext uri="{FF2B5EF4-FFF2-40B4-BE49-F238E27FC236}">
                  <a16:creationId xmlns:a16="http://schemas.microsoft.com/office/drawing/2014/main" id="{B26C01D0-93BE-4E34-BC7F-73AEE2E09C91}"/>
                </a:ext>
              </a:extLst>
            </p:cNvPr>
            <p:cNvSpPr/>
            <p:nvPr/>
          </p:nvSpPr>
          <p:spPr>
            <a:xfrm>
              <a:off x="10109008" y="5466533"/>
              <a:ext cx="390526" cy="314325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68" name="Rectangle 267">
              <a:extLst>
                <a:ext uri="{FF2B5EF4-FFF2-40B4-BE49-F238E27FC236}">
                  <a16:creationId xmlns:a16="http://schemas.microsoft.com/office/drawing/2014/main" id="{5E7F21ED-8C45-4E2D-8E44-428353D98860}"/>
                </a:ext>
              </a:extLst>
            </p:cNvPr>
            <p:cNvSpPr/>
            <p:nvPr/>
          </p:nvSpPr>
          <p:spPr>
            <a:xfrm>
              <a:off x="10499533" y="5466535"/>
              <a:ext cx="390525" cy="314325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69" name="Rectangle 268">
              <a:extLst>
                <a:ext uri="{FF2B5EF4-FFF2-40B4-BE49-F238E27FC236}">
                  <a16:creationId xmlns:a16="http://schemas.microsoft.com/office/drawing/2014/main" id="{A620BD11-9038-4B11-AC37-A905F00D38B5}"/>
                </a:ext>
              </a:extLst>
            </p:cNvPr>
            <p:cNvSpPr/>
            <p:nvPr/>
          </p:nvSpPr>
          <p:spPr>
            <a:xfrm>
              <a:off x="10890058" y="5466536"/>
              <a:ext cx="390525" cy="314325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270" name="TextBox 269">
            <a:extLst>
              <a:ext uri="{FF2B5EF4-FFF2-40B4-BE49-F238E27FC236}">
                <a16:creationId xmlns:a16="http://schemas.microsoft.com/office/drawing/2014/main" id="{FA84441A-2F7F-432F-AFD6-84E9B1E0D127}"/>
              </a:ext>
            </a:extLst>
          </p:cNvPr>
          <p:cNvSpPr txBox="1"/>
          <p:nvPr/>
        </p:nvSpPr>
        <p:spPr>
          <a:xfrm>
            <a:off x="1216025" y="2678790"/>
            <a:ext cx="7024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Arial Narrow" panose="020B0606020202030204" pitchFamily="34" charset="0"/>
                <a:cs typeface="Times New Roman" panose="02020603050405020304" pitchFamily="18" charset="0"/>
              </a:rPr>
              <a:t>3 x 3</a:t>
            </a:r>
          </a:p>
        </p:txBody>
      </p:sp>
      <p:sp>
        <p:nvSpPr>
          <p:cNvPr id="271" name="TextBox 270">
            <a:extLst>
              <a:ext uri="{FF2B5EF4-FFF2-40B4-BE49-F238E27FC236}">
                <a16:creationId xmlns:a16="http://schemas.microsoft.com/office/drawing/2014/main" id="{FA84441A-2F7F-432F-AFD6-84E9B1E0D127}"/>
              </a:ext>
            </a:extLst>
          </p:cNvPr>
          <p:cNvSpPr txBox="1"/>
          <p:nvPr/>
        </p:nvSpPr>
        <p:spPr>
          <a:xfrm>
            <a:off x="1313664" y="5937505"/>
            <a:ext cx="7024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Arial Narrow" panose="020B0606020202030204" pitchFamily="34" charset="0"/>
                <a:cs typeface="Times New Roman" panose="02020603050405020304" pitchFamily="18" charset="0"/>
              </a:rPr>
              <a:t>3 x 3</a:t>
            </a:r>
          </a:p>
        </p:txBody>
      </p:sp>
      <p:sp>
        <p:nvSpPr>
          <p:cNvPr id="272" name="TextBox 271">
            <a:extLst>
              <a:ext uri="{FF2B5EF4-FFF2-40B4-BE49-F238E27FC236}">
                <a16:creationId xmlns:a16="http://schemas.microsoft.com/office/drawing/2014/main" id="{FA84441A-2F7F-432F-AFD6-84E9B1E0D127}"/>
              </a:ext>
            </a:extLst>
          </p:cNvPr>
          <p:cNvSpPr txBox="1"/>
          <p:nvPr/>
        </p:nvSpPr>
        <p:spPr>
          <a:xfrm>
            <a:off x="1255315" y="4211330"/>
            <a:ext cx="7024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Arial Narrow" panose="020B0606020202030204" pitchFamily="34" charset="0"/>
                <a:cs typeface="Times New Roman" panose="02020603050405020304" pitchFamily="18" charset="0"/>
              </a:rPr>
              <a:t>3 x 3</a:t>
            </a:r>
          </a:p>
        </p:txBody>
      </p:sp>
      <p:sp>
        <p:nvSpPr>
          <p:cNvPr id="218" name="Rectangle 217">
            <a:extLst>
              <a:ext uri="{FF2B5EF4-FFF2-40B4-BE49-F238E27FC236}">
                <a16:creationId xmlns:a16="http://schemas.microsoft.com/office/drawing/2014/main" id="{B2A8915A-D5C7-43BB-80DA-3C75C42B0465}"/>
              </a:ext>
            </a:extLst>
          </p:cNvPr>
          <p:cNvSpPr/>
          <p:nvPr/>
        </p:nvSpPr>
        <p:spPr>
          <a:xfrm>
            <a:off x="981470" y="3237703"/>
            <a:ext cx="390525" cy="3143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3" name="Rectangle 272">
            <a:extLst>
              <a:ext uri="{FF2B5EF4-FFF2-40B4-BE49-F238E27FC236}">
                <a16:creationId xmlns:a16="http://schemas.microsoft.com/office/drawing/2014/main" id="{4206110E-1A5E-4F3B-B604-B45D4126C423}"/>
              </a:ext>
            </a:extLst>
          </p:cNvPr>
          <p:cNvSpPr/>
          <p:nvPr/>
        </p:nvSpPr>
        <p:spPr>
          <a:xfrm>
            <a:off x="1371995" y="3237701"/>
            <a:ext cx="390525" cy="3143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4" name="Rectangle 273">
            <a:extLst>
              <a:ext uri="{FF2B5EF4-FFF2-40B4-BE49-F238E27FC236}">
                <a16:creationId xmlns:a16="http://schemas.microsoft.com/office/drawing/2014/main" id="{E0211A58-DF5E-4AE3-B6A9-BB345158737F}"/>
              </a:ext>
            </a:extLst>
          </p:cNvPr>
          <p:cNvSpPr/>
          <p:nvPr/>
        </p:nvSpPr>
        <p:spPr>
          <a:xfrm>
            <a:off x="1762520" y="3237701"/>
            <a:ext cx="390525" cy="3143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5" name="Rectangle 274">
            <a:extLst>
              <a:ext uri="{FF2B5EF4-FFF2-40B4-BE49-F238E27FC236}">
                <a16:creationId xmlns:a16="http://schemas.microsoft.com/office/drawing/2014/main" id="{98918DFA-2527-4CB8-9743-6F75686DDFBD}"/>
              </a:ext>
            </a:extLst>
          </p:cNvPr>
          <p:cNvSpPr/>
          <p:nvPr/>
        </p:nvSpPr>
        <p:spPr>
          <a:xfrm>
            <a:off x="981470" y="3552028"/>
            <a:ext cx="390525" cy="3143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6" name="Rectangle 275">
            <a:extLst>
              <a:ext uri="{FF2B5EF4-FFF2-40B4-BE49-F238E27FC236}">
                <a16:creationId xmlns:a16="http://schemas.microsoft.com/office/drawing/2014/main" id="{76006521-9A5C-4B12-AD07-7186304DCF54}"/>
              </a:ext>
            </a:extLst>
          </p:cNvPr>
          <p:cNvSpPr/>
          <p:nvPr/>
        </p:nvSpPr>
        <p:spPr>
          <a:xfrm>
            <a:off x="1371995" y="3552026"/>
            <a:ext cx="390525" cy="3143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7" name="Rectangle 276">
            <a:extLst>
              <a:ext uri="{FF2B5EF4-FFF2-40B4-BE49-F238E27FC236}">
                <a16:creationId xmlns:a16="http://schemas.microsoft.com/office/drawing/2014/main" id="{5302CBDF-2889-4C38-BE23-091FF239E6DB}"/>
              </a:ext>
            </a:extLst>
          </p:cNvPr>
          <p:cNvSpPr/>
          <p:nvPr/>
        </p:nvSpPr>
        <p:spPr>
          <a:xfrm>
            <a:off x="1762520" y="3552026"/>
            <a:ext cx="390525" cy="3143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8" name="Rectangle 277">
            <a:extLst>
              <a:ext uri="{FF2B5EF4-FFF2-40B4-BE49-F238E27FC236}">
                <a16:creationId xmlns:a16="http://schemas.microsoft.com/office/drawing/2014/main" id="{B26C01D0-93BE-4E34-BC7F-73AEE2E09C91}"/>
              </a:ext>
            </a:extLst>
          </p:cNvPr>
          <p:cNvSpPr/>
          <p:nvPr/>
        </p:nvSpPr>
        <p:spPr>
          <a:xfrm>
            <a:off x="981470" y="3866346"/>
            <a:ext cx="390525" cy="3143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9" name="Rectangle 278">
            <a:extLst>
              <a:ext uri="{FF2B5EF4-FFF2-40B4-BE49-F238E27FC236}">
                <a16:creationId xmlns:a16="http://schemas.microsoft.com/office/drawing/2014/main" id="{5E7F21ED-8C45-4E2D-8E44-428353D98860}"/>
              </a:ext>
            </a:extLst>
          </p:cNvPr>
          <p:cNvSpPr/>
          <p:nvPr/>
        </p:nvSpPr>
        <p:spPr>
          <a:xfrm>
            <a:off x="1371995" y="3866348"/>
            <a:ext cx="390525" cy="3143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0" name="Rectangle 279">
            <a:extLst>
              <a:ext uri="{FF2B5EF4-FFF2-40B4-BE49-F238E27FC236}">
                <a16:creationId xmlns:a16="http://schemas.microsoft.com/office/drawing/2014/main" id="{A620BD11-9038-4B11-AC37-A905F00D38B5}"/>
              </a:ext>
            </a:extLst>
          </p:cNvPr>
          <p:cNvSpPr/>
          <p:nvPr/>
        </p:nvSpPr>
        <p:spPr>
          <a:xfrm>
            <a:off x="1762520" y="3866349"/>
            <a:ext cx="390525" cy="3143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1" name="Rectangle 280">
            <a:extLst>
              <a:ext uri="{FF2B5EF4-FFF2-40B4-BE49-F238E27FC236}">
                <a16:creationId xmlns:a16="http://schemas.microsoft.com/office/drawing/2014/main" id="{B2A8915A-D5C7-43BB-80DA-3C75C42B0465}"/>
              </a:ext>
            </a:extLst>
          </p:cNvPr>
          <p:cNvSpPr/>
          <p:nvPr/>
        </p:nvSpPr>
        <p:spPr>
          <a:xfrm>
            <a:off x="6440209" y="1931819"/>
            <a:ext cx="390525" cy="3143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2" name="Rectangle 281">
            <a:extLst>
              <a:ext uri="{FF2B5EF4-FFF2-40B4-BE49-F238E27FC236}">
                <a16:creationId xmlns:a16="http://schemas.microsoft.com/office/drawing/2014/main" id="{4206110E-1A5E-4F3B-B604-B45D4126C423}"/>
              </a:ext>
            </a:extLst>
          </p:cNvPr>
          <p:cNvSpPr/>
          <p:nvPr/>
        </p:nvSpPr>
        <p:spPr>
          <a:xfrm>
            <a:off x="6830734" y="1931817"/>
            <a:ext cx="390525" cy="3143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3" name="Rectangle 282">
            <a:extLst>
              <a:ext uri="{FF2B5EF4-FFF2-40B4-BE49-F238E27FC236}">
                <a16:creationId xmlns:a16="http://schemas.microsoft.com/office/drawing/2014/main" id="{E0211A58-DF5E-4AE3-B6A9-BB345158737F}"/>
              </a:ext>
            </a:extLst>
          </p:cNvPr>
          <p:cNvSpPr/>
          <p:nvPr/>
        </p:nvSpPr>
        <p:spPr>
          <a:xfrm>
            <a:off x="7221259" y="1931817"/>
            <a:ext cx="390525" cy="3143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4" name="Rectangle 283">
            <a:extLst>
              <a:ext uri="{FF2B5EF4-FFF2-40B4-BE49-F238E27FC236}">
                <a16:creationId xmlns:a16="http://schemas.microsoft.com/office/drawing/2014/main" id="{98918DFA-2527-4CB8-9743-6F75686DDFBD}"/>
              </a:ext>
            </a:extLst>
          </p:cNvPr>
          <p:cNvSpPr/>
          <p:nvPr/>
        </p:nvSpPr>
        <p:spPr>
          <a:xfrm>
            <a:off x="6440209" y="2246144"/>
            <a:ext cx="390525" cy="3143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5" name="Rectangle 284">
            <a:extLst>
              <a:ext uri="{FF2B5EF4-FFF2-40B4-BE49-F238E27FC236}">
                <a16:creationId xmlns:a16="http://schemas.microsoft.com/office/drawing/2014/main" id="{76006521-9A5C-4B12-AD07-7186304DCF54}"/>
              </a:ext>
            </a:extLst>
          </p:cNvPr>
          <p:cNvSpPr/>
          <p:nvPr/>
        </p:nvSpPr>
        <p:spPr>
          <a:xfrm>
            <a:off x="6830734" y="2246142"/>
            <a:ext cx="390525" cy="3143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6" name="Rectangle 285">
            <a:extLst>
              <a:ext uri="{FF2B5EF4-FFF2-40B4-BE49-F238E27FC236}">
                <a16:creationId xmlns:a16="http://schemas.microsoft.com/office/drawing/2014/main" id="{5302CBDF-2889-4C38-BE23-091FF239E6DB}"/>
              </a:ext>
            </a:extLst>
          </p:cNvPr>
          <p:cNvSpPr/>
          <p:nvPr/>
        </p:nvSpPr>
        <p:spPr>
          <a:xfrm>
            <a:off x="7221259" y="2246142"/>
            <a:ext cx="390525" cy="3143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7" name="Rectangle 286">
            <a:extLst>
              <a:ext uri="{FF2B5EF4-FFF2-40B4-BE49-F238E27FC236}">
                <a16:creationId xmlns:a16="http://schemas.microsoft.com/office/drawing/2014/main" id="{B26C01D0-93BE-4E34-BC7F-73AEE2E09C91}"/>
              </a:ext>
            </a:extLst>
          </p:cNvPr>
          <p:cNvSpPr/>
          <p:nvPr/>
        </p:nvSpPr>
        <p:spPr>
          <a:xfrm>
            <a:off x="6440209" y="2560462"/>
            <a:ext cx="390525" cy="3143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8" name="Rectangle 287">
            <a:extLst>
              <a:ext uri="{FF2B5EF4-FFF2-40B4-BE49-F238E27FC236}">
                <a16:creationId xmlns:a16="http://schemas.microsoft.com/office/drawing/2014/main" id="{5E7F21ED-8C45-4E2D-8E44-428353D98860}"/>
              </a:ext>
            </a:extLst>
          </p:cNvPr>
          <p:cNvSpPr/>
          <p:nvPr/>
        </p:nvSpPr>
        <p:spPr>
          <a:xfrm>
            <a:off x="6830734" y="2560464"/>
            <a:ext cx="390525" cy="3143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9" name="Rectangle 288">
            <a:extLst>
              <a:ext uri="{FF2B5EF4-FFF2-40B4-BE49-F238E27FC236}">
                <a16:creationId xmlns:a16="http://schemas.microsoft.com/office/drawing/2014/main" id="{A620BD11-9038-4B11-AC37-A905F00D38B5}"/>
              </a:ext>
            </a:extLst>
          </p:cNvPr>
          <p:cNvSpPr/>
          <p:nvPr/>
        </p:nvSpPr>
        <p:spPr>
          <a:xfrm>
            <a:off x="7221259" y="2560465"/>
            <a:ext cx="390525" cy="3143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0" name="Rectangle 299">
            <a:extLst>
              <a:ext uri="{FF2B5EF4-FFF2-40B4-BE49-F238E27FC236}">
                <a16:creationId xmlns:a16="http://schemas.microsoft.com/office/drawing/2014/main" id="{4A9A5AE0-3D03-4323-9E30-BCF2D73DE6BA}"/>
              </a:ext>
            </a:extLst>
          </p:cNvPr>
          <p:cNvSpPr/>
          <p:nvPr/>
        </p:nvSpPr>
        <p:spPr>
          <a:xfrm>
            <a:off x="8483979" y="1633705"/>
            <a:ext cx="390525" cy="3143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1" name="Rectangle 300">
            <a:extLst>
              <a:ext uri="{FF2B5EF4-FFF2-40B4-BE49-F238E27FC236}">
                <a16:creationId xmlns:a16="http://schemas.microsoft.com/office/drawing/2014/main" id="{21B227B7-4524-4707-A582-B450375EF6C5}"/>
              </a:ext>
            </a:extLst>
          </p:cNvPr>
          <p:cNvSpPr/>
          <p:nvPr/>
        </p:nvSpPr>
        <p:spPr>
          <a:xfrm>
            <a:off x="8874504" y="1633703"/>
            <a:ext cx="390525" cy="3143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2" name="Rectangle 301">
            <a:extLst>
              <a:ext uri="{FF2B5EF4-FFF2-40B4-BE49-F238E27FC236}">
                <a16:creationId xmlns:a16="http://schemas.microsoft.com/office/drawing/2014/main" id="{EEC32EF9-66A8-4DEA-81B7-53FD8D80E3AA}"/>
              </a:ext>
            </a:extLst>
          </p:cNvPr>
          <p:cNvSpPr/>
          <p:nvPr/>
        </p:nvSpPr>
        <p:spPr>
          <a:xfrm>
            <a:off x="8483979" y="1948030"/>
            <a:ext cx="390525" cy="3143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3" name="Rectangle 302">
            <a:extLst>
              <a:ext uri="{FF2B5EF4-FFF2-40B4-BE49-F238E27FC236}">
                <a16:creationId xmlns:a16="http://schemas.microsoft.com/office/drawing/2014/main" id="{BC6FEF6A-FC5C-43D6-A5D8-E38EBE2D5992}"/>
              </a:ext>
            </a:extLst>
          </p:cNvPr>
          <p:cNvSpPr/>
          <p:nvPr/>
        </p:nvSpPr>
        <p:spPr>
          <a:xfrm>
            <a:off x="9265029" y="1633679"/>
            <a:ext cx="390525" cy="3143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4" name="Rectangle 303">
            <a:extLst>
              <a:ext uri="{FF2B5EF4-FFF2-40B4-BE49-F238E27FC236}">
                <a16:creationId xmlns:a16="http://schemas.microsoft.com/office/drawing/2014/main" id="{064A903B-BDE5-41A6-A965-41A9763E87CD}"/>
              </a:ext>
            </a:extLst>
          </p:cNvPr>
          <p:cNvSpPr/>
          <p:nvPr/>
        </p:nvSpPr>
        <p:spPr>
          <a:xfrm>
            <a:off x="9655554" y="1633677"/>
            <a:ext cx="390525" cy="3143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5" name="Rectangle 304">
            <a:extLst>
              <a:ext uri="{FF2B5EF4-FFF2-40B4-BE49-F238E27FC236}">
                <a16:creationId xmlns:a16="http://schemas.microsoft.com/office/drawing/2014/main" id="{152F5ED1-9F58-4FCD-8A74-F6A2C3FC3F00}"/>
              </a:ext>
            </a:extLst>
          </p:cNvPr>
          <p:cNvSpPr/>
          <p:nvPr/>
        </p:nvSpPr>
        <p:spPr>
          <a:xfrm>
            <a:off x="10046079" y="1633676"/>
            <a:ext cx="390525" cy="3143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6" name="Rectangle 305">
            <a:extLst>
              <a:ext uri="{FF2B5EF4-FFF2-40B4-BE49-F238E27FC236}">
                <a16:creationId xmlns:a16="http://schemas.microsoft.com/office/drawing/2014/main" id="{A2D91F8E-5503-49C9-9260-AD89BB8B099B}"/>
              </a:ext>
            </a:extLst>
          </p:cNvPr>
          <p:cNvSpPr/>
          <p:nvPr/>
        </p:nvSpPr>
        <p:spPr>
          <a:xfrm>
            <a:off x="8479216" y="2262322"/>
            <a:ext cx="390525" cy="3143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7" name="Rectangle 306">
            <a:extLst>
              <a:ext uri="{FF2B5EF4-FFF2-40B4-BE49-F238E27FC236}">
                <a16:creationId xmlns:a16="http://schemas.microsoft.com/office/drawing/2014/main" id="{D42C3371-CD77-43D1-BA5B-A84C78204856}"/>
              </a:ext>
            </a:extLst>
          </p:cNvPr>
          <p:cNvSpPr/>
          <p:nvPr/>
        </p:nvSpPr>
        <p:spPr>
          <a:xfrm>
            <a:off x="8483979" y="2576634"/>
            <a:ext cx="390525" cy="3143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8" name="Rectangle 307">
            <a:extLst>
              <a:ext uri="{FF2B5EF4-FFF2-40B4-BE49-F238E27FC236}">
                <a16:creationId xmlns:a16="http://schemas.microsoft.com/office/drawing/2014/main" id="{09689D2A-17D0-4EA8-822D-3502B12DA8C4}"/>
              </a:ext>
            </a:extLst>
          </p:cNvPr>
          <p:cNvSpPr/>
          <p:nvPr/>
        </p:nvSpPr>
        <p:spPr>
          <a:xfrm>
            <a:off x="8483979" y="2890959"/>
            <a:ext cx="390525" cy="3143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9" name="Rectangle 308">
            <a:extLst>
              <a:ext uri="{FF2B5EF4-FFF2-40B4-BE49-F238E27FC236}">
                <a16:creationId xmlns:a16="http://schemas.microsoft.com/office/drawing/2014/main" id="{794836EC-F02A-4ACA-B139-72D33F1E3E5B}"/>
              </a:ext>
            </a:extLst>
          </p:cNvPr>
          <p:cNvSpPr/>
          <p:nvPr/>
        </p:nvSpPr>
        <p:spPr>
          <a:xfrm>
            <a:off x="10046079" y="1948030"/>
            <a:ext cx="390525" cy="3143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0" name="Rectangle 309">
            <a:extLst>
              <a:ext uri="{FF2B5EF4-FFF2-40B4-BE49-F238E27FC236}">
                <a16:creationId xmlns:a16="http://schemas.microsoft.com/office/drawing/2014/main" id="{C7544C99-0092-4D82-8B48-E495F8D9F084}"/>
              </a:ext>
            </a:extLst>
          </p:cNvPr>
          <p:cNvSpPr/>
          <p:nvPr/>
        </p:nvSpPr>
        <p:spPr>
          <a:xfrm>
            <a:off x="10041316" y="2262322"/>
            <a:ext cx="390525" cy="3143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1" name="Rectangle 310">
            <a:extLst>
              <a:ext uri="{FF2B5EF4-FFF2-40B4-BE49-F238E27FC236}">
                <a16:creationId xmlns:a16="http://schemas.microsoft.com/office/drawing/2014/main" id="{0106085F-F3DD-4299-8761-AF898A7E36AD}"/>
              </a:ext>
            </a:extLst>
          </p:cNvPr>
          <p:cNvSpPr/>
          <p:nvPr/>
        </p:nvSpPr>
        <p:spPr>
          <a:xfrm>
            <a:off x="10046079" y="2576634"/>
            <a:ext cx="390525" cy="3143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2" name="Rectangle 311">
            <a:extLst>
              <a:ext uri="{FF2B5EF4-FFF2-40B4-BE49-F238E27FC236}">
                <a16:creationId xmlns:a16="http://schemas.microsoft.com/office/drawing/2014/main" id="{D9325B84-2EB6-4E2D-8372-148248617672}"/>
              </a:ext>
            </a:extLst>
          </p:cNvPr>
          <p:cNvSpPr/>
          <p:nvPr/>
        </p:nvSpPr>
        <p:spPr>
          <a:xfrm>
            <a:off x="10046079" y="2890959"/>
            <a:ext cx="390525" cy="3143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3" name="Rectangle 312">
            <a:extLst>
              <a:ext uri="{FF2B5EF4-FFF2-40B4-BE49-F238E27FC236}">
                <a16:creationId xmlns:a16="http://schemas.microsoft.com/office/drawing/2014/main" id="{E18CCE23-DA46-402B-9E82-26AC884F21F6}"/>
              </a:ext>
            </a:extLst>
          </p:cNvPr>
          <p:cNvSpPr/>
          <p:nvPr/>
        </p:nvSpPr>
        <p:spPr>
          <a:xfrm>
            <a:off x="8874504" y="2890987"/>
            <a:ext cx="390525" cy="3143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4" name="Rectangle 313">
            <a:extLst>
              <a:ext uri="{FF2B5EF4-FFF2-40B4-BE49-F238E27FC236}">
                <a16:creationId xmlns:a16="http://schemas.microsoft.com/office/drawing/2014/main" id="{D507C719-7C8E-4466-A219-EFA3DB159618}"/>
              </a:ext>
            </a:extLst>
          </p:cNvPr>
          <p:cNvSpPr/>
          <p:nvPr/>
        </p:nvSpPr>
        <p:spPr>
          <a:xfrm>
            <a:off x="9265029" y="2890963"/>
            <a:ext cx="390525" cy="3143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5" name="Rectangle 314">
            <a:extLst>
              <a:ext uri="{FF2B5EF4-FFF2-40B4-BE49-F238E27FC236}">
                <a16:creationId xmlns:a16="http://schemas.microsoft.com/office/drawing/2014/main" id="{0D5AED8C-26F0-4F3E-8359-284C269B08B5}"/>
              </a:ext>
            </a:extLst>
          </p:cNvPr>
          <p:cNvSpPr/>
          <p:nvPr/>
        </p:nvSpPr>
        <p:spPr>
          <a:xfrm>
            <a:off x="9655554" y="2890961"/>
            <a:ext cx="390525" cy="3143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316" name="Group 315">
            <a:extLst>
              <a:ext uri="{FF2B5EF4-FFF2-40B4-BE49-F238E27FC236}">
                <a16:creationId xmlns:a16="http://schemas.microsoft.com/office/drawing/2014/main" id="{95EAA12E-B26E-4D90-A002-260EF2FDCF73}"/>
              </a:ext>
            </a:extLst>
          </p:cNvPr>
          <p:cNvGrpSpPr/>
          <p:nvPr/>
        </p:nvGrpSpPr>
        <p:grpSpPr>
          <a:xfrm>
            <a:off x="8866047" y="1946299"/>
            <a:ext cx="1171575" cy="942973"/>
            <a:chOff x="6119814" y="2171695"/>
            <a:chExt cx="1171575" cy="942973"/>
          </a:xfrm>
        </p:grpSpPr>
        <p:sp>
          <p:nvSpPr>
            <p:cNvPr id="317" name="Rectangle 316">
              <a:extLst>
                <a:ext uri="{FF2B5EF4-FFF2-40B4-BE49-F238E27FC236}">
                  <a16:creationId xmlns:a16="http://schemas.microsoft.com/office/drawing/2014/main" id="{0ECDB2CF-A27F-4E68-87BC-3105DF8ED7CE}"/>
                </a:ext>
              </a:extLst>
            </p:cNvPr>
            <p:cNvSpPr/>
            <p:nvPr/>
          </p:nvSpPr>
          <p:spPr>
            <a:xfrm>
              <a:off x="6119814" y="2171697"/>
              <a:ext cx="390525" cy="314325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18" name="Rectangle 317">
              <a:extLst>
                <a:ext uri="{FF2B5EF4-FFF2-40B4-BE49-F238E27FC236}">
                  <a16:creationId xmlns:a16="http://schemas.microsoft.com/office/drawing/2014/main" id="{FD538DFD-50C6-4E5D-8385-21E764B95743}"/>
                </a:ext>
              </a:extLst>
            </p:cNvPr>
            <p:cNvSpPr/>
            <p:nvPr/>
          </p:nvSpPr>
          <p:spPr>
            <a:xfrm>
              <a:off x="6510339" y="2171695"/>
              <a:ext cx="390525" cy="314325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19" name="Rectangle 318">
              <a:extLst>
                <a:ext uri="{FF2B5EF4-FFF2-40B4-BE49-F238E27FC236}">
                  <a16:creationId xmlns:a16="http://schemas.microsoft.com/office/drawing/2014/main" id="{378C29C7-F2D4-4830-9DD4-8DB5F24B7A28}"/>
                </a:ext>
              </a:extLst>
            </p:cNvPr>
            <p:cNvSpPr/>
            <p:nvPr/>
          </p:nvSpPr>
          <p:spPr>
            <a:xfrm>
              <a:off x="6900864" y="2171695"/>
              <a:ext cx="390525" cy="314325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20" name="Rectangle 319">
              <a:extLst>
                <a:ext uri="{FF2B5EF4-FFF2-40B4-BE49-F238E27FC236}">
                  <a16:creationId xmlns:a16="http://schemas.microsoft.com/office/drawing/2014/main" id="{8BEAB2E4-AA41-4F3F-96E0-C3E002AFFD12}"/>
                </a:ext>
              </a:extLst>
            </p:cNvPr>
            <p:cNvSpPr/>
            <p:nvPr/>
          </p:nvSpPr>
          <p:spPr>
            <a:xfrm>
              <a:off x="6119814" y="2486022"/>
              <a:ext cx="390525" cy="314325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21" name="Rectangle 320">
              <a:extLst>
                <a:ext uri="{FF2B5EF4-FFF2-40B4-BE49-F238E27FC236}">
                  <a16:creationId xmlns:a16="http://schemas.microsoft.com/office/drawing/2014/main" id="{07ED22A3-6E7F-45F5-B3C6-D046C85D0BD1}"/>
                </a:ext>
              </a:extLst>
            </p:cNvPr>
            <p:cNvSpPr/>
            <p:nvPr/>
          </p:nvSpPr>
          <p:spPr>
            <a:xfrm>
              <a:off x="6510339" y="2486020"/>
              <a:ext cx="390525" cy="314325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22" name="Rectangle 321">
              <a:extLst>
                <a:ext uri="{FF2B5EF4-FFF2-40B4-BE49-F238E27FC236}">
                  <a16:creationId xmlns:a16="http://schemas.microsoft.com/office/drawing/2014/main" id="{02ED2D12-246D-4F46-B7D6-29C897F29B74}"/>
                </a:ext>
              </a:extLst>
            </p:cNvPr>
            <p:cNvSpPr/>
            <p:nvPr/>
          </p:nvSpPr>
          <p:spPr>
            <a:xfrm>
              <a:off x="6900864" y="2486020"/>
              <a:ext cx="390525" cy="314325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23" name="Rectangle 322">
              <a:extLst>
                <a:ext uri="{FF2B5EF4-FFF2-40B4-BE49-F238E27FC236}">
                  <a16:creationId xmlns:a16="http://schemas.microsoft.com/office/drawing/2014/main" id="{958F1D1B-CF5B-40E7-84DA-A036091557E0}"/>
                </a:ext>
              </a:extLst>
            </p:cNvPr>
            <p:cNvSpPr/>
            <p:nvPr/>
          </p:nvSpPr>
          <p:spPr>
            <a:xfrm>
              <a:off x="6119814" y="2800340"/>
              <a:ext cx="390525" cy="314325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24" name="Rectangle 323">
              <a:extLst>
                <a:ext uri="{FF2B5EF4-FFF2-40B4-BE49-F238E27FC236}">
                  <a16:creationId xmlns:a16="http://schemas.microsoft.com/office/drawing/2014/main" id="{9C33B3E0-99C4-4DD6-A08D-28B893A7373E}"/>
                </a:ext>
              </a:extLst>
            </p:cNvPr>
            <p:cNvSpPr/>
            <p:nvPr/>
          </p:nvSpPr>
          <p:spPr>
            <a:xfrm>
              <a:off x="6510339" y="2800342"/>
              <a:ext cx="390525" cy="314325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25" name="Rectangle 324">
              <a:extLst>
                <a:ext uri="{FF2B5EF4-FFF2-40B4-BE49-F238E27FC236}">
                  <a16:creationId xmlns:a16="http://schemas.microsoft.com/office/drawing/2014/main" id="{BFD27CA3-9CCC-471E-88D3-8516C624397B}"/>
                </a:ext>
              </a:extLst>
            </p:cNvPr>
            <p:cNvSpPr/>
            <p:nvPr/>
          </p:nvSpPr>
          <p:spPr>
            <a:xfrm>
              <a:off x="6900864" y="2800343"/>
              <a:ext cx="390525" cy="314325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26019791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BE4FD7-15FB-4EC0-AFAB-2A3F743CE4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1825625"/>
            <a:ext cx="10515600" cy="4351338"/>
          </a:xfrm>
        </p:spPr>
        <p:txBody>
          <a:bodyPr/>
          <a:lstStyle/>
          <a:p>
            <a:pPr algn="just"/>
            <a:r>
              <a:rPr lang="en-GB" sz="2000" dirty="0">
                <a:latin typeface="Arial Narrow" panose="020B0606020202030204" pitchFamily="34" charset="0"/>
              </a:rPr>
              <a:t>For example, a 7 × 7 convolution requires </a:t>
            </a:r>
            <a:r>
              <a:rPr lang="en-GB" sz="2000" dirty="0">
                <a:solidFill>
                  <a:srgbClr val="00B0F0"/>
                </a:solidFill>
                <a:latin typeface="Arial Narrow" panose="020B0606020202030204" pitchFamily="34" charset="0"/>
              </a:rPr>
              <a:t>49 parameters per input–output channel pair</a:t>
            </a:r>
            <a:r>
              <a:rPr lang="en-GB" sz="2000" dirty="0">
                <a:latin typeface="Arial Narrow" panose="020B0606020202030204" pitchFamily="34" charset="0"/>
              </a:rPr>
              <a:t>, whereas three 3 × 3 convolutions require only </a:t>
            </a:r>
            <a:r>
              <a:rPr lang="en-GB" sz="2000" dirty="0">
                <a:solidFill>
                  <a:srgbClr val="00B0F0"/>
                </a:solidFill>
                <a:latin typeface="Arial Narrow" panose="020B0606020202030204" pitchFamily="34" charset="0"/>
              </a:rPr>
              <a:t>27 parameters (3 × 9)</a:t>
            </a:r>
            <a:r>
              <a:rPr lang="en-GB" sz="2000" dirty="0">
                <a:latin typeface="Arial Narrow" panose="020B0606020202030204" pitchFamily="34" charset="0"/>
              </a:rPr>
              <a:t>, reducing both computational cost and the risk of overfitting while maintaining the same effective receptive field. </a:t>
            </a:r>
          </a:p>
          <a:p>
            <a:pPr algn="just"/>
            <a:endParaRPr lang="en-GB" sz="2000" dirty="0">
              <a:latin typeface="Arial Narrow" panose="020B0606020202030204" pitchFamily="34" charset="0"/>
            </a:endParaRPr>
          </a:p>
          <a:p>
            <a:pPr algn="just"/>
            <a:r>
              <a:rPr lang="en-GB" sz="2000" dirty="0">
                <a:latin typeface="Arial Narrow" panose="020B0606020202030204" pitchFamily="34" charset="0"/>
              </a:rPr>
              <a:t>This combination of deeper feature extraction, enhanced representational power, and improved parameter efficiency is a fundamental reason for </a:t>
            </a:r>
            <a:r>
              <a:rPr lang="en-GB" sz="2000" dirty="0" err="1">
                <a:latin typeface="Arial Narrow" panose="020B0606020202030204" pitchFamily="34" charset="0"/>
              </a:rPr>
              <a:t>VGGNet's</a:t>
            </a:r>
            <a:r>
              <a:rPr lang="en-GB" sz="2000" dirty="0">
                <a:latin typeface="Arial Narrow" panose="020B0606020202030204" pitchFamily="34" charset="0"/>
              </a:rPr>
              <a:t> strong performance in image classification tasks.</a:t>
            </a:r>
          </a:p>
          <a:p>
            <a:endParaRPr lang="en-GB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48879EB7-4B18-49B9-8785-8B49FFBB1A3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35426" y="4142696"/>
                <a:ext cx="8671525" cy="220634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just">
                  <a:buFont typeface="Arial" panose="020B0604020202020204" pitchFamily="34" charset="0"/>
                  <a:buNone/>
                </a:pPr>
                <a:r>
                  <a:rPr lang="en-IN" sz="2000" dirty="0">
                    <a:solidFill>
                      <a:schemeClr val="bg2">
                        <a:lumMod val="10000"/>
                      </a:schemeClr>
                    </a:solidFill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Question: </a:t>
                </a:r>
                <a:r>
                  <a:rPr lang="en-IN" sz="2000" dirty="0">
                    <a:solidFill>
                      <a:srgbClr val="7030A0"/>
                    </a:solidFill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Why use smaller filters? (3</a:t>
                </a:r>
                <a14:m>
                  <m:oMath xmlns:m="http://schemas.openxmlformats.org/officeDocument/2006/math">
                    <m:r>
                      <a:rPr lang="en-IN" sz="2000" b="0" i="1" dirty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IN" sz="2000" dirty="0">
                    <a:solidFill>
                      <a:srgbClr val="7030A0"/>
                    </a:solidFill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3 </a:t>
                </a:r>
                <a:r>
                  <a:rPr lang="en-IN" sz="2000" dirty="0" err="1">
                    <a:solidFill>
                      <a:srgbClr val="7030A0"/>
                    </a:solidFill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conv</a:t>
                </a:r>
                <a:r>
                  <a:rPr lang="en-IN" sz="2000" dirty="0">
                    <a:solidFill>
                      <a:srgbClr val="7030A0"/>
                    </a:solidFill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)</a:t>
                </a:r>
              </a:p>
              <a:p>
                <a:pPr marL="0" indent="0" algn="just">
                  <a:buFont typeface="Arial" panose="020B0604020202020204" pitchFamily="34" charset="0"/>
                  <a:buNone/>
                </a:pPr>
                <a:endParaRPr lang="en-IN" sz="2000" dirty="0">
                  <a:solidFill>
                    <a:schemeClr val="bg2">
                      <a:lumMod val="10000"/>
                    </a:schemeClr>
                  </a:solidFill>
                  <a:latin typeface="Arial Narrow" panose="020B0606020202030204" pitchFamily="34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n-US" sz="2000" dirty="0">
                    <a:solidFill>
                      <a:schemeClr val="bg2">
                        <a:lumMod val="10000"/>
                      </a:schemeClr>
                    </a:solidFill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Stack of three 3</a:t>
                </a:r>
                <a14:m>
                  <m:oMath xmlns:m="http://schemas.openxmlformats.org/officeDocument/2006/math">
                    <m:r>
                      <a:rPr lang="en-IN" sz="2000" b="0" i="1" dirty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2000" dirty="0">
                    <a:solidFill>
                      <a:schemeClr val="bg2">
                        <a:lumMod val="10000"/>
                      </a:schemeClr>
                    </a:solidFill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3 conv (stride 1) layers has same effective receptive field as one 7</a:t>
                </a:r>
                <a14:m>
                  <m:oMath xmlns:m="http://schemas.openxmlformats.org/officeDocument/2006/math">
                    <m:r>
                      <a:rPr lang="en-IN" sz="2000" b="0" i="1" dirty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2000" dirty="0">
                    <a:solidFill>
                      <a:schemeClr val="bg2">
                        <a:lumMod val="10000"/>
                      </a:schemeClr>
                    </a:solidFill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7 conv layer</a:t>
                </a:r>
              </a:p>
              <a:p>
                <a:pPr marL="0" indent="0" algn="just">
                  <a:buFont typeface="Arial" panose="020B0604020202020204" pitchFamily="34" charset="0"/>
                  <a:buNone/>
                </a:pPr>
                <a:endParaRPr lang="en-US" sz="1800" dirty="0">
                  <a:solidFill>
                    <a:schemeClr val="bg2">
                      <a:lumMod val="10000"/>
                    </a:schemeClr>
                  </a:solidFill>
                  <a:latin typeface="Arial Narrow" panose="020B0606020202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48879EB7-4B18-49B9-8785-8B49FFBB1A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426" y="4142696"/>
                <a:ext cx="8671525" cy="2206340"/>
              </a:xfrm>
              <a:prstGeom prst="rect">
                <a:avLst/>
              </a:prstGeom>
              <a:blipFill>
                <a:blip r:embed="rId2"/>
                <a:stretch>
                  <a:fillRect l="-703" t="-3039" r="-70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itle 1">
            <a:extLst>
              <a:ext uri="{FF2B5EF4-FFF2-40B4-BE49-F238E27FC236}">
                <a16:creationId xmlns:a16="http://schemas.microsoft.com/office/drawing/2014/main" id="{EE5191CC-E4FD-4ADE-A2B2-4ABBD4D2DBCD}"/>
              </a:ext>
            </a:extLst>
          </p:cNvPr>
          <p:cNvSpPr txBox="1">
            <a:spLocks/>
          </p:cNvSpPr>
          <p:nvPr/>
        </p:nvSpPr>
        <p:spPr>
          <a:xfrm>
            <a:off x="371475" y="289902"/>
            <a:ext cx="6974844" cy="10999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600" dirty="0">
                <a:latin typeface="Century" panose="02040604050505020304" pitchFamily="18" charset="0"/>
              </a:rPr>
              <a:t>VGG Net </a:t>
            </a:r>
            <a:br>
              <a:rPr lang="en-IN" sz="3600" dirty="0">
                <a:latin typeface="Century" panose="02040604050505020304" pitchFamily="18" charset="0"/>
              </a:rPr>
            </a:br>
            <a:r>
              <a:rPr lang="en-IN" sz="2400" dirty="0" err="1">
                <a:solidFill>
                  <a:srgbClr val="DE76E6"/>
                </a:solidFill>
                <a:latin typeface="Century" panose="02040604050505020304" pitchFamily="18" charset="0"/>
              </a:rPr>
              <a:t>Simonyan</a:t>
            </a:r>
            <a:r>
              <a:rPr lang="en-IN" sz="2400" dirty="0">
                <a:solidFill>
                  <a:srgbClr val="DE76E6"/>
                </a:solidFill>
                <a:latin typeface="Century" panose="02040604050505020304" pitchFamily="18" charset="0"/>
              </a:rPr>
              <a:t> and Zisserman 2014</a:t>
            </a:r>
            <a:endParaRPr lang="en-IN" sz="3600" dirty="0">
              <a:solidFill>
                <a:srgbClr val="DE76E6"/>
              </a:solidFill>
              <a:latin typeface="Century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48106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736426" y="1326184"/>
                <a:ext cx="5651154" cy="5531815"/>
              </a:xfrm>
            </p:spPr>
            <p:txBody>
              <a:bodyPr>
                <a:normAutofit fontScale="62500" lnSpcReduction="20000"/>
              </a:bodyPr>
              <a:lstStyle/>
              <a:p>
                <a:pPr marL="0" indent="0" algn="just">
                  <a:lnSpc>
                    <a:spcPct val="120000"/>
                  </a:lnSpc>
                  <a:buNone/>
                </a:pPr>
                <a:r>
                  <a:rPr lang="en-US" dirty="0">
                    <a:solidFill>
                      <a:srgbClr val="00B0F0"/>
                    </a:solidFill>
                    <a:latin typeface="Arial Narrow" panose="020B0606020202030204" pitchFamily="34" charset="0"/>
                  </a:rPr>
                  <a:t>Stacked 3 X 3 vs Single 7 X 7 Convolutions</a:t>
                </a:r>
              </a:p>
              <a:p>
                <a:pPr algn="just">
                  <a:lnSpc>
                    <a:spcPct val="120000"/>
                  </a:lnSpc>
                </a:pPr>
                <a:r>
                  <a:rPr lang="en-US" dirty="0">
                    <a:solidFill>
                      <a:srgbClr val="00B0F0"/>
                    </a:solidFill>
                    <a:latin typeface="Arial Narrow" panose="020B0606020202030204" pitchFamily="34" charset="0"/>
                  </a:rPr>
                  <a:t>Receptive Field Equivalence </a:t>
                </a:r>
                <a:r>
                  <a:rPr lang="en-US" b="1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:</a:t>
                </a:r>
                <a:r>
                  <a:rPr lang="en-US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 </a:t>
                </a:r>
                <a:r>
                  <a:rPr lang="en-US" dirty="0">
                    <a:latin typeface="Arial Narrow" panose="020B0606020202030204" pitchFamily="34" charset="0"/>
                  </a:rPr>
                  <a:t>Three consecutive </a:t>
                </a:r>
                <a:r>
                  <a:rPr lang="en-US" dirty="0">
                    <a:solidFill>
                      <a:srgbClr val="00B0F0"/>
                    </a:solidFill>
                    <a:latin typeface="Arial Narrow" panose="020B0606020202030204" pitchFamily="34" charset="0"/>
                  </a:rPr>
                  <a:t>3 × 3 convolutional layers </a:t>
                </a:r>
                <a:r>
                  <a:rPr lang="en-US" dirty="0">
                    <a:latin typeface="Arial Narrow" panose="020B0606020202030204" pitchFamily="34" charset="0"/>
                  </a:rPr>
                  <a:t>(stride = 1) achieve the same effective receptive field as one 7 × 7 convolutional layer.</a:t>
                </a:r>
              </a:p>
              <a:p>
                <a:pPr algn="just">
                  <a:lnSpc>
                    <a:spcPct val="120000"/>
                  </a:lnSpc>
                </a:pPr>
                <a:endParaRPr lang="en-US" dirty="0">
                  <a:solidFill>
                    <a:srgbClr val="7030A0"/>
                  </a:solidFill>
                  <a:latin typeface="Arial Narrow" panose="020B0606020202030204" pitchFamily="34" charset="0"/>
                </a:endParaRPr>
              </a:p>
              <a:p>
                <a:pPr algn="just">
                  <a:lnSpc>
                    <a:spcPct val="120000"/>
                  </a:lnSpc>
                </a:pPr>
                <a:r>
                  <a:rPr lang="en-US" dirty="0">
                    <a:solidFill>
                      <a:srgbClr val="00B0F0"/>
                    </a:solidFill>
                    <a:latin typeface="Arial Narrow" panose="020B0606020202030204" pitchFamily="34" charset="0"/>
                  </a:rPr>
                  <a:t>Benefit 1: Increased Non-Linearity</a:t>
                </a:r>
                <a:r>
                  <a:rPr lang="en-US" b="1" dirty="0">
                    <a:solidFill>
                      <a:srgbClr val="00B0F0"/>
                    </a:solidFill>
                    <a:latin typeface="Arial Narrow" panose="020B0606020202030204" pitchFamily="34" charset="0"/>
                  </a:rPr>
                  <a:t>:</a:t>
                </a:r>
                <a:r>
                  <a:rPr lang="en-US" dirty="0">
                    <a:solidFill>
                      <a:srgbClr val="00B0F0"/>
                    </a:solidFill>
                    <a:latin typeface="Arial Narrow" panose="020B0606020202030204" pitchFamily="34" charset="0"/>
                  </a:rPr>
                  <a:t> </a:t>
                </a:r>
                <a:r>
                  <a:rPr lang="en-US" dirty="0">
                    <a:latin typeface="Arial Narrow" panose="020B0606020202030204" pitchFamily="34" charset="0"/>
                  </a:rPr>
                  <a:t>The stacked architecture is deeper and incorporates three non-linear activation layers (instead of one), enabling the network to learn more complex and discriminative features.</a:t>
                </a:r>
              </a:p>
              <a:p>
                <a:pPr algn="just">
                  <a:lnSpc>
                    <a:spcPct val="120000"/>
                  </a:lnSpc>
                </a:pPr>
                <a:endParaRPr lang="en-US" dirty="0">
                  <a:solidFill>
                    <a:srgbClr val="7030A0"/>
                  </a:solidFill>
                  <a:latin typeface="Arial Narrow" panose="020B0606020202030204" pitchFamily="34" charset="0"/>
                </a:endParaRPr>
              </a:p>
              <a:p>
                <a:pPr algn="just">
                  <a:lnSpc>
                    <a:spcPct val="120000"/>
                  </a:lnSpc>
                </a:pPr>
                <a:r>
                  <a:rPr lang="en-US" dirty="0">
                    <a:solidFill>
                      <a:srgbClr val="00B0F0"/>
                    </a:solidFill>
                    <a:latin typeface="Arial Narrow" panose="020B0606020202030204" pitchFamily="34" charset="0"/>
                  </a:rPr>
                  <a:t>Benefit 2: Parameter Efficiency</a:t>
                </a:r>
                <a:r>
                  <a:rPr lang="en-US" b="1" dirty="0">
                    <a:solidFill>
                      <a:srgbClr val="00B0F0"/>
                    </a:solidFill>
                    <a:latin typeface="Arial Narrow" panose="020B0606020202030204" pitchFamily="34" charset="0"/>
                  </a:rPr>
                  <a:t>:</a:t>
                </a:r>
                <a:r>
                  <a:rPr lang="en-US" b="1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  </a:t>
                </a:r>
                <a:r>
                  <a:rPr lang="en-US" dirty="0">
                    <a:latin typeface="Arial Narrow" panose="020B0606020202030204" pitchFamily="34" charset="0"/>
                  </a:rPr>
                  <a:t>The stacked 3</a:t>
                </a:r>
                <a:r>
                  <a:rPr lang="en-IN" dirty="0">
                    <a:latin typeface="Arial Narrow" panose="020B0606020202030204" pitchFamily="34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b="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 </m:t>
                    </m:r>
                  </m:oMath>
                </a14:m>
                <a:r>
                  <a:rPr lang="en-US" dirty="0">
                    <a:latin typeface="Arial Narrow" panose="020B0606020202030204" pitchFamily="34" charset="0"/>
                  </a:rPr>
                  <a:t>3 layers use significantly fewer parameters (assuming C channels):</a:t>
                </a:r>
              </a:p>
              <a:p>
                <a:pPr lvl="1" algn="just">
                  <a:lnSpc>
                    <a:spcPct val="120000"/>
                  </a:lnSpc>
                </a:pPr>
                <a:r>
                  <a:rPr lang="en-US" sz="2900" dirty="0">
                    <a:latin typeface="Arial Narrow" panose="020B0606020202030204" pitchFamily="34" charset="0"/>
                  </a:rPr>
                  <a:t>Stacked 3</a:t>
                </a:r>
                <a:r>
                  <a:rPr lang="en-IN" sz="2900" dirty="0">
                    <a:latin typeface="Arial Narrow" panose="020B0606020202030204" pitchFamily="34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900" b="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 </m:t>
                    </m:r>
                  </m:oMath>
                </a14:m>
                <a:r>
                  <a:rPr lang="en-US" sz="2900" dirty="0">
                    <a:latin typeface="Arial Narrow" panose="020B0606020202030204" pitchFamily="34" charset="0"/>
                  </a:rPr>
                  <a:t>3 : 3 * (3</a:t>
                </a:r>
                <a:r>
                  <a:rPr lang="en-US" sz="2900" baseline="30000" dirty="0">
                    <a:latin typeface="Arial Narrow" panose="020B0606020202030204" pitchFamily="34" charset="0"/>
                  </a:rPr>
                  <a:t>2</a:t>
                </a:r>
                <a:r>
                  <a:rPr lang="en-US" sz="2900" dirty="0">
                    <a:latin typeface="Arial Narrow" panose="020B0606020202030204" pitchFamily="34" charset="0"/>
                  </a:rPr>
                  <a:t> * C</a:t>
                </a:r>
                <a:r>
                  <a:rPr lang="en-US" sz="2900" baseline="30000" dirty="0">
                    <a:latin typeface="Arial Narrow" panose="020B0606020202030204" pitchFamily="34" charset="0"/>
                  </a:rPr>
                  <a:t>2</a:t>
                </a:r>
                <a:r>
                  <a:rPr lang="en-US" sz="2900" dirty="0">
                    <a:latin typeface="Arial Narrow" panose="020B0606020202030204" pitchFamily="34" charset="0"/>
                  </a:rPr>
                  <a:t>) = 27 * C</a:t>
                </a:r>
                <a:r>
                  <a:rPr lang="en-US" sz="2900" baseline="30000" dirty="0">
                    <a:latin typeface="Arial Narrow" panose="020B0606020202030204" pitchFamily="34" charset="0"/>
                  </a:rPr>
                  <a:t>2</a:t>
                </a:r>
              </a:p>
              <a:p>
                <a:pPr lvl="1" algn="just">
                  <a:lnSpc>
                    <a:spcPct val="120000"/>
                  </a:lnSpc>
                </a:pPr>
                <a:r>
                  <a:rPr lang="en-US" sz="2900" dirty="0">
                    <a:latin typeface="Arial Narrow" panose="020B0606020202030204" pitchFamily="34" charset="0"/>
                  </a:rPr>
                  <a:t>Single 7</a:t>
                </a:r>
                <a:r>
                  <a:rPr lang="en-IN" sz="2900" dirty="0">
                    <a:latin typeface="Arial Narrow" panose="020B0606020202030204" pitchFamily="34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900" b="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 </m:t>
                    </m:r>
                  </m:oMath>
                </a14:m>
                <a:r>
                  <a:rPr lang="en-US" sz="2900" dirty="0">
                    <a:latin typeface="Arial Narrow" panose="020B0606020202030204" pitchFamily="34" charset="0"/>
                  </a:rPr>
                  <a:t>7 : 7</a:t>
                </a:r>
                <a:r>
                  <a:rPr lang="en-US" sz="2900" baseline="30000" dirty="0">
                    <a:latin typeface="Arial Narrow" panose="020B0606020202030204" pitchFamily="34" charset="0"/>
                  </a:rPr>
                  <a:t>2</a:t>
                </a:r>
                <a:r>
                  <a:rPr lang="en-US" sz="2900" dirty="0">
                    <a:latin typeface="Arial Narrow" panose="020B0606020202030204" pitchFamily="34" charset="0"/>
                  </a:rPr>
                  <a:t> * C</a:t>
                </a:r>
                <a:r>
                  <a:rPr lang="en-US" sz="2900" baseline="30000" dirty="0">
                    <a:latin typeface="Arial Narrow" panose="020B0606020202030204" pitchFamily="34" charset="0"/>
                  </a:rPr>
                  <a:t>2</a:t>
                </a:r>
                <a:r>
                  <a:rPr lang="en-US" sz="2900" dirty="0">
                    <a:latin typeface="Arial Narrow" panose="020B0606020202030204" pitchFamily="34" charset="0"/>
                  </a:rPr>
                  <a:t> = 49 * C</a:t>
                </a:r>
                <a:r>
                  <a:rPr lang="en-US" sz="2900" baseline="30000" dirty="0">
                    <a:latin typeface="Arial Narrow" panose="020B0606020202030204" pitchFamily="34" charset="0"/>
                  </a:rPr>
                  <a:t>2</a:t>
                </a:r>
              </a:p>
              <a:p>
                <a:pPr lvl="1" algn="just">
                  <a:lnSpc>
                    <a:spcPct val="120000"/>
                  </a:lnSpc>
                </a:pPr>
                <a:r>
                  <a:rPr lang="en-US" sz="2900" dirty="0">
                    <a:latin typeface="Arial Narrow" panose="020B0606020202030204" pitchFamily="34" charset="0"/>
                  </a:rPr>
                  <a:t>Result</a:t>
                </a:r>
                <a:r>
                  <a:rPr lang="en-US" sz="2900" i="1" dirty="0">
                    <a:latin typeface="Arial Narrow" panose="020B0606020202030204" pitchFamily="34" charset="0"/>
                  </a:rPr>
                  <a:t>:</a:t>
                </a:r>
                <a:r>
                  <a:rPr lang="en-US" sz="2900" dirty="0">
                    <a:latin typeface="Arial Narrow" panose="020B0606020202030204" pitchFamily="34" charset="0"/>
                  </a:rPr>
                  <a:t> The stacked approach </a:t>
                </a:r>
                <a:r>
                  <a:rPr lang="en-US" sz="2900" dirty="0">
                    <a:solidFill>
                      <a:srgbClr val="00B0F0"/>
                    </a:solidFill>
                    <a:latin typeface="Arial Narrow" panose="020B0606020202030204" pitchFamily="34" charset="0"/>
                  </a:rPr>
                  <a:t>reduces parameters by approximately 45%.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36426" y="1326184"/>
                <a:ext cx="5651154" cy="5531815"/>
              </a:xfrm>
              <a:blipFill>
                <a:blip r:embed="rId2"/>
                <a:stretch>
                  <a:fillRect l="-971" t="-551" r="-86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36426" y="233025"/>
            <a:ext cx="5779883" cy="1210855"/>
          </a:xfrm>
        </p:spPr>
        <p:txBody>
          <a:bodyPr/>
          <a:lstStyle/>
          <a:p>
            <a:r>
              <a:rPr lang="en-IN" sz="3600" dirty="0">
                <a:latin typeface="Century" panose="02040604050505020304" pitchFamily="18" charset="0"/>
              </a:rPr>
              <a:t>VGG Net</a:t>
            </a:r>
            <a:br>
              <a:rPr lang="en-IN" dirty="0">
                <a:latin typeface="Century" panose="02040604050505020304" pitchFamily="18" charset="0"/>
              </a:rPr>
            </a:br>
            <a:r>
              <a:rPr lang="en-IN" sz="2400" dirty="0" err="1">
                <a:solidFill>
                  <a:srgbClr val="DE76E6"/>
                </a:solidFill>
                <a:latin typeface="Century" panose="02040604050505020304" pitchFamily="18" charset="0"/>
              </a:rPr>
              <a:t>Simonyan</a:t>
            </a:r>
            <a:r>
              <a:rPr lang="en-IN" sz="2400" dirty="0">
                <a:solidFill>
                  <a:srgbClr val="DE76E6"/>
                </a:solidFill>
                <a:latin typeface="Century" panose="02040604050505020304" pitchFamily="18" charset="0"/>
              </a:rPr>
              <a:t> and Zisserman 2014</a:t>
            </a:r>
            <a:endParaRPr lang="en-IN" sz="4000" dirty="0">
              <a:solidFill>
                <a:srgbClr val="DE76E6"/>
              </a:solidFill>
              <a:latin typeface="Century" panose="02040604050505020304" pitchFamily="18" charset="0"/>
            </a:endParaRPr>
          </a:p>
        </p:txBody>
      </p:sp>
      <p:grpSp>
        <p:nvGrpSpPr>
          <p:cNvPr id="88" name="Group 87"/>
          <p:cNvGrpSpPr/>
          <p:nvPr/>
        </p:nvGrpSpPr>
        <p:grpSpPr>
          <a:xfrm>
            <a:off x="6755988" y="207523"/>
            <a:ext cx="1698092" cy="6584703"/>
            <a:chOff x="6175635" y="51083"/>
            <a:chExt cx="1698092" cy="6584703"/>
          </a:xfrm>
        </p:grpSpPr>
        <p:sp>
          <p:nvSpPr>
            <p:cNvPr id="89" name="Rectangle 88"/>
            <p:cNvSpPr/>
            <p:nvPr/>
          </p:nvSpPr>
          <p:spPr>
            <a:xfrm>
              <a:off x="6721202" y="775592"/>
              <a:ext cx="1152525" cy="180975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47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 X 3 </a:t>
              </a:r>
              <a:r>
                <a:rPr lang="en-IN" sz="7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conv</a:t>
              </a:r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+ </a:t>
              </a:r>
              <a:r>
                <a:rPr lang="en-IN" sz="7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Relu</a:t>
              </a:r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64</a:t>
              </a:r>
            </a:p>
          </p:txBody>
        </p:sp>
        <p:sp>
          <p:nvSpPr>
            <p:cNvPr id="90" name="Rectangle 89"/>
            <p:cNvSpPr/>
            <p:nvPr/>
          </p:nvSpPr>
          <p:spPr>
            <a:xfrm>
              <a:off x="6721202" y="956567"/>
              <a:ext cx="1152525" cy="180975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47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 X 3 </a:t>
              </a:r>
              <a:r>
                <a:rPr lang="en-IN" sz="7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conv</a:t>
              </a:r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+ </a:t>
              </a:r>
              <a:r>
                <a:rPr lang="en-IN" sz="7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Relu</a:t>
              </a:r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64</a:t>
              </a:r>
            </a:p>
          </p:txBody>
        </p:sp>
        <p:sp>
          <p:nvSpPr>
            <p:cNvPr id="91" name="Rectangle 90"/>
            <p:cNvSpPr/>
            <p:nvPr/>
          </p:nvSpPr>
          <p:spPr>
            <a:xfrm>
              <a:off x="6721202" y="1137542"/>
              <a:ext cx="1152525" cy="180975"/>
            </a:xfrm>
            <a:prstGeom prst="rect">
              <a:avLst/>
            </a:prstGeom>
            <a:solidFill>
              <a:schemeClr val="accent6">
                <a:lumMod val="60000"/>
                <a:lumOff val="40000"/>
                <a:alpha val="54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 X 2 Max – Pool 64</a:t>
              </a:r>
            </a:p>
          </p:txBody>
        </p:sp>
        <p:sp>
          <p:nvSpPr>
            <p:cNvPr id="92" name="Rectangle 91"/>
            <p:cNvSpPr/>
            <p:nvPr/>
          </p:nvSpPr>
          <p:spPr>
            <a:xfrm>
              <a:off x="6721202" y="1543942"/>
              <a:ext cx="1152525" cy="180975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47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 X 3 </a:t>
              </a:r>
              <a:r>
                <a:rPr lang="en-IN" sz="7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conv</a:t>
              </a:r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+ </a:t>
              </a:r>
              <a:r>
                <a:rPr lang="en-IN" sz="7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Relu</a:t>
              </a:r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128</a:t>
              </a:r>
            </a:p>
          </p:txBody>
        </p:sp>
        <p:sp>
          <p:nvSpPr>
            <p:cNvPr id="93" name="Rectangle 92"/>
            <p:cNvSpPr/>
            <p:nvPr/>
          </p:nvSpPr>
          <p:spPr>
            <a:xfrm>
              <a:off x="6721202" y="1724917"/>
              <a:ext cx="1152525" cy="180975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47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 X 3 </a:t>
              </a:r>
              <a:r>
                <a:rPr lang="en-IN" sz="7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conv</a:t>
              </a:r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+ </a:t>
              </a:r>
              <a:r>
                <a:rPr lang="en-IN" sz="7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Relu</a:t>
              </a:r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128</a:t>
              </a:r>
            </a:p>
          </p:txBody>
        </p:sp>
        <p:sp>
          <p:nvSpPr>
            <p:cNvPr id="94" name="Rectangle 93"/>
            <p:cNvSpPr/>
            <p:nvPr/>
          </p:nvSpPr>
          <p:spPr>
            <a:xfrm>
              <a:off x="6721202" y="1905892"/>
              <a:ext cx="1152525" cy="180975"/>
            </a:xfrm>
            <a:prstGeom prst="rect">
              <a:avLst/>
            </a:prstGeom>
            <a:solidFill>
              <a:schemeClr val="accent6">
                <a:lumMod val="60000"/>
                <a:lumOff val="40000"/>
                <a:alpha val="54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 X 2 Max – Pool 128</a:t>
              </a:r>
            </a:p>
          </p:txBody>
        </p:sp>
        <p:sp>
          <p:nvSpPr>
            <p:cNvPr id="95" name="Rectangle 94"/>
            <p:cNvSpPr/>
            <p:nvPr/>
          </p:nvSpPr>
          <p:spPr>
            <a:xfrm>
              <a:off x="6721198" y="2317423"/>
              <a:ext cx="1152525" cy="180975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47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 X 3 </a:t>
              </a:r>
              <a:r>
                <a:rPr lang="en-IN" sz="7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conv</a:t>
              </a:r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+ </a:t>
              </a:r>
              <a:r>
                <a:rPr lang="en-IN" sz="7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Relu</a:t>
              </a:r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256</a:t>
              </a:r>
            </a:p>
          </p:txBody>
        </p:sp>
        <p:sp>
          <p:nvSpPr>
            <p:cNvPr id="96" name="Rectangle 95"/>
            <p:cNvSpPr/>
            <p:nvPr/>
          </p:nvSpPr>
          <p:spPr>
            <a:xfrm>
              <a:off x="6721198" y="2498398"/>
              <a:ext cx="1152525" cy="180975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47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 X 3 </a:t>
              </a:r>
              <a:r>
                <a:rPr lang="en-IN" sz="7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conv</a:t>
              </a:r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+ </a:t>
              </a:r>
              <a:r>
                <a:rPr lang="en-IN" sz="7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Relu</a:t>
              </a:r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256</a:t>
              </a:r>
            </a:p>
          </p:txBody>
        </p:sp>
        <p:sp>
          <p:nvSpPr>
            <p:cNvPr id="97" name="Rectangle 96"/>
            <p:cNvSpPr/>
            <p:nvPr/>
          </p:nvSpPr>
          <p:spPr>
            <a:xfrm>
              <a:off x="6721198" y="2679373"/>
              <a:ext cx="1152525" cy="180975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47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 X 3 </a:t>
              </a:r>
              <a:r>
                <a:rPr lang="en-IN" sz="7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conv</a:t>
              </a:r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+ </a:t>
              </a:r>
              <a:r>
                <a:rPr lang="en-IN" sz="7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Relu</a:t>
              </a:r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256</a:t>
              </a:r>
            </a:p>
          </p:txBody>
        </p:sp>
        <p:sp>
          <p:nvSpPr>
            <p:cNvPr id="98" name="Rectangle 97"/>
            <p:cNvSpPr/>
            <p:nvPr/>
          </p:nvSpPr>
          <p:spPr>
            <a:xfrm>
              <a:off x="6721197" y="2860348"/>
              <a:ext cx="1152525" cy="180975"/>
            </a:xfrm>
            <a:prstGeom prst="rect">
              <a:avLst/>
            </a:prstGeom>
            <a:solidFill>
              <a:schemeClr val="accent6">
                <a:lumMod val="60000"/>
                <a:lumOff val="40000"/>
                <a:alpha val="54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 X 2 Max – Pool 256</a:t>
              </a:r>
            </a:p>
          </p:txBody>
        </p:sp>
        <p:sp>
          <p:nvSpPr>
            <p:cNvPr id="99" name="Rectangle 98"/>
            <p:cNvSpPr/>
            <p:nvPr/>
          </p:nvSpPr>
          <p:spPr>
            <a:xfrm>
              <a:off x="6721197" y="3266563"/>
              <a:ext cx="1152525" cy="180975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47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 X 3 </a:t>
              </a:r>
              <a:r>
                <a:rPr lang="en-IN" sz="7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conv</a:t>
              </a:r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+ </a:t>
              </a:r>
              <a:r>
                <a:rPr lang="en-IN" sz="7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Relu</a:t>
              </a:r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512</a:t>
              </a:r>
            </a:p>
          </p:txBody>
        </p:sp>
        <p:sp>
          <p:nvSpPr>
            <p:cNvPr id="100" name="Rectangle 99"/>
            <p:cNvSpPr/>
            <p:nvPr/>
          </p:nvSpPr>
          <p:spPr>
            <a:xfrm>
              <a:off x="6721197" y="3447538"/>
              <a:ext cx="1152525" cy="180975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47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 X 3 </a:t>
              </a:r>
              <a:r>
                <a:rPr lang="en-IN" sz="7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conv</a:t>
              </a:r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+ </a:t>
              </a:r>
              <a:r>
                <a:rPr lang="en-IN" sz="7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Relu</a:t>
              </a:r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512</a:t>
              </a:r>
            </a:p>
          </p:txBody>
        </p:sp>
        <p:sp>
          <p:nvSpPr>
            <p:cNvPr id="101" name="Rectangle 100"/>
            <p:cNvSpPr/>
            <p:nvPr/>
          </p:nvSpPr>
          <p:spPr>
            <a:xfrm>
              <a:off x="6721197" y="3628513"/>
              <a:ext cx="1152525" cy="180975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47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 X 3 </a:t>
              </a:r>
              <a:r>
                <a:rPr lang="en-IN" sz="7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conv</a:t>
              </a:r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+ </a:t>
              </a:r>
              <a:r>
                <a:rPr lang="en-IN" sz="7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Relu</a:t>
              </a:r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512</a:t>
              </a:r>
            </a:p>
          </p:txBody>
        </p:sp>
        <p:sp>
          <p:nvSpPr>
            <p:cNvPr id="102" name="Rectangle 101"/>
            <p:cNvSpPr/>
            <p:nvPr/>
          </p:nvSpPr>
          <p:spPr>
            <a:xfrm>
              <a:off x="6721196" y="3809488"/>
              <a:ext cx="1152525" cy="180975"/>
            </a:xfrm>
            <a:prstGeom prst="rect">
              <a:avLst/>
            </a:prstGeom>
            <a:solidFill>
              <a:schemeClr val="accent6">
                <a:lumMod val="60000"/>
                <a:lumOff val="40000"/>
                <a:alpha val="54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 X 2 Max – Pool 512</a:t>
              </a:r>
            </a:p>
          </p:txBody>
        </p:sp>
        <p:sp>
          <p:nvSpPr>
            <p:cNvPr id="103" name="Rectangle 102"/>
            <p:cNvSpPr/>
            <p:nvPr/>
          </p:nvSpPr>
          <p:spPr>
            <a:xfrm>
              <a:off x="6721197" y="4219245"/>
              <a:ext cx="1152525" cy="180975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47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 X 3 </a:t>
              </a:r>
              <a:r>
                <a:rPr lang="en-IN" sz="7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conv</a:t>
              </a:r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+ </a:t>
              </a:r>
              <a:r>
                <a:rPr lang="en-IN" sz="7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Relu</a:t>
              </a:r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512</a:t>
              </a:r>
            </a:p>
          </p:txBody>
        </p:sp>
        <p:sp>
          <p:nvSpPr>
            <p:cNvPr id="104" name="Rectangle 103"/>
            <p:cNvSpPr/>
            <p:nvPr/>
          </p:nvSpPr>
          <p:spPr>
            <a:xfrm>
              <a:off x="6721197" y="4400220"/>
              <a:ext cx="1152525" cy="180975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47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 X 3 </a:t>
              </a:r>
              <a:r>
                <a:rPr lang="en-IN" sz="7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conv</a:t>
              </a:r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+ </a:t>
              </a:r>
              <a:r>
                <a:rPr lang="en-IN" sz="7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Relu</a:t>
              </a:r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512</a:t>
              </a:r>
            </a:p>
          </p:txBody>
        </p:sp>
        <p:sp>
          <p:nvSpPr>
            <p:cNvPr id="105" name="Rectangle 104"/>
            <p:cNvSpPr/>
            <p:nvPr/>
          </p:nvSpPr>
          <p:spPr>
            <a:xfrm>
              <a:off x="6721197" y="4581195"/>
              <a:ext cx="1152525" cy="180975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47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 X 3 </a:t>
              </a:r>
              <a:r>
                <a:rPr lang="en-IN" sz="7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conv</a:t>
              </a:r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+ </a:t>
              </a:r>
              <a:r>
                <a:rPr lang="en-IN" sz="7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Relu</a:t>
              </a:r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512</a:t>
              </a:r>
            </a:p>
          </p:txBody>
        </p:sp>
        <p:sp>
          <p:nvSpPr>
            <p:cNvPr id="106" name="Rectangle 105"/>
            <p:cNvSpPr/>
            <p:nvPr/>
          </p:nvSpPr>
          <p:spPr>
            <a:xfrm>
              <a:off x="6721196" y="4762170"/>
              <a:ext cx="1152525" cy="180975"/>
            </a:xfrm>
            <a:prstGeom prst="rect">
              <a:avLst/>
            </a:prstGeom>
            <a:solidFill>
              <a:schemeClr val="accent6">
                <a:lumMod val="60000"/>
                <a:lumOff val="40000"/>
                <a:alpha val="54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7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 X 2 Max – Pool 512</a:t>
              </a:r>
              <a:endParaRPr lang="en-IN" sz="7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7" name="Rectangle 106"/>
            <p:cNvSpPr/>
            <p:nvPr/>
          </p:nvSpPr>
          <p:spPr>
            <a:xfrm>
              <a:off x="6721197" y="5177972"/>
              <a:ext cx="1152525" cy="180975"/>
            </a:xfrm>
            <a:prstGeom prst="rect">
              <a:avLst/>
            </a:prstGeom>
            <a:solidFill>
              <a:schemeClr val="accent4">
                <a:lumMod val="40000"/>
                <a:lumOff val="60000"/>
                <a:alpha val="7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FC 4096</a:t>
              </a:r>
            </a:p>
          </p:txBody>
        </p:sp>
        <p:sp>
          <p:nvSpPr>
            <p:cNvPr id="108" name="Rectangle 107"/>
            <p:cNvSpPr/>
            <p:nvPr/>
          </p:nvSpPr>
          <p:spPr>
            <a:xfrm>
              <a:off x="6721197" y="5588646"/>
              <a:ext cx="1152525" cy="180975"/>
            </a:xfrm>
            <a:prstGeom prst="rect">
              <a:avLst/>
            </a:prstGeom>
            <a:solidFill>
              <a:schemeClr val="accent4">
                <a:lumMod val="40000"/>
                <a:lumOff val="60000"/>
                <a:alpha val="7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FC 4096</a:t>
              </a:r>
            </a:p>
          </p:txBody>
        </p:sp>
        <p:sp>
          <p:nvSpPr>
            <p:cNvPr id="109" name="Rectangle 108"/>
            <p:cNvSpPr/>
            <p:nvPr/>
          </p:nvSpPr>
          <p:spPr>
            <a:xfrm>
              <a:off x="6721196" y="6005183"/>
              <a:ext cx="1152525" cy="180975"/>
            </a:xfrm>
            <a:prstGeom prst="rect">
              <a:avLst/>
            </a:prstGeom>
            <a:solidFill>
              <a:schemeClr val="accent4">
                <a:lumMod val="40000"/>
                <a:lumOff val="60000"/>
                <a:alpha val="7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FC Output 1000</a:t>
              </a:r>
            </a:p>
          </p:txBody>
        </p:sp>
        <p:sp>
          <p:nvSpPr>
            <p:cNvPr id="110" name="Down Arrow 109"/>
            <p:cNvSpPr/>
            <p:nvPr/>
          </p:nvSpPr>
          <p:spPr>
            <a:xfrm>
              <a:off x="7223694" y="545036"/>
              <a:ext cx="141177" cy="225425"/>
            </a:xfrm>
            <a:prstGeom prst="downArrow">
              <a:avLst/>
            </a:prstGeom>
            <a:solidFill>
              <a:schemeClr val="accent4">
                <a:lumMod val="75000"/>
                <a:alpha val="43000"/>
              </a:schemeClr>
            </a:solidFill>
            <a:ln w="15875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1" name="Down Arrow 110"/>
            <p:cNvSpPr/>
            <p:nvPr/>
          </p:nvSpPr>
          <p:spPr>
            <a:xfrm>
              <a:off x="7223693" y="1319799"/>
              <a:ext cx="141177" cy="216392"/>
            </a:xfrm>
            <a:prstGeom prst="downArrow">
              <a:avLst/>
            </a:prstGeom>
            <a:solidFill>
              <a:schemeClr val="accent4">
                <a:lumMod val="75000"/>
                <a:alpha val="43000"/>
              </a:schemeClr>
            </a:solidFill>
            <a:ln w="15875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70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2" name="Down Arrow 111"/>
            <p:cNvSpPr/>
            <p:nvPr/>
          </p:nvSpPr>
          <p:spPr>
            <a:xfrm>
              <a:off x="7223692" y="2086682"/>
              <a:ext cx="141177" cy="216392"/>
            </a:xfrm>
            <a:prstGeom prst="downArrow">
              <a:avLst/>
            </a:prstGeom>
            <a:solidFill>
              <a:schemeClr val="accent4">
                <a:lumMod val="75000"/>
                <a:alpha val="43000"/>
              </a:schemeClr>
            </a:solidFill>
            <a:ln w="15875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70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3" name="Down Arrow 112"/>
            <p:cNvSpPr/>
            <p:nvPr/>
          </p:nvSpPr>
          <p:spPr>
            <a:xfrm>
              <a:off x="7223691" y="3045775"/>
              <a:ext cx="141177" cy="216392"/>
            </a:xfrm>
            <a:prstGeom prst="downArrow">
              <a:avLst/>
            </a:prstGeom>
            <a:solidFill>
              <a:schemeClr val="accent4">
                <a:lumMod val="75000"/>
                <a:alpha val="43000"/>
              </a:schemeClr>
            </a:solidFill>
            <a:ln w="15875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70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4" name="Down Arrow 113"/>
            <p:cNvSpPr/>
            <p:nvPr/>
          </p:nvSpPr>
          <p:spPr>
            <a:xfrm>
              <a:off x="7223690" y="3998090"/>
              <a:ext cx="141177" cy="216392"/>
            </a:xfrm>
            <a:prstGeom prst="downArrow">
              <a:avLst/>
            </a:prstGeom>
            <a:solidFill>
              <a:schemeClr val="accent4">
                <a:lumMod val="75000"/>
                <a:alpha val="43000"/>
              </a:schemeClr>
            </a:solidFill>
            <a:ln w="15875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70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5" name="Down Arrow 114"/>
            <p:cNvSpPr/>
            <p:nvPr/>
          </p:nvSpPr>
          <p:spPr>
            <a:xfrm>
              <a:off x="7223690" y="4946060"/>
              <a:ext cx="141177" cy="216392"/>
            </a:xfrm>
            <a:prstGeom prst="downArrow">
              <a:avLst/>
            </a:prstGeom>
            <a:solidFill>
              <a:schemeClr val="accent4">
                <a:lumMod val="75000"/>
                <a:alpha val="43000"/>
              </a:schemeClr>
            </a:solidFill>
            <a:ln w="15875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7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6" name="Down Arrow 115"/>
            <p:cNvSpPr/>
            <p:nvPr/>
          </p:nvSpPr>
          <p:spPr>
            <a:xfrm>
              <a:off x="7223689" y="5358947"/>
              <a:ext cx="141177" cy="216392"/>
            </a:xfrm>
            <a:prstGeom prst="downArrow">
              <a:avLst/>
            </a:prstGeom>
            <a:solidFill>
              <a:schemeClr val="accent4">
                <a:lumMod val="75000"/>
                <a:alpha val="43000"/>
              </a:schemeClr>
            </a:solidFill>
            <a:ln w="15875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7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7" name="Down Arrow 116"/>
            <p:cNvSpPr/>
            <p:nvPr/>
          </p:nvSpPr>
          <p:spPr>
            <a:xfrm>
              <a:off x="7223689" y="5773158"/>
              <a:ext cx="141177" cy="216392"/>
            </a:xfrm>
            <a:prstGeom prst="downArrow">
              <a:avLst/>
            </a:prstGeom>
            <a:solidFill>
              <a:schemeClr val="accent4">
                <a:lumMod val="75000"/>
                <a:alpha val="43000"/>
              </a:schemeClr>
            </a:solidFill>
            <a:ln w="15875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7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8" name="Down Arrow 117"/>
            <p:cNvSpPr/>
            <p:nvPr/>
          </p:nvSpPr>
          <p:spPr>
            <a:xfrm>
              <a:off x="7223689" y="6186158"/>
              <a:ext cx="141177" cy="216392"/>
            </a:xfrm>
            <a:prstGeom prst="downArrow">
              <a:avLst/>
            </a:prstGeom>
            <a:solidFill>
              <a:schemeClr val="accent4">
                <a:lumMod val="75000"/>
                <a:alpha val="43000"/>
              </a:schemeClr>
            </a:solidFill>
            <a:ln w="15875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9" name="TextBox 118"/>
            <p:cNvSpPr txBox="1"/>
            <p:nvPr/>
          </p:nvSpPr>
          <p:spPr>
            <a:xfrm>
              <a:off x="6181458" y="928224"/>
              <a:ext cx="56778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800" b="1" dirty="0">
                  <a:solidFill>
                    <a:srgbClr val="7030A0"/>
                  </a:solidFill>
                  <a:latin typeface="Arial Narrow" panose="020B0606020202030204" pitchFamily="34" charset="0"/>
                </a:rPr>
                <a:t>224 X 224</a:t>
              </a:r>
            </a:p>
          </p:txBody>
        </p:sp>
        <p:sp>
          <p:nvSpPr>
            <p:cNvPr id="120" name="TextBox 119"/>
            <p:cNvSpPr txBox="1"/>
            <p:nvPr/>
          </p:nvSpPr>
          <p:spPr>
            <a:xfrm>
              <a:off x="6181458" y="1696756"/>
              <a:ext cx="56778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800" b="1" dirty="0">
                  <a:solidFill>
                    <a:srgbClr val="7030A0"/>
                  </a:solidFill>
                  <a:latin typeface="Arial Narrow" panose="020B0606020202030204" pitchFamily="34" charset="0"/>
                </a:rPr>
                <a:t>112 X 112</a:t>
              </a:r>
            </a:p>
          </p:txBody>
        </p:sp>
        <p:sp>
          <p:nvSpPr>
            <p:cNvPr id="121" name="TextBox 120"/>
            <p:cNvSpPr txBox="1"/>
            <p:nvPr/>
          </p:nvSpPr>
          <p:spPr>
            <a:xfrm>
              <a:off x="6181458" y="2570451"/>
              <a:ext cx="47481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800" b="1" dirty="0">
                  <a:solidFill>
                    <a:srgbClr val="7030A0"/>
                  </a:solidFill>
                  <a:latin typeface="Arial Narrow" panose="020B0606020202030204" pitchFamily="34" charset="0"/>
                </a:rPr>
                <a:t>56 X 56</a:t>
              </a:r>
            </a:p>
          </p:txBody>
        </p:sp>
        <p:sp>
          <p:nvSpPr>
            <p:cNvPr id="122" name="TextBox 121"/>
            <p:cNvSpPr txBox="1"/>
            <p:nvPr/>
          </p:nvSpPr>
          <p:spPr>
            <a:xfrm>
              <a:off x="6175635" y="3504818"/>
              <a:ext cx="47481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800" b="1" dirty="0">
                  <a:solidFill>
                    <a:srgbClr val="7030A0"/>
                  </a:solidFill>
                  <a:latin typeface="Arial Narrow" panose="020B0606020202030204" pitchFamily="34" charset="0"/>
                </a:rPr>
                <a:t>28 X 28</a:t>
              </a:r>
            </a:p>
          </p:txBody>
        </p:sp>
        <p:sp>
          <p:nvSpPr>
            <p:cNvPr id="123" name="TextBox 122"/>
            <p:cNvSpPr txBox="1"/>
            <p:nvPr/>
          </p:nvSpPr>
          <p:spPr>
            <a:xfrm>
              <a:off x="6175635" y="4474002"/>
              <a:ext cx="47481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800" b="1" dirty="0">
                  <a:solidFill>
                    <a:srgbClr val="7030A0"/>
                  </a:solidFill>
                  <a:latin typeface="Arial Narrow" panose="020B0606020202030204" pitchFamily="34" charset="0"/>
                </a:rPr>
                <a:t>14 X 14</a:t>
              </a:r>
            </a:p>
          </p:txBody>
        </p:sp>
        <p:sp>
          <p:nvSpPr>
            <p:cNvPr id="124" name="TextBox 123"/>
            <p:cNvSpPr txBox="1"/>
            <p:nvPr/>
          </p:nvSpPr>
          <p:spPr>
            <a:xfrm>
              <a:off x="6227371" y="5137759"/>
              <a:ext cx="38183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800" b="1" dirty="0">
                  <a:solidFill>
                    <a:srgbClr val="7030A0"/>
                  </a:solidFill>
                  <a:latin typeface="Arial Narrow" panose="020B0606020202030204" pitchFamily="34" charset="0"/>
                </a:rPr>
                <a:t>7 X 7</a:t>
              </a:r>
            </a:p>
          </p:txBody>
        </p:sp>
        <p:sp>
          <p:nvSpPr>
            <p:cNvPr id="125" name="TextBox 124"/>
            <p:cNvSpPr txBox="1"/>
            <p:nvPr/>
          </p:nvSpPr>
          <p:spPr>
            <a:xfrm>
              <a:off x="6790773" y="51083"/>
              <a:ext cx="1007007" cy="5078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IN" sz="1600" dirty="0">
                  <a:solidFill>
                    <a:srgbClr val="7030A0"/>
                  </a:solidFill>
                  <a:latin typeface="Arial Narrow" panose="020B0606020202030204" pitchFamily="34" charset="0"/>
                </a:rPr>
                <a:t>VGG16Net</a:t>
              </a:r>
            </a:p>
            <a:p>
              <a:pPr algn="ctr"/>
              <a:r>
                <a:rPr lang="en-IN" sz="1100" b="1" dirty="0">
                  <a:solidFill>
                    <a:srgbClr val="00B050"/>
                  </a:solidFill>
                  <a:latin typeface="Arial Narrow" panose="020B0606020202030204" pitchFamily="34" charset="0"/>
                </a:rPr>
                <a:t>INPUT</a:t>
              </a:r>
            </a:p>
          </p:txBody>
        </p:sp>
        <p:sp>
          <p:nvSpPr>
            <p:cNvPr id="126" name="TextBox 125"/>
            <p:cNvSpPr txBox="1"/>
            <p:nvPr/>
          </p:nvSpPr>
          <p:spPr>
            <a:xfrm>
              <a:off x="6954279" y="6374176"/>
              <a:ext cx="67999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100" b="1" dirty="0">
                  <a:solidFill>
                    <a:srgbClr val="00B050"/>
                  </a:solidFill>
                </a:rPr>
                <a:t>OUTPUT</a:t>
              </a:r>
            </a:p>
          </p:txBody>
        </p:sp>
      </p:grpSp>
      <p:grpSp>
        <p:nvGrpSpPr>
          <p:cNvPr id="167" name="Group 166"/>
          <p:cNvGrpSpPr/>
          <p:nvPr/>
        </p:nvGrpSpPr>
        <p:grpSpPr>
          <a:xfrm>
            <a:off x="8787616" y="126459"/>
            <a:ext cx="1644133" cy="6731541"/>
            <a:chOff x="8220076" y="-29981"/>
            <a:chExt cx="1644133" cy="6731541"/>
          </a:xfrm>
        </p:grpSpPr>
        <p:sp>
          <p:nvSpPr>
            <p:cNvPr id="168" name="TextBox 167"/>
            <p:cNvSpPr txBox="1"/>
            <p:nvPr/>
          </p:nvSpPr>
          <p:spPr>
            <a:xfrm>
              <a:off x="9296425" y="815391"/>
              <a:ext cx="56778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800" b="1" dirty="0">
                  <a:solidFill>
                    <a:srgbClr val="7030A0"/>
                  </a:solidFill>
                  <a:latin typeface="Arial Narrow" panose="020B0606020202030204" pitchFamily="34" charset="0"/>
                </a:rPr>
                <a:t>224 X 224</a:t>
              </a:r>
            </a:p>
          </p:txBody>
        </p:sp>
        <p:sp>
          <p:nvSpPr>
            <p:cNvPr id="169" name="TextBox 168"/>
            <p:cNvSpPr txBox="1"/>
            <p:nvPr/>
          </p:nvSpPr>
          <p:spPr>
            <a:xfrm>
              <a:off x="9296425" y="1538854"/>
              <a:ext cx="56778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800" b="1" dirty="0">
                  <a:solidFill>
                    <a:srgbClr val="7030A0"/>
                  </a:solidFill>
                  <a:latin typeface="Arial Narrow" panose="020B0606020202030204" pitchFamily="34" charset="0"/>
                </a:rPr>
                <a:t>112 X 112</a:t>
              </a:r>
            </a:p>
          </p:txBody>
        </p:sp>
        <p:sp>
          <p:nvSpPr>
            <p:cNvPr id="170" name="Rectangle 169"/>
            <p:cNvSpPr/>
            <p:nvPr/>
          </p:nvSpPr>
          <p:spPr>
            <a:xfrm>
              <a:off x="8220076" y="662199"/>
              <a:ext cx="1050923" cy="169257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47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 X 3 </a:t>
              </a:r>
              <a:r>
                <a:rPr lang="en-IN" sz="7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conv</a:t>
              </a:r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+ </a:t>
              </a:r>
              <a:r>
                <a:rPr lang="en-IN" sz="7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Relu</a:t>
              </a:r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64</a:t>
              </a:r>
            </a:p>
          </p:txBody>
        </p:sp>
        <p:sp>
          <p:nvSpPr>
            <p:cNvPr id="171" name="Rectangle 170"/>
            <p:cNvSpPr/>
            <p:nvPr/>
          </p:nvSpPr>
          <p:spPr>
            <a:xfrm>
              <a:off x="8220077" y="831456"/>
              <a:ext cx="1050923" cy="169257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47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7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 X 3 conv + Relu 64</a:t>
              </a:r>
              <a:endParaRPr lang="en-IN" sz="7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2" name="Rectangle 171"/>
            <p:cNvSpPr/>
            <p:nvPr/>
          </p:nvSpPr>
          <p:spPr>
            <a:xfrm>
              <a:off x="8220078" y="1000713"/>
              <a:ext cx="1050923" cy="169257"/>
            </a:xfrm>
            <a:prstGeom prst="rect">
              <a:avLst/>
            </a:prstGeom>
            <a:solidFill>
              <a:schemeClr val="accent6">
                <a:lumMod val="60000"/>
                <a:lumOff val="40000"/>
                <a:alpha val="54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7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 X 2 Max – Pool 64</a:t>
              </a:r>
              <a:endParaRPr lang="en-IN" sz="7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3" name="Rectangle 172"/>
            <p:cNvSpPr/>
            <p:nvPr/>
          </p:nvSpPr>
          <p:spPr>
            <a:xfrm>
              <a:off x="8220079" y="1380800"/>
              <a:ext cx="1050924" cy="169257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47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 X 3 </a:t>
              </a:r>
              <a:r>
                <a:rPr lang="en-IN" sz="7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conv</a:t>
              </a:r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+ </a:t>
              </a:r>
              <a:r>
                <a:rPr lang="en-IN" sz="7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Relu</a:t>
              </a:r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128</a:t>
              </a:r>
            </a:p>
          </p:txBody>
        </p:sp>
        <p:sp>
          <p:nvSpPr>
            <p:cNvPr id="174" name="Rectangle 173"/>
            <p:cNvSpPr/>
            <p:nvPr/>
          </p:nvSpPr>
          <p:spPr>
            <a:xfrm>
              <a:off x="8220080" y="1550057"/>
              <a:ext cx="1050924" cy="169257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47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 X 3 </a:t>
              </a:r>
              <a:r>
                <a:rPr lang="en-IN" sz="7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conv</a:t>
              </a:r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+ </a:t>
              </a:r>
              <a:r>
                <a:rPr lang="en-IN" sz="7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Relu</a:t>
              </a:r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128</a:t>
              </a:r>
            </a:p>
          </p:txBody>
        </p:sp>
        <p:sp>
          <p:nvSpPr>
            <p:cNvPr id="175" name="Rectangle 174"/>
            <p:cNvSpPr/>
            <p:nvPr/>
          </p:nvSpPr>
          <p:spPr>
            <a:xfrm>
              <a:off x="8220081" y="1719315"/>
              <a:ext cx="1050924" cy="169257"/>
            </a:xfrm>
            <a:prstGeom prst="rect">
              <a:avLst/>
            </a:prstGeom>
            <a:solidFill>
              <a:schemeClr val="accent6">
                <a:lumMod val="60000"/>
                <a:lumOff val="40000"/>
                <a:alpha val="54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7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 X 2 Max – Pool 128</a:t>
              </a:r>
              <a:endParaRPr lang="en-IN" sz="7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6" name="Rectangle 175"/>
            <p:cNvSpPr/>
            <p:nvPr/>
          </p:nvSpPr>
          <p:spPr>
            <a:xfrm>
              <a:off x="8220082" y="2116472"/>
              <a:ext cx="1050924" cy="169257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47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 X 3 </a:t>
              </a:r>
              <a:r>
                <a:rPr lang="en-IN" sz="7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conv</a:t>
              </a:r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+ </a:t>
              </a:r>
              <a:r>
                <a:rPr lang="en-IN" sz="7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Relu</a:t>
              </a:r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256</a:t>
              </a:r>
            </a:p>
          </p:txBody>
        </p:sp>
        <p:sp>
          <p:nvSpPr>
            <p:cNvPr id="177" name="Rectangle 176"/>
            <p:cNvSpPr/>
            <p:nvPr/>
          </p:nvSpPr>
          <p:spPr>
            <a:xfrm>
              <a:off x="8220082" y="2285729"/>
              <a:ext cx="1050924" cy="169257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47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 X 3 </a:t>
              </a:r>
              <a:r>
                <a:rPr lang="en-IN" sz="7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conv</a:t>
              </a:r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+ </a:t>
              </a:r>
              <a:r>
                <a:rPr lang="en-IN" sz="7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Relu</a:t>
              </a:r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256</a:t>
              </a:r>
            </a:p>
          </p:txBody>
        </p:sp>
        <p:sp>
          <p:nvSpPr>
            <p:cNvPr id="178" name="Rectangle 177"/>
            <p:cNvSpPr/>
            <p:nvPr/>
          </p:nvSpPr>
          <p:spPr>
            <a:xfrm>
              <a:off x="8220082" y="2454986"/>
              <a:ext cx="1050924" cy="169257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47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7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 X 3 conv + Relu 256</a:t>
              </a:r>
              <a:endParaRPr lang="en-IN" sz="7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9" name="Rectangle 178"/>
            <p:cNvSpPr/>
            <p:nvPr/>
          </p:nvSpPr>
          <p:spPr>
            <a:xfrm>
              <a:off x="8220081" y="2624244"/>
              <a:ext cx="1050924" cy="169257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47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 X 3 </a:t>
              </a:r>
              <a:r>
                <a:rPr lang="en-IN" sz="7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conv</a:t>
              </a:r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+ </a:t>
              </a:r>
              <a:r>
                <a:rPr lang="en-IN" sz="7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Relu</a:t>
              </a:r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256</a:t>
              </a:r>
            </a:p>
          </p:txBody>
        </p:sp>
        <p:sp>
          <p:nvSpPr>
            <p:cNvPr id="180" name="Rectangle 179"/>
            <p:cNvSpPr/>
            <p:nvPr/>
          </p:nvSpPr>
          <p:spPr>
            <a:xfrm>
              <a:off x="8220081" y="2793501"/>
              <a:ext cx="1050924" cy="169257"/>
            </a:xfrm>
            <a:prstGeom prst="rect">
              <a:avLst/>
            </a:prstGeom>
            <a:solidFill>
              <a:schemeClr val="accent6">
                <a:lumMod val="60000"/>
                <a:lumOff val="40000"/>
                <a:alpha val="54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7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 X 2 Max – Pool 256</a:t>
              </a:r>
              <a:endParaRPr lang="en-IN" sz="7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1" name="Rectangle 180"/>
            <p:cNvSpPr/>
            <p:nvPr/>
          </p:nvSpPr>
          <p:spPr>
            <a:xfrm>
              <a:off x="8220082" y="3185694"/>
              <a:ext cx="1050924" cy="169257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47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 X 3 </a:t>
              </a:r>
              <a:r>
                <a:rPr lang="en-IN" sz="7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conv</a:t>
              </a:r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+ </a:t>
              </a:r>
              <a:r>
                <a:rPr lang="en-IN" sz="7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Relu</a:t>
              </a:r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512</a:t>
              </a:r>
            </a:p>
          </p:txBody>
        </p:sp>
        <p:sp>
          <p:nvSpPr>
            <p:cNvPr id="182" name="Rectangle 181"/>
            <p:cNvSpPr/>
            <p:nvPr/>
          </p:nvSpPr>
          <p:spPr>
            <a:xfrm>
              <a:off x="8220082" y="3354952"/>
              <a:ext cx="1050924" cy="169257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47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 X 3 </a:t>
              </a:r>
              <a:r>
                <a:rPr lang="en-IN" sz="7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conv</a:t>
              </a:r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+ </a:t>
              </a:r>
              <a:r>
                <a:rPr lang="en-IN" sz="7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Relu</a:t>
              </a:r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512</a:t>
              </a:r>
            </a:p>
          </p:txBody>
        </p:sp>
        <p:sp>
          <p:nvSpPr>
            <p:cNvPr id="183" name="Rectangle 182"/>
            <p:cNvSpPr/>
            <p:nvPr/>
          </p:nvSpPr>
          <p:spPr>
            <a:xfrm>
              <a:off x="8220082" y="3524209"/>
              <a:ext cx="1050924" cy="169257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47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 X 3 </a:t>
              </a:r>
              <a:r>
                <a:rPr lang="en-IN" sz="7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conv</a:t>
              </a:r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+ </a:t>
              </a:r>
              <a:r>
                <a:rPr lang="en-IN" sz="7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Relu</a:t>
              </a:r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512</a:t>
              </a:r>
            </a:p>
          </p:txBody>
        </p:sp>
        <p:sp>
          <p:nvSpPr>
            <p:cNvPr id="184" name="Rectangle 183"/>
            <p:cNvSpPr/>
            <p:nvPr/>
          </p:nvSpPr>
          <p:spPr>
            <a:xfrm>
              <a:off x="8220081" y="3693466"/>
              <a:ext cx="1050924" cy="169257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47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 X 3 </a:t>
              </a:r>
              <a:r>
                <a:rPr lang="en-IN" sz="7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conv</a:t>
              </a:r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+ </a:t>
              </a:r>
              <a:r>
                <a:rPr lang="en-IN" sz="7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Relu</a:t>
              </a:r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512</a:t>
              </a:r>
            </a:p>
          </p:txBody>
        </p:sp>
        <p:sp>
          <p:nvSpPr>
            <p:cNvPr id="185" name="Rectangle 184"/>
            <p:cNvSpPr/>
            <p:nvPr/>
          </p:nvSpPr>
          <p:spPr>
            <a:xfrm>
              <a:off x="8220081" y="3862724"/>
              <a:ext cx="1050924" cy="169257"/>
            </a:xfrm>
            <a:prstGeom prst="rect">
              <a:avLst/>
            </a:prstGeom>
            <a:solidFill>
              <a:schemeClr val="accent6">
                <a:lumMod val="60000"/>
                <a:lumOff val="40000"/>
                <a:alpha val="54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7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 X 2 Max – Pool 512</a:t>
              </a:r>
              <a:endParaRPr lang="en-IN" sz="7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6" name="Rectangle 185"/>
            <p:cNvSpPr/>
            <p:nvPr/>
          </p:nvSpPr>
          <p:spPr>
            <a:xfrm>
              <a:off x="8220081" y="4248535"/>
              <a:ext cx="1050924" cy="169257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47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 X 3 </a:t>
              </a:r>
              <a:r>
                <a:rPr lang="en-IN" sz="7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conv</a:t>
              </a:r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+ </a:t>
              </a:r>
              <a:r>
                <a:rPr lang="en-IN" sz="7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Relu</a:t>
              </a:r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512</a:t>
              </a:r>
            </a:p>
          </p:txBody>
        </p:sp>
        <p:sp>
          <p:nvSpPr>
            <p:cNvPr id="187" name="Rectangle 186"/>
            <p:cNvSpPr/>
            <p:nvPr/>
          </p:nvSpPr>
          <p:spPr>
            <a:xfrm>
              <a:off x="8220081" y="4417793"/>
              <a:ext cx="1050924" cy="169257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47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7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 X 3 conv + Relu 512</a:t>
              </a:r>
              <a:endParaRPr lang="en-IN" sz="7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8" name="Rectangle 187"/>
            <p:cNvSpPr/>
            <p:nvPr/>
          </p:nvSpPr>
          <p:spPr>
            <a:xfrm>
              <a:off x="8220081" y="4587050"/>
              <a:ext cx="1050924" cy="169257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47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 X 3 </a:t>
              </a:r>
              <a:r>
                <a:rPr lang="en-IN" sz="7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conv</a:t>
              </a:r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+ </a:t>
              </a:r>
              <a:r>
                <a:rPr lang="en-IN" sz="7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Relu</a:t>
              </a:r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512</a:t>
              </a:r>
            </a:p>
          </p:txBody>
        </p:sp>
        <p:sp>
          <p:nvSpPr>
            <p:cNvPr id="189" name="Rectangle 188"/>
            <p:cNvSpPr/>
            <p:nvPr/>
          </p:nvSpPr>
          <p:spPr>
            <a:xfrm>
              <a:off x="8220081" y="4756307"/>
              <a:ext cx="1050924" cy="169257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47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 X 3 </a:t>
              </a:r>
              <a:r>
                <a:rPr lang="en-IN" sz="7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conv</a:t>
              </a:r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+ </a:t>
              </a:r>
              <a:r>
                <a:rPr lang="en-IN" sz="7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Relu</a:t>
              </a:r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512</a:t>
              </a:r>
            </a:p>
          </p:txBody>
        </p:sp>
        <p:sp>
          <p:nvSpPr>
            <p:cNvPr id="190" name="Rectangle 189"/>
            <p:cNvSpPr/>
            <p:nvPr/>
          </p:nvSpPr>
          <p:spPr>
            <a:xfrm>
              <a:off x="8220082" y="4925565"/>
              <a:ext cx="1050924" cy="169257"/>
            </a:xfrm>
            <a:prstGeom prst="rect">
              <a:avLst/>
            </a:prstGeom>
            <a:solidFill>
              <a:schemeClr val="accent6">
                <a:lumMod val="60000"/>
                <a:lumOff val="40000"/>
                <a:alpha val="54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7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 X 2 Max – Pool 512</a:t>
              </a:r>
              <a:endParaRPr lang="en-IN" sz="7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1" name="Rectangle 190"/>
            <p:cNvSpPr/>
            <p:nvPr/>
          </p:nvSpPr>
          <p:spPr>
            <a:xfrm>
              <a:off x="8220083" y="5305992"/>
              <a:ext cx="1050924" cy="169257"/>
            </a:xfrm>
            <a:prstGeom prst="rect">
              <a:avLst/>
            </a:prstGeom>
            <a:solidFill>
              <a:schemeClr val="accent4">
                <a:lumMod val="40000"/>
                <a:lumOff val="60000"/>
                <a:alpha val="58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7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FC 4096</a:t>
              </a:r>
              <a:endParaRPr lang="en-IN" sz="7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2" name="Rectangle 191"/>
            <p:cNvSpPr/>
            <p:nvPr/>
          </p:nvSpPr>
          <p:spPr>
            <a:xfrm>
              <a:off x="8220084" y="5696018"/>
              <a:ext cx="1050924" cy="169257"/>
            </a:xfrm>
            <a:prstGeom prst="rect">
              <a:avLst/>
            </a:prstGeom>
            <a:solidFill>
              <a:schemeClr val="accent4">
                <a:lumMod val="40000"/>
                <a:lumOff val="60000"/>
                <a:alpha val="7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7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FC 4096</a:t>
              </a:r>
              <a:endParaRPr lang="en-IN" sz="7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3" name="Rectangle 192"/>
            <p:cNvSpPr/>
            <p:nvPr/>
          </p:nvSpPr>
          <p:spPr>
            <a:xfrm>
              <a:off x="8220083" y="6100433"/>
              <a:ext cx="1050924" cy="169257"/>
            </a:xfrm>
            <a:prstGeom prst="rect">
              <a:avLst/>
            </a:prstGeom>
            <a:solidFill>
              <a:schemeClr val="accent4">
                <a:lumMod val="40000"/>
                <a:lumOff val="60000"/>
                <a:alpha val="7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7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FC Output 1000</a:t>
              </a:r>
              <a:endParaRPr lang="en-IN" sz="7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4" name="Down Arrow 193"/>
            <p:cNvSpPr/>
            <p:nvPr/>
          </p:nvSpPr>
          <p:spPr>
            <a:xfrm>
              <a:off x="8682688" y="1169971"/>
              <a:ext cx="128731" cy="210829"/>
            </a:xfrm>
            <a:prstGeom prst="downArrow">
              <a:avLst/>
            </a:prstGeom>
            <a:solidFill>
              <a:schemeClr val="accent4">
                <a:lumMod val="75000"/>
                <a:alpha val="43000"/>
              </a:schemeClr>
            </a:solidFill>
            <a:ln w="15875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7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5" name="Down Arrow 194"/>
            <p:cNvSpPr/>
            <p:nvPr/>
          </p:nvSpPr>
          <p:spPr>
            <a:xfrm>
              <a:off x="8682688" y="1896825"/>
              <a:ext cx="128731" cy="210829"/>
            </a:xfrm>
            <a:prstGeom prst="downArrow">
              <a:avLst/>
            </a:prstGeom>
            <a:solidFill>
              <a:schemeClr val="accent4">
                <a:lumMod val="75000"/>
                <a:alpha val="43000"/>
              </a:schemeClr>
            </a:solidFill>
            <a:ln w="15875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7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6" name="Down Arrow 195"/>
            <p:cNvSpPr/>
            <p:nvPr/>
          </p:nvSpPr>
          <p:spPr>
            <a:xfrm>
              <a:off x="8682687" y="2964185"/>
              <a:ext cx="128731" cy="210829"/>
            </a:xfrm>
            <a:prstGeom prst="downArrow">
              <a:avLst/>
            </a:prstGeom>
            <a:solidFill>
              <a:schemeClr val="accent4">
                <a:lumMod val="75000"/>
                <a:alpha val="43000"/>
              </a:schemeClr>
            </a:solidFill>
            <a:ln w="15875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7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7" name="Down Arrow 196"/>
            <p:cNvSpPr/>
            <p:nvPr/>
          </p:nvSpPr>
          <p:spPr>
            <a:xfrm>
              <a:off x="8682687" y="4035858"/>
              <a:ext cx="128731" cy="210829"/>
            </a:xfrm>
            <a:prstGeom prst="downArrow">
              <a:avLst/>
            </a:prstGeom>
            <a:solidFill>
              <a:schemeClr val="accent4">
                <a:lumMod val="75000"/>
                <a:alpha val="43000"/>
              </a:schemeClr>
            </a:solidFill>
            <a:ln w="15875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7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8" name="Down Arrow 197"/>
            <p:cNvSpPr/>
            <p:nvPr/>
          </p:nvSpPr>
          <p:spPr>
            <a:xfrm>
              <a:off x="8682687" y="5093834"/>
              <a:ext cx="128731" cy="210829"/>
            </a:xfrm>
            <a:prstGeom prst="downArrow">
              <a:avLst/>
            </a:prstGeom>
            <a:solidFill>
              <a:schemeClr val="accent4">
                <a:lumMod val="75000"/>
                <a:alpha val="43000"/>
              </a:schemeClr>
            </a:solidFill>
            <a:ln w="15875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7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9" name="Down Arrow 198"/>
            <p:cNvSpPr/>
            <p:nvPr/>
          </p:nvSpPr>
          <p:spPr>
            <a:xfrm>
              <a:off x="8682700" y="5480633"/>
              <a:ext cx="128731" cy="210829"/>
            </a:xfrm>
            <a:prstGeom prst="downArrow">
              <a:avLst/>
            </a:prstGeom>
            <a:solidFill>
              <a:schemeClr val="accent4">
                <a:lumMod val="75000"/>
                <a:alpha val="43000"/>
              </a:schemeClr>
            </a:solidFill>
            <a:ln w="15875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7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0" name="Down Arrow 199"/>
            <p:cNvSpPr/>
            <p:nvPr/>
          </p:nvSpPr>
          <p:spPr>
            <a:xfrm>
              <a:off x="8682678" y="5875215"/>
              <a:ext cx="128730" cy="210829"/>
            </a:xfrm>
            <a:prstGeom prst="downArrow">
              <a:avLst/>
            </a:prstGeom>
            <a:solidFill>
              <a:schemeClr val="accent4">
                <a:lumMod val="75000"/>
                <a:alpha val="43000"/>
              </a:schemeClr>
            </a:solidFill>
            <a:ln w="15875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7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1" name="Down Arrow 200"/>
            <p:cNvSpPr/>
            <p:nvPr/>
          </p:nvSpPr>
          <p:spPr>
            <a:xfrm>
              <a:off x="8682651" y="6273336"/>
              <a:ext cx="128730" cy="210829"/>
            </a:xfrm>
            <a:prstGeom prst="downArrow">
              <a:avLst/>
            </a:prstGeom>
            <a:solidFill>
              <a:schemeClr val="accent4">
                <a:lumMod val="75000"/>
                <a:alpha val="43000"/>
              </a:schemeClr>
            </a:solidFill>
            <a:ln w="15875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2" name="Down Arrow 201"/>
            <p:cNvSpPr/>
            <p:nvPr/>
          </p:nvSpPr>
          <p:spPr>
            <a:xfrm>
              <a:off x="8682624" y="438032"/>
              <a:ext cx="128730" cy="210829"/>
            </a:xfrm>
            <a:prstGeom prst="downArrow">
              <a:avLst/>
            </a:prstGeom>
            <a:solidFill>
              <a:schemeClr val="accent4">
                <a:lumMod val="75000"/>
                <a:alpha val="43000"/>
              </a:schemeClr>
            </a:solidFill>
            <a:ln w="15875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500"/>
            </a:p>
          </p:txBody>
        </p:sp>
        <p:sp>
          <p:nvSpPr>
            <p:cNvPr id="203" name="TextBox 202"/>
            <p:cNvSpPr txBox="1"/>
            <p:nvPr/>
          </p:nvSpPr>
          <p:spPr>
            <a:xfrm>
              <a:off x="9296425" y="2342857"/>
              <a:ext cx="47481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800" b="1" dirty="0">
                  <a:solidFill>
                    <a:srgbClr val="7030A0"/>
                  </a:solidFill>
                  <a:latin typeface="Arial Narrow" panose="020B0606020202030204" pitchFamily="34" charset="0"/>
                </a:rPr>
                <a:t>56 X 56</a:t>
              </a:r>
            </a:p>
          </p:txBody>
        </p:sp>
        <p:sp>
          <p:nvSpPr>
            <p:cNvPr id="204" name="TextBox 203"/>
            <p:cNvSpPr txBox="1"/>
            <p:nvPr/>
          </p:nvSpPr>
          <p:spPr>
            <a:xfrm>
              <a:off x="9296425" y="3418017"/>
              <a:ext cx="47481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800" b="1" dirty="0">
                  <a:solidFill>
                    <a:srgbClr val="7030A0"/>
                  </a:solidFill>
                  <a:latin typeface="Arial Narrow" panose="020B0606020202030204" pitchFamily="34" charset="0"/>
                </a:rPr>
                <a:t>28 X 28</a:t>
              </a:r>
            </a:p>
          </p:txBody>
        </p:sp>
        <p:sp>
          <p:nvSpPr>
            <p:cNvPr id="205" name="TextBox 204"/>
            <p:cNvSpPr txBox="1"/>
            <p:nvPr/>
          </p:nvSpPr>
          <p:spPr>
            <a:xfrm>
              <a:off x="9296425" y="4493177"/>
              <a:ext cx="47481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800" b="1" dirty="0">
                  <a:solidFill>
                    <a:srgbClr val="7030A0"/>
                  </a:solidFill>
                  <a:latin typeface="Arial Narrow" panose="020B0606020202030204" pitchFamily="34" charset="0"/>
                </a:rPr>
                <a:t>14 X 14</a:t>
              </a:r>
            </a:p>
          </p:txBody>
        </p:sp>
        <p:sp>
          <p:nvSpPr>
            <p:cNvPr id="206" name="TextBox 205"/>
            <p:cNvSpPr txBox="1"/>
            <p:nvPr/>
          </p:nvSpPr>
          <p:spPr>
            <a:xfrm>
              <a:off x="9338103" y="5275194"/>
              <a:ext cx="38183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800" b="1" dirty="0">
                  <a:solidFill>
                    <a:srgbClr val="7030A0"/>
                  </a:solidFill>
                  <a:latin typeface="Arial Narrow" panose="020B0606020202030204" pitchFamily="34" charset="0"/>
                </a:rPr>
                <a:t>7 X 7</a:t>
              </a:r>
            </a:p>
          </p:txBody>
        </p:sp>
        <p:sp>
          <p:nvSpPr>
            <p:cNvPr id="207" name="TextBox 206"/>
            <p:cNvSpPr txBox="1"/>
            <p:nvPr/>
          </p:nvSpPr>
          <p:spPr>
            <a:xfrm>
              <a:off x="8263992" y="-29981"/>
              <a:ext cx="1007007" cy="5078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IN" sz="1600" dirty="0">
                  <a:solidFill>
                    <a:srgbClr val="7030A0"/>
                  </a:solidFill>
                  <a:latin typeface="Arial Narrow" panose="020B0606020202030204" pitchFamily="34" charset="0"/>
                </a:rPr>
                <a:t>VGG19Net</a:t>
              </a:r>
            </a:p>
            <a:p>
              <a:pPr algn="ctr"/>
              <a:r>
                <a:rPr lang="en-IN" sz="1100" b="1" dirty="0">
                  <a:solidFill>
                    <a:srgbClr val="00B050"/>
                  </a:solidFill>
                  <a:latin typeface="Arial Narrow" panose="020B0606020202030204" pitchFamily="34" charset="0"/>
                </a:rPr>
                <a:t>INPUT</a:t>
              </a:r>
            </a:p>
          </p:txBody>
        </p:sp>
        <p:sp>
          <p:nvSpPr>
            <p:cNvPr id="208" name="TextBox 207"/>
            <p:cNvSpPr txBox="1"/>
            <p:nvPr/>
          </p:nvSpPr>
          <p:spPr>
            <a:xfrm>
              <a:off x="8405540" y="6439950"/>
              <a:ext cx="67999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100" b="1" dirty="0">
                  <a:solidFill>
                    <a:srgbClr val="00B050"/>
                  </a:solidFill>
                </a:rPr>
                <a:t>OUTPUT</a:t>
              </a:r>
            </a:p>
          </p:txBody>
        </p:sp>
      </p:grpSp>
      <p:sp>
        <p:nvSpPr>
          <p:cNvPr id="85" name="TextBox 84">
            <a:extLst>
              <a:ext uri="{FF2B5EF4-FFF2-40B4-BE49-F238E27FC236}">
                <a16:creationId xmlns:a16="http://schemas.microsoft.com/office/drawing/2014/main" id="{9325FDD2-8A63-4133-87D8-E0E0D4AEF010}"/>
              </a:ext>
            </a:extLst>
          </p:cNvPr>
          <p:cNvSpPr txBox="1"/>
          <p:nvPr/>
        </p:nvSpPr>
        <p:spPr>
          <a:xfrm>
            <a:off x="4361023" y="6581001"/>
            <a:ext cx="25443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>
                <a:latin typeface="Book Antiqua" panose="02040602050305030304" pitchFamily="18" charset="0"/>
              </a:rPr>
              <a:t> </a:t>
            </a:r>
            <a:r>
              <a:rPr lang="en-IN" sz="1200" dirty="0">
                <a:latin typeface="Arial Narrow" panose="020B0606020202030204" pitchFamily="34" charset="0"/>
              </a:rPr>
              <a:t>Figure source: Fei </a:t>
            </a:r>
            <a:r>
              <a:rPr lang="en-IN" sz="1200" dirty="0" err="1">
                <a:latin typeface="Arial Narrow" panose="020B0606020202030204" pitchFamily="34" charset="0"/>
              </a:rPr>
              <a:t>Fei</a:t>
            </a:r>
            <a:r>
              <a:rPr lang="en-IN" sz="1200" dirty="0">
                <a:latin typeface="Arial Narrow" panose="020B0606020202030204" pitchFamily="34" charset="0"/>
              </a:rPr>
              <a:t> Li et. al. Stanford</a:t>
            </a:r>
          </a:p>
        </p:txBody>
      </p:sp>
    </p:spTree>
    <p:extLst>
      <p:ext uri="{BB962C8B-B14F-4D97-AF65-F5344CB8AC3E}">
        <p14:creationId xmlns:p14="http://schemas.microsoft.com/office/powerpoint/2010/main" val="9144526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Oval 22"/>
          <p:cNvSpPr/>
          <p:nvPr/>
        </p:nvSpPr>
        <p:spPr>
          <a:xfrm>
            <a:off x="577365" y="2154401"/>
            <a:ext cx="4745646" cy="4183381"/>
          </a:xfrm>
          <a:prstGeom prst="ellipse">
            <a:avLst/>
          </a:prstGeom>
          <a:solidFill>
            <a:schemeClr val="accent2">
              <a:lumMod val="60000"/>
              <a:lumOff val="40000"/>
              <a:alpha val="1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12682" y="-155650"/>
            <a:ext cx="5779883" cy="1210855"/>
          </a:xfrm>
        </p:spPr>
        <p:txBody>
          <a:bodyPr/>
          <a:lstStyle/>
          <a:p>
            <a:r>
              <a:rPr lang="en-IN" sz="3200" dirty="0">
                <a:latin typeface="Century" panose="02040604050505020304" pitchFamily="18" charset="0"/>
              </a:rPr>
              <a:t>VGG Net</a:t>
            </a:r>
            <a:br>
              <a:rPr lang="en-IN" dirty="0">
                <a:latin typeface="Century" panose="02040604050505020304" pitchFamily="18" charset="0"/>
              </a:rPr>
            </a:br>
            <a:r>
              <a:rPr lang="en-IN" sz="2400" dirty="0" err="1">
                <a:solidFill>
                  <a:srgbClr val="DE76E6"/>
                </a:solidFill>
                <a:latin typeface="Century" panose="02040604050505020304" pitchFamily="18" charset="0"/>
              </a:rPr>
              <a:t>Simonyan</a:t>
            </a:r>
            <a:r>
              <a:rPr lang="en-IN" sz="2400" dirty="0">
                <a:solidFill>
                  <a:srgbClr val="DE76E6"/>
                </a:solidFill>
                <a:latin typeface="Century" panose="02040604050505020304" pitchFamily="18" charset="0"/>
              </a:rPr>
              <a:t> and Zisserman 2014</a:t>
            </a:r>
            <a:endParaRPr lang="en-IN" sz="4000" dirty="0">
              <a:solidFill>
                <a:srgbClr val="DE76E6"/>
              </a:solidFill>
              <a:latin typeface="Century" panose="020406040505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714721" y="2499252"/>
            <a:ext cx="24709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200" dirty="0">
                <a:latin typeface="Arial Narrow" panose="020B0606020202030204" pitchFamily="34" charset="0"/>
              </a:rPr>
              <a:t>Input : (224 X 224 X3)</a:t>
            </a:r>
          </a:p>
          <a:p>
            <a:pPr algn="ctr"/>
            <a:r>
              <a:rPr lang="en-IN" sz="1200" dirty="0">
                <a:latin typeface="Arial Narrow" panose="020B0606020202030204" pitchFamily="34" charset="0"/>
              </a:rPr>
              <a:t>Memory : 224 X 224 X3 = 150K, PAM : 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2341" y="3386729"/>
            <a:ext cx="37020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200" dirty="0">
                <a:latin typeface="Arial Narrow" panose="020B0606020202030204" pitchFamily="34" charset="0"/>
              </a:rPr>
              <a:t>CONV - (3 X3) - 64 : (224 X 224 X 64)</a:t>
            </a:r>
          </a:p>
          <a:p>
            <a:pPr algn="ctr"/>
            <a:r>
              <a:rPr lang="en-IN" sz="1200" dirty="0">
                <a:latin typeface="Arial Narrow" panose="020B0606020202030204" pitchFamily="34" charset="0"/>
              </a:rPr>
              <a:t>Memory :224 X 224X 64 = 3.2M, PAM : 3 X 3 X 3 X 64 = 1728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1810" y="4338793"/>
            <a:ext cx="38431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200" dirty="0">
                <a:latin typeface="Arial Narrow" panose="020B0606020202030204" pitchFamily="34" charset="0"/>
              </a:rPr>
              <a:t>CONV - (3 X3) - 64 : (224 X 224 X 64)</a:t>
            </a:r>
          </a:p>
          <a:p>
            <a:pPr algn="ctr"/>
            <a:r>
              <a:rPr lang="en-IN" sz="1200" dirty="0">
                <a:latin typeface="Arial Narrow" panose="020B0606020202030204" pitchFamily="34" charset="0"/>
              </a:rPr>
              <a:t>Memory :224 X 224X 64 = 3.2M, PAM : 3 X 3 X 64 X 64 = 36864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00756" y="5490588"/>
            <a:ext cx="25229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200" dirty="0">
                <a:latin typeface="Arial Narrow" panose="020B0606020202030204" pitchFamily="34" charset="0"/>
              </a:rPr>
              <a:t>Pool – (2 X 2) : (112 X 112 X 64)</a:t>
            </a:r>
          </a:p>
          <a:p>
            <a:pPr algn="ctr"/>
            <a:r>
              <a:rPr lang="en-IN" sz="1200" dirty="0">
                <a:latin typeface="Arial Narrow" panose="020B0606020202030204" pitchFamily="34" charset="0"/>
              </a:rPr>
              <a:t>Memory : 112 X 112 X 64 = 800K PAM : 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714722" y="2499252"/>
            <a:ext cx="2470932" cy="461666"/>
          </a:xfrm>
          <a:prstGeom prst="rect">
            <a:avLst/>
          </a:prstGeom>
          <a:solidFill>
            <a:schemeClr val="accent4">
              <a:lumMod val="40000"/>
              <a:lumOff val="60000"/>
              <a:alpha val="19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Rectangle 26"/>
          <p:cNvSpPr/>
          <p:nvPr/>
        </p:nvSpPr>
        <p:spPr>
          <a:xfrm>
            <a:off x="1700756" y="5490588"/>
            <a:ext cx="2522998" cy="461666"/>
          </a:xfrm>
          <a:prstGeom prst="rect">
            <a:avLst/>
          </a:prstGeom>
          <a:solidFill>
            <a:schemeClr val="accent4">
              <a:lumMod val="40000"/>
              <a:lumOff val="60000"/>
              <a:alpha val="19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Rectangle 24"/>
          <p:cNvSpPr/>
          <p:nvPr/>
        </p:nvSpPr>
        <p:spPr>
          <a:xfrm>
            <a:off x="1192758" y="3386728"/>
            <a:ext cx="3521204" cy="461666"/>
          </a:xfrm>
          <a:prstGeom prst="rect">
            <a:avLst/>
          </a:prstGeom>
          <a:solidFill>
            <a:schemeClr val="accent4">
              <a:lumMod val="40000"/>
              <a:lumOff val="60000"/>
              <a:alpha val="19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9" name="Straight Arrow Connector 28"/>
          <p:cNvCxnSpPr>
            <a:stCxn id="24" idx="2"/>
            <a:endCxn id="25" idx="0"/>
          </p:cNvCxnSpPr>
          <p:nvPr/>
        </p:nvCxnSpPr>
        <p:spPr>
          <a:xfrm>
            <a:off x="2950188" y="2960918"/>
            <a:ext cx="3172" cy="42581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25" idx="2"/>
            <a:endCxn id="18" idx="0"/>
          </p:cNvCxnSpPr>
          <p:nvPr/>
        </p:nvCxnSpPr>
        <p:spPr>
          <a:xfrm>
            <a:off x="2953360" y="3848394"/>
            <a:ext cx="2" cy="490399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stCxn id="26" idx="2"/>
            <a:endCxn id="27" idx="0"/>
          </p:cNvCxnSpPr>
          <p:nvPr/>
        </p:nvCxnSpPr>
        <p:spPr>
          <a:xfrm>
            <a:off x="2953361" y="4850307"/>
            <a:ext cx="8894" cy="640281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6907552" y="538597"/>
            <a:ext cx="2070677" cy="867769"/>
          </a:xfrm>
          <a:prstGeom prst="rect">
            <a:avLst/>
          </a:prstGeom>
          <a:solidFill>
            <a:schemeClr val="accent6">
              <a:lumMod val="60000"/>
              <a:lumOff val="40000"/>
              <a:alpha val="21000"/>
            </a:schemeClr>
          </a:solidFill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Freeform 10"/>
          <p:cNvSpPr/>
          <p:nvPr/>
        </p:nvSpPr>
        <p:spPr>
          <a:xfrm>
            <a:off x="2942376" y="952599"/>
            <a:ext cx="3974472" cy="1174965"/>
          </a:xfrm>
          <a:custGeom>
            <a:avLst/>
            <a:gdLst>
              <a:gd name="connsiteX0" fmla="*/ 0 w 3974472"/>
              <a:gd name="connsiteY0" fmla="*/ 1174965 h 1174965"/>
              <a:gd name="connsiteX1" fmla="*/ 923454 w 3974472"/>
              <a:gd name="connsiteY1" fmla="*/ 142870 h 1174965"/>
              <a:gd name="connsiteX2" fmla="*/ 3974472 w 3974472"/>
              <a:gd name="connsiteY2" fmla="*/ 34229 h 11749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974472" h="1174965">
                <a:moveTo>
                  <a:pt x="0" y="1174965"/>
                </a:moveTo>
                <a:cubicBezTo>
                  <a:pt x="130521" y="753979"/>
                  <a:pt x="261042" y="332993"/>
                  <a:pt x="923454" y="142870"/>
                </a:cubicBezTo>
                <a:cubicBezTo>
                  <a:pt x="1585866" y="-47253"/>
                  <a:pt x="2780169" y="-6512"/>
                  <a:pt x="3974472" y="34229"/>
                </a:cubicBezTo>
              </a:path>
            </a:pathLst>
          </a:custGeom>
          <a:noFill/>
          <a:ln w="19050">
            <a:solidFill>
              <a:schemeClr val="accent4">
                <a:lumMod val="60000"/>
                <a:lumOff val="40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274" name="Group 273"/>
          <p:cNvGrpSpPr/>
          <p:nvPr/>
        </p:nvGrpSpPr>
        <p:grpSpPr>
          <a:xfrm>
            <a:off x="6973195" y="14869"/>
            <a:ext cx="1698092" cy="6584703"/>
            <a:chOff x="6175635" y="51083"/>
            <a:chExt cx="1698092" cy="6584703"/>
          </a:xfrm>
        </p:grpSpPr>
        <p:sp>
          <p:nvSpPr>
            <p:cNvPr id="275" name="Rectangle 274"/>
            <p:cNvSpPr/>
            <p:nvPr/>
          </p:nvSpPr>
          <p:spPr>
            <a:xfrm>
              <a:off x="6721202" y="775592"/>
              <a:ext cx="1152525" cy="180975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47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 X 3 </a:t>
              </a:r>
              <a:r>
                <a:rPr lang="en-IN" sz="7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conv</a:t>
              </a:r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+ </a:t>
              </a:r>
              <a:r>
                <a:rPr lang="en-IN" sz="7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Relu</a:t>
              </a:r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64</a:t>
              </a:r>
            </a:p>
          </p:txBody>
        </p:sp>
        <p:sp>
          <p:nvSpPr>
            <p:cNvPr id="276" name="Rectangle 275"/>
            <p:cNvSpPr/>
            <p:nvPr/>
          </p:nvSpPr>
          <p:spPr>
            <a:xfrm>
              <a:off x="6721202" y="956567"/>
              <a:ext cx="1152525" cy="180975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47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 X 3 </a:t>
              </a:r>
              <a:r>
                <a:rPr lang="en-IN" sz="7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conv</a:t>
              </a:r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+ </a:t>
              </a:r>
              <a:r>
                <a:rPr lang="en-IN" sz="7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Relu</a:t>
              </a:r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64</a:t>
              </a:r>
            </a:p>
          </p:txBody>
        </p:sp>
        <p:sp>
          <p:nvSpPr>
            <p:cNvPr id="277" name="Rectangle 276"/>
            <p:cNvSpPr/>
            <p:nvPr/>
          </p:nvSpPr>
          <p:spPr>
            <a:xfrm>
              <a:off x="6721202" y="1137542"/>
              <a:ext cx="1152525" cy="180975"/>
            </a:xfrm>
            <a:prstGeom prst="rect">
              <a:avLst/>
            </a:prstGeom>
            <a:solidFill>
              <a:schemeClr val="accent6">
                <a:lumMod val="60000"/>
                <a:lumOff val="40000"/>
                <a:alpha val="54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 X 2 Max – Pool 64</a:t>
              </a:r>
            </a:p>
          </p:txBody>
        </p:sp>
        <p:sp>
          <p:nvSpPr>
            <p:cNvPr id="278" name="Rectangle 277"/>
            <p:cNvSpPr/>
            <p:nvPr/>
          </p:nvSpPr>
          <p:spPr>
            <a:xfrm>
              <a:off x="6721202" y="1543942"/>
              <a:ext cx="1152525" cy="180975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47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 X 3 </a:t>
              </a:r>
              <a:r>
                <a:rPr lang="en-IN" sz="7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conv</a:t>
              </a:r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+ </a:t>
              </a:r>
              <a:r>
                <a:rPr lang="en-IN" sz="7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Relu</a:t>
              </a:r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128</a:t>
              </a:r>
            </a:p>
          </p:txBody>
        </p:sp>
        <p:sp>
          <p:nvSpPr>
            <p:cNvPr id="279" name="Rectangle 278"/>
            <p:cNvSpPr/>
            <p:nvPr/>
          </p:nvSpPr>
          <p:spPr>
            <a:xfrm>
              <a:off x="6721202" y="1724917"/>
              <a:ext cx="1152525" cy="180975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47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 X 3 </a:t>
              </a:r>
              <a:r>
                <a:rPr lang="en-IN" sz="7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conv</a:t>
              </a:r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+ </a:t>
              </a:r>
              <a:r>
                <a:rPr lang="en-IN" sz="7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Relu</a:t>
              </a:r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128</a:t>
              </a:r>
            </a:p>
          </p:txBody>
        </p:sp>
        <p:sp>
          <p:nvSpPr>
            <p:cNvPr id="280" name="Rectangle 279"/>
            <p:cNvSpPr/>
            <p:nvPr/>
          </p:nvSpPr>
          <p:spPr>
            <a:xfrm>
              <a:off x="6721202" y="1905892"/>
              <a:ext cx="1152525" cy="180975"/>
            </a:xfrm>
            <a:prstGeom prst="rect">
              <a:avLst/>
            </a:prstGeom>
            <a:solidFill>
              <a:schemeClr val="accent6">
                <a:lumMod val="60000"/>
                <a:lumOff val="40000"/>
                <a:alpha val="54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 X 2 Max – Pool 128</a:t>
              </a:r>
            </a:p>
          </p:txBody>
        </p:sp>
        <p:sp>
          <p:nvSpPr>
            <p:cNvPr id="281" name="Rectangle 280"/>
            <p:cNvSpPr/>
            <p:nvPr/>
          </p:nvSpPr>
          <p:spPr>
            <a:xfrm>
              <a:off x="6721198" y="2317423"/>
              <a:ext cx="1152525" cy="180975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47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 X 3 </a:t>
              </a:r>
              <a:r>
                <a:rPr lang="en-IN" sz="7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conv</a:t>
              </a:r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+ </a:t>
              </a:r>
              <a:r>
                <a:rPr lang="en-IN" sz="7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Relu</a:t>
              </a:r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256</a:t>
              </a:r>
            </a:p>
          </p:txBody>
        </p:sp>
        <p:sp>
          <p:nvSpPr>
            <p:cNvPr id="282" name="Rectangle 281"/>
            <p:cNvSpPr/>
            <p:nvPr/>
          </p:nvSpPr>
          <p:spPr>
            <a:xfrm>
              <a:off x="6721198" y="2498398"/>
              <a:ext cx="1152525" cy="180975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47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 X 3 </a:t>
              </a:r>
              <a:r>
                <a:rPr lang="en-IN" sz="7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conv</a:t>
              </a:r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+ </a:t>
              </a:r>
              <a:r>
                <a:rPr lang="en-IN" sz="7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Relu</a:t>
              </a:r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256</a:t>
              </a:r>
            </a:p>
          </p:txBody>
        </p:sp>
        <p:sp>
          <p:nvSpPr>
            <p:cNvPr id="283" name="Rectangle 282"/>
            <p:cNvSpPr/>
            <p:nvPr/>
          </p:nvSpPr>
          <p:spPr>
            <a:xfrm>
              <a:off x="6721198" y="2679373"/>
              <a:ext cx="1152525" cy="180975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47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 X 3 </a:t>
              </a:r>
              <a:r>
                <a:rPr lang="en-IN" sz="7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conv</a:t>
              </a:r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+ </a:t>
              </a:r>
              <a:r>
                <a:rPr lang="en-IN" sz="7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Relu</a:t>
              </a:r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256</a:t>
              </a:r>
            </a:p>
          </p:txBody>
        </p:sp>
        <p:sp>
          <p:nvSpPr>
            <p:cNvPr id="284" name="Rectangle 283"/>
            <p:cNvSpPr/>
            <p:nvPr/>
          </p:nvSpPr>
          <p:spPr>
            <a:xfrm>
              <a:off x="6721197" y="2860348"/>
              <a:ext cx="1152525" cy="180975"/>
            </a:xfrm>
            <a:prstGeom prst="rect">
              <a:avLst/>
            </a:prstGeom>
            <a:solidFill>
              <a:schemeClr val="accent6">
                <a:lumMod val="60000"/>
                <a:lumOff val="40000"/>
                <a:alpha val="54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 X 2 Max – Pool 256</a:t>
              </a:r>
            </a:p>
          </p:txBody>
        </p:sp>
        <p:sp>
          <p:nvSpPr>
            <p:cNvPr id="285" name="Rectangle 284"/>
            <p:cNvSpPr/>
            <p:nvPr/>
          </p:nvSpPr>
          <p:spPr>
            <a:xfrm>
              <a:off x="6721197" y="3266563"/>
              <a:ext cx="1152525" cy="180975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47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 X 3 </a:t>
              </a:r>
              <a:r>
                <a:rPr lang="en-IN" sz="7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conv</a:t>
              </a:r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+ </a:t>
              </a:r>
              <a:r>
                <a:rPr lang="en-IN" sz="7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Relu</a:t>
              </a:r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512</a:t>
              </a:r>
            </a:p>
          </p:txBody>
        </p:sp>
        <p:sp>
          <p:nvSpPr>
            <p:cNvPr id="286" name="Rectangle 285"/>
            <p:cNvSpPr/>
            <p:nvPr/>
          </p:nvSpPr>
          <p:spPr>
            <a:xfrm>
              <a:off x="6721197" y="3447538"/>
              <a:ext cx="1152525" cy="180975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47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 X 3 </a:t>
              </a:r>
              <a:r>
                <a:rPr lang="en-IN" sz="7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conv</a:t>
              </a:r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+ </a:t>
              </a:r>
              <a:r>
                <a:rPr lang="en-IN" sz="7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Relu</a:t>
              </a:r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512</a:t>
              </a:r>
            </a:p>
          </p:txBody>
        </p:sp>
        <p:sp>
          <p:nvSpPr>
            <p:cNvPr id="287" name="Rectangle 286"/>
            <p:cNvSpPr/>
            <p:nvPr/>
          </p:nvSpPr>
          <p:spPr>
            <a:xfrm>
              <a:off x="6721197" y="3628513"/>
              <a:ext cx="1152525" cy="180975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47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 X 3 </a:t>
              </a:r>
              <a:r>
                <a:rPr lang="en-IN" sz="7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conv</a:t>
              </a:r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+ </a:t>
              </a:r>
              <a:r>
                <a:rPr lang="en-IN" sz="7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Relu</a:t>
              </a:r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512</a:t>
              </a:r>
            </a:p>
          </p:txBody>
        </p:sp>
        <p:sp>
          <p:nvSpPr>
            <p:cNvPr id="288" name="Rectangle 287"/>
            <p:cNvSpPr/>
            <p:nvPr/>
          </p:nvSpPr>
          <p:spPr>
            <a:xfrm>
              <a:off x="6721196" y="3809488"/>
              <a:ext cx="1152525" cy="180975"/>
            </a:xfrm>
            <a:prstGeom prst="rect">
              <a:avLst/>
            </a:prstGeom>
            <a:solidFill>
              <a:schemeClr val="accent6">
                <a:lumMod val="60000"/>
                <a:lumOff val="40000"/>
                <a:alpha val="54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 X 2 Max – Pool 512</a:t>
              </a:r>
            </a:p>
          </p:txBody>
        </p:sp>
        <p:sp>
          <p:nvSpPr>
            <p:cNvPr id="289" name="Rectangle 288"/>
            <p:cNvSpPr/>
            <p:nvPr/>
          </p:nvSpPr>
          <p:spPr>
            <a:xfrm>
              <a:off x="6721197" y="4219245"/>
              <a:ext cx="1152525" cy="180975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47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 X 3 </a:t>
              </a:r>
              <a:r>
                <a:rPr lang="en-IN" sz="7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conv</a:t>
              </a:r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+ </a:t>
              </a:r>
              <a:r>
                <a:rPr lang="en-IN" sz="7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Relu</a:t>
              </a:r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512</a:t>
              </a:r>
            </a:p>
          </p:txBody>
        </p:sp>
        <p:sp>
          <p:nvSpPr>
            <p:cNvPr id="290" name="Rectangle 289"/>
            <p:cNvSpPr/>
            <p:nvPr/>
          </p:nvSpPr>
          <p:spPr>
            <a:xfrm>
              <a:off x="6721197" y="4400220"/>
              <a:ext cx="1152525" cy="180975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47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 X 3 </a:t>
              </a:r>
              <a:r>
                <a:rPr lang="en-IN" sz="7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conv</a:t>
              </a:r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+ </a:t>
              </a:r>
              <a:r>
                <a:rPr lang="en-IN" sz="7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Relu</a:t>
              </a:r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512</a:t>
              </a:r>
            </a:p>
          </p:txBody>
        </p:sp>
        <p:sp>
          <p:nvSpPr>
            <p:cNvPr id="291" name="Rectangle 290"/>
            <p:cNvSpPr/>
            <p:nvPr/>
          </p:nvSpPr>
          <p:spPr>
            <a:xfrm>
              <a:off x="6721197" y="4581195"/>
              <a:ext cx="1152525" cy="180975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47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 X 3 </a:t>
              </a:r>
              <a:r>
                <a:rPr lang="en-IN" sz="7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conv</a:t>
              </a:r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+ </a:t>
              </a:r>
              <a:r>
                <a:rPr lang="en-IN" sz="7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Relu</a:t>
              </a:r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512</a:t>
              </a:r>
            </a:p>
          </p:txBody>
        </p:sp>
        <p:sp>
          <p:nvSpPr>
            <p:cNvPr id="292" name="Rectangle 291"/>
            <p:cNvSpPr/>
            <p:nvPr/>
          </p:nvSpPr>
          <p:spPr>
            <a:xfrm>
              <a:off x="6721196" y="4762170"/>
              <a:ext cx="1152525" cy="180975"/>
            </a:xfrm>
            <a:prstGeom prst="rect">
              <a:avLst/>
            </a:prstGeom>
            <a:solidFill>
              <a:schemeClr val="accent6">
                <a:lumMod val="60000"/>
                <a:lumOff val="40000"/>
                <a:alpha val="54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7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 X 2 Max – Pool 512</a:t>
              </a:r>
              <a:endParaRPr lang="en-IN" sz="7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3" name="Rectangle 292"/>
            <p:cNvSpPr/>
            <p:nvPr/>
          </p:nvSpPr>
          <p:spPr>
            <a:xfrm>
              <a:off x="6721197" y="5177972"/>
              <a:ext cx="1152525" cy="180975"/>
            </a:xfrm>
            <a:prstGeom prst="rect">
              <a:avLst/>
            </a:prstGeom>
            <a:solidFill>
              <a:schemeClr val="accent4">
                <a:lumMod val="40000"/>
                <a:lumOff val="60000"/>
                <a:alpha val="7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FC 4096</a:t>
              </a:r>
            </a:p>
          </p:txBody>
        </p:sp>
        <p:sp>
          <p:nvSpPr>
            <p:cNvPr id="294" name="Rectangle 293"/>
            <p:cNvSpPr/>
            <p:nvPr/>
          </p:nvSpPr>
          <p:spPr>
            <a:xfrm>
              <a:off x="6721197" y="5588646"/>
              <a:ext cx="1152525" cy="180975"/>
            </a:xfrm>
            <a:prstGeom prst="rect">
              <a:avLst/>
            </a:prstGeom>
            <a:solidFill>
              <a:schemeClr val="accent4">
                <a:lumMod val="40000"/>
                <a:lumOff val="60000"/>
                <a:alpha val="7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FC 4096</a:t>
              </a:r>
            </a:p>
          </p:txBody>
        </p:sp>
        <p:sp>
          <p:nvSpPr>
            <p:cNvPr id="295" name="Rectangle 294"/>
            <p:cNvSpPr/>
            <p:nvPr/>
          </p:nvSpPr>
          <p:spPr>
            <a:xfrm>
              <a:off x="6721196" y="6005183"/>
              <a:ext cx="1152525" cy="180975"/>
            </a:xfrm>
            <a:prstGeom prst="rect">
              <a:avLst/>
            </a:prstGeom>
            <a:solidFill>
              <a:schemeClr val="accent4">
                <a:lumMod val="40000"/>
                <a:lumOff val="60000"/>
                <a:alpha val="7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FC Output 1000</a:t>
              </a:r>
            </a:p>
          </p:txBody>
        </p:sp>
        <p:sp>
          <p:nvSpPr>
            <p:cNvPr id="296" name="Down Arrow 295"/>
            <p:cNvSpPr/>
            <p:nvPr/>
          </p:nvSpPr>
          <p:spPr>
            <a:xfrm>
              <a:off x="7223694" y="545036"/>
              <a:ext cx="141177" cy="225425"/>
            </a:xfrm>
            <a:prstGeom prst="downArrow">
              <a:avLst/>
            </a:prstGeom>
            <a:solidFill>
              <a:schemeClr val="accent4">
                <a:lumMod val="75000"/>
                <a:alpha val="43000"/>
              </a:schemeClr>
            </a:solidFill>
            <a:ln w="15875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97" name="Down Arrow 296"/>
            <p:cNvSpPr/>
            <p:nvPr/>
          </p:nvSpPr>
          <p:spPr>
            <a:xfrm>
              <a:off x="7223693" y="1319799"/>
              <a:ext cx="141177" cy="216392"/>
            </a:xfrm>
            <a:prstGeom prst="downArrow">
              <a:avLst/>
            </a:prstGeom>
            <a:solidFill>
              <a:schemeClr val="accent4">
                <a:lumMod val="75000"/>
                <a:alpha val="43000"/>
              </a:schemeClr>
            </a:solidFill>
            <a:ln w="15875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70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8" name="Down Arrow 297"/>
            <p:cNvSpPr/>
            <p:nvPr/>
          </p:nvSpPr>
          <p:spPr>
            <a:xfrm>
              <a:off x="7223692" y="2086682"/>
              <a:ext cx="141177" cy="216392"/>
            </a:xfrm>
            <a:prstGeom prst="downArrow">
              <a:avLst/>
            </a:prstGeom>
            <a:solidFill>
              <a:schemeClr val="accent4">
                <a:lumMod val="75000"/>
                <a:alpha val="43000"/>
              </a:schemeClr>
            </a:solidFill>
            <a:ln w="15875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70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9" name="Down Arrow 298"/>
            <p:cNvSpPr/>
            <p:nvPr/>
          </p:nvSpPr>
          <p:spPr>
            <a:xfrm>
              <a:off x="7223691" y="3045775"/>
              <a:ext cx="141177" cy="216392"/>
            </a:xfrm>
            <a:prstGeom prst="downArrow">
              <a:avLst/>
            </a:prstGeom>
            <a:solidFill>
              <a:schemeClr val="accent4">
                <a:lumMod val="75000"/>
                <a:alpha val="43000"/>
              </a:schemeClr>
            </a:solidFill>
            <a:ln w="15875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70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0" name="Down Arrow 299"/>
            <p:cNvSpPr/>
            <p:nvPr/>
          </p:nvSpPr>
          <p:spPr>
            <a:xfrm>
              <a:off x="7223690" y="3998090"/>
              <a:ext cx="141177" cy="216392"/>
            </a:xfrm>
            <a:prstGeom prst="downArrow">
              <a:avLst/>
            </a:prstGeom>
            <a:solidFill>
              <a:schemeClr val="accent4">
                <a:lumMod val="75000"/>
                <a:alpha val="43000"/>
              </a:schemeClr>
            </a:solidFill>
            <a:ln w="15875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70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1" name="Down Arrow 300"/>
            <p:cNvSpPr/>
            <p:nvPr/>
          </p:nvSpPr>
          <p:spPr>
            <a:xfrm>
              <a:off x="7223690" y="4946060"/>
              <a:ext cx="141177" cy="216392"/>
            </a:xfrm>
            <a:prstGeom prst="downArrow">
              <a:avLst/>
            </a:prstGeom>
            <a:solidFill>
              <a:schemeClr val="accent4">
                <a:lumMod val="75000"/>
                <a:alpha val="43000"/>
              </a:schemeClr>
            </a:solidFill>
            <a:ln w="15875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7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2" name="Down Arrow 301"/>
            <p:cNvSpPr/>
            <p:nvPr/>
          </p:nvSpPr>
          <p:spPr>
            <a:xfrm>
              <a:off x="7223689" y="5358947"/>
              <a:ext cx="141177" cy="216392"/>
            </a:xfrm>
            <a:prstGeom prst="downArrow">
              <a:avLst/>
            </a:prstGeom>
            <a:solidFill>
              <a:schemeClr val="accent4">
                <a:lumMod val="75000"/>
                <a:alpha val="43000"/>
              </a:schemeClr>
            </a:solidFill>
            <a:ln w="15875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7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3" name="Down Arrow 302"/>
            <p:cNvSpPr/>
            <p:nvPr/>
          </p:nvSpPr>
          <p:spPr>
            <a:xfrm>
              <a:off x="7223689" y="5773158"/>
              <a:ext cx="141177" cy="216392"/>
            </a:xfrm>
            <a:prstGeom prst="downArrow">
              <a:avLst/>
            </a:prstGeom>
            <a:solidFill>
              <a:schemeClr val="accent4">
                <a:lumMod val="75000"/>
                <a:alpha val="43000"/>
              </a:schemeClr>
            </a:solidFill>
            <a:ln w="15875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7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4" name="Down Arrow 303"/>
            <p:cNvSpPr/>
            <p:nvPr/>
          </p:nvSpPr>
          <p:spPr>
            <a:xfrm>
              <a:off x="7223689" y="6186158"/>
              <a:ext cx="141177" cy="216392"/>
            </a:xfrm>
            <a:prstGeom prst="downArrow">
              <a:avLst/>
            </a:prstGeom>
            <a:solidFill>
              <a:schemeClr val="accent4">
                <a:lumMod val="75000"/>
                <a:alpha val="43000"/>
              </a:schemeClr>
            </a:solidFill>
            <a:ln w="15875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5" name="TextBox 304"/>
            <p:cNvSpPr txBox="1"/>
            <p:nvPr/>
          </p:nvSpPr>
          <p:spPr>
            <a:xfrm>
              <a:off x="6181458" y="928224"/>
              <a:ext cx="56778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800" b="1" dirty="0">
                  <a:solidFill>
                    <a:srgbClr val="7030A0"/>
                  </a:solidFill>
                  <a:latin typeface="Arial Narrow" panose="020B0606020202030204" pitchFamily="34" charset="0"/>
                </a:rPr>
                <a:t>224 X 224</a:t>
              </a:r>
            </a:p>
          </p:txBody>
        </p:sp>
        <p:sp>
          <p:nvSpPr>
            <p:cNvPr id="306" name="TextBox 305"/>
            <p:cNvSpPr txBox="1"/>
            <p:nvPr/>
          </p:nvSpPr>
          <p:spPr>
            <a:xfrm>
              <a:off x="6181458" y="1696756"/>
              <a:ext cx="56778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800" b="1" dirty="0">
                  <a:solidFill>
                    <a:srgbClr val="7030A0"/>
                  </a:solidFill>
                  <a:latin typeface="Arial Narrow" panose="020B0606020202030204" pitchFamily="34" charset="0"/>
                </a:rPr>
                <a:t>112 X 112</a:t>
              </a:r>
            </a:p>
          </p:txBody>
        </p:sp>
        <p:sp>
          <p:nvSpPr>
            <p:cNvPr id="307" name="TextBox 306"/>
            <p:cNvSpPr txBox="1"/>
            <p:nvPr/>
          </p:nvSpPr>
          <p:spPr>
            <a:xfrm>
              <a:off x="6181458" y="2570451"/>
              <a:ext cx="47481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800" b="1" dirty="0">
                  <a:solidFill>
                    <a:srgbClr val="7030A0"/>
                  </a:solidFill>
                  <a:latin typeface="Arial Narrow" panose="020B0606020202030204" pitchFamily="34" charset="0"/>
                </a:rPr>
                <a:t>56 X 56</a:t>
              </a:r>
            </a:p>
          </p:txBody>
        </p:sp>
        <p:sp>
          <p:nvSpPr>
            <p:cNvPr id="308" name="TextBox 307"/>
            <p:cNvSpPr txBox="1"/>
            <p:nvPr/>
          </p:nvSpPr>
          <p:spPr>
            <a:xfrm>
              <a:off x="6175635" y="3504818"/>
              <a:ext cx="47481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800" b="1" dirty="0">
                  <a:solidFill>
                    <a:srgbClr val="7030A0"/>
                  </a:solidFill>
                  <a:latin typeface="Arial Narrow" panose="020B0606020202030204" pitchFamily="34" charset="0"/>
                </a:rPr>
                <a:t>28 X 28</a:t>
              </a:r>
            </a:p>
          </p:txBody>
        </p:sp>
        <p:sp>
          <p:nvSpPr>
            <p:cNvPr id="309" name="TextBox 308"/>
            <p:cNvSpPr txBox="1"/>
            <p:nvPr/>
          </p:nvSpPr>
          <p:spPr>
            <a:xfrm>
              <a:off x="6175635" y="4474002"/>
              <a:ext cx="47481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800" b="1" dirty="0">
                  <a:solidFill>
                    <a:srgbClr val="7030A0"/>
                  </a:solidFill>
                  <a:latin typeface="Arial Narrow" panose="020B0606020202030204" pitchFamily="34" charset="0"/>
                </a:rPr>
                <a:t>14 X 14</a:t>
              </a:r>
            </a:p>
          </p:txBody>
        </p:sp>
        <p:sp>
          <p:nvSpPr>
            <p:cNvPr id="310" name="TextBox 309"/>
            <p:cNvSpPr txBox="1"/>
            <p:nvPr/>
          </p:nvSpPr>
          <p:spPr>
            <a:xfrm>
              <a:off x="6227371" y="5137759"/>
              <a:ext cx="38183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800" b="1" dirty="0">
                  <a:solidFill>
                    <a:srgbClr val="7030A0"/>
                  </a:solidFill>
                  <a:latin typeface="Arial Narrow" panose="020B0606020202030204" pitchFamily="34" charset="0"/>
                </a:rPr>
                <a:t>7 X 7</a:t>
              </a:r>
            </a:p>
          </p:txBody>
        </p:sp>
        <p:sp>
          <p:nvSpPr>
            <p:cNvPr id="311" name="TextBox 310"/>
            <p:cNvSpPr txBox="1"/>
            <p:nvPr/>
          </p:nvSpPr>
          <p:spPr>
            <a:xfrm>
              <a:off x="6790773" y="51083"/>
              <a:ext cx="1007007" cy="5078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IN" sz="1600" dirty="0">
                  <a:solidFill>
                    <a:srgbClr val="7030A0"/>
                  </a:solidFill>
                  <a:latin typeface="Arial Narrow" panose="020B0606020202030204" pitchFamily="34" charset="0"/>
                </a:rPr>
                <a:t>VGG16Net</a:t>
              </a:r>
            </a:p>
            <a:p>
              <a:pPr algn="ctr"/>
              <a:r>
                <a:rPr lang="en-IN" sz="1100" b="1" dirty="0">
                  <a:solidFill>
                    <a:srgbClr val="00B050"/>
                  </a:solidFill>
                  <a:latin typeface="Arial Narrow" panose="020B0606020202030204" pitchFamily="34" charset="0"/>
                </a:rPr>
                <a:t>INPUT</a:t>
              </a:r>
            </a:p>
          </p:txBody>
        </p:sp>
        <p:sp>
          <p:nvSpPr>
            <p:cNvPr id="312" name="TextBox 311"/>
            <p:cNvSpPr txBox="1"/>
            <p:nvPr/>
          </p:nvSpPr>
          <p:spPr>
            <a:xfrm>
              <a:off x="6954279" y="6374176"/>
              <a:ext cx="67999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100" b="1" dirty="0">
                  <a:solidFill>
                    <a:srgbClr val="00B050"/>
                  </a:solidFill>
                </a:rPr>
                <a:t>OUTPUT</a:t>
              </a:r>
            </a:p>
          </p:txBody>
        </p:sp>
      </p:grpSp>
      <p:sp>
        <p:nvSpPr>
          <p:cNvPr id="26" name="Rectangle 25"/>
          <p:cNvSpPr/>
          <p:nvPr/>
        </p:nvSpPr>
        <p:spPr>
          <a:xfrm>
            <a:off x="1102341" y="4388641"/>
            <a:ext cx="3702039" cy="461666"/>
          </a:xfrm>
          <a:prstGeom prst="rect">
            <a:avLst/>
          </a:prstGeom>
          <a:solidFill>
            <a:schemeClr val="accent4">
              <a:lumMod val="40000"/>
              <a:lumOff val="60000"/>
              <a:alpha val="19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353" name="Group 352"/>
          <p:cNvGrpSpPr/>
          <p:nvPr/>
        </p:nvGrpSpPr>
        <p:grpSpPr>
          <a:xfrm>
            <a:off x="9149925" y="12303"/>
            <a:ext cx="1644133" cy="6731541"/>
            <a:chOff x="8220076" y="-29981"/>
            <a:chExt cx="1644133" cy="6731541"/>
          </a:xfrm>
        </p:grpSpPr>
        <p:sp>
          <p:nvSpPr>
            <p:cNvPr id="354" name="TextBox 353"/>
            <p:cNvSpPr txBox="1"/>
            <p:nvPr/>
          </p:nvSpPr>
          <p:spPr>
            <a:xfrm>
              <a:off x="9296425" y="815391"/>
              <a:ext cx="56778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800" b="1" dirty="0">
                  <a:solidFill>
                    <a:srgbClr val="7030A0"/>
                  </a:solidFill>
                  <a:latin typeface="Arial Narrow" panose="020B0606020202030204" pitchFamily="34" charset="0"/>
                </a:rPr>
                <a:t>224 X 224</a:t>
              </a:r>
            </a:p>
          </p:txBody>
        </p:sp>
        <p:sp>
          <p:nvSpPr>
            <p:cNvPr id="355" name="TextBox 354"/>
            <p:cNvSpPr txBox="1"/>
            <p:nvPr/>
          </p:nvSpPr>
          <p:spPr>
            <a:xfrm>
              <a:off x="9296425" y="1538854"/>
              <a:ext cx="56778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800" b="1" dirty="0">
                  <a:solidFill>
                    <a:srgbClr val="7030A0"/>
                  </a:solidFill>
                  <a:latin typeface="Arial Narrow" panose="020B0606020202030204" pitchFamily="34" charset="0"/>
                </a:rPr>
                <a:t>112 X 112</a:t>
              </a:r>
            </a:p>
          </p:txBody>
        </p:sp>
        <p:sp>
          <p:nvSpPr>
            <p:cNvPr id="356" name="Rectangle 355"/>
            <p:cNvSpPr/>
            <p:nvPr/>
          </p:nvSpPr>
          <p:spPr>
            <a:xfrm>
              <a:off x="8220076" y="662199"/>
              <a:ext cx="1050923" cy="169257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47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 X 3 </a:t>
              </a:r>
              <a:r>
                <a:rPr lang="en-IN" sz="7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conv</a:t>
              </a:r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+ </a:t>
              </a:r>
              <a:r>
                <a:rPr lang="en-IN" sz="7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Relu</a:t>
              </a:r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64</a:t>
              </a:r>
            </a:p>
          </p:txBody>
        </p:sp>
        <p:sp>
          <p:nvSpPr>
            <p:cNvPr id="357" name="Rectangle 356"/>
            <p:cNvSpPr/>
            <p:nvPr/>
          </p:nvSpPr>
          <p:spPr>
            <a:xfrm>
              <a:off x="8220077" y="831456"/>
              <a:ext cx="1050923" cy="169257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47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7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 X 3 conv + Relu 64</a:t>
              </a:r>
              <a:endParaRPr lang="en-IN" sz="7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58" name="Rectangle 357"/>
            <p:cNvSpPr/>
            <p:nvPr/>
          </p:nvSpPr>
          <p:spPr>
            <a:xfrm>
              <a:off x="8220078" y="1000713"/>
              <a:ext cx="1050923" cy="169257"/>
            </a:xfrm>
            <a:prstGeom prst="rect">
              <a:avLst/>
            </a:prstGeom>
            <a:solidFill>
              <a:schemeClr val="accent6">
                <a:lumMod val="60000"/>
                <a:lumOff val="40000"/>
                <a:alpha val="54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7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 X 2 Max – Pool 64</a:t>
              </a:r>
              <a:endParaRPr lang="en-IN" sz="7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59" name="Rectangle 358"/>
            <p:cNvSpPr/>
            <p:nvPr/>
          </p:nvSpPr>
          <p:spPr>
            <a:xfrm>
              <a:off x="8220079" y="1380800"/>
              <a:ext cx="1050924" cy="169257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47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 X 3 </a:t>
              </a:r>
              <a:r>
                <a:rPr lang="en-IN" sz="7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conv</a:t>
              </a:r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+ </a:t>
              </a:r>
              <a:r>
                <a:rPr lang="en-IN" sz="7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Relu</a:t>
              </a:r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128</a:t>
              </a:r>
            </a:p>
          </p:txBody>
        </p:sp>
        <p:sp>
          <p:nvSpPr>
            <p:cNvPr id="360" name="Rectangle 359"/>
            <p:cNvSpPr/>
            <p:nvPr/>
          </p:nvSpPr>
          <p:spPr>
            <a:xfrm>
              <a:off x="8220080" y="1550057"/>
              <a:ext cx="1050924" cy="169257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47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 X 3 </a:t>
              </a:r>
              <a:r>
                <a:rPr lang="en-IN" sz="7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conv</a:t>
              </a:r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+ </a:t>
              </a:r>
              <a:r>
                <a:rPr lang="en-IN" sz="7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Relu</a:t>
              </a:r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128</a:t>
              </a:r>
            </a:p>
          </p:txBody>
        </p:sp>
        <p:sp>
          <p:nvSpPr>
            <p:cNvPr id="361" name="Rectangle 360"/>
            <p:cNvSpPr/>
            <p:nvPr/>
          </p:nvSpPr>
          <p:spPr>
            <a:xfrm>
              <a:off x="8220081" y="1719315"/>
              <a:ext cx="1050924" cy="169257"/>
            </a:xfrm>
            <a:prstGeom prst="rect">
              <a:avLst/>
            </a:prstGeom>
            <a:solidFill>
              <a:schemeClr val="accent6">
                <a:lumMod val="60000"/>
                <a:lumOff val="40000"/>
                <a:alpha val="54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7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 X 2 Max – Pool 128</a:t>
              </a:r>
              <a:endParaRPr lang="en-IN" sz="7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2" name="Rectangle 361"/>
            <p:cNvSpPr/>
            <p:nvPr/>
          </p:nvSpPr>
          <p:spPr>
            <a:xfrm>
              <a:off x="8220082" y="2116472"/>
              <a:ext cx="1050924" cy="169257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47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 X 3 </a:t>
              </a:r>
              <a:r>
                <a:rPr lang="en-IN" sz="7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conv</a:t>
              </a:r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+ </a:t>
              </a:r>
              <a:r>
                <a:rPr lang="en-IN" sz="7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Relu</a:t>
              </a:r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256</a:t>
              </a:r>
            </a:p>
          </p:txBody>
        </p:sp>
        <p:sp>
          <p:nvSpPr>
            <p:cNvPr id="363" name="Rectangle 362"/>
            <p:cNvSpPr/>
            <p:nvPr/>
          </p:nvSpPr>
          <p:spPr>
            <a:xfrm>
              <a:off x="8220082" y="2285729"/>
              <a:ext cx="1050924" cy="169257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47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 X 3 </a:t>
              </a:r>
              <a:r>
                <a:rPr lang="en-IN" sz="7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conv</a:t>
              </a:r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+ </a:t>
              </a:r>
              <a:r>
                <a:rPr lang="en-IN" sz="7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Relu</a:t>
              </a:r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256</a:t>
              </a:r>
            </a:p>
          </p:txBody>
        </p:sp>
        <p:sp>
          <p:nvSpPr>
            <p:cNvPr id="364" name="Rectangle 363"/>
            <p:cNvSpPr/>
            <p:nvPr/>
          </p:nvSpPr>
          <p:spPr>
            <a:xfrm>
              <a:off x="8220082" y="2454986"/>
              <a:ext cx="1050924" cy="169257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47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7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 X 3 conv + Relu 256</a:t>
              </a:r>
              <a:endParaRPr lang="en-IN" sz="7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5" name="Rectangle 364"/>
            <p:cNvSpPr/>
            <p:nvPr/>
          </p:nvSpPr>
          <p:spPr>
            <a:xfrm>
              <a:off x="8220081" y="2624244"/>
              <a:ext cx="1050924" cy="169257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47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 X 3 </a:t>
              </a:r>
              <a:r>
                <a:rPr lang="en-IN" sz="7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conv</a:t>
              </a:r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+ </a:t>
              </a:r>
              <a:r>
                <a:rPr lang="en-IN" sz="7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Relu</a:t>
              </a:r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256</a:t>
              </a:r>
            </a:p>
          </p:txBody>
        </p:sp>
        <p:sp>
          <p:nvSpPr>
            <p:cNvPr id="366" name="Rectangle 365"/>
            <p:cNvSpPr/>
            <p:nvPr/>
          </p:nvSpPr>
          <p:spPr>
            <a:xfrm>
              <a:off x="8220081" y="2793501"/>
              <a:ext cx="1050924" cy="169257"/>
            </a:xfrm>
            <a:prstGeom prst="rect">
              <a:avLst/>
            </a:prstGeom>
            <a:solidFill>
              <a:schemeClr val="accent6">
                <a:lumMod val="60000"/>
                <a:lumOff val="40000"/>
                <a:alpha val="54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7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 X 2 Max – Pool 256</a:t>
              </a:r>
              <a:endParaRPr lang="en-IN" sz="7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7" name="Rectangle 366"/>
            <p:cNvSpPr/>
            <p:nvPr/>
          </p:nvSpPr>
          <p:spPr>
            <a:xfrm>
              <a:off x="8220082" y="3185694"/>
              <a:ext cx="1050924" cy="169257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47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 X 3 </a:t>
              </a:r>
              <a:r>
                <a:rPr lang="en-IN" sz="7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conv</a:t>
              </a:r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+ </a:t>
              </a:r>
              <a:r>
                <a:rPr lang="en-IN" sz="7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Relu</a:t>
              </a:r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512</a:t>
              </a:r>
            </a:p>
          </p:txBody>
        </p:sp>
        <p:sp>
          <p:nvSpPr>
            <p:cNvPr id="368" name="Rectangle 367"/>
            <p:cNvSpPr/>
            <p:nvPr/>
          </p:nvSpPr>
          <p:spPr>
            <a:xfrm>
              <a:off x="8220082" y="3354952"/>
              <a:ext cx="1050924" cy="169257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47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 X 3 </a:t>
              </a:r>
              <a:r>
                <a:rPr lang="en-IN" sz="7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conv</a:t>
              </a:r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+ </a:t>
              </a:r>
              <a:r>
                <a:rPr lang="en-IN" sz="7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Relu</a:t>
              </a:r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512</a:t>
              </a:r>
            </a:p>
          </p:txBody>
        </p:sp>
        <p:sp>
          <p:nvSpPr>
            <p:cNvPr id="369" name="Rectangle 368"/>
            <p:cNvSpPr/>
            <p:nvPr/>
          </p:nvSpPr>
          <p:spPr>
            <a:xfrm>
              <a:off x="8220082" y="3524209"/>
              <a:ext cx="1050924" cy="169257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47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 X 3 </a:t>
              </a:r>
              <a:r>
                <a:rPr lang="en-IN" sz="7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conv</a:t>
              </a:r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+ </a:t>
              </a:r>
              <a:r>
                <a:rPr lang="en-IN" sz="7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Relu</a:t>
              </a:r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512</a:t>
              </a:r>
            </a:p>
          </p:txBody>
        </p:sp>
        <p:sp>
          <p:nvSpPr>
            <p:cNvPr id="370" name="Rectangle 369"/>
            <p:cNvSpPr/>
            <p:nvPr/>
          </p:nvSpPr>
          <p:spPr>
            <a:xfrm>
              <a:off x="8220081" y="3693466"/>
              <a:ext cx="1050924" cy="169257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47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 X 3 </a:t>
              </a:r>
              <a:r>
                <a:rPr lang="en-IN" sz="7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conv</a:t>
              </a:r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+ </a:t>
              </a:r>
              <a:r>
                <a:rPr lang="en-IN" sz="7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Relu</a:t>
              </a:r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512</a:t>
              </a:r>
            </a:p>
          </p:txBody>
        </p:sp>
        <p:sp>
          <p:nvSpPr>
            <p:cNvPr id="371" name="Rectangle 370"/>
            <p:cNvSpPr/>
            <p:nvPr/>
          </p:nvSpPr>
          <p:spPr>
            <a:xfrm>
              <a:off x="8220081" y="3862724"/>
              <a:ext cx="1050924" cy="169257"/>
            </a:xfrm>
            <a:prstGeom prst="rect">
              <a:avLst/>
            </a:prstGeom>
            <a:solidFill>
              <a:schemeClr val="accent6">
                <a:lumMod val="60000"/>
                <a:lumOff val="40000"/>
                <a:alpha val="54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7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 X 2 Max – Pool 512</a:t>
              </a:r>
              <a:endParaRPr lang="en-IN" sz="7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72" name="Rectangle 371"/>
            <p:cNvSpPr/>
            <p:nvPr/>
          </p:nvSpPr>
          <p:spPr>
            <a:xfrm>
              <a:off x="8220081" y="4248535"/>
              <a:ext cx="1050924" cy="169257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47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 X 3 </a:t>
              </a:r>
              <a:r>
                <a:rPr lang="en-IN" sz="7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conv</a:t>
              </a:r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+ </a:t>
              </a:r>
              <a:r>
                <a:rPr lang="en-IN" sz="7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Relu</a:t>
              </a:r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512</a:t>
              </a:r>
            </a:p>
          </p:txBody>
        </p:sp>
        <p:sp>
          <p:nvSpPr>
            <p:cNvPr id="373" name="Rectangle 372"/>
            <p:cNvSpPr/>
            <p:nvPr/>
          </p:nvSpPr>
          <p:spPr>
            <a:xfrm>
              <a:off x="8220081" y="4417793"/>
              <a:ext cx="1050924" cy="169257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47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7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 X 3 conv + Relu 512</a:t>
              </a:r>
              <a:endParaRPr lang="en-IN" sz="7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74" name="Rectangle 373"/>
            <p:cNvSpPr/>
            <p:nvPr/>
          </p:nvSpPr>
          <p:spPr>
            <a:xfrm>
              <a:off x="8220081" y="4587050"/>
              <a:ext cx="1050924" cy="169257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47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 X 3 </a:t>
              </a:r>
              <a:r>
                <a:rPr lang="en-IN" sz="7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conv</a:t>
              </a:r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+ </a:t>
              </a:r>
              <a:r>
                <a:rPr lang="en-IN" sz="7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Relu</a:t>
              </a:r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512</a:t>
              </a:r>
            </a:p>
          </p:txBody>
        </p:sp>
        <p:sp>
          <p:nvSpPr>
            <p:cNvPr id="375" name="Rectangle 374"/>
            <p:cNvSpPr/>
            <p:nvPr/>
          </p:nvSpPr>
          <p:spPr>
            <a:xfrm>
              <a:off x="8220081" y="4756307"/>
              <a:ext cx="1050924" cy="169257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47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 X 3 </a:t>
              </a:r>
              <a:r>
                <a:rPr lang="en-IN" sz="7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conv</a:t>
              </a:r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+ </a:t>
              </a:r>
              <a:r>
                <a:rPr lang="en-IN" sz="7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Relu</a:t>
              </a:r>
              <a:r>
                <a:rPr lang="en-IN" sz="7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512</a:t>
              </a:r>
            </a:p>
          </p:txBody>
        </p:sp>
        <p:sp>
          <p:nvSpPr>
            <p:cNvPr id="376" name="Rectangle 375"/>
            <p:cNvSpPr/>
            <p:nvPr/>
          </p:nvSpPr>
          <p:spPr>
            <a:xfrm>
              <a:off x="8220082" y="4925565"/>
              <a:ext cx="1050924" cy="169257"/>
            </a:xfrm>
            <a:prstGeom prst="rect">
              <a:avLst/>
            </a:prstGeom>
            <a:solidFill>
              <a:schemeClr val="accent6">
                <a:lumMod val="60000"/>
                <a:lumOff val="40000"/>
                <a:alpha val="54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7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 X 2 Max – Pool 512</a:t>
              </a:r>
              <a:endParaRPr lang="en-IN" sz="7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77" name="Rectangle 376"/>
            <p:cNvSpPr/>
            <p:nvPr/>
          </p:nvSpPr>
          <p:spPr>
            <a:xfrm>
              <a:off x="8220083" y="5305992"/>
              <a:ext cx="1050924" cy="169257"/>
            </a:xfrm>
            <a:prstGeom prst="rect">
              <a:avLst/>
            </a:prstGeom>
            <a:solidFill>
              <a:schemeClr val="accent4">
                <a:lumMod val="40000"/>
                <a:lumOff val="60000"/>
                <a:alpha val="58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7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FC 4096</a:t>
              </a:r>
              <a:endParaRPr lang="en-IN" sz="7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78" name="Rectangle 377"/>
            <p:cNvSpPr/>
            <p:nvPr/>
          </p:nvSpPr>
          <p:spPr>
            <a:xfrm>
              <a:off x="8220084" y="5696018"/>
              <a:ext cx="1050924" cy="169257"/>
            </a:xfrm>
            <a:prstGeom prst="rect">
              <a:avLst/>
            </a:prstGeom>
            <a:solidFill>
              <a:schemeClr val="accent4">
                <a:lumMod val="40000"/>
                <a:lumOff val="60000"/>
                <a:alpha val="7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7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FC 4096</a:t>
              </a:r>
              <a:endParaRPr lang="en-IN" sz="7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79" name="Rectangle 378"/>
            <p:cNvSpPr/>
            <p:nvPr/>
          </p:nvSpPr>
          <p:spPr>
            <a:xfrm>
              <a:off x="8220083" y="6100433"/>
              <a:ext cx="1050924" cy="169257"/>
            </a:xfrm>
            <a:prstGeom prst="rect">
              <a:avLst/>
            </a:prstGeom>
            <a:solidFill>
              <a:schemeClr val="accent4">
                <a:lumMod val="40000"/>
                <a:lumOff val="60000"/>
                <a:alpha val="7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7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FC Output 1000</a:t>
              </a:r>
              <a:endParaRPr lang="en-IN" sz="7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80" name="Down Arrow 379"/>
            <p:cNvSpPr/>
            <p:nvPr/>
          </p:nvSpPr>
          <p:spPr>
            <a:xfrm>
              <a:off x="8682688" y="1169971"/>
              <a:ext cx="128731" cy="210829"/>
            </a:xfrm>
            <a:prstGeom prst="downArrow">
              <a:avLst/>
            </a:prstGeom>
            <a:solidFill>
              <a:schemeClr val="accent4">
                <a:lumMod val="75000"/>
                <a:alpha val="43000"/>
              </a:schemeClr>
            </a:solidFill>
            <a:ln w="15875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7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81" name="Down Arrow 380"/>
            <p:cNvSpPr/>
            <p:nvPr/>
          </p:nvSpPr>
          <p:spPr>
            <a:xfrm>
              <a:off x="8682688" y="1896825"/>
              <a:ext cx="128731" cy="210829"/>
            </a:xfrm>
            <a:prstGeom prst="downArrow">
              <a:avLst/>
            </a:prstGeom>
            <a:solidFill>
              <a:schemeClr val="accent4">
                <a:lumMod val="75000"/>
                <a:alpha val="43000"/>
              </a:schemeClr>
            </a:solidFill>
            <a:ln w="15875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7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82" name="Down Arrow 381"/>
            <p:cNvSpPr/>
            <p:nvPr/>
          </p:nvSpPr>
          <p:spPr>
            <a:xfrm>
              <a:off x="8682687" y="2964185"/>
              <a:ext cx="128731" cy="210829"/>
            </a:xfrm>
            <a:prstGeom prst="downArrow">
              <a:avLst/>
            </a:prstGeom>
            <a:solidFill>
              <a:schemeClr val="accent4">
                <a:lumMod val="75000"/>
                <a:alpha val="43000"/>
              </a:schemeClr>
            </a:solidFill>
            <a:ln w="15875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7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83" name="Down Arrow 382"/>
            <p:cNvSpPr/>
            <p:nvPr/>
          </p:nvSpPr>
          <p:spPr>
            <a:xfrm>
              <a:off x="8682687" y="4035858"/>
              <a:ext cx="128731" cy="210829"/>
            </a:xfrm>
            <a:prstGeom prst="downArrow">
              <a:avLst/>
            </a:prstGeom>
            <a:solidFill>
              <a:schemeClr val="accent4">
                <a:lumMod val="75000"/>
                <a:alpha val="43000"/>
              </a:schemeClr>
            </a:solidFill>
            <a:ln w="15875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7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84" name="Down Arrow 383"/>
            <p:cNvSpPr/>
            <p:nvPr/>
          </p:nvSpPr>
          <p:spPr>
            <a:xfrm>
              <a:off x="8682687" y="5093834"/>
              <a:ext cx="128731" cy="210829"/>
            </a:xfrm>
            <a:prstGeom prst="downArrow">
              <a:avLst/>
            </a:prstGeom>
            <a:solidFill>
              <a:schemeClr val="accent4">
                <a:lumMod val="75000"/>
                <a:alpha val="43000"/>
              </a:schemeClr>
            </a:solidFill>
            <a:ln w="15875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7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85" name="Down Arrow 384"/>
            <p:cNvSpPr/>
            <p:nvPr/>
          </p:nvSpPr>
          <p:spPr>
            <a:xfrm>
              <a:off x="8682700" y="5480633"/>
              <a:ext cx="128731" cy="210829"/>
            </a:xfrm>
            <a:prstGeom prst="downArrow">
              <a:avLst/>
            </a:prstGeom>
            <a:solidFill>
              <a:schemeClr val="accent4">
                <a:lumMod val="75000"/>
                <a:alpha val="43000"/>
              </a:schemeClr>
            </a:solidFill>
            <a:ln w="15875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7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86" name="Down Arrow 385"/>
            <p:cNvSpPr/>
            <p:nvPr/>
          </p:nvSpPr>
          <p:spPr>
            <a:xfrm>
              <a:off x="8682678" y="5875215"/>
              <a:ext cx="128730" cy="210829"/>
            </a:xfrm>
            <a:prstGeom prst="downArrow">
              <a:avLst/>
            </a:prstGeom>
            <a:solidFill>
              <a:schemeClr val="accent4">
                <a:lumMod val="75000"/>
                <a:alpha val="43000"/>
              </a:schemeClr>
            </a:solidFill>
            <a:ln w="15875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7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87" name="Down Arrow 386"/>
            <p:cNvSpPr/>
            <p:nvPr/>
          </p:nvSpPr>
          <p:spPr>
            <a:xfrm>
              <a:off x="8682651" y="6273336"/>
              <a:ext cx="128730" cy="210829"/>
            </a:xfrm>
            <a:prstGeom prst="downArrow">
              <a:avLst/>
            </a:prstGeom>
            <a:solidFill>
              <a:schemeClr val="accent4">
                <a:lumMod val="75000"/>
                <a:alpha val="43000"/>
              </a:schemeClr>
            </a:solidFill>
            <a:ln w="15875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88" name="Down Arrow 387"/>
            <p:cNvSpPr/>
            <p:nvPr/>
          </p:nvSpPr>
          <p:spPr>
            <a:xfrm>
              <a:off x="8682624" y="438032"/>
              <a:ext cx="128730" cy="210829"/>
            </a:xfrm>
            <a:prstGeom prst="downArrow">
              <a:avLst/>
            </a:prstGeom>
            <a:solidFill>
              <a:schemeClr val="accent4">
                <a:lumMod val="75000"/>
                <a:alpha val="43000"/>
              </a:schemeClr>
            </a:solidFill>
            <a:ln w="15875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500"/>
            </a:p>
          </p:txBody>
        </p:sp>
        <p:sp>
          <p:nvSpPr>
            <p:cNvPr id="389" name="TextBox 388"/>
            <p:cNvSpPr txBox="1"/>
            <p:nvPr/>
          </p:nvSpPr>
          <p:spPr>
            <a:xfrm>
              <a:off x="9296425" y="2342857"/>
              <a:ext cx="47481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800" b="1" dirty="0">
                  <a:solidFill>
                    <a:srgbClr val="7030A0"/>
                  </a:solidFill>
                  <a:latin typeface="Arial Narrow" panose="020B0606020202030204" pitchFamily="34" charset="0"/>
                </a:rPr>
                <a:t>56 X 56</a:t>
              </a:r>
            </a:p>
          </p:txBody>
        </p:sp>
        <p:sp>
          <p:nvSpPr>
            <p:cNvPr id="390" name="TextBox 389"/>
            <p:cNvSpPr txBox="1"/>
            <p:nvPr/>
          </p:nvSpPr>
          <p:spPr>
            <a:xfrm>
              <a:off x="9296425" y="3418017"/>
              <a:ext cx="47481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800" b="1" dirty="0">
                  <a:solidFill>
                    <a:srgbClr val="7030A0"/>
                  </a:solidFill>
                  <a:latin typeface="Arial Narrow" panose="020B0606020202030204" pitchFamily="34" charset="0"/>
                </a:rPr>
                <a:t>28 X 28</a:t>
              </a:r>
            </a:p>
          </p:txBody>
        </p:sp>
        <p:sp>
          <p:nvSpPr>
            <p:cNvPr id="391" name="TextBox 390"/>
            <p:cNvSpPr txBox="1"/>
            <p:nvPr/>
          </p:nvSpPr>
          <p:spPr>
            <a:xfrm>
              <a:off x="9296425" y="4493177"/>
              <a:ext cx="47481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800" b="1" dirty="0">
                  <a:solidFill>
                    <a:srgbClr val="7030A0"/>
                  </a:solidFill>
                  <a:latin typeface="Arial Narrow" panose="020B0606020202030204" pitchFamily="34" charset="0"/>
                </a:rPr>
                <a:t>14 X 14</a:t>
              </a:r>
            </a:p>
          </p:txBody>
        </p:sp>
        <p:sp>
          <p:nvSpPr>
            <p:cNvPr id="392" name="TextBox 391"/>
            <p:cNvSpPr txBox="1"/>
            <p:nvPr/>
          </p:nvSpPr>
          <p:spPr>
            <a:xfrm>
              <a:off x="9338103" y="5275194"/>
              <a:ext cx="38183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800" b="1" dirty="0">
                  <a:solidFill>
                    <a:srgbClr val="7030A0"/>
                  </a:solidFill>
                  <a:latin typeface="Arial Narrow" panose="020B0606020202030204" pitchFamily="34" charset="0"/>
                </a:rPr>
                <a:t>7 X 7</a:t>
              </a:r>
            </a:p>
          </p:txBody>
        </p:sp>
        <p:sp>
          <p:nvSpPr>
            <p:cNvPr id="393" name="TextBox 392"/>
            <p:cNvSpPr txBox="1"/>
            <p:nvPr/>
          </p:nvSpPr>
          <p:spPr>
            <a:xfrm>
              <a:off x="8263992" y="-29981"/>
              <a:ext cx="1007007" cy="5078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IN" sz="1600" dirty="0">
                  <a:solidFill>
                    <a:srgbClr val="7030A0"/>
                  </a:solidFill>
                  <a:latin typeface="Arial Narrow" panose="020B0606020202030204" pitchFamily="34" charset="0"/>
                </a:rPr>
                <a:t>VGG19Net</a:t>
              </a:r>
            </a:p>
            <a:p>
              <a:pPr algn="ctr"/>
              <a:r>
                <a:rPr lang="en-IN" sz="1100" b="1" dirty="0">
                  <a:solidFill>
                    <a:srgbClr val="00B050"/>
                  </a:solidFill>
                  <a:latin typeface="Arial Narrow" panose="020B0606020202030204" pitchFamily="34" charset="0"/>
                </a:rPr>
                <a:t>INPUT</a:t>
              </a:r>
            </a:p>
          </p:txBody>
        </p:sp>
        <p:sp>
          <p:nvSpPr>
            <p:cNvPr id="394" name="TextBox 393"/>
            <p:cNvSpPr txBox="1"/>
            <p:nvPr/>
          </p:nvSpPr>
          <p:spPr>
            <a:xfrm>
              <a:off x="8405540" y="6439950"/>
              <a:ext cx="67999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100" b="1" dirty="0">
                  <a:solidFill>
                    <a:srgbClr val="00B050"/>
                  </a:solidFill>
                </a:rPr>
                <a:t>OUTPUT</a:t>
              </a:r>
            </a:p>
          </p:txBody>
        </p:sp>
      </p:grpSp>
      <p:sp>
        <p:nvSpPr>
          <p:cNvPr id="98" name="TextBox 97">
            <a:extLst>
              <a:ext uri="{FF2B5EF4-FFF2-40B4-BE49-F238E27FC236}">
                <a16:creationId xmlns:a16="http://schemas.microsoft.com/office/drawing/2014/main" id="{87E3E171-EFE1-4DA4-98D7-6F85FACE28ED}"/>
              </a:ext>
            </a:extLst>
          </p:cNvPr>
          <p:cNvSpPr txBox="1"/>
          <p:nvPr/>
        </p:nvSpPr>
        <p:spPr>
          <a:xfrm>
            <a:off x="371475" y="6482938"/>
            <a:ext cx="25443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>
                <a:latin typeface="Book Antiqua" panose="02040602050305030304" pitchFamily="18" charset="0"/>
              </a:rPr>
              <a:t> </a:t>
            </a:r>
            <a:r>
              <a:rPr lang="en-IN" sz="1200" dirty="0">
                <a:latin typeface="Arial Narrow" panose="020B0606020202030204" pitchFamily="34" charset="0"/>
              </a:rPr>
              <a:t>Figure source: Fei </a:t>
            </a:r>
            <a:r>
              <a:rPr lang="en-IN" sz="1200" dirty="0" err="1">
                <a:latin typeface="Arial Narrow" panose="020B0606020202030204" pitchFamily="34" charset="0"/>
              </a:rPr>
              <a:t>Fei</a:t>
            </a:r>
            <a:r>
              <a:rPr lang="en-IN" sz="1200" dirty="0">
                <a:latin typeface="Arial Narrow" panose="020B0606020202030204" pitchFamily="34" charset="0"/>
              </a:rPr>
              <a:t> Li et. al. Stanford</a:t>
            </a:r>
          </a:p>
        </p:txBody>
      </p:sp>
    </p:spTree>
    <p:extLst>
      <p:ext uri="{BB962C8B-B14F-4D97-AF65-F5344CB8AC3E}">
        <p14:creationId xmlns:p14="http://schemas.microsoft.com/office/powerpoint/2010/main" val="17199807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37382"/>
            <a:ext cx="9330192" cy="552290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02309" y="6119336"/>
            <a:ext cx="117486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Arial Narrow" panose="020B0606020202030204" pitchFamily="34" charset="0"/>
              </a:rPr>
              <a:t>Image Source : </a:t>
            </a:r>
            <a:r>
              <a:rPr lang="en-US" sz="1400" dirty="0">
                <a:solidFill>
                  <a:srgbClr val="00B0F0"/>
                </a:solidFill>
                <a:latin typeface="Arial Narrow" panose="020B0606020202030204" pitchFamily="34" charset="0"/>
              </a:rPr>
              <a:t>Hu, </a:t>
            </a:r>
            <a:r>
              <a:rPr lang="en-US" sz="1400" dirty="0" err="1">
                <a:solidFill>
                  <a:srgbClr val="00B0F0"/>
                </a:solidFill>
                <a:latin typeface="Arial Narrow" panose="020B0606020202030204" pitchFamily="34" charset="0"/>
              </a:rPr>
              <a:t>Hanqing</a:t>
            </a:r>
            <a:r>
              <a:rPr lang="en-US" sz="1400" dirty="0">
                <a:solidFill>
                  <a:srgbClr val="00B0F0"/>
                </a:solidFill>
                <a:latin typeface="Arial Narrow" panose="020B0606020202030204" pitchFamily="34" charset="0"/>
              </a:rPr>
              <a:t> &amp; </a:t>
            </a:r>
            <a:r>
              <a:rPr lang="en-US" sz="1400" dirty="0" err="1">
                <a:solidFill>
                  <a:srgbClr val="00B0F0"/>
                </a:solidFill>
                <a:latin typeface="Arial Narrow" panose="020B0606020202030204" pitchFamily="34" charset="0"/>
              </a:rPr>
              <a:t>Lyu</a:t>
            </a:r>
            <a:r>
              <a:rPr lang="en-US" sz="1400" dirty="0">
                <a:solidFill>
                  <a:srgbClr val="00B0F0"/>
                </a:solidFill>
                <a:latin typeface="Arial Narrow" panose="020B0606020202030204" pitchFamily="34" charset="0"/>
              </a:rPr>
              <a:t>, </a:t>
            </a:r>
            <a:r>
              <a:rPr lang="en-US" sz="1400" dirty="0" err="1">
                <a:solidFill>
                  <a:srgbClr val="00B0F0"/>
                </a:solidFill>
                <a:latin typeface="Arial Narrow" panose="020B0606020202030204" pitchFamily="34" charset="0"/>
              </a:rPr>
              <a:t>Jin</a:t>
            </a:r>
            <a:r>
              <a:rPr lang="en-US" sz="1400" dirty="0">
                <a:solidFill>
                  <a:srgbClr val="00B0F0"/>
                </a:solidFill>
                <a:latin typeface="Arial Narrow" panose="020B0606020202030204" pitchFamily="34" charset="0"/>
              </a:rPr>
              <a:t> &amp; Yin, </a:t>
            </a:r>
            <a:r>
              <a:rPr lang="en-US" sz="1400" dirty="0" err="1">
                <a:solidFill>
                  <a:srgbClr val="00B0F0"/>
                </a:solidFill>
                <a:latin typeface="Arial Narrow" panose="020B0606020202030204" pitchFamily="34" charset="0"/>
              </a:rPr>
              <a:t>Xiaolin</a:t>
            </a:r>
            <a:r>
              <a:rPr lang="en-US" sz="1400" dirty="0">
                <a:solidFill>
                  <a:srgbClr val="00B0F0"/>
                </a:solidFill>
                <a:latin typeface="Arial Narrow" panose="020B0606020202030204" pitchFamily="34" charset="0"/>
              </a:rPr>
              <a:t>. (2020). Research and Prospect of Image Recognition Based on Convolutional Neural Network. Journal of Physics: Conference Series. 1574. 012161. 10.1088/1742-6596/1574/1/012161. </a:t>
            </a:r>
            <a:endParaRPr lang="en-IN" sz="1400" dirty="0">
              <a:solidFill>
                <a:srgbClr val="00B0F0"/>
              </a:solidFill>
              <a:latin typeface="Arial Narrow" panose="020B060602020203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637847" y="5439703"/>
            <a:ext cx="68799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ImageNet Large Scale Visual Recognition Challenge (ILSVRC) winners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57104" y="1488954"/>
            <a:ext cx="1705916" cy="40011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IN" sz="2000" dirty="0">
                <a:latin typeface="Arial Narrow" panose="020B0606020202030204" pitchFamily="34" charset="0"/>
              </a:rPr>
              <a:t>Deeper Network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48000" y="2028825"/>
            <a:ext cx="2524125" cy="2457450"/>
          </a:xfrm>
          <a:prstGeom prst="roundRect">
            <a:avLst/>
          </a:prstGeom>
          <a:solidFill>
            <a:schemeClr val="accent3">
              <a:lumMod val="60000"/>
              <a:lumOff val="40000"/>
              <a:alpha val="4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97508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E57904-8467-446D-BCE0-A90AC9244F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02245" cy="4351338"/>
          </a:xfrm>
        </p:spPr>
        <p:txBody>
          <a:bodyPr>
            <a:normAutofit/>
          </a:bodyPr>
          <a:lstStyle/>
          <a:p>
            <a:pPr algn="just"/>
            <a:r>
              <a:rPr lang="en-GB" sz="2000" dirty="0" err="1">
                <a:solidFill>
                  <a:srgbClr val="00B0F0"/>
                </a:solidFill>
                <a:latin typeface="Arial Narrow" panose="020B0606020202030204" pitchFamily="34" charset="0"/>
              </a:rPr>
              <a:t>GoogLeNet</a:t>
            </a:r>
            <a:r>
              <a:rPr lang="en-GB" sz="2000" dirty="0">
                <a:latin typeface="Arial Narrow" panose="020B0606020202030204" pitchFamily="34" charset="0"/>
              </a:rPr>
              <a:t>, introduced by </a:t>
            </a:r>
            <a:r>
              <a:rPr lang="en-GB" sz="2000" dirty="0">
                <a:solidFill>
                  <a:srgbClr val="00B0F0"/>
                </a:solidFill>
                <a:latin typeface="Arial Narrow" panose="020B0606020202030204" pitchFamily="34" charset="0"/>
              </a:rPr>
              <a:t>Christian </a:t>
            </a:r>
            <a:r>
              <a:rPr lang="en-GB" sz="2000" dirty="0" err="1">
                <a:solidFill>
                  <a:srgbClr val="00B0F0"/>
                </a:solidFill>
                <a:latin typeface="Arial Narrow" panose="020B0606020202030204" pitchFamily="34" charset="0"/>
              </a:rPr>
              <a:t>Szegedy</a:t>
            </a:r>
            <a:r>
              <a:rPr lang="en-GB" sz="2000" dirty="0">
                <a:solidFill>
                  <a:srgbClr val="00B0F0"/>
                </a:solidFill>
                <a:latin typeface="Arial Narrow" panose="020B0606020202030204" pitchFamily="34" charset="0"/>
              </a:rPr>
              <a:t> </a:t>
            </a:r>
            <a:r>
              <a:rPr lang="en-GB" sz="2000" dirty="0">
                <a:latin typeface="Arial Narrow" panose="020B0606020202030204" pitchFamily="34" charset="0"/>
              </a:rPr>
              <a:t>and colleagues in 2014, is a deep convolutional neural network (CNN) that won the ImageNet Large Scale Visual Recognition Challenge (ILSVRC) 2014 by combining high classification accuracy with computational efficiency. It tops the </a:t>
            </a:r>
            <a:r>
              <a:rPr lang="en-US" sz="2000" dirty="0">
                <a:latin typeface="Arial Narrow" panose="020B0606020202030204" pitchFamily="34" charset="0"/>
              </a:rPr>
              <a:t>ILSVRC 2014 classification challenge with a </a:t>
            </a:r>
            <a:r>
              <a:rPr lang="en-US" sz="2000" dirty="0">
                <a:solidFill>
                  <a:srgbClr val="00B0F0"/>
                </a:solidFill>
                <a:latin typeface="Arial Narrow" panose="020B0606020202030204" pitchFamily="34" charset="0"/>
              </a:rPr>
              <a:t>6.7% Top-5 error rate</a:t>
            </a:r>
            <a:r>
              <a:rPr lang="en-US" sz="2000" dirty="0">
                <a:latin typeface="Arial Narrow" panose="020B0606020202030204" pitchFamily="34" charset="0"/>
              </a:rPr>
              <a:t>.</a:t>
            </a:r>
            <a:endParaRPr lang="en-GB" sz="2000" dirty="0">
              <a:latin typeface="Arial Narrow" panose="020B0606020202030204" pitchFamily="34" charset="0"/>
            </a:endParaRPr>
          </a:p>
          <a:p>
            <a:pPr algn="just"/>
            <a:endParaRPr lang="en-GB" sz="2000" dirty="0">
              <a:latin typeface="Arial Narrow" panose="020B0606020202030204" pitchFamily="34" charset="0"/>
            </a:endParaRPr>
          </a:p>
          <a:p>
            <a:pPr algn="just"/>
            <a:r>
              <a:rPr lang="en-GB" sz="2000" dirty="0">
                <a:latin typeface="Arial Narrow" panose="020B0606020202030204" pitchFamily="34" charset="0"/>
              </a:rPr>
              <a:t>The architecture consists of </a:t>
            </a:r>
            <a:r>
              <a:rPr lang="en-GB" sz="2000" dirty="0">
                <a:solidFill>
                  <a:srgbClr val="00B0F0"/>
                </a:solidFill>
                <a:latin typeface="Arial Narrow" panose="020B0606020202030204" pitchFamily="34" charset="0"/>
              </a:rPr>
              <a:t>22 learnable layers </a:t>
            </a:r>
            <a:r>
              <a:rPr lang="en-GB" sz="2000" dirty="0">
                <a:latin typeface="Arial Narrow" panose="020B0606020202030204" pitchFamily="34" charset="0"/>
              </a:rPr>
              <a:t>and is built around the novel </a:t>
            </a:r>
            <a:r>
              <a:rPr lang="en-GB" sz="2000" dirty="0">
                <a:solidFill>
                  <a:srgbClr val="00B0F0"/>
                </a:solidFill>
                <a:latin typeface="Arial Narrow" panose="020B0606020202030204" pitchFamily="34" charset="0"/>
              </a:rPr>
              <a:t>Inception module</a:t>
            </a:r>
            <a:r>
              <a:rPr lang="en-GB" sz="2000" dirty="0">
                <a:latin typeface="Arial Narrow" panose="020B0606020202030204" pitchFamily="34" charset="0"/>
              </a:rPr>
              <a:t>, which processes input features through multiple parallel branches using </a:t>
            </a:r>
            <a:r>
              <a:rPr lang="en-GB" sz="2000" dirty="0">
                <a:solidFill>
                  <a:srgbClr val="00B0F0"/>
                </a:solidFill>
                <a:latin typeface="Arial Narrow" panose="020B0606020202030204" pitchFamily="34" charset="0"/>
              </a:rPr>
              <a:t>1 × 1, 3 × 3, and 5 × 5 convolutional filters</a:t>
            </a:r>
            <a:r>
              <a:rPr lang="en-GB" sz="2000" dirty="0">
                <a:latin typeface="Arial Narrow" panose="020B0606020202030204" pitchFamily="34" charset="0"/>
              </a:rPr>
              <a:t>, along with a </a:t>
            </a:r>
            <a:r>
              <a:rPr lang="en-GB" sz="2000" dirty="0">
                <a:solidFill>
                  <a:srgbClr val="00B0F0"/>
                </a:solidFill>
                <a:latin typeface="Arial Narrow" panose="020B0606020202030204" pitchFamily="34" charset="0"/>
              </a:rPr>
              <a:t>3 × 3 max-pooling </a:t>
            </a:r>
            <a:r>
              <a:rPr lang="en-GB" sz="2000" dirty="0">
                <a:latin typeface="Arial Narrow" panose="020B0606020202030204" pitchFamily="34" charset="0"/>
              </a:rPr>
              <a:t>branch. </a:t>
            </a:r>
          </a:p>
          <a:p>
            <a:pPr algn="just"/>
            <a:endParaRPr lang="en-GB" sz="2000" dirty="0">
              <a:latin typeface="Arial Narrow" panose="020B0606020202030204" pitchFamily="34" charset="0"/>
            </a:endParaRPr>
          </a:p>
          <a:p>
            <a:pPr algn="just"/>
            <a:r>
              <a:rPr lang="en-GB" sz="2000" dirty="0">
                <a:latin typeface="Arial Narrow" panose="020B0606020202030204" pitchFamily="34" charset="0"/>
              </a:rPr>
              <a:t>The outputs of these parallel operations are concatenated to capture visual information at multiple spatial scales simultaneously.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24FD947-E442-4788-8907-4560DE732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19159"/>
            <a:ext cx="10515600" cy="886626"/>
          </a:xfrm>
        </p:spPr>
        <p:txBody>
          <a:bodyPr>
            <a:normAutofit fontScale="90000"/>
          </a:bodyPr>
          <a:lstStyle/>
          <a:p>
            <a:r>
              <a:rPr lang="en-IN" sz="4000" dirty="0">
                <a:latin typeface="Century" panose="02040604050505020304" pitchFamily="18" charset="0"/>
              </a:rPr>
              <a:t>Google Net</a:t>
            </a:r>
            <a:br>
              <a:rPr lang="en-IN" dirty="0">
                <a:latin typeface="Century" panose="02040604050505020304" pitchFamily="18" charset="0"/>
              </a:rPr>
            </a:br>
            <a:r>
              <a:rPr lang="en-IN" sz="2700" dirty="0" err="1">
                <a:solidFill>
                  <a:srgbClr val="DE76E6"/>
                </a:solidFill>
                <a:latin typeface="Century" panose="02040604050505020304" pitchFamily="18" charset="0"/>
              </a:rPr>
              <a:t>Szegedy</a:t>
            </a:r>
            <a:r>
              <a:rPr lang="en-IN" sz="2700" dirty="0">
                <a:solidFill>
                  <a:srgbClr val="DE76E6"/>
                </a:solidFill>
                <a:latin typeface="Century" panose="02040604050505020304" pitchFamily="18" charset="0"/>
              </a:rPr>
              <a:t> et. al. 2014 </a:t>
            </a:r>
            <a:endParaRPr lang="en-IN" sz="2400" dirty="0">
              <a:solidFill>
                <a:srgbClr val="DE76E6"/>
              </a:solidFill>
              <a:latin typeface="Century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05450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C76BE0-7C6C-46D9-9E85-D463AAEB91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870" y="1451728"/>
            <a:ext cx="10515600" cy="4996205"/>
          </a:xfrm>
        </p:spPr>
        <p:txBody>
          <a:bodyPr>
            <a:normAutofit/>
          </a:bodyPr>
          <a:lstStyle/>
          <a:p>
            <a:pPr algn="just"/>
            <a:r>
              <a:rPr lang="en-GB" sz="2000" dirty="0">
                <a:latin typeface="Arial Narrow" panose="020B0606020202030204" pitchFamily="34" charset="0"/>
              </a:rPr>
              <a:t>To reduce computational complexity, </a:t>
            </a:r>
            <a:r>
              <a:rPr lang="en-GB" sz="2000" dirty="0" err="1">
                <a:latin typeface="Arial Narrow" panose="020B0606020202030204" pitchFamily="34" charset="0"/>
              </a:rPr>
              <a:t>GoogLe</a:t>
            </a:r>
            <a:r>
              <a:rPr lang="en-GB" sz="2000" dirty="0">
                <a:latin typeface="Arial Narrow" panose="020B0606020202030204" pitchFamily="34" charset="0"/>
              </a:rPr>
              <a:t> Net employs </a:t>
            </a:r>
            <a:r>
              <a:rPr lang="en-GB" sz="2000" dirty="0">
                <a:solidFill>
                  <a:srgbClr val="00B0F0"/>
                </a:solidFill>
                <a:latin typeface="Arial Narrow" panose="020B0606020202030204" pitchFamily="34" charset="0"/>
              </a:rPr>
              <a:t>1 × 1 convolutions </a:t>
            </a:r>
            <a:r>
              <a:rPr lang="en-GB" sz="2000" dirty="0">
                <a:latin typeface="Arial Narrow" panose="020B0606020202030204" pitchFamily="34" charset="0"/>
              </a:rPr>
              <a:t>as </a:t>
            </a:r>
            <a:r>
              <a:rPr lang="en-GB" sz="2000" dirty="0">
                <a:solidFill>
                  <a:srgbClr val="00B0F0"/>
                </a:solidFill>
                <a:latin typeface="Arial Narrow" panose="020B0606020202030204" pitchFamily="34" charset="0"/>
              </a:rPr>
              <a:t>bottleneck layers </a:t>
            </a:r>
            <a:r>
              <a:rPr lang="en-GB" sz="2000" dirty="0">
                <a:latin typeface="Arial Narrow" panose="020B0606020202030204" pitchFamily="34" charset="0"/>
              </a:rPr>
              <a:t>for dimensionality reduction before the </a:t>
            </a:r>
            <a:r>
              <a:rPr lang="en-GB" sz="2000" dirty="0">
                <a:solidFill>
                  <a:srgbClr val="00B0F0"/>
                </a:solidFill>
                <a:latin typeface="Arial Narrow" panose="020B0606020202030204" pitchFamily="34" charset="0"/>
              </a:rPr>
              <a:t>computationally expensive 3 × 3 and 5 × 5 convolutions</a:t>
            </a:r>
            <a:r>
              <a:rPr lang="en-GB" sz="2000" dirty="0">
                <a:latin typeface="Arial Narrow" panose="020B0606020202030204" pitchFamily="34" charset="0"/>
              </a:rPr>
              <a:t>, significantly decreasing the number of parameters. </a:t>
            </a:r>
            <a:r>
              <a:rPr lang="en-US" sz="2000" dirty="0">
                <a:latin typeface="Arial Narrow" panose="020B0606020202030204" pitchFamily="34" charset="0"/>
              </a:rPr>
              <a:t>Uses only 5 million parameters—about </a:t>
            </a:r>
            <a:r>
              <a:rPr lang="en-US" sz="2000" dirty="0">
                <a:solidFill>
                  <a:srgbClr val="00B0F0"/>
                </a:solidFill>
                <a:latin typeface="Arial Narrow" panose="020B0606020202030204" pitchFamily="34" charset="0"/>
              </a:rPr>
              <a:t>12× fewer than </a:t>
            </a:r>
            <a:r>
              <a:rPr lang="en-US" sz="2000" dirty="0" err="1">
                <a:solidFill>
                  <a:srgbClr val="00B0F0"/>
                </a:solidFill>
                <a:latin typeface="Arial Narrow" panose="020B0606020202030204" pitchFamily="34" charset="0"/>
              </a:rPr>
              <a:t>AlexNet</a:t>
            </a:r>
            <a:r>
              <a:rPr lang="en-US" sz="2000" dirty="0">
                <a:latin typeface="Arial Narrow" panose="020B0606020202030204" pitchFamily="34" charset="0"/>
              </a:rPr>
              <a:t>.</a:t>
            </a:r>
            <a:r>
              <a:rPr lang="en-GB" sz="2000" dirty="0">
                <a:latin typeface="Arial Narrow" panose="020B0606020202030204" pitchFamily="34" charset="0"/>
              </a:rPr>
              <a:t> </a:t>
            </a:r>
          </a:p>
          <a:p>
            <a:pPr algn="just"/>
            <a:endParaRPr lang="en-GB" sz="2000" dirty="0">
              <a:latin typeface="Arial Narrow" panose="020B0606020202030204" pitchFamily="34" charset="0"/>
            </a:endParaRPr>
          </a:p>
          <a:p>
            <a:pPr algn="just"/>
            <a:r>
              <a:rPr lang="en-GB" sz="2000" dirty="0">
                <a:latin typeface="Arial Narrow" panose="020B0606020202030204" pitchFamily="34" charset="0"/>
              </a:rPr>
              <a:t>The network accepts </a:t>
            </a:r>
            <a:r>
              <a:rPr lang="en-GB" sz="2000" dirty="0">
                <a:solidFill>
                  <a:srgbClr val="00B0F0"/>
                </a:solidFill>
                <a:latin typeface="Arial Narrow" panose="020B0606020202030204" pitchFamily="34" charset="0"/>
              </a:rPr>
              <a:t>224 × 224 × 3 RGB images </a:t>
            </a:r>
            <a:r>
              <a:rPr lang="en-GB" sz="2000" dirty="0">
                <a:latin typeface="Arial Narrow" panose="020B0606020202030204" pitchFamily="34" charset="0"/>
              </a:rPr>
              <a:t>as input and </a:t>
            </a:r>
            <a:r>
              <a:rPr lang="en-GB" sz="2000" dirty="0">
                <a:solidFill>
                  <a:srgbClr val="00B0F0"/>
                </a:solidFill>
                <a:latin typeface="Arial Narrow" panose="020B0606020202030204" pitchFamily="34" charset="0"/>
              </a:rPr>
              <a:t>replaces large fully connected layers </a:t>
            </a:r>
            <a:r>
              <a:rPr lang="en-GB" sz="2000" dirty="0">
                <a:latin typeface="Arial Narrow" panose="020B0606020202030204" pitchFamily="34" charset="0"/>
              </a:rPr>
              <a:t>with </a:t>
            </a:r>
            <a:r>
              <a:rPr lang="en-GB" sz="2000" dirty="0">
                <a:solidFill>
                  <a:srgbClr val="00B0F0"/>
                </a:solidFill>
                <a:latin typeface="Arial Narrow" panose="020B0606020202030204" pitchFamily="34" charset="0"/>
              </a:rPr>
              <a:t>global average pooling</a:t>
            </a:r>
            <a:r>
              <a:rPr lang="en-GB" sz="2000" dirty="0">
                <a:latin typeface="Arial Narrow" panose="020B0606020202030204" pitchFamily="34" charset="0"/>
              </a:rPr>
              <a:t>, greatly reducing model size and mitigating overfitting. So, there are </a:t>
            </a:r>
            <a:r>
              <a:rPr lang="en-GB" sz="2000" dirty="0">
                <a:solidFill>
                  <a:srgbClr val="00B0F0"/>
                </a:solidFill>
                <a:latin typeface="Arial Narrow" panose="020B0606020202030204" pitchFamily="34" charset="0"/>
              </a:rPr>
              <a:t>no FC layers </a:t>
            </a:r>
            <a:r>
              <a:rPr lang="en-GB" sz="2000" dirty="0">
                <a:latin typeface="Arial Narrow" panose="020B0606020202030204" pitchFamily="34" charset="0"/>
              </a:rPr>
              <a:t>in this architecture.</a:t>
            </a:r>
          </a:p>
          <a:p>
            <a:pPr algn="just"/>
            <a:endParaRPr lang="en-GB" sz="2000" dirty="0">
              <a:latin typeface="Arial Narrow" panose="020B0606020202030204" pitchFamily="34" charset="0"/>
            </a:endParaRPr>
          </a:p>
          <a:p>
            <a:pPr algn="just"/>
            <a:r>
              <a:rPr lang="en-GB" sz="2000" dirty="0">
                <a:latin typeface="Arial Narrow" panose="020B0606020202030204" pitchFamily="34" charset="0"/>
              </a:rPr>
              <a:t>Additionally, </a:t>
            </a:r>
            <a:r>
              <a:rPr lang="en-GB" sz="2000" dirty="0">
                <a:solidFill>
                  <a:srgbClr val="00B0F0"/>
                </a:solidFill>
                <a:latin typeface="Arial Narrow" panose="020B0606020202030204" pitchFamily="34" charset="0"/>
              </a:rPr>
              <a:t>auxiliary classifiers </a:t>
            </a:r>
            <a:r>
              <a:rPr lang="en-GB" sz="2000" dirty="0">
                <a:latin typeface="Arial Narrow" panose="020B0606020202030204" pitchFamily="34" charset="0"/>
              </a:rPr>
              <a:t>are attached to intermediate layers during training to improve gradient propagation and regularization. </a:t>
            </a:r>
          </a:p>
          <a:p>
            <a:pPr marL="0" indent="0" algn="just">
              <a:buNone/>
            </a:pPr>
            <a:endParaRPr lang="en-GB" sz="2000" dirty="0">
              <a:latin typeface="Arial Narrow" panose="020B0606020202030204" pitchFamily="34" charset="0"/>
            </a:endParaRPr>
          </a:p>
          <a:p>
            <a:pPr algn="just"/>
            <a:r>
              <a:rPr lang="en-GB" sz="2000" dirty="0">
                <a:latin typeface="Arial Narrow" panose="020B0606020202030204" pitchFamily="34" charset="0"/>
              </a:rPr>
              <a:t>Owing to its efficient </a:t>
            </a:r>
            <a:r>
              <a:rPr lang="en-GB" sz="2000" dirty="0">
                <a:solidFill>
                  <a:srgbClr val="00B0F0"/>
                </a:solidFill>
                <a:latin typeface="Arial Narrow" panose="020B0606020202030204" pitchFamily="34" charset="0"/>
              </a:rPr>
              <a:t>multi-scale feature extraction, reduced parameter count, and improved training strategy</a:t>
            </a:r>
            <a:r>
              <a:rPr lang="en-GB" sz="2000" dirty="0">
                <a:latin typeface="Arial Narrow" panose="020B0606020202030204" pitchFamily="34" charset="0"/>
              </a:rPr>
              <a:t>, </a:t>
            </a:r>
            <a:r>
              <a:rPr lang="en-GB" sz="2000" dirty="0" err="1">
                <a:latin typeface="Arial Narrow" panose="020B0606020202030204" pitchFamily="34" charset="0"/>
              </a:rPr>
              <a:t>GoogLe</a:t>
            </a:r>
            <a:r>
              <a:rPr lang="en-GB" sz="2000" dirty="0">
                <a:latin typeface="Arial Narrow" panose="020B0606020202030204" pitchFamily="34" charset="0"/>
              </a:rPr>
              <a:t> Net achieved state-of-the-art performance while using substantially </a:t>
            </a:r>
            <a:r>
              <a:rPr lang="en-GB" sz="2000" dirty="0">
                <a:solidFill>
                  <a:srgbClr val="00B0F0"/>
                </a:solidFill>
                <a:latin typeface="Arial Narrow" panose="020B0606020202030204" pitchFamily="34" charset="0"/>
              </a:rPr>
              <a:t>fewer parameters </a:t>
            </a:r>
            <a:r>
              <a:rPr lang="en-GB" sz="2000" dirty="0">
                <a:latin typeface="Arial Narrow" panose="020B0606020202030204" pitchFamily="34" charset="0"/>
              </a:rPr>
              <a:t>than earlier architectures such as </a:t>
            </a:r>
            <a:r>
              <a:rPr lang="en-GB" sz="2000" dirty="0" err="1">
                <a:latin typeface="Arial Narrow" panose="020B0606020202030204" pitchFamily="34" charset="0"/>
              </a:rPr>
              <a:t>AlexNet</a:t>
            </a:r>
            <a:r>
              <a:rPr lang="en-GB" sz="2000" dirty="0">
                <a:latin typeface="Arial Narrow" panose="020B0606020202030204" pitchFamily="34" charset="0"/>
              </a:rPr>
              <a:t> and </a:t>
            </a:r>
            <a:r>
              <a:rPr lang="en-GB" sz="2000" dirty="0" err="1">
                <a:latin typeface="Arial Narrow" panose="020B0606020202030204" pitchFamily="34" charset="0"/>
              </a:rPr>
              <a:t>VGGNet</a:t>
            </a:r>
            <a:r>
              <a:rPr lang="en-GB" sz="2000" dirty="0">
                <a:latin typeface="Arial Narrow" panose="020B0606020202030204" pitchFamily="34" charset="0"/>
              </a:rPr>
              <a:t>, making it a milestone in the evolution of deep convolutional neural networks.</a:t>
            </a:r>
          </a:p>
          <a:p>
            <a:endParaRPr lang="en-GB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CB36D71-3232-44F8-B2DA-0CA9D2BE7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870" y="160940"/>
            <a:ext cx="10515600" cy="886626"/>
          </a:xfrm>
        </p:spPr>
        <p:txBody>
          <a:bodyPr>
            <a:normAutofit fontScale="90000"/>
          </a:bodyPr>
          <a:lstStyle/>
          <a:p>
            <a:r>
              <a:rPr lang="en-IN" sz="4000" dirty="0">
                <a:latin typeface="Century" panose="02040604050505020304" pitchFamily="18" charset="0"/>
              </a:rPr>
              <a:t>Google Net</a:t>
            </a:r>
            <a:br>
              <a:rPr lang="en-IN" dirty="0">
                <a:latin typeface="Century" panose="02040604050505020304" pitchFamily="18" charset="0"/>
              </a:rPr>
            </a:br>
            <a:r>
              <a:rPr lang="en-IN" sz="2700" dirty="0" err="1">
                <a:solidFill>
                  <a:srgbClr val="DE76E6"/>
                </a:solidFill>
                <a:latin typeface="Century" panose="02040604050505020304" pitchFamily="18" charset="0"/>
              </a:rPr>
              <a:t>Szegedy</a:t>
            </a:r>
            <a:r>
              <a:rPr lang="en-IN" sz="2700" dirty="0">
                <a:solidFill>
                  <a:srgbClr val="DE76E6"/>
                </a:solidFill>
                <a:latin typeface="Century" panose="02040604050505020304" pitchFamily="18" charset="0"/>
              </a:rPr>
              <a:t> et. al. 2014 </a:t>
            </a:r>
            <a:endParaRPr lang="en-IN" sz="2400" dirty="0">
              <a:solidFill>
                <a:srgbClr val="DE76E6"/>
              </a:solidFill>
              <a:latin typeface="Century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69401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https://miro.medium.com/v2/resize:fit:700/0*q5eMDjUHKqEyo7qY.png">
            <a:extLst>
              <a:ext uri="{FF2B5EF4-FFF2-40B4-BE49-F238E27FC236}">
                <a16:creationId xmlns:a16="http://schemas.microsoft.com/office/drawing/2014/main" id="{1A0F736C-CCD9-4E23-9637-0CE0AFE564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986054"/>
            <a:ext cx="10515600" cy="4341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E1A41A9-95E1-42EE-A6E6-BBC09FCE8CB6}"/>
              </a:ext>
            </a:extLst>
          </p:cNvPr>
          <p:cNvSpPr txBox="1"/>
          <p:nvPr/>
        </p:nvSpPr>
        <p:spPr>
          <a:xfrm>
            <a:off x="4673381" y="6468972"/>
            <a:ext cx="668041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>
                <a:latin typeface="Arial Narrow" panose="020B0606020202030204" pitchFamily="34" charset="0"/>
              </a:rPr>
              <a:t>Image Source : </a:t>
            </a:r>
            <a:r>
              <a:rPr lang="en-IN" sz="1400" dirty="0">
                <a:latin typeface="Arial Narrow" panose="020B0606020202030204" pitchFamily="34" charset="0"/>
                <a:hlinkClick r:id="rId3"/>
              </a:rPr>
              <a:t>https://miro.medium.com/v2/resize:fit:720/format:webp/0*q5eMDjUHKqEyo7qY.png</a:t>
            </a:r>
            <a:r>
              <a:rPr lang="en-IN" sz="1400" dirty="0">
                <a:latin typeface="Arial Narrow" panose="020B0606020202030204" pitchFamily="34" charset="0"/>
              </a:rPr>
              <a:t> 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D0F0FA5-25F9-4A82-B7DA-5DEE821BD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9895" y="792536"/>
            <a:ext cx="10515600" cy="886626"/>
          </a:xfrm>
        </p:spPr>
        <p:txBody>
          <a:bodyPr>
            <a:normAutofit fontScale="90000"/>
          </a:bodyPr>
          <a:lstStyle/>
          <a:p>
            <a:r>
              <a:rPr lang="en-IN" sz="4000" dirty="0">
                <a:latin typeface="Century" panose="02040604050505020304" pitchFamily="18" charset="0"/>
              </a:rPr>
              <a:t>Architecture of Google Net</a:t>
            </a:r>
            <a:br>
              <a:rPr lang="en-IN" dirty="0">
                <a:latin typeface="Century" panose="02040604050505020304" pitchFamily="18" charset="0"/>
              </a:rPr>
            </a:br>
            <a:r>
              <a:rPr lang="en-IN" sz="2700" dirty="0" err="1">
                <a:solidFill>
                  <a:srgbClr val="DE76E6"/>
                </a:solidFill>
                <a:latin typeface="Century" panose="02040604050505020304" pitchFamily="18" charset="0"/>
              </a:rPr>
              <a:t>Szegedy</a:t>
            </a:r>
            <a:r>
              <a:rPr lang="en-IN" sz="2700" dirty="0">
                <a:solidFill>
                  <a:srgbClr val="DE76E6"/>
                </a:solidFill>
                <a:latin typeface="Century" panose="02040604050505020304" pitchFamily="18" charset="0"/>
              </a:rPr>
              <a:t> et. al. 2014 </a:t>
            </a:r>
            <a:endParaRPr lang="en-IN" sz="2400" dirty="0">
              <a:solidFill>
                <a:srgbClr val="DE76E6"/>
              </a:solidFill>
              <a:latin typeface="Century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51790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2A899C-5AB2-49C3-B455-BD6D88386F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9407" y="1439089"/>
            <a:ext cx="11265817" cy="845295"/>
          </a:xfrm>
        </p:spPr>
        <p:txBody>
          <a:bodyPr>
            <a:noAutofit/>
          </a:bodyPr>
          <a:lstStyle/>
          <a:p>
            <a:pPr algn="just"/>
            <a:r>
              <a:rPr lang="en-GB" sz="2000" dirty="0">
                <a:latin typeface="Arial Narrow" panose="020B0606020202030204" pitchFamily="34" charset="0"/>
              </a:rPr>
              <a:t>The </a:t>
            </a:r>
            <a:r>
              <a:rPr lang="en-GB" sz="2000" dirty="0">
                <a:solidFill>
                  <a:srgbClr val="00B0F0"/>
                </a:solidFill>
                <a:latin typeface="Arial Narrow" panose="020B0606020202030204" pitchFamily="34" charset="0"/>
              </a:rPr>
              <a:t>Inception module </a:t>
            </a:r>
            <a:r>
              <a:rPr lang="en-GB" sz="2000" dirty="0">
                <a:latin typeface="Arial Narrow" panose="020B0606020202030204" pitchFamily="34" charset="0"/>
              </a:rPr>
              <a:t>is the core architectural building block of </a:t>
            </a:r>
            <a:r>
              <a:rPr lang="en-GB" sz="2000" dirty="0" err="1">
                <a:solidFill>
                  <a:srgbClr val="00B0F0"/>
                </a:solidFill>
                <a:latin typeface="Arial Narrow" panose="020B0606020202030204" pitchFamily="34" charset="0"/>
              </a:rPr>
              <a:t>GoogLeNet</a:t>
            </a:r>
            <a:r>
              <a:rPr lang="en-GB" sz="2000" dirty="0">
                <a:solidFill>
                  <a:srgbClr val="00B0F0"/>
                </a:solidFill>
                <a:latin typeface="Arial Narrow" panose="020B0606020202030204" pitchFamily="34" charset="0"/>
              </a:rPr>
              <a:t> (Inception-v1)</a:t>
            </a:r>
            <a:r>
              <a:rPr lang="en-GB" sz="2000" dirty="0">
                <a:latin typeface="Arial Narrow" panose="020B0606020202030204" pitchFamily="34" charset="0"/>
              </a:rPr>
              <a:t>, designed to improve representational power while maintaining computational efficiency.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A55267B-6AD9-457E-99C7-FDF599BC9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407" y="367901"/>
            <a:ext cx="10515600" cy="886626"/>
          </a:xfrm>
        </p:spPr>
        <p:txBody>
          <a:bodyPr>
            <a:normAutofit fontScale="90000"/>
          </a:bodyPr>
          <a:lstStyle/>
          <a:p>
            <a:r>
              <a:rPr lang="en-IN" sz="4000" dirty="0">
                <a:latin typeface="Century" panose="02040604050505020304" pitchFamily="18" charset="0"/>
              </a:rPr>
              <a:t>Google Net</a:t>
            </a:r>
            <a:br>
              <a:rPr lang="en-IN" dirty="0">
                <a:latin typeface="Century" panose="02040604050505020304" pitchFamily="18" charset="0"/>
              </a:rPr>
            </a:br>
            <a:r>
              <a:rPr lang="en-IN" sz="2700" dirty="0">
                <a:solidFill>
                  <a:srgbClr val="DE76E6"/>
                </a:solidFill>
                <a:latin typeface="Century" panose="02040604050505020304" pitchFamily="18" charset="0"/>
              </a:rPr>
              <a:t>Inception Module</a:t>
            </a:r>
            <a:endParaRPr lang="en-IN" sz="2400" dirty="0">
              <a:solidFill>
                <a:srgbClr val="DE76E6"/>
              </a:solidFill>
              <a:latin typeface="Century" panose="02040604050505020304" pitchFamily="18" charset="0"/>
            </a:endParaRPr>
          </a:p>
        </p:txBody>
      </p:sp>
      <p:pic>
        <p:nvPicPr>
          <p:cNvPr id="5" name="Picture 2" descr="https://miro.medium.com/v2/resize:fit:700/0*q5eMDjUHKqEyo7qY.png">
            <a:extLst>
              <a:ext uri="{FF2B5EF4-FFF2-40B4-BE49-F238E27FC236}">
                <a16:creationId xmlns:a16="http://schemas.microsoft.com/office/drawing/2014/main" id="{DD963E93-25E1-4E22-B1B8-0FA01B16A9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6330" y="3091561"/>
            <a:ext cx="6667500" cy="2752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https://miro.medium.com/v2/resize:fit:700/0*cNu65t6O5thbHBYe.png">
            <a:extLst>
              <a:ext uri="{FF2B5EF4-FFF2-40B4-BE49-F238E27FC236}">
                <a16:creationId xmlns:a16="http://schemas.microsoft.com/office/drawing/2014/main" id="{9CEF28B6-3DC7-495C-8A85-0CE59C57FB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1935" y="3680644"/>
            <a:ext cx="3418036" cy="17578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Freeform 7">
            <a:extLst>
              <a:ext uri="{FF2B5EF4-FFF2-40B4-BE49-F238E27FC236}">
                <a16:creationId xmlns:a16="http://schemas.microsoft.com/office/drawing/2014/main" id="{4DB14810-605C-431A-8F7D-B438157E8297}"/>
              </a:ext>
            </a:extLst>
          </p:cNvPr>
          <p:cNvSpPr/>
          <p:nvPr/>
        </p:nvSpPr>
        <p:spPr>
          <a:xfrm>
            <a:off x="2745972" y="2868719"/>
            <a:ext cx="5120640" cy="541020"/>
          </a:xfrm>
          <a:custGeom>
            <a:avLst/>
            <a:gdLst>
              <a:gd name="connsiteX0" fmla="*/ 0 w 5120640"/>
              <a:gd name="connsiteY0" fmla="*/ 541020 h 541020"/>
              <a:gd name="connsiteX1" fmla="*/ 1402080 w 5120640"/>
              <a:gd name="connsiteY1" fmla="*/ 114300 h 541020"/>
              <a:gd name="connsiteX2" fmla="*/ 2720340 w 5120640"/>
              <a:gd name="connsiteY2" fmla="*/ 0 h 541020"/>
              <a:gd name="connsiteX3" fmla="*/ 4640580 w 5120640"/>
              <a:gd name="connsiteY3" fmla="*/ 114300 h 541020"/>
              <a:gd name="connsiteX4" fmla="*/ 5120640 w 5120640"/>
              <a:gd name="connsiteY4" fmla="*/ 518160 h 541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20640" h="541020">
                <a:moveTo>
                  <a:pt x="0" y="541020"/>
                </a:moveTo>
                <a:cubicBezTo>
                  <a:pt x="474345" y="372745"/>
                  <a:pt x="948690" y="204470"/>
                  <a:pt x="1402080" y="114300"/>
                </a:cubicBezTo>
                <a:cubicBezTo>
                  <a:pt x="1855470" y="24130"/>
                  <a:pt x="2180590" y="0"/>
                  <a:pt x="2720340" y="0"/>
                </a:cubicBezTo>
                <a:cubicBezTo>
                  <a:pt x="3260090" y="0"/>
                  <a:pt x="4240530" y="27940"/>
                  <a:pt x="4640580" y="114300"/>
                </a:cubicBezTo>
                <a:cubicBezTo>
                  <a:pt x="5040630" y="200660"/>
                  <a:pt x="5080635" y="359410"/>
                  <a:pt x="5120640" y="518160"/>
                </a:cubicBezTo>
              </a:path>
            </a:pathLst>
          </a:custGeom>
          <a:noFill/>
          <a:ln w="19050">
            <a:solidFill>
              <a:schemeClr val="accent4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972C6B1-9661-4414-A67D-A76000A5410D}"/>
              </a:ext>
            </a:extLst>
          </p:cNvPr>
          <p:cNvSpPr/>
          <p:nvPr/>
        </p:nvSpPr>
        <p:spPr>
          <a:xfrm>
            <a:off x="7444509" y="3375232"/>
            <a:ext cx="823191" cy="1105695"/>
          </a:xfrm>
          <a:prstGeom prst="ellipse">
            <a:avLst/>
          </a:prstGeom>
          <a:noFill/>
          <a:ln w="2222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D944C67-CF55-44A3-8D56-A466DF6E5909}"/>
              </a:ext>
            </a:extLst>
          </p:cNvPr>
          <p:cNvSpPr/>
          <p:nvPr/>
        </p:nvSpPr>
        <p:spPr>
          <a:xfrm>
            <a:off x="788092" y="3415743"/>
            <a:ext cx="3855720" cy="2293620"/>
          </a:xfrm>
          <a:prstGeom prst="ellipse">
            <a:avLst/>
          </a:prstGeom>
          <a:solidFill>
            <a:schemeClr val="accent4">
              <a:lumMod val="60000"/>
              <a:lumOff val="40000"/>
              <a:alpha val="12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9DCEB7D-835F-46F9-B23C-8836A4BEA75B}"/>
              </a:ext>
            </a:extLst>
          </p:cNvPr>
          <p:cNvSpPr txBox="1"/>
          <p:nvPr/>
        </p:nvSpPr>
        <p:spPr>
          <a:xfrm>
            <a:off x="5413246" y="6372077"/>
            <a:ext cx="668041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>
                <a:latin typeface="Arial Narrow" panose="020B0606020202030204" pitchFamily="34" charset="0"/>
              </a:rPr>
              <a:t>Image Source : </a:t>
            </a:r>
            <a:r>
              <a:rPr lang="en-IN" sz="1400" dirty="0">
                <a:latin typeface="Arial Narrow" panose="020B0606020202030204" pitchFamily="34" charset="0"/>
                <a:hlinkClick r:id="rId4"/>
              </a:rPr>
              <a:t>https://miro.medium.com/v2/resize:fit:720/format:webp/0*q5eMDjUHKqEyo7qY.png</a:t>
            </a:r>
            <a:r>
              <a:rPr lang="en-IN" sz="1400" dirty="0">
                <a:latin typeface="Arial Narrow" panose="020B060602020203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337270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FB9159-F848-494B-9F74-5AFA59C865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9407" y="1522809"/>
            <a:ext cx="10515600" cy="1325563"/>
          </a:xfrm>
        </p:spPr>
        <p:txBody>
          <a:bodyPr/>
          <a:lstStyle/>
          <a:p>
            <a:pPr algn="just"/>
            <a:r>
              <a:rPr lang="en-GB" sz="2000" dirty="0">
                <a:latin typeface="Arial Narrow" panose="020B0606020202030204" pitchFamily="34" charset="0"/>
              </a:rPr>
              <a:t>Instead of applying a single convolutional filter size, an Inception module performs </a:t>
            </a:r>
            <a:r>
              <a:rPr lang="en-GB" sz="2000" dirty="0">
                <a:solidFill>
                  <a:srgbClr val="00B0F0"/>
                </a:solidFill>
                <a:latin typeface="Arial Narrow" panose="020B0606020202030204" pitchFamily="34" charset="0"/>
              </a:rPr>
              <a:t>parallel feature extraction </a:t>
            </a:r>
            <a:r>
              <a:rPr lang="en-GB" sz="2000" dirty="0">
                <a:latin typeface="Arial Narrow" panose="020B0606020202030204" pitchFamily="34" charset="0"/>
              </a:rPr>
              <a:t>using </a:t>
            </a:r>
            <a:r>
              <a:rPr lang="en-GB" sz="2000" dirty="0">
                <a:solidFill>
                  <a:srgbClr val="00B0F0"/>
                </a:solidFill>
                <a:latin typeface="Arial Narrow" panose="020B0606020202030204" pitchFamily="34" charset="0"/>
              </a:rPr>
              <a:t>1×1, 3×3, and 5×5 convolutions</a:t>
            </a:r>
            <a:r>
              <a:rPr lang="en-GB" sz="2000" dirty="0">
                <a:latin typeface="Arial Narrow" panose="020B0606020202030204" pitchFamily="34" charset="0"/>
              </a:rPr>
              <a:t>, along with a </a:t>
            </a:r>
            <a:r>
              <a:rPr lang="en-GB" sz="2000" dirty="0">
                <a:solidFill>
                  <a:srgbClr val="00B0F0"/>
                </a:solidFill>
                <a:latin typeface="Arial Narrow" panose="020B0606020202030204" pitchFamily="34" charset="0"/>
              </a:rPr>
              <a:t>3×3 max-pooling </a:t>
            </a:r>
            <a:r>
              <a:rPr lang="en-GB" sz="2000" dirty="0">
                <a:latin typeface="Arial Narrow" panose="020B0606020202030204" pitchFamily="34" charset="0"/>
              </a:rPr>
              <a:t>branch. </a:t>
            </a:r>
          </a:p>
          <a:p>
            <a:pPr algn="just"/>
            <a:r>
              <a:rPr lang="en-GB" sz="2000" dirty="0">
                <a:latin typeface="Arial Narrow" panose="020B0606020202030204" pitchFamily="34" charset="0"/>
              </a:rPr>
              <a:t>The </a:t>
            </a:r>
            <a:r>
              <a:rPr lang="en-GB" sz="2000" dirty="0">
                <a:solidFill>
                  <a:srgbClr val="00B0F0"/>
                </a:solidFill>
                <a:latin typeface="Arial Narrow" panose="020B0606020202030204" pitchFamily="34" charset="0"/>
              </a:rPr>
              <a:t>outputs from all branches are concatenated along the channel dimension</a:t>
            </a:r>
            <a:r>
              <a:rPr lang="en-GB" sz="2000" dirty="0">
                <a:latin typeface="Arial Narrow" panose="020B0606020202030204" pitchFamily="34" charset="0"/>
              </a:rPr>
              <a:t>, enabling the network to capture </a:t>
            </a:r>
            <a:r>
              <a:rPr lang="en-GB" sz="2000" dirty="0">
                <a:solidFill>
                  <a:srgbClr val="00B0F0"/>
                </a:solidFill>
                <a:latin typeface="Arial Narrow" panose="020B0606020202030204" pitchFamily="34" charset="0"/>
              </a:rPr>
              <a:t>multi-scale spatial features within the same layer</a:t>
            </a:r>
            <a:r>
              <a:rPr lang="en-GB" sz="2000" dirty="0">
                <a:latin typeface="Arial Narrow" panose="020B0606020202030204" pitchFamily="34" charset="0"/>
              </a:rPr>
              <a:t>. </a:t>
            </a:r>
          </a:p>
          <a:p>
            <a:endParaRPr lang="en-GB" dirty="0"/>
          </a:p>
        </p:txBody>
      </p:sp>
      <p:pic>
        <p:nvPicPr>
          <p:cNvPr id="4" name="Picture 2" descr="The Inception module.">
            <a:extLst>
              <a:ext uri="{FF2B5EF4-FFF2-40B4-BE49-F238E27FC236}">
                <a16:creationId xmlns:a16="http://schemas.microsoft.com/office/drawing/2014/main" id="{BBAC9724-D54C-4091-BD0C-8CB54EB32B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6177" y="2848372"/>
            <a:ext cx="5868768" cy="3075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49AE758-8052-4B80-B8DF-E404788DC3C7}"/>
              </a:ext>
            </a:extLst>
          </p:cNvPr>
          <p:cNvSpPr txBox="1"/>
          <p:nvPr/>
        </p:nvSpPr>
        <p:spPr>
          <a:xfrm>
            <a:off x="6165325" y="5051175"/>
            <a:ext cx="41004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7030A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Naive Inception Module Operation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96A3E4-2D25-4198-8795-63E30DF151D9}"/>
              </a:ext>
            </a:extLst>
          </p:cNvPr>
          <p:cNvSpPr txBox="1"/>
          <p:nvPr/>
        </p:nvSpPr>
        <p:spPr>
          <a:xfrm>
            <a:off x="4566194" y="6457260"/>
            <a:ext cx="76258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>
                <a:latin typeface="Arial Narrow" panose="020B0606020202030204" pitchFamily="34" charset="0"/>
              </a:rPr>
              <a:t>Image Source : </a:t>
            </a:r>
            <a:r>
              <a:rPr lang="en-IN" sz="1400" dirty="0">
                <a:latin typeface="Arial Narrow" panose="020B0606020202030204" pitchFamily="34" charset="0"/>
                <a:hlinkClick r:id="rId3"/>
              </a:rPr>
              <a:t>https://nicolovaligi.com/articles/history-inception-deep-learning-architecture/inception_module.png</a:t>
            </a:r>
            <a:r>
              <a:rPr lang="en-IN" sz="1400" dirty="0">
                <a:latin typeface="Arial Narrow" panose="020B0606020202030204" pitchFamily="34" charset="0"/>
              </a:rPr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16CF24-1F2A-4B11-A185-22CCCD376D7B}"/>
              </a:ext>
            </a:extLst>
          </p:cNvPr>
          <p:cNvSpPr txBox="1"/>
          <p:nvPr/>
        </p:nvSpPr>
        <p:spPr>
          <a:xfrm>
            <a:off x="838200" y="5981535"/>
            <a:ext cx="548228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Question:</a:t>
            </a:r>
            <a:r>
              <a:rPr lang="en-US" sz="2400" dirty="0">
                <a:solidFill>
                  <a:srgbClr val="7030A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What is the </a:t>
            </a:r>
            <a:r>
              <a:rPr lang="en-US" sz="2400" dirty="0">
                <a:solidFill>
                  <a:srgbClr val="C0000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problem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 with this? </a:t>
            </a:r>
            <a:endParaRPr lang="en-IN" sz="2400" dirty="0">
              <a:solidFill>
                <a:schemeClr val="tx1">
                  <a:lumMod val="95000"/>
                  <a:lumOff val="5000"/>
                </a:schemeClr>
              </a:solidFill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D5B47CE-5B09-47DB-A500-38828A206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407" y="367901"/>
            <a:ext cx="10515600" cy="886626"/>
          </a:xfrm>
        </p:spPr>
        <p:txBody>
          <a:bodyPr>
            <a:normAutofit fontScale="90000"/>
          </a:bodyPr>
          <a:lstStyle/>
          <a:p>
            <a:r>
              <a:rPr lang="en-IN" sz="4000" dirty="0">
                <a:latin typeface="Century" panose="02040604050505020304" pitchFamily="18" charset="0"/>
              </a:rPr>
              <a:t>Google Net</a:t>
            </a:r>
            <a:br>
              <a:rPr lang="en-IN" dirty="0">
                <a:latin typeface="Century" panose="02040604050505020304" pitchFamily="18" charset="0"/>
              </a:rPr>
            </a:br>
            <a:r>
              <a:rPr lang="en-IN" sz="2700" dirty="0">
                <a:solidFill>
                  <a:srgbClr val="DE76E6"/>
                </a:solidFill>
                <a:latin typeface="Century" panose="02040604050505020304" pitchFamily="18" charset="0"/>
              </a:rPr>
              <a:t>Inception Module</a:t>
            </a:r>
            <a:endParaRPr lang="en-IN" sz="2400" dirty="0">
              <a:solidFill>
                <a:srgbClr val="DE76E6"/>
              </a:solidFill>
              <a:latin typeface="Century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15728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0122" y="1934792"/>
            <a:ext cx="6969864" cy="420614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719" y="318270"/>
            <a:ext cx="10515600" cy="1011002"/>
          </a:xfrm>
        </p:spPr>
        <p:txBody>
          <a:bodyPr/>
          <a:lstStyle/>
          <a:p>
            <a:r>
              <a:rPr lang="en-IN" sz="3600" dirty="0">
                <a:latin typeface="Century" panose="02040604050505020304" pitchFamily="18" charset="0"/>
              </a:rPr>
              <a:t>Google Net </a:t>
            </a:r>
            <a:br>
              <a:rPr lang="en-IN" dirty="0">
                <a:latin typeface="Century" panose="02040604050505020304" pitchFamily="18" charset="0"/>
              </a:rPr>
            </a:br>
            <a:r>
              <a:rPr lang="en-IN" sz="2400" dirty="0" err="1">
                <a:solidFill>
                  <a:srgbClr val="DE76E6"/>
                </a:solidFill>
                <a:latin typeface="Century" panose="02040604050505020304" pitchFamily="18" charset="0"/>
              </a:rPr>
              <a:t>Szegedy</a:t>
            </a:r>
            <a:r>
              <a:rPr lang="en-IN" sz="2400" dirty="0">
                <a:solidFill>
                  <a:srgbClr val="DE76E6"/>
                </a:solidFill>
                <a:latin typeface="Century" panose="02040604050505020304" pitchFamily="18" charset="0"/>
              </a:rPr>
              <a:t> et. al. 2014</a:t>
            </a:r>
            <a:endParaRPr lang="en-IN" dirty="0">
              <a:solidFill>
                <a:srgbClr val="DE76E6"/>
              </a:solidFill>
              <a:latin typeface="Century" panose="020406040505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3908" y="1943846"/>
            <a:ext cx="6969864" cy="420614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620122" y="3105079"/>
            <a:ext cx="15488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>
                <a:solidFill>
                  <a:srgbClr val="7030A0"/>
                </a:solidFill>
                <a:latin typeface="Arial Narrow" panose="020B0606020202030204" pitchFamily="34" charset="0"/>
              </a:rPr>
              <a:t>No. of filters = 128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48413" y="3105079"/>
            <a:ext cx="15488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>
                <a:solidFill>
                  <a:srgbClr val="7030A0"/>
                </a:solidFill>
                <a:latin typeface="Arial Narrow" panose="020B0606020202030204" pitchFamily="34" charset="0"/>
              </a:rPr>
              <a:t>No. of filters = 192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13519" y="3069123"/>
            <a:ext cx="14558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>
                <a:solidFill>
                  <a:srgbClr val="7030A0"/>
                </a:solidFill>
                <a:latin typeface="Arial Narrow" panose="020B0606020202030204" pitchFamily="34" charset="0"/>
              </a:rPr>
              <a:t>No. of filters = 96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40592" y="5575424"/>
            <a:ext cx="26564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rgbClr val="7030A0"/>
                </a:solidFill>
                <a:latin typeface="Arial Narrow" panose="020B0606020202030204" pitchFamily="34" charset="0"/>
              </a:rPr>
              <a:t>Module Input </a:t>
            </a:r>
            <a:r>
              <a:rPr lang="en-IN" b="1" dirty="0">
                <a:solidFill>
                  <a:srgbClr val="7030A0"/>
                </a:solidFill>
                <a:latin typeface="Arial Narrow" panose="020B0606020202030204" pitchFamily="34" charset="0"/>
              </a:rPr>
              <a:t>:</a:t>
            </a:r>
            <a:r>
              <a:rPr lang="en-IN" dirty="0">
                <a:solidFill>
                  <a:srgbClr val="7030A0"/>
                </a:solidFill>
                <a:latin typeface="Arial Narrow" panose="020B0606020202030204" pitchFamily="34" charset="0"/>
              </a:rPr>
              <a:t> 28 X 28 X 256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6569" y="1636544"/>
            <a:ext cx="32223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rgbClr val="7030A0"/>
                </a:solidFill>
                <a:latin typeface="Arial Narrow" panose="020B0606020202030204" pitchFamily="34" charset="0"/>
              </a:rPr>
              <a:t>Naive Inception Module  Operation </a:t>
            </a:r>
            <a:r>
              <a:rPr lang="en-IN" b="1" dirty="0">
                <a:solidFill>
                  <a:srgbClr val="7030A0"/>
                </a:solidFill>
                <a:latin typeface="Arial Narrow" panose="020B0606020202030204" pitchFamily="34" charset="0"/>
              </a:rPr>
              <a:t>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66194" y="6457260"/>
            <a:ext cx="76258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>
                <a:latin typeface="Arial Narrow" panose="020B0606020202030204" pitchFamily="34" charset="0"/>
              </a:rPr>
              <a:t>Image Source : </a:t>
            </a:r>
            <a:r>
              <a:rPr lang="en-IN" sz="1400" dirty="0">
                <a:latin typeface="Arial Narrow" panose="020B0606020202030204" pitchFamily="34" charset="0"/>
                <a:hlinkClick r:id="rId3"/>
              </a:rPr>
              <a:t>https://nicolovaligi.com/articles/history-inception-deep-learning-architecture/inception_module.png</a:t>
            </a:r>
            <a:r>
              <a:rPr lang="en-IN" sz="1400" dirty="0">
                <a:latin typeface="Arial Narrow" panose="020B060602020203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442917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7308" y="1358363"/>
            <a:ext cx="5460091" cy="4997170"/>
          </a:xfrm>
        </p:spPr>
        <p:txBody>
          <a:bodyPr>
            <a:normAutofit fontScale="70000" lnSpcReduction="20000"/>
          </a:bodyPr>
          <a:lstStyle/>
          <a:p>
            <a:pPr algn="just">
              <a:lnSpc>
                <a:spcPct val="120000"/>
              </a:lnSpc>
              <a:buNone/>
            </a:pP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Computational Cost Analysis</a:t>
            </a:r>
          </a:p>
          <a:p>
            <a:pPr algn="just">
              <a:lnSpc>
                <a:spcPct val="120000"/>
              </a:lnSpc>
              <a:buNone/>
            </a:pPr>
            <a:r>
              <a:rPr lang="en-US" dirty="0" err="1">
                <a:solidFill>
                  <a:srgbClr val="7030A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Conv</a:t>
            </a: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 Ops Calculation:</a:t>
            </a:r>
          </a:p>
          <a:p>
            <a:pPr algn="just">
              <a:lnSpc>
                <a:spcPct val="120000"/>
              </a:lnSpc>
              <a:buNone/>
            </a:pPr>
            <a:endParaRPr lang="en-US" dirty="0">
              <a:solidFill>
                <a:srgbClr val="00B0F0"/>
              </a:solidFill>
              <a:latin typeface="Arial Narrow" panose="020B0606020202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</a:pP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[1x1 </a:t>
            </a:r>
            <a:r>
              <a:rPr lang="en-US" dirty="0" err="1">
                <a:solidFill>
                  <a:srgbClr val="7030A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conv</a:t>
            </a: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, 128]: </a:t>
            </a:r>
            <a:r>
              <a:rPr 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28x28x128x1x1x256</a:t>
            </a:r>
          </a:p>
          <a:p>
            <a:pPr algn="just">
              <a:lnSpc>
                <a:spcPct val="120000"/>
              </a:lnSpc>
            </a:pP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[3x3 </a:t>
            </a:r>
            <a:r>
              <a:rPr lang="en-US" dirty="0" err="1">
                <a:solidFill>
                  <a:srgbClr val="7030A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conv</a:t>
            </a: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, 192]: </a:t>
            </a:r>
            <a:r>
              <a:rPr 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28x28x192x3x3x256</a:t>
            </a:r>
          </a:p>
          <a:p>
            <a:pPr algn="just">
              <a:lnSpc>
                <a:spcPct val="120000"/>
              </a:lnSpc>
            </a:pP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[5x5 </a:t>
            </a:r>
            <a:r>
              <a:rPr lang="en-US" dirty="0" err="1">
                <a:solidFill>
                  <a:srgbClr val="7030A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conv</a:t>
            </a: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, 96]: </a:t>
            </a:r>
            <a:r>
              <a:rPr 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28x28x96x5x5x256</a:t>
            </a:r>
          </a:p>
          <a:p>
            <a:pPr algn="just">
              <a:lnSpc>
                <a:spcPct val="120000"/>
              </a:lnSpc>
            </a:pP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Total: 854M ops</a:t>
            </a:r>
          </a:p>
          <a:p>
            <a:pPr algn="just">
              <a:lnSpc>
                <a:spcPct val="120000"/>
              </a:lnSpc>
              <a:buNone/>
            </a:pPr>
            <a:endParaRPr lang="en-US" dirty="0">
              <a:solidFill>
                <a:srgbClr val="7030A0"/>
              </a:solidFill>
              <a:latin typeface="Arial Narrow" panose="020B0606020202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20000"/>
              </a:lnSpc>
              <a:buNone/>
            </a:pP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Very expensive compute.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Pooling layer also preserves feature depth, which means total depth after concatenation can only grow at every layer!</a:t>
            </a:r>
          </a:p>
          <a:p>
            <a:pPr algn="just"/>
            <a:endParaRPr lang="en-IN" dirty="0">
              <a:latin typeface="Arial Narrow" panose="020B060602020203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0024" y="2034380"/>
            <a:ext cx="5835815" cy="352177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83100" y="3770111"/>
            <a:ext cx="1178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  <a:latin typeface="Arial Narrow" panose="020B0606020202030204" pitchFamily="34" charset="0"/>
              </a:rPr>
              <a:t>28X28X128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75825" y="3795265"/>
            <a:ext cx="1178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  <a:latin typeface="Arial Narrow" panose="020B0606020202030204" pitchFamily="34" charset="0"/>
              </a:rPr>
              <a:t>28X28X192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39773" y="3795265"/>
            <a:ext cx="1072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  <a:latin typeface="Arial Narrow" panose="020B0606020202030204" pitchFamily="34" charset="0"/>
              </a:rPr>
              <a:t>28X28X96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93371" y="3795265"/>
            <a:ext cx="1178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  <a:latin typeface="Arial Narrow" panose="020B0606020202030204" pitchFamily="34" charset="0"/>
              </a:rPr>
              <a:t>28X28X256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60024" y="2959710"/>
            <a:ext cx="13885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>
                <a:solidFill>
                  <a:srgbClr val="7030A0"/>
                </a:solidFill>
                <a:latin typeface="Arial Narrow" panose="020B0606020202030204" pitchFamily="34" charset="0"/>
              </a:rPr>
              <a:t>No. of filters = 128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43974" y="2959710"/>
            <a:ext cx="13885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>
                <a:solidFill>
                  <a:srgbClr val="7030A0"/>
                </a:solidFill>
                <a:latin typeface="Arial Narrow" panose="020B0606020202030204" pitchFamily="34" charset="0"/>
              </a:rPr>
              <a:t>No. of filters = 192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32496" y="2959710"/>
            <a:ext cx="13067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>
                <a:solidFill>
                  <a:srgbClr val="7030A0"/>
                </a:solidFill>
                <a:latin typeface="Arial Narrow" panose="020B0606020202030204" pitchFamily="34" charset="0"/>
              </a:rPr>
              <a:t>No. of filters = 96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58806" y="5781489"/>
            <a:ext cx="30540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rgbClr val="7030A0"/>
                </a:solidFill>
                <a:latin typeface="Arial Narrow" panose="020B0606020202030204" pitchFamily="34" charset="0"/>
              </a:rPr>
              <a:t>Naive Inception Module Operation</a:t>
            </a:r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539435" y="238377"/>
            <a:ext cx="10515600" cy="1011002"/>
          </a:xfrm>
        </p:spPr>
        <p:txBody>
          <a:bodyPr/>
          <a:lstStyle/>
          <a:p>
            <a:r>
              <a:rPr lang="en-IN" sz="3600" dirty="0">
                <a:latin typeface="Century" panose="02040604050505020304" pitchFamily="18" charset="0"/>
              </a:rPr>
              <a:t>Google Net </a:t>
            </a:r>
            <a:br>
              <a:rPr lang="en-IN" dirty="0">
                <a:latin typeface="Century" panose="02040604050505020304" pitchFamily="18" charset="0"/>
              </a:rPr>
            </a:br>
            <a:r>
              <a:rPr lang="en-IN" sz="2400" dirty="0" err="1">
                <a:solidFill>
                  <a:srgbClr val="DE76E6"/>
                </a:solidFill>
                <a:latin typeface="Century" panose="02040604050505020304" pitchFamily="18" charset="0"/>
              </a:rPr>
              <a:t>Szegedy</a:t>
            </a:r>
            <a:r>
              <a:rPr lang="en-IN" sz="2400" dirty="0">
                <a:solidFill>
                  <a:srgbClr val="DE76E6"/>
                </a:solidFill>
                <a:latin typeface="Century" panose="02040604050505020304" pitchFamily="18" charset="0"/>
              </a:rPr>
              <a:t> et. al. 2014</a:t>
            </a:r>
            <a:endParaRPr lang="en-IN" dirty="0">
              <a:solidFill>
                <a:srgbClr val="DE76E6"/>
              </a:solidFill>
              <a:latin typeface="Century" panose="02040604050505020304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533639" y="1215352"/>
            <a:ext cx="6270819" cy="4264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lnSpc>
                <a:spcPct val="120000"/>
              </a:lnSpc>
              <a:buNone/>
            </a:pP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</a:rPr>
              <a:t>Question: </a:t>
            </a:r>
            <a:r>
              <a:rPr lang="en-US" sz="2000" dirty="0">
                <a:solidFill>
                  <a:srgbClr val="FF0000"/>
                </a:solidFill>
                <a:latin typeface="Arial Narrow" panose="020B0606020202030204" pitchFamily="34" charset="0"/>
              </a:rPr>
              <a:t>What is the output size of all different filter operations?</a:t>
            </a:r>
            <a:endParaRPr lang="en-IN" sz="2000" dirty="0">
              <a:solidFill>
                <a:srgbClr val="FF0000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80575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0024" y="2034380"/>
            <a:ext cx="5835815" cy="352177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83100" y="3770111"/>
            <a:ext cx="1178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  <a:latin typeface="Arial Narrow" panose="020B0606020202030204" pitchFamily="34" charset="0"/>
              </a:rPr>
              <a:t>28X28X128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75825" y="3795265"/>
            <a:ext cx="1178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  <a:latin typeface="Arial Narrow" panose="020B0606020202030204" pitchFamily="34" charset="0"/>
              </a:rPr>
              <a:t>28X28X192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39773" y="3795265"/>
            <a:ext cx="1072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  <a:latin typeface="Arial Narrow" panose="020B0606020202030204" pitchFamily="34" charset="0"/>
              </a:rPr>
              <a:t>28X28X96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93371" y="3795265"/>
            <a:ext cx="1178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  <a:latin typeface="Arial Narrow" panose="020B0606020202030204" pitchFamily="34" charset="0"/>
              </a:rPr>
              <a:t>28X28X256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60024" y="2959710"/>
            <a:ext cx="13885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>
                <a:solidFill>
                  <a:srgbClr val="7030A0"/>
                </a:solidFill>
                <a:latin typeface="Arial Narrow" panose="020B0606020202030204" pitchFamily="34" charset="0"/>
              </a:rPr>
              <a:t>No. of filters = 128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43974" y="2959710"/>
            <a:ext cx="13885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>
                <a:solidFill>
                  <a:srgbClr val="7030A0"/>
                </a:solidFill>
                <a:latin typeface="Arial Narrow" panose="020B0606020202030204" pitchFamily="34" charset="0"/>
              </a:rPr>
              <a:t>No. of filters = 192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32496" y="2959710"/>
            <a:ext cx="13067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>
                <a:solidFill>
                  <a:srgbClr val="7030A0"/>
                </a:solidFill>
                <a:latin typeface="Arial Narrow" panose="020B0606020202030204" pitchFamily="34" charset="0"/>
              </a:rPr>
              <a:t>No. of filters = 96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35849" y="5635374"/>
            <a:ext cx="30540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rgbClr val="7030A0"/>
                </a:solidFill>
                <a:latin typeface="Arial Narrow" panose="020B0606020202030204" pitchFamily="34" charset="0"/>
              </a:rPr>
              <a:t>Naive Inception Module Operation</a:t>
            </a:r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539435" y="238377"/>
            <a:ext cx="10515600" cy="1011002"/>
          </a:xfrm>
        </p:spPr>
        <p:txBody>
          <a:bodyPr/>
          <a:lstStyle/>
          <a:p>
            <a:r>
              <a:rPr lang="en-IN" sz="3600" dirty="0">
                <a:latin typeface="Century" panose="02040604050505020304" pitchFamily="18" charset="0"/>
              </a:rPr>
              <a:t>Google Net </a:t>
            </a:r>
            <a:br>
              <a:rPr lang="en-IN" dirty="0">
                <a:latin typeface="Century" panose="02040604050505020304" pitchFamily="18" charset="0"/>
              </a:rPr>
            </a:br>
            <a:r>
              <a:rPr lang="en-IN" sz="2400" dirty="0" err="1">
                <a:solidFill>
                  <a:srgbClr val="DE76E6"/>
                </a:solidFill>
                <a:latin typeface="Century" panose="02040604050505020304" pitchFamily="18" charset="0"/>
              </a:rPr>
              <a:t>Szegedy</a:t>
            </a:r>
            <a:r>
              <a:rPr lang="en-IN" sz="2400" dirty="0">
                <a:solidFill>
                  <a:srgbClr val="DE76E6"/>
                </a:solidFill>
                <a:latin typeface="Century" panose="02040604050505020304" pitchFamily="18" charset="0"/>
              </a:rPr>
              <a:t> et. al. 2014</a:t>
            </a:r>
            <a:endParaRPr lang="en-IN" dirty="0">
              <a:solidFill>
                <a:srgbClr val="DE76E6"/>
              </a:solidFill>
              <a:latin typeface="Century" panose="020406040505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DE4E16F-13E8-40F8-9AD7-21E63E000A0A}"/>
              </a:ext>
            </a:extLst>
          </p:cNvPr>
          <p:cNvSpPr txBox="1"/>
          <p:nvPr/>
        </p:nvSpPr>
        <p:spPr>
          <a:xfrm>
            <a:off x="5334000" y="712021"/>
            <a:ext cx="6467079" cy="10438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</a:rPr>
              <a:t>Question: </a:t>
            </a:r>
            <a:r>
              <a:rPr lang="en-US" sz="2200" b="1" dirty="0">
                <a:solidFill>
                  <a:srgbClr val="00B050"/>
                </a:solidFill>
                <a:latin typeface="Arial Narrow" panose="020B0606020202030204" pitchFamily="34" charset="0"/>
              </a:rPr>
              <a:t>What is output size after filter concatenation? </a:t>
            </a:r>
          </a:p>
          <a:p>
            <a:pPr algn="just">
              <a:lnSpc>
                <a:spcPct val="150000"/>
              </a:lnSpc>
            </a:pPr>
            <a:r>
              <a:rPr lang="en-US" sz="2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</a:rPr>
              <a:t>Answer: </a:t>
            </a:r>
            <a:r>
              <a:rPr lang="en-US" sz="2200" dirty="0">
                <a:solidFill>
                  <a:srgbClr val="FF0000"/>
                </a:solidFill>
                <a:latin typeface="Arial Narrow" panose="020B0606020202030204" pitchFamily="34" charset="0"/>
              </a:rPr>
              <a:t>28x28x(128 + 192 + 96 + 256) = 28x28x672</a:t>
            </a:r>
            <a:endParaRPr lang="en-IN" sz="2200" dirty="0">
              <a:solidFill>
                <a:srgbClr val="FF0000"/>
              </a:solidFill>
              <a:latin typeface="Arial Narrow" panose="020B0606020202030204" pitchFamily="34" charset="0"/>
            </a:endParaRPr>
          </a:p>
        </p:txBody>
      </p:sp>
      <p:sp>
        <p:nvSpPr>
          <p:cNvPr id="17" name="Content Placeholder 2"/>
          <p:cNvSpPr txBox="1">
            <a:spLocks/>
          </p:cNvSpPr>
          <p:nvPr/>
        </p:nvSpPr>
        <p:spPr>
          <a:xfrm>
            <a:off x="527308" y="1358363"/>
            <a:ext cx="5460091" cy="4997170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Computational Cost Analysis</a:t>
            </a:r>
          </a:p>
          <a:p>
            <a:pPr algn="just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dirty="0" err="1">
                <a:solidFill>
                  <a:srgbClr val="7030A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Conv</a:t>
            </a: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 Ops Calculation:</a:t>
            </a:r>
          </a:p>
          <a:p>
            <a:pPr algn="just">
              <a:lnSpc>
                <a:spcPct val="120000"/>
              </a:lnSpc>
              <a:buFont typeface="Arial" panose="020B0604020202020204" pitchFamily="34" charset="0"/>
              <a:buNone/>
            </a:pPr>
            <a:endParaRPr lang="en-US" dirty="0">
              <a:solidFill>
                <a:srgbClr val="00B0F0"/>
              </a:solidFill>
              <a:latin typeface="Arial Narrow" panose="020B0606020202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</a:pP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[1x1 </a:t>
            </a:r>
            <a:r>
              <a:rPr lang="en-US" dirty="0" err="1">
                <a:solidFill>
                  <a:srgbClr val="7030A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conv</a:t>
            </a: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, 128]: </a:t>
            </a:r>
            <a:r>
              <a:rPr 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28x28x128x1x1x256</a:t>
            </a:r>
          </a:p>
          <a:p>
            <a:pPr algn="just">
              <a:lnSpc>
                <a:spcPct val="120000"/>
              </a:lnSpc>
            </a:pP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[3x3 </a:t>
            </a:r>
            <a:r>
              <a:rPr lang="en-US" dirty="0" err="1">
                <a:solidFill>
                  <a:srgbClr val="7030A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conv</a:t>
            </a: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, 192]: </a:t>
            </a:r>
            <a:r>
              <a:rPr 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28x28x192x3x3x256</a:t>
            </a:r>
          </a:p>
          <a:p>
            <a:pPr algn="just">
              <a:lnSpc>
                <a:spcPct val="120000"/>
              </a:lnSpc>
            </a:pP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[5x5 </a:t>
            </a:r>
            <a:r>
              <a:rPr lang="en-US" dirty="0" err="1">
                <a:solidFill>
                  <a:srgbClr val="7030A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conv</a:t>
            </a: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, 96]: </a:t>
            </a:r>
            <a:r>
              <a:rPr 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28x28x96x5x5x256</a:t>
            </a:r>
          </a:p>
          <a:p>
            <a:pPr algn="just">
              <a:lnSpc>
                <a:spcPct val="120000"/>
              </a:lnSpc>
            </a:pP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Total: 854M ops</a:t>
            </a:r>
          </a:p>
          <a:p>
            <a:pPr algn="just">
              <a:lnSpc>
                <a:spcPct val="120000"/>
              </a:lnSpc>
              <a:buFont typeface="Arial" panose="020B0604020202020204" pitchFamily="34" charset="0"/>
              <a:buNone/>
            </a:pPr>
            <a:endParaRPr lang="en-US" dirty="0">
              <a:solidFill>
                <a:srgbClr val="7030A0"/>
              </a:solidFill>
              <a:latin typeface="Arial Narrow" panose="020B0606020202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Very expensive compute.</a:t>
            </a:r>
          </a:p>
          <a:p>
            <a:pPr marL="0" indent="0" algn="just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Pooling layer also preserves feature depth, which means total depth after concatenation can only grow at every layer!</a:t>
            </a:r>
          </a:p>
          <a:p>
            <a:pPr algn="just"/>
            <a:endParaRPr lang="en-IN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205421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84DBF5-0970-4849-AE83-7BFBC69D1E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7866"/>
            <a:ext cx="10515600" cy="886626"/>
          </a:xfrm>
        </p:spPr>
        <p:txBody>
          <a:bodyPr>
            <a:normAutofit lnSpcReduction="10000"/>
          </a:bodyPr>
          <a:lstStyle/>
          <a:p>
            <a:pPr algn="just"/>
            <a:r>
              <a:rPr lang="en-GB" sz="2000" dirty="0">
                <a:latin typeface="Arial Narrow" panose="020B0606020202030204" pitchFamily="34" charset="0"/>
              </a:rPr>
              <a:t>To reduce computational cost, </a:t>
            </a:r>
            <a:r>
              <a:rPr lang="en-GB" sz="2000" dirty="0">
                <a:solidFill>
                  <a:srgbClr val="00B0F0"/>
                </a:solidFill>
                <a:latin typeface="Arial Narrow" panose="020B0606020202030204" pitchFamily="34" charset="0"/>
              </a:rPr>
              <a:t>1×1 convolutions </a:t>
            </a:r>
            <a:r>
              <a:rPr lang="en-GB" sz="2000" dirty="0">
                <a:latin typeface="Arial Narrow" panose="020B0606020202030204" pitchFamily="34" charset="0"/>
              </a:rPr>
              <a:t>are strategically used as </a:t>
            </a:r>
            <a:r>
              <a:rPr lang="en-GB" sz="2000" dirty="0">
                <a:solidFill>
                  <a:srgbClr val="00B0F0"/>
                </a:solidFill>
                <a:latin typeface="Arial Narrow" panose="020B0606020202030204" pitchFamily="34" charset="0"/>
              </a:rPr>
              <a:t>bottleneck layers </a:t>
            </a:r>
            <a:r>
              <a:rPr lang="en-GB" sz="2000" dirty="0">
                <a:latin typeface="Arial Narrow" panose="020B0606020202030204" pitchFamily="34" charset="0"/>
              </a:rPr>
              <a:t>before the computationally expensive 3×3 and 5×5 convolutions, significantly decreasing the number of input channels and reducing parameters and floating-point operations. </a:t>
            </a:r>
          </a:p>
          <a:p>
            <a:endParaRPr lang="en-GB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10B578-7794-4874-A0E8-E4BAF4CB1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15464"/>
            <a:ext cx="10515600" cy="886626"/>
          </a:xfrm>
        </p:spPr>
        <p:txBody>
          <a:bodyPr>
            <a:normAutofit fontScale="90000"/>
          </a:bodyPr>
          <a:lstStyle/>
          <a:p>
            <a:r>
              <a:rPr lang="en-IN" sz="4000" dirty="0">
                <a:latin typeface="Century" panose="02040604050505020304" pitchFamily="18" charset="0"/>
              </a:rPr>
              <a:t>Google Net</a:t>
            </a:r>
            <a:br>
              <a:rPr lang="en-IN" dirty="0">
                <a:latin typeface="Century" panose="02040604050505020304" pitchFamily="18" charset="0"/>
              </a:rPr>
            </a:br>
            <a:r>
              <a:rPr lang="en-IN" sz="2700" dirty="0">
                <a:solidFill>
                  <a:srgbClr val="DE76E6"/>
                </a:solidFill>
                <a:latin typeface="Century" panose="02040604050505020304" pitchFamily="18" charset="0"/>
              </a:rPr>
              <a:t>Inception Module</a:t>
            </a:r>
            <a:endParaRPr lang="en-IN" sz="2400" dirty="0">
              <a:solidFill>
                <a:srgbClr val="DE76E6"/>
              </a:solidFill>
              <a:latin typeface="Century" panose="02040604050505020304" pitchFamily="18" charset="0"/>
            </a:endParaRPr>
          </a:p>
        </p:txBody>
      </p:sp>
      <p:sp>
        <p:nvSpPr>
          <p:cNvPr id="5" name="Cube 4">
            <a:extLst>
              <a:ext uri="{FF2B5EF4-FFF2-40B4-BE49-F238E27FC236}">
                <a16:creationId xmlns:a16="http://schemas.microsoft.com/office/drawing/2014/main" id="{E6998BF8-6723-4488-A12A-B335EA344D41}"/>
              </a:ext>
            </a:extLst>
          </p:cNvPr>
          <p:cNvSpPr/>
          <p:nvPr/>
        </p:nvSpPr>
        <p:spPr>
          <a:xfrm>
            <a:off x="1324094" y="2930874"/>
            <a:ext cx="2245259" cy="2987643"/>
          </a:xfrm>
          <a:prstGeom prst="cube">
            <a:avLst>
              <a:gd name="adj" fmla="val 57267"/>
            </a:avLst>
          </a:prstGeom>
          <a:solidFill>
            <a:schemeClr val="accent4">
              <a:lumMod val="60000"/>
              <a:lumOff val="40000"/>
              <a:alpha val="71000"/>
            </a:schemeClr>
          </a:solidFill>
          <a:ln w="158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Cube 5">
            <a:extLst>
              <a:ext uri="{FF2B5EF4-FFF2-40B4-BE49-F238E27FC236}">
                <a16:creationId xmlns:a16="http://schemas.microsoft.com/office/drawing/2014/main" id="{F763CD09-2E6F-41A6-8A3E-7C338C4D7739}"/>
              </a:ext>
            </a:extLst>
          </p:cNvPr>
          <p:cNvSpPr/>
          <p:nvPr/>
        </p:nvSpPr>
        <p:spPr>
          <a:xfrm>
            <a:off x="1779546" y="2935637"/>
            <a:ext cx="1785043" cy="1982709"/>
          </a:xfrm>
          <a:prstGeom prst="cube">
            <a:avLst>
              <a:gd name="adj" fmla="val 71616"/>
            </a:avLst>
          </a:prstGeom>
          <a:solidFill>
            <a:schemeClr val="accent6">
              <a:lumMod val="60000"/>
              <a:lumOff val="40000"/>
            </a:schemeClr>
          </a:solidFill>
          <a:ln w="15875">
            <a:solidFill>
              <a:srgbClr val="FF0000">
                <a:alpha val="4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Cube 6">
            <a:extLst>
              <a:ext uri="{FF2B5EF4-FFF2-40B4-BE49-F238E27FC236}">
                <a16:creationId xmlns:a16="http://schemas.microsoft.com/office/drawing/2014/main" id="{8A6500C3-A63F-4A85-8BCA-4800F0BC4C4F}"/>
              </a:ext>
            </a:extLst>
          </p:cNvPr>
          <p:cNvSpPr/>
          <p:nvPr/>
        </p:nvSpPr>
        <p:spPr>
          <a:xfrm>
            <a:off x="4732052" y="3437113"/>
            <a:ext cx="1866900" cy="1971675"/>
          </a:xfrm>
          <a:prstGeom prst="cube">
            <a:avLst>
              <a:gd name="adj" fmla="val 73197"/>
            </a:avLst>
          </a:prstGeom>
          <a:solidFill>
            <a:schemeClr val="accent1">
              <a:lumMod val="60000"/>
              <a:lumOff val="40000"/>
            </a:schemeClr>
          </a:solidFill>
          <a:ln w="158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F4865A-5843-4972-9A59-E001BBE00676}"/>
              </a:ext>
            </a:extLst>
          </p:cNvPr>
          <p:cNvSpPr txBox="1"/>
          <p:nvPr/>
        </p:nvSpPr>
        <p:spPr>
          <a:xfrm>
            <a:off x="3968601" y="4327374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/>
              <a:t>*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F9D1A84-12B1-4171-9010-625B130BFE6C}"/>
              </a:ext>
            </a:extLst>
          </p:cNvPr>
          <p:cNvSpPr txBox="1"/>
          <p:nvPr/>
        </p:nvSpPr>
        <p:spPr>
          <a:xfrm>
            <a:off x="7102906" y="4388929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=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B3B0969-02E1-4C4D-BF22-DDC4257A7D0C}"/>
              </a:ext>
            </a:extLst>
          </p:cNvPr>
          <p:cNvSpPr txBox="1"/>
          <p:nvPr/>
        </p:nvSpPr>
        <p:spPr>
          <a:xfrm>
            <a:off x="4844100" y="540878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</a:rPr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C605826-1C59-4424-96C0-9E39E0AF11AD}"/>
              </a:ext>
            </a:extLst>
          </p:cNvPr>
          <p:cNvSpPr txBox="1"/>
          <p:nvPr/>
        </p:nvSpPr>
        <p:spPr>
          <a:xfrm>
            <a:off x="4430366" y="491834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</a:rPr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3604FB5-A0D1-41E7-80C7-BE9BF8E992A3}"/>
              </a:ext>
            </a:extLst>
          </p:cNvPr>
          <p:cNvSpPr txBox="1"/>
          <p:nvPr/>
        </p:nvSpPr>
        <p:spPr>
          <a:xfrm>
            <a:off x="5882325" y="4665928"/>
            <a:ext cx="3962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</a:rPr>
              <a:t>32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D9AA61D-4033-4850-A54A-23F96B9D4256}"/>
              </a:ext>
            </a:extLst>
          </p:cNvPr>
          <p:cNvSpPr txBox="1"/>
          <p:nvPr/>
        </p:nvSpPr>
        <p:spPr>
          <a:xfrm>
            <a:off x="1628703" y="5979072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</a:rPr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C223F35-C223-4C63-A649-0E234EA62051}"/>
              </a:ext>
            </a:extLst>
          </p:cNvPr>
          <p:cNvSpPr txBox="1"/>
          <p:nvPr/>
        </p:nvSpPr>
        <p:spPr>
          <a:xfrm>
            <a:off x="1022408" y="5408788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</a:rPr>
              <a:t>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4547BA0-A6F1-497C-9A11-DBC5F5F0D2F0}"/>
              </a:ext>
            </a:extLst>
          </p:cNvPr>
          <p:cNvSpPr txBox="1"/>
          <p:nvPr/>
        </p:nvSpPr>
        <p:spPr>
          <a:xfrm>
            <a:off x="2882624" y="5224122"/>
            <a:ext cx="3962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</a:rPr>
              <a:t>32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2D09D33-A6D2-4A7E-8F9B-5086BB7B98F0}"/>
              </a:ext>
            </a:extLst>
          </p:cNvPr>
          <p:cNvGrpSpPr/>
          <p:nvPr/>
        </p:nvGrpSpPr>
        <p:grpSpPr>
          <a:xfrm>
            <a:off x="8632612" y="3660856"/>
            <a:ext cx="2878122" cy="2318216"/>
            <a:chOff x="8990091" y="929328"/>
            <a:chExt cx="2444436" cy="2067358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FF81E7A6-A84F-4CEA-8D32-285D03EE5CE5}"/>
                </a:ext>
              </a:extLst>
            </p:cNvPr>
            <p:cNvSpPr/>
            <p:nvPr/>
          </p:nvSpPr>
          <p:spPr>
            <a:xfrm>
              <a:off x="8990091" y="1276537"/>
              <a:ext cx="407406" cy="344031"/>
            </a:xfrm>
            <a:prstGeom prst="rect">
              <a:avLst/>
            </a:prstGeom>
            <a:noFill/>
            <a:ln w="2222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28CBACCD-3152-4E59-BC72-CEB7D4AF75BF}"/>
                </a:ext>
              </a:extLst>
            </p:cNvPr>
            <p:cNvSpPr/>
            <p:nvPr/>
          </p:nvSpPr>
          <p:spPr>
            <a:xfrm>
              <a:off x="9397497" y="1276537"/>
              <a:ext cx="407406" cy="344031"/>
            </a:xfrm>
            <a:prstGeom prst="rect">
              <a:avLst/>
            </a:prstGeom>
            <a:noFill/>
            <a:ln w="2222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C635D841-DC12-46D3-9A0E-47BAD2EA0C74}"/>
                </a:ext>
              </a:extLst>
            </p:cNvPr>
            <p:cNvSpPr/>
            <p:nvPr/>
          </p:nvSpPr>
          <p:spPr>
            <a:xfrm>
              <a:off x="9804903" y="1276536"/>
              <a:ext cx="407406" cy="344031"/>
            </a:xfrm>
            <a:prstGeom prst="rect">
              <a:avLst/>
            </a:prstGeom>
            <a:noFill/>
            <a:ln w="2222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5A183EE-F8D3-4FD0-B7B2-292A4BCC7370}"/>
                </a:ext>
              </a:extLst>
            </p:cNvPr>
            <p:cNvSpPr/>
            <p:nvPr/>
          </p:nvSpPr>
          <p:spPr>
            <a:xfrm>
              <a:off x="10212309" y="1276536"/>
              <a:ext cx="407406" cy="344031"/>
            </a:xfrm>
            <a:prstGeom prst="rect">
              <a:avLst/>
            </a:prstGeom>
            <a:noFill/>
            <a:ln w="2222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49204D04-D48A-4C77-B99F-1B87F25B859C}"/>
                </a:ext>
              </a:extLst>
            </p:cNvPr>
            <p:cNvSpPr/>
            <p:nvPr/>
          </p:nvSpPr>
          <p:spPr>
            <a:xfrm>
              <a:off x="10619715" y="1276536"/>
              <a:ext cx="407406" cy="344031"/>
            </a:xfrm>
            <a:prstGeom prst="rect">
              <a:avLst/>
            </a:prstGeom>
            <a:noFill/>
            <a:ln w="2222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72E5FB2A-BD6B-4572-B316-7E7D360F3C36}"/>
                </a:ext>
              </a:extLst>
            </p:cNvPr>
            <p:cNvSpPr/>
            <p:nvPr/>
          </p:nvSpPr>
          <p:spPr>
            <a:xfrm>
              <a:off x="11027121" y="1276537"/>
              <a:ext cx="407406" cy="344031"/>
            </a:xfrm>
            <a:prstGeom prst="rect">
              <a:avLst/>
            </a:prstGeom>
            <a:noFill/>
            <a:ln w="2222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1AA11D8B-2622-49A0-AEE1-2F41F5800490}"/>
                </a:ext>
              </a:extLst>
            </p:cNvPr>
            <p:cNvSpPr/>
            <p:nvPr/>
          </p:nvSpPr>
          <p:spPr>
            <a:xfrm>
              <a:off x="8990091" y="1620567"/>
              <a:ext cx="407406" cy="344031"/>
            </a:xfrm>
            <a:prstGeom prst="rect">
              <a:avLst/>
            </a:prstGeom>
            <a:noFill/>
            <a:ln w="2222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98594EBA-814F-499A-9715-68E0390BF890}"/>
                </a:ext>
              </a:extLst>
            </p:cNvPr>
            <p:cNvSpPr/>
            <p:nvPr/>
          </p:nvSpPr>
          <p:spPr>
            <a:xfrm>
              <a:off x="9397497" y="1620567"/>
              <a:ext cx="407406" cy="344031"/>
            </a:xfrm>
            <a:prstGeom prst="rect">
              <a:avLst/>
            </a:prstGeom>
            <a:noFill/>
            <a:ln w="2222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266A5C0A-E75C-48CA-8F2E-EE6EB8E86A6A}"/>
                </a:ext>
              </a:extLst>
            </p:cNvPr>
            <p:cNvSpPr/>
            <p:nvPr/>
          </p:nvSpPr>
          <p:spPr>
            <a:xfrm>
              <a:off x="9804903" y="1620566"/>
              <a:ext cx="407406" cy="344031"/>
            </a:xfrm>
            <a:prstGeom prst="rect">
              <a:avLst/>
            </a:prstGeom>
            <a:noFill/>
            <a:ln w="2222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668716F1-C009-4E8B-8E58-AB76F10E5D60}"/>
                </a:ext>
              </a:extLst>
            </p:cNvPr>
            <p:cNvSpPr/>
            <p:nvPr/>
          </p:nvSpPr>
          <p:spPr>
            <a:xfrm>
              <a:off x="10212309" y="1620566"/>
              <a:ext cx="407406" cy="344031"/>
            </a:xfrm>
            <a:prstGeom prst="rect">
              <a:avLst/>
            </a:prstGeom>
            <a:noFill/>
            <a:ln w="2222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74C593C0-A4F0-48F1-83BE-33A8940CBD32}"/>
                </a:ext>
              </a:extLst>
            </p:cNvPr>
            <p:cNvSpPr/>
            <p:nvPr/>
          </p:nvSpPr>
          <p:spPr>
            <a:xfrm>
              <a:off x="10619715" y="1620566"/>
              <a:ext cx="407406" cy="344031"/>
            </a:xfrm>
            <a:prstGeom prst="rect">
              <a:avLst/>
            </a:prstGeom>
            <a:noFill/>
            <a:ln w="2222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A1E32C95-BEC2-4D2A-A850-EE6E1A20B57C}"/>
                </a:ext>
              </a:extLst>
            </p:cNvPr>
            <p:cNvSpPr/>
            <p:nvPr/>
          </p:nvSpPr>
          <p:spPr>
            <a:xfrm>
              <a:off x="11027121" y="1620567"/>
              <a:ext cx="407406" cy="344031"/>
            </a:xfrm>
            <a:prstGeom prst="rect">
              <a:avLst/>
            </a:prstGeom>
            <a:noFill/>
            <a:ln w="2222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0B35FE52-73E3-4AC9-88AC-5BFCFA834BC3}"/>
                </a:ext>
              </a:extLst>
            </p:cNvPr>
            <p:cNvSpPr/>
            <p:nvPr/>
          </p:nvSpPr>
          <p:spPr>
            <a:xfrm>
              <a:off x="8990091" y="1964598"/>
              <a:ext cx="407406" cy="344031"/>
            </a:xfrm>
            <a:prstGeom prst="rect">
              <a:avLst/>
            </a:prstGeom>
            <a:noFill/>
            <a:ln w="2222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FE3BEF3A-1E03-45A5-AB57-F40C46E65FD3}"/>
                </a:ext>
              </a:extLst>
            </p:cNvPr>
            <p:cNvSpPr/>
            <p:nvPr/>
          </p:nvSpPr>
          <p:spPr>
            <a:xfrm>
              <a:off x="9397497" y="1964598"/>
              <a:ext cx="407406" cy="344031"/>
            </a:xfrm>
            <a:prstGeom prst="rect">
              <a:avLst/>
            </a:prstGeom>
            <a:noFill/>
            <a:ln w="2222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2D9C8954-4B3D-4A56-B369-3E0D9DDF85FD}"/>
                </a:ext>
              </a:extLst>
            </p:cNvPr>
            <p:cNvSpPr/>
            <p:nvPr/>
          </p:nvSpPr>
          <p:spPr>
            <a:xfrm>
              <a:off x="9804903" y="1964597"/>
              <a:ext cx="407406" cy="344031"/>
            </a:xfrm>
            <a:prstGeom prst="rect">
              <a:avLst/>
            </a:prstGeom>
            <a:noFill/>
            <a:ln w="2222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12B4083D-910A-44E2-8091-959247C0A783}"/>
                </a:ext>
              </a:extLst>
            </p:cNvPr>
            <p:cNvSpPr/>
            <p:nvPr/>
          </p:nvSpPr>
          <p:spPr>
            <a:xfrm>
              <a:off x="10212309" y="1964597"/>
              <a:ext cx="407406" cy="344031"/>
            </a:xfrm>
            <a:prstGeom prst="rect">
              <a:avLst/>
            </a:prstGeom>
            <a:noFill/>
            <a:ln w="2222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1250A9E1-88E0-4AC7-B52B-9B5B3EE0ECC6}"/>
                </a:ext>
              </a:extLst>
            </p:cNvPr>
            <p:cNvSpPr/>
            <p:nvPr/>
          </p:nvSpPr>
          <p:spPr>
            <a:xfrm>
              <a:off x="10619715" y="1964597"/>
              <a:ext cx="407406" cy="344031"/>
            </a:xfrm>
            <a:prstGeom prst="rect">
              <a:avLst/>
            </a:prstGeom>
            <a:noFill/>
            <a:ln w="2222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B9542B19-357C-4E9D-B868-B72286372140}"/>
                </a:ext>
              </a:extLst>
            </p:cNvPr>
            <p:cNvSpPr/>
            <p:nvPr/>
          </p:nvSpPr>
          <p:spPr>
            <a:xfrm>
              <a:off x="11027121" y="1964598"/>
              <a:ext cx="407406" cy="344031"/>
            </a:xfrm>
            <a:prstGeom prst="rect">
              <a:avLst/>
            </a:prstGeom>
            <a:noFill/>
            <a:ln w="2222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0B43AA5E-BAAB-4CE5-9CDF-A32370F98C72}"/>
                </a:ext>
              </a:extLst>
            </p:cNvPr>
            <p:cNvSpPr/>
            <p:nvPr/>
          </p:nvSpPr>
          <p:spPr>
            <a:xfrm>
              <a:off x="8990091" y="2308627"/>
              <a:ext cx="407406" cy="344031"/>
            </a:xfrm>
            <a:prstGeom prst="rect">
              <a:avLst/>
            </a:prstGeom>
            <a:noFill/>
            <a:ln w="2222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6AF36EEA-7F65-4934-B9A9-6F8F9A7EB9C8}"/>
                </a:ext>
              </a:extLst>
            </p:cNvPr>
            <p:cNvSpPr/>
            <p:nvPr/>
          </p:nvSpPr>
          <p:spPr>
            <a:xfrm>
              <a:off x="9397497" y="2308627"/>
              <a:ext cx="407406" cy="344031"/>
            </a:xfrm>
            <a:prstGeom prst="rect">
              <a:avLst/>
            </a:prstGeom>
            <a:noFill/>
            <a:ln w="2222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91FFBF18-07BA-4FB6-8B75-827DB323DD6F}"/>
                </a:ext>
              </a:extLst>
            </p:cNvPr>
            <p:cNvSpPr/>
            <p:nvPr/>
          </p:nvSpPr>
          <p:spPr>
            <a:xfrm>
              <a:off x="9804903" y="2308626"/>
              <a:ext cx="407406" cy="344031"/>
            </a:xfrm>
            <a:prstGeom prst="rect">
              <a:avLst/>
            </a:prstGeom>
            <a:noFill/>
            <a:ln w="2222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A03CA9C4-F8FC-48F5-89AF-B64343715896}"/>
                </a:ext>
              </a:extLst>
            </p:cNvPr>
            <p:cNvSpPr/>
            <p:nvPr/>
          </p:nvSpPr>
          <p:spPr>
            <a:xfrm>
              <a:off x="10212309" y="2308626"/>
              <a:ext cx="407406" cy="344031"/>
            </a:xfrm>
            <a:prstGeom prst="rect">
              <a:avLst/>
            </a:prstGeom>
            <a:noFill/>
            <a:ln w="2222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13E3CE4F-000B-4B53-8564-BAB4964B73C4}"/>
                </a:ext>
              </a:extLst>
            </p:cNvPr>
            <p:cNvSpPr/>
            <p:nvPr/>
          </p:nvSpPr>
          <p:spPr>
            <a:xfrm>
              <a:off x="10619715" y="2308626"/>
              <a:ext cx="407406" cy="344031"/>
            </a:xfrm>
            <a:prstGeom prst="rect">
              <a:avLst/>
            </a:prstGeom>
            <a:noFill/>
            <a:ln w="2222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E79E0836-4EED-491E-992E-2F40FCB43D4B}"/>
                </a:ext>
              </a:extLst>
            </p:cNvPr>
            <p:cNvSpPr/>
            <p:nvPr/>
          </p:nvSpPr>
          <p:spPr>
            <a:xfrm>
              <a:off x="11027121" y="2308627"/>
              <a:ext cx="407406" cy="344031"/>
            </a:xfrm>
            <a:prstGeom prst="rect">
              <a:avLst/>
            </a:prstGeom>
            <a:noFill/>
            <a:ln w="2222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80F20985-7F24-46BE-A196-7F4591CFE842}"/>
                </a:ext>
              </a:extLst>
            </p:cNvPr>
            <p:cNvSpPr/>
            <p:nvPr/>
          </p:nvSpPr>
          <p:spPr>
            <a:xfrm>
              <a:off x="8990091" y="2652655"/>
              <a:ext cx="407406" cy="344031"/>
            </a:xfrm>
            <a:prstGeom prst="rect">
              <a:avLst/>
            </a:prstGeom>
            <a:noFill/>
            <a:ln w="2222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9730E1B8-CF0E-4BF4-B222-2852158B9BE8}"/>
                </a:ext>
              </a:extLst>
            </p:cNvPr>
            <p:cNvSpPr/>
            <p:nvPr/>
          </p:nvSpPr>
          <p:spPr>
            <a:xfrm>
              <a:off x="9397497" y="2652655"/>
              <a:ext cx="407406" cy="344031"/>
            </a:xfrm>
            <a:prstGeom prst="rect">
              <a:avLst/>
            </a:prstGeom>
            <a:noFill/>
            <a:ln w="2222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3E65E731-5A02-4B02-B1F5-1EA6F8DE85C9}"/>
                </a:ext>
              </a:extLst>
            </p:cNvPr>
            <p:cNvSpPr/>
            <p:nvPr/>
          </p:nvSpPr>
          <p:spPr>
            <a:xfrm>
              <a:off x="9804903" y="2652654"/>
              <a:ext cx="407406" cy="344031"/>
            </a:xfrm>
            <a:prstGeom prst="rect">
              <a:avLst/>
            </a:prstGeom>
            <a:noFill/>
            <a:ln w="2222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C94DEDBE-7A5B-4C39-A9F1-FA973EB765E5}"/>
                </a:ext>
              </a:extLst>
            </p:cNvPr>
            <p:cNvSpPr/>
            <p:nvPr/>
          </p:nvSpPr>
          <p:spPr>
            <a:xfrm>
              <a:off x="10212309" y="2652654"/>
              <a:ext cx="407406" cy="344031"/>
            </a:xfrm>
            <a:prstGeom prst="rect">
              <a:avLst/>
            </a:prstGeom>
            <a:noFill/>
            <a:ln w="2222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E77F8489-D095-41FB-8860-9A5F632A83AA}"/>
                </a:ext>
              </a:extLst>
            </p:cNvPr>
            <p:cNvSpPr/>
            <p:nvPr/>
          </p:nvSpPr>
          <p:spPr>
            <a:xfrm>
              <a:off x="10619715" y="2652654"/>
              <a:ext cx="407406" cy="344031"/>
            </a:xfrm>
            <a:prstGeom prst="rect">
              <a:avLst/>
            </a:prstGeom>
            <a:noFill/>
            <a:ln w="2222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EDCF4567-5477-419E-8E9C-DB7CEE351515}"/>
                </a:ext>
              </a:extLst>
            </p:cNvPr>
            <p:cNvSpPr/>
            <p:nvPr/>
          </p:nvSpPr>
          <p:spPr>
            <a:xfrm>
              <a:off x="11027121" y="2652655"/>
              <a:ext cx="407406" cy="344031"/>
            </a:xfrm>
            <a:prstGeom prst="rect">
              <a:avLst/>
            </a:prstGeom>
            <a:noFill/>
            <a:ln w="2222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4F0A494A-3EFA-4AA7-8ACD-9D5F0F04DA1F}"/>
                </a:ext>
              </a:extLst>
            </p:cNvPr>
            <p:cNvSpPr/>
            <p:nvPr/>
          </p:nvSpPr>
          <p:spPr>
            <a:xfrm>
              <a:off x="8990091" y="929329"/>
              <a:ext cx="407406" cy="344031"/>
            </a:xfrm>
            <a:prstGeom prst="rect">
              <a:avLst/>
            </a:prstGeom>
            <a:noFill/>
            <a:ln w="2222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BD7A7894-540B-4686-8CAE-A044374BEEDE}"/>
                </a:ext>
              </a:extLst>
            </p:cNvPr>
            <p:cNvSpPr/>
            <p:nvPr/>
          </p:nvSpPr>
          <p:spPr>
            <a:xfrm>
              <a:off x="9397497" y="929329"/>
              <a:ext cx="407406" cy="344031"/>
            </a:xfrm>
            <a:prstGeom prst="rect">
              <a:avLst/>
            </a:prstGeom>
            <a:noFill/>
            <a:ln w="2222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59652510-414B-4985-B48E-9C0A51DC501B}"/>
                </a:ext>
              </a:extLst>
            </p:cNvPr>
            <p:cNvSpPr/>
            <p:nvPr/>
          </p:nvSpPr>
          <p:spPr>
            <a:xfrm>
              <a:off x="9804903" y="929328"/>
              <a:ext cx="407406" cy="344031"/>
            </a:xfrm>
            <a:prstGeom prst="rect">
              <a:avLst/>
            </a:prstGeom>
            <a:noFill/>
            <a:ln w="2222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490589F2-A3B9-4CCA-A1CE-9EBF0B12A2C7}"/>
                </a:ext>
              </a:extLst>
            </p:cNvPr>
            <p:cNvSpPr/>
            <p:nvPr/>
          </p:nvSpPr>
          <p:spPr>
            <a:xfrm>
              <a:off x="10212309" y="929328"/>
              <a:ext cx="407406" cy="344031"/>
            </a:xfrm>
            <a:prstGeom prst="rect">
              <a:avLst/>
            </a:prstGeom>
            <a:noFill/>
            <a:ln w="2222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7A389941-6FB9-41E4-B96D-453602EC2F4A}"/>
                </a:ext>
              </a:extLst>
            </p:cNvPr>
            <p:cNvSpPr/>
            <p:nvPr/>
          </p:nvSpPr>
          <p:spPr>
            <a:xfrm>
              <a:off x="10619715" y="929328"/>
              <a:ext cx="407406" cy="344031"/>
            </a:xfrm>
            <a:prstGeom prst="rect">
              <a:avLst/>
            </a:prstGeom>
            <a:noFill/>
            <a:ln w="2222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24DF3A38-1516-4698-A722-7E7A4CB67A74}"/>
                </a:ext>
              </a:extLst>
            </p:cNvPr>
            <p:cNvSpPr/>
            <p:nvPr/>
          </p:nvSpPr>
          <p:spPr>
            <a:xfrm>
              <a:off x="11027121" y="929329"/>
              <a:ext cx="407406" cy="344031"/>
            </a:xfrm>
            <a:prstGeom prst="rect">
              <a:avLst/>
            </a:prstGeom>
            <a:noFill/>
            <a:ln w="2222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1C6ED329-B93F-4473-9A5D-C613833A458D}"/>
              </a:ext>
            </a:extLst>
          </p:cNvPr>
          <p:cNvSpPr txBox="1"/>
          <p:nvPr/>
        </p:nvSpPr>
        <p:spPr>
          <a:xfrm>
            <a:off x="9968152" y="6073204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</a:rPr>
              <a:t>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62DA012-11AF-45C4-8D55-96DB205EDB53}"/>
              </a:ext>
            </a:extLst>
          </p:cNvPr>
          <p:cNvSpPr txBox="1"/>
          <p:nvPr/>
        </p:nvSpPr>
        <p:spPr>
          <a:xfrm>
            <a:off x="11521125" y="4628858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</a:rPr>
              <a:t>6 </a:t>
            </a:r>
          </a:p>
        </p:txBody>
      </p:sp>
    </p:spTree>
    <p:extLst>
      <p:ext uri="{BB962C8B-B14F-4D97-AF65-F5344CB8AC3E}">
        <p14:creationId xmlns:p14="http://schemas.microsoft.com/office/powerpoint/2010/main" val="374026249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334789"/>
            <a:ext cx="4521452" cy="612649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Century" panose="02040604050505020304" pitchFamily="18" charset="0"/>
              </a:rPr>
              <a:t>Bottleneck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1049" y="976013"/>
            <a:ext cx="7201429" cy="2249308"/>
          </a:xfrm>
        </p:spPr>
        <p:txBody>
          <a:bodyPr>
            <a:normAutofit fontScale="77500" lnSpcReduction="20000"/>
          </a:bodyPr>
          <a:lstStyle/>
          <a:p>
            <a:pPr algn="just">
              <a:lnSpc>
                <a:spcPct val="120000"/>
              </a:lnSpc>
            </a:pPr>
            <a:r>
              <a:rPr lang="en-US" dirty="0">
                <a:latin typeface="Arial Narrow" panose="020B0606020202030204" pitchFamily="34" charset="0"/>
              </a:rPr>
              <a:t>A bottleneck layer in a Convolutional Neural Network (CNN) is a </a:t>
            </a: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</a:rPr>
              <a:t>low-dimensional intermediate </a:t>
            </a:r>
            <a:r>
              <a:rPr lang="en-US" dirty="0">
                <a:latin typeface="Arial Narrow" panose="020B0606020202030204" pitchFamily="34" charset="0"/>
              </a:rPr>
              <a:t>layer that </a:t>
            </a: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</a:rPr>
              <a:t>reduces computational cost </a:t>
            </a:r>
            <a:r>
              <a:rPr lang="en-US" dirty="0">
                <a:latin typeface="Arial Narrow" panose="020B0606020202030204" pitchFamily="34" charset="0"/>
              </a:rPr>
              <a:t>and the </a:t>
            </a: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</a:rPr>
              <a:t>number of parameters</a:t>
            </a:r>
            <a:r>
              <a:rPr lang="en-US" dirty="0">
                <a:latin typeface="Arial Narrow" panose="020B0606020202030204" pitchFamily="34" charset="0"/>
              </a:rPr>
              <a:t> by compressing the input feature maps. It is typically implemented using a </a:t>
            </a: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</a:rPr>
              <a:t>1×1 convolution </a:t>
            </a:r>
            <a:r>
              <a:rPr lang="en-US" dirty="0">
                <a:latin typeface="Arial Narrow" panose="020B0606020202030204" pitchFamily="34" charset="0"/>
              </a:rPr>
              <a:t>to </a:t>
            </a: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</a:rPr>
              <a:t>reduce the channel depth </a:t>
            </a:r>
            <a:r>
              <a:rPr lang="en-US" dirty="0">
                <a:latin typeface="Arial Narrow" panose="020B0606020202030204" pitchFamily="34" charset="0"/>
              </a:rPr>
              <a:t>before more computationally expensive operations.</a:t>
            </a:r>
            <a:endParaRPr lang="en-IN" dirty="0">
              <a:latin typeface="Arial Narrow" panose="020B0606020202030204" pitchFamily="34" charset="0"/>
            </a:endParaRPr>
          </a:p>
        </p:txBody>
      </p:sp>
      <p:grpSp>
        <p:nvGrpSpPr>
          <p:cNvPr id="50" name="Group 49"/>
          <p:cNvGrpSpPr/>
          <p:nvPr/>
        </p:nvGrpSpPr>
        <p:grpSpPr>
          <a:xfrm>
            <a:off x="9117091" y="478177"/>
            <a:ext cx="2444436" cy="2067358"/>
            <a:chOff x="8990091" y="929328"/>
            <a:chExt cx="2444436" cy="2067358"/>
          </a:xfrm>
        </p:grpSpPr>
        <p:sp>
          <p:nvSpPr>
            <p:cNvPr id="6" name="Rectangle 5"/>
            <p:cNvSpPr/>
            <p:nvPr/>
          </p:nvSpPr>
          <p:spPr>
            <a:xfrm>
              <a:off x="8990091" y="1276537"/>
              <a:ext cx="407406" cy="344031"/>
            </a:xfrm>
            <a:prstGeom prst="rect">
              <a:avLst/>
            </a:prstGeom>
            <a:noFill/>
            <a:ln w="222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" name="Rectangle 6"/>
            <p:cNvSpPr/>
            <p:nvPr/>
          </p:nvSpPr>
          <p:spPr>
            <a:xfrm>
              <a:off x="9397497" y="1276537"/>
              <a:ext cx="407406" cy="344031"/>
            </a:xfrm>
            <a:prstGeom prst="rect">
              <a:avLst/>
            </a:prstGeom>
            <a:noFill/>
            <a:ln w="222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" name="Rectangle 7"/>
            <p:cNvSpPr/>
            <p:nvPr/>
          </p:nvSpPr>
          <p:spPr>
            <a:xfrm>
              <a:off x="9804903" y="1276536"/>
              <a:ext cx="407406" cy="344031"/>
            </a:xfrm>
            <a:prstGeom prst="rect">
              <a:avLst/>
            </a:prstGeom>
            <a:noFill/>
            <a:ln w="222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0212309" y="1276536"/>
              <a:ext cx="407406" cy="344031"/>
            </a:xfrm>
            <a:prstGeom prst="rect">
              <a:avLst/>
            </a:prstGeom>
            <a:noFill/>
            <a:ln w="222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0619715" y="1276536"/>
              <a:ext cx="407406" cy="344031"/>
            </a:xfrm>
            <a:prstGeom prst="rect">
              <a:avLst/>
            </a:prstGeom>
            <a:noFill/>
            <a:ln w="222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1027121" y="1276537"/>
              <a:ext cx="407406" cy="344031"/>
            </a:xfrm>
            <a:prstGeom prst="rect">
              <a:avLst/>
            </a:prstGeom>
            <a:noFill/>
            <a:ln w="222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8990091" y="1620567"/>
              <a:ext cx="407406" cy="344031"/>
            </a:xfrm>
            <a:prstGeom prst="rect">
              <a:avLst/>
            </a:prstGeom>
            <a:noFill/>
            <a:ln w="222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9397497" y="1620567"/>
              <a:ext cx="407406" cy="344031"/>
            </a:xfrm>
            <a:prstGeom prst="rect">
              <a:avLst/>
            </a:prstGeom>
            <a:noFill/>
            <a:ln w="222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9804903" y="1620566"/>
              <a:ext cx="407406" cy="344031"/>
            </a:xfrm>
            <a:prstGeom prst="rect">
              <a:avLst/>
            </a:prstGeom>
            <a:noFill/>
            <a:ln w="222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0212309" y="1620566"/>
              <a:ext cx="407406" cy="344031"/>
            </a:xfrm>
            <a:prstGeom prst="rect">
              <a:avLst/>
            </a:prstGeom>
            <a:noFill/>
            <a:ln w="222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0619715" y="1620566"/>
              <a:ext cx="407406" cy="344031"/>
            </a:xfrm>
            <a:prstGeom prst="rect">
              <a:avLst/>
            </a:prstGeom>
            <a:noFill/>
            <a:ln w="222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11027121" y="1620567"/>
              <a:ext cx="407406" cy="344031"/>
            </a:xfrm>
            <a:prstGeom prst="rect">
              <a:avLst/>
            </a:prstGeom>
            <a:noFill/>
            <a:ln w="222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8990091" y="1964598"/>
              <a:ext cx="407406" cy="344031"/>
            </a:xfrm>
            <a:prstGeom prst="rect">
              <a:avLst/>
            </a:prstGeom>
            <a:noFill/>
            <a:ln w="222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9397497" y="1964598"/>
              <a:ext cx="407406" cy="344031"/>
            </a:xfrm>
            <a:prstGeom prst="rect">
              <a:avLst/>
            </a:prstGeom>
            <a:noFill/>
            <a:ln w="222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9804903" y="1964597"/>
              <a:ext cx="407406" cy="344031"/>
            </a:xfrm>
            <a:prstGeom prst="rect">
              <a:avLst/>
            </a:prstGeom>
            <a:noFill/>
            <a:ln w="222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0212309" y="1964597"/>
              <a:ext cx="407406" cy="344031"/>
            </a:xfrm>
            <a:prstGeom prst="rect">
              <a:avLst/>
            </a:prstGeom>
            <a:noFill/>
            <a:ln w="222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10619715" y="1964597"/>
              <a:ext cx="407406" cy="344031"/>
            </a:xfrm>
            <a:prstGeom prst="rect">
              <a:avLst/>
            </a:prstGeom>
            <a:noFill/>
            <a:ln w="222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11027121" y="1964598"/>
              <a:ext cx="407406" cy="344031"/>
            </a:xfrm>
            <a:prstGeom prst="rect">
              <a:avLst/>
            </a:prstGeom>
            <a:noFill/>
            <a:ln w="222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4" name="Rectangle 23"/>
            <p:cNvSpPr/>
            <p:nvPr/>
          </p:nvSpPr>
          <p:spPr>
            <a:xfrm>
              <a:off x="8990091" y="2308627"/>
              <a:ext cx="407406" cy="344031"/>
            </a:xfrm>
            <a:prstGeom prst="rect">
              <a:avLst/>
            </a:prstGeom>
            <a:noFill/>
            <a:ln w="222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9397497" y="2308627"/>
              <a:ext cx="407406" cy="344031"/>
            </a:xfrm>
            <a:prstGeom prst="rect">
              <a:avLst/>
            </a:prstGeom>
            <a:noFill/>
            <a:ln w="222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804903" y="2308626"/>
              <a:ext cx="407406" cy="344031"/>
            </a:xfrm>
            <a:prstGeom prst="rect">
              <a:avLst/>
            </a:prstGeom>
            <a:noFill/>
            <a:ln w="222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10212309" y="2308626"/>
              <a:ext cx="407406" cy="344031"/>
            </a:xfrm>
            <a:prstGeom prst="rect">
              <a:avLst/>
            </a:prstGeom>
            <a:noFill/>
            <a:ln w="222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10619715" y="2308626"/>
              <a:ext cx="407406" cy="344031"/>
            </a:xfrm>
            <a:prstGeom prst="rect">
              <a:avLst/>
            </a:prstGeom>
            <a:noFill/>
            <a:ln w="222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1027121" y="2308627"/>
              <a:ext cx="407406" cy="344031"/>
            </a:xfrm>
            <a:prstGeom prst="rect">
              <a:avLst/>
            </a:prstGeom>
            <a:noFill/>
            <a:ln w="222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8990091" y="2652655"/>
              <a:ext cx="407406" cy="344031"/>
            </a:xfrm>
            <a:prstGeom prst="rect">
              <a:avLst/>
            </a:prstGeom>
            <a:noFill/>
            <a:ln w="222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9397497" y="2652655"/>
              <a:ext cx="407406" cy="344031"/>
            </a:xfrm>
            <a:prstGeom prst="rect">
              <a:avLst/>
            </a:prstGeom>
            <a:noFill/>
            <a:ln w="222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9804903" y="2652654"/>
              <a:ext cx="407406" cy="344031"/>
            </a:xfrm>
            <a:prstGeom prst="rect">
              <a:avLst/>
            </a:prstGeom>
            <a:noFill/>
            <a:ln w="222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3" name="Rectangle 32"/>
            <p:cNvSpPr/>
            <p:nvPr/>
          </p:nvSpPr>
          <p:spPr>
            <a:xfrm>
              <a:off x="10212309" y="2652654"/>
              <a:ext cx="407406" cy="344031"/>
            </a:xfrm>
            <a:prstGeom prst="rect">
              <a:avLst/>
            </a:prstGeom>
            <a:noFill/>
            <a:ln w="222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4" name="Rectangle 33"/>
            <p:cNvSpPr/>
            <p:nvPr/>
          </p:nvSpPr>
          <p:spPr>
            <a:xfrm>
              <a:off x="10619715" y="2652654"/>
              <a:ext cx="407406" cy="344031"/>
            </a:xfrm>
            <a:prstGeom prst="rect">
              <a:avLst/>
            </a:prstGeom>
            <a:noFill/>
            <a:ln w="222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11027121" y="2652655"/>
              <a:ext cx="407406" cy="344031"/>
            </a:xfrm>
            <a:prstGeom prst="rect">
              <a:avLst/>
            </a:prstGeom>
            <a:noFill/>
            <a:ln w="222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8990091" y="929329"/>
              <a:ext cx="407406" cy="344031"/>
            </a:xfrm>
            <a:prstGeom prst="rect">
              <a:avLst/>
            </a:prstGeom>
            <a:noFill/>
            <a:ln w="222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7" name="Rectangle 36"/>
            <p:cNvSpPr/>
            <p:nvPr/>
          </p:nvSpPr>
          <p:spPr>
            <a:xfrm>
              <a:off x="9397497" y="929329"/>
              <a:ext cx="407406" cy="344031"/>
            </a:xfrm>
            <a:prstGeom prst="rect">
              <a:avLst/>
            </a:prstGeom>
            <a:noFill/>
            <a:ln w="222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9804903" y="929328"/>
              <a:ext cx="407406" cy="344031"/>
            </a:xfrm>
            <a:prstGeom prst="rect">
              <a:avLst/>
            </a:prstGeom>
            <a:noFill/>
            <a:ln w="222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10212309" y="929328"/>
              <a:ext cx="407406" cy="344031"/>
            </a:xfrm>
            <a:prstGeom prst="rect">
              <a:avLst/>
            </a:prstGeom>
            <a:noFill/>
            <a:ln w="222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10619715" y="929328"/>
              <a:ext cx="407406" cy="344031"/>
            </a:xfrm>
            <a:prstGeom prst="rect">
              <a:avLst/>
            </a:prstGeom>
            <a:noFill/>
            <a:ln w="222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11027121" y="929329"/>
              <a:ext cx="407406" cy="344031"/>
            </a:xfrm>
            <a:prstGeom prst="rect">
              <a:avLst/>
            </a:prstGeom>
            <a:noFill/>
            <a:ln w="222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9174972" y="465526"/>
            <a:ext cx="2861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564271" y="475001"/>
            <a:ext cx="2861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951789" y="465526"/>
            <a:ext cx="2861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384575" y="475000"/>
            <a:ext cx="2861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786489" y="475000"/>
            <a:ext cx="2861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188403" y="481356"/>
            <a:ext cx="2861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9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174972" y="2165935"/>
            <a:ext cx="2861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564271" y="2175410"/>
            <a:ext cx="2861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951789" y="2165935"/>
            <a:ext cx="2861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8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384575" y="2175409"/>
            <a:ext cx="2861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786489" y="2175409"/>
            <a:ext cx="2861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7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212967" y="2175409"/>
            <a:ext cx="2861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4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174972" y="796901"/>
            <a:ext cx="2861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8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564271" y="806376"/>
            <a:ext cx="2861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4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951789" y="796901"/>
            <a:ext cx="2861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6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384575" y="806375"/>
            <a:ext cx="2861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8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786489" y="806375"/>
            <a:ext cx="2861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7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1212967" y="806375"/>
            <a:ext cx="2861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6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174972" y="1159145"/>
            <a:ext cx="2861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3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564271" y="1168620"/>
            <a:ext cx="2861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2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951789" y="1159145"/>
            <a:ext cx="2861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5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384575" y="1168619"/>
            <a:ext cx="2861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4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786489" y="1168619"/>
            <a:ext cx="2861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6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1212967" y="1168619"/>
            <a:ext cx="2861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8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174972" y="1502378"/>
            <a:ext cx="2861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4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564271" y="1511853"/>
            <a:ext cx="2861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5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951789" y="1502378"/>
            <a:ext cx="2861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7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384575" y="1511852"/>
            <a:ext cx="2861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8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786489" y="1511852"/>
            <a:ext cx="2861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3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1212967" y="1511852"/>
            <a:ext cx="2861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6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174972" y="1846403"/>
            <a:ext cx="2861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564271" y="1855878"/>
            <a:ext cx="2861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9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951789" y="1846403"/>
            <a:ext cx="2861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8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384575" y="1855877"/>
            <a:ext cx="2861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3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0786489" y="1855877"/>
            <a:ext cx="2861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7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1212967" y="1855877"/>
            <a:ext cx="2861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6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0131576" y="3245343"/>
            <a:ext cx="407406" cy="371192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3" name="TextBox 92"/>
          <p:cNvSpPr txBox="1"/>
          <p:nvPr/>
        </p:nvSpPr>
        <p:spPr>
          <a:xfrm>
            <a:off x="10188466" y="324720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2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0101377" y="2660568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/>
              <a:t>*</a:t>
            </a:r>
            <a:endParaRPr lang="en-IN" dirty="0"/>
          </a:p>
        </p:txBody>
      </p:sp>
      <p:sp>
        <p:nvSpPr>
          <p:cNvPr id="95" name="TextBox 94"/>
          <p:cNvSpPr txBox="1"/>
          <p:nvPr/>
        </p:nvSpPr>
        <p:spPr>
          <a:xfrm rot="5400000">
            <a:off x="10193131" y="3632843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=</a:t>
            </a:r>
            <a:endParaRPr lang="en-IN" dirty="0"/>
          </a:p>
        </p:txBody>
      </p:sp>
      <p:grpSp>
        <p:nvGrpSpPr>
          <p:cNvPr id="96" name="Group 95"/>
          <p:cNvGrpSpPr/>
          <p:nvPr/>
        </p:nvGrpSpPr>
        <p:grpSpPr>
          <a:xfrm>
            <a:off x="9117091" y="4114430"/>
            <a:ext cx="2444436" cy="2067358"/>
            <a:chOff x="8990091" y="929328"/>
            <a:chExt cx="2444436" cy="2067358"/>
          </a:xfrm>
        </p:grpSpPr>
        <p:sp>
          <p:nvSpPr>
            <p:cNvPr id="97" name="Rectangle 96"/>
            <p:cNvSpPr/>
            <p:nvPr/>
          </p:nvSpPr>
          <p:spPr>
            <a:xfrm>
              <a:off x="8990091" y="1276537"/>
              <a:ext cx="407406" cy="344031"/>
            </a:xfrm>
            <a:prstGeom prst="rect">
              <a:avLst/>
            </a:prstGeom>
            <a:noFill/>
            <a:ln w="222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8" name="Rectangle 97"/>
            <p:cNvSpPr/>
            <p:nvPr/>
          </p:nvSpPr>
          <p:spPr>
            <a:xfrm>
              <a:off x="9397497" y="1276537"/>
              <a:ext cx="407406" cy="344031"/>
            </a:xfrm>
            <a:prstGeom prst="rect">
              <a:avLst/>
            </a:prstGeom>
            <a:noFill/>
            <a:ln w="222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9" name="Rectangle 98"/>
            <p:cNvSpPr/>
            <p:nvPr/>
          </p:nvSpPr>
          <p:spPr>
            <a:xfrm>
              <a:off x="9804903" y="1276536"/>
              <a:ext cx="407406" cy="344031"/>
            </a:xfrm>
            <a:prstGeom prst="rect">
              <a:avLst/>
            </a:prstGeom>
            <a:noFill/>
            <a:ln w="222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0" name="Rectangle 99"/>
            <p:cNvSpPr/>
            <p:nvPr/>
          </p:nvSpPr>
          <p:spPr>
            <a:xfrm>
              <a:off x="10212309" y="1276536"/>
              <a:ext cx="407406" cy="344031"/>
            </a:xfrm>
            <a:prstGeom prst="rect">
              <a:avLst/>
            </a:prstGeom>
            <a:noFill/>
            <a:ln w="222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1" name="Rectangle 100"/>
            <p:cNvSpPr/>
            <p:nvPr/>
          </p:nvSpPr>
          <p:spPr>
            <a:xfrm>
              <a:off x="10619715" y="1276536"/>
              <a:ext cx="407406" cy="344031"/>
            </a:xfrm>
            <a:prstGeom prst="rect">
              <a:avLst/>
            </a:prstGeom>
            <a:noFill/>
            <a:ln w="222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2" name="Rectangle 101"/>
            <p:cNvSpPr/>
            <p:nvPr/>
          </p:nvSpPr>
          <p:spPr>
            <a:xfrm>
              <a:off x="11027121" y="1276537"/>
              <a:ext cx="407406" cy="344031"/>
            </a:xfrm>
            <a:prstGeom prst="rect">
              <a:avLst/>
            </a:prstGeom>
            <a:noFill/>
            <a:ln w="222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3" name="Rectangle 102"/>
            <p:cNvSpPr/>
            <p:nvPr/>
          </p:nvSpPr>
          <p:spPr>
            <a:xfrm>
              <a:off x="8990091" y="1620567"/>
              <a:ext cx="407406" cy="344031"/>
            </a:xfrm>
            <a:prstGeom prst="rect">
              <a:avLst/>
            </a:prstGeom>
            <a:noFill/>
            <a:ln w="222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4" name="Rectangle 103"/>
            <p:cNvSpPr/>
            <p:nvPr/>
          </p:nvSpPr>
          <p:spPr>
            <a:xfrm>
              <a:off x="9397497" y="1620567"/>
              <a:ext cx="407406" cy="344031"/>
            </a:xfrm>
            <a:prstGeom prst="rect">
              <a:avLst/>
            </a:prstGeom>
            <a:noFill/>
            <a:ln w="222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5" name="Rectangle 104"/>
            <p:cNvSpPr/>
            <p:nvPr/>
          </p:nvSpPr>
          <p:spPr>
            <a:xfrm>
              <a:off x="9804903" y="1620566"/>
              <a:ext cx="407406" cy="344031"/>
            </a:xfrm>
            <a:prstGeom prst="rect">
              <a:avLst/>
            </a:prstGeom>
            <a:noFill/>
            <a:ln w="222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6" name="Rectangle 105"/>
            <p:cNvSpPr/>
            <p:nvPr/>
          </p:nvSpPr>
          <p:spPr>
            <a:xfrm>
              <a:off x="10212309" y="1620566"/>
              <a:ext cx="407406" cy="344031"/>
            </a:xfrm>
            <a:prstGeom prst="rect">
              <a:avLst/>
            </a:prstGeom>
            <a:noFill/>
            <a:ln w="222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7" name="Rectangle 106"/>
            <p:cNvSpPr/>
            <p:nvPr/>
          </p:nvSpPr>
          <p:spPr>
            <a:xfrm>
              <a:off x="10619715" y="1620566"/>
              <a:ext cx="407406" cy="344031"/>
            </a:xfrm>
            <a:prstGeom prst="rect">
              <a:avLst/>
            </a:prstGeom>
            <a:noFill/>
            <a:ln w="222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8" name="Rectangle 107"/>
            <p:cNvSpPr/>
            <p:nvPr/>
          </p:nvSpPr>
          <p:spPr>
            <a:xfrm>
              <a:off x="11027121" y="1620567"/>
              <a:ext cx="407406" cy="344031"/>
            </a:xfrm>
            <a:prstGeom prst="rect">
              <a:avLst/>
            </a:prstGeom>
            <a:noFill/>
            <a:ln w="222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9" name="Rectangle 108"/>
            <p:cNvSpPr/>
            <p:nvPr/>
          </p:nvSpPr>
          <p:spPr>
            <a:xfrm>
              <a:off x="8990091" y="1964598"/>
              <a:ext cx="407406" cy="344031"/>
            </a:xfrm>
            <a:prstGeom prst="rect">
              <a:avLst/>
            </a:prstGeom>
            <a:noFill/>
            <a:ln w="222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0" name="Rectangle 109"/>
            <p:cNvSpPr/>
            <p:nvPr/>
          </p:nvSpPr>
          <p:spPr>
            <a:xfrm>
              <a:off x="9397497" y="1964598"/>
              <a:ext cx="407406" cy="344031"/>
            </a:xfrm>
            <a:prstGeom prst="rect">
              <a:avLst/>
            </a:prstGeom>
            <a:noFill/>
            <a:ln w="222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1" name="Rectangle 110"/>
            <p:cNvSpPr/>
            <p:nvPr/>
          </p:nvSpPr>
          <p:spPr>
            <a:xfrm>
              <a:off x="9804903" y="1964597"/>
              <a:ext cx="407406" cy="344031"/>
            </a:xfrm>
            <a:prstGeom prst="rect">
              <a:avLst/>
            </a:prstGeom>
            <a:noFill/>
            <a:ln w="222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2" name="Rectangle 111"/>
            <p:cNvSpPr/>
            <p:nvPr/>
          </p:nvSpPr>
          <p:spPr>
            <a:xfrm>
              <a:off x="10212309" y="1964597"/>
              <a:ext cx="407406" cy="344031"/>
            </a:xfrm>
            <a:prstGeom prst="rect">
              <a:avLst/>
            </a:prstGeom>
            <a:noFill/>
            <a:ln w="222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3" name="Rectangle 112"/>
            <p:cNvSpPr/>
            <p:nvPr/>
          </p:nvSpPr>
          <p:spPr>
            <a:xfrm>
              <a:off x="10619715" y="1964597"/>
              <a:ext cx="407406" cy="344031"/>
            </a:xfrm>
            <a:prstGeom prst="rect">
              <a:avLst/>
            </a:prstGeom>
            <a:noFill/>
            <a:ln w="222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4" name="Rectangle 113"/>
            <p:cNvSpPr/>
            <p:nvPr/>
          </p:nvSpPr>
          <p:spPr>
            <a:xfrm>
              <a:off x="11027121" y="1964598"/>
              <a:ext cx="407406" cy="344031"/>
            </a:xfrm>
            <a:prstGeom prst="rect">
              <a:avLst/>
            </a:prstGeom>
            <a:noFill/>
            <a:ln w="222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5" name="Rectangle 114"/>
            <p:cNvSpPr/>
            <p:nvPr/>
          </p:nvSpPr>
          <p:spPr>
            <a:xfrm>
              <a:off x="8990091" y="2308627"/>
              <a:ext cx="407406" cy="344031"/>
            </a:xfrm>
            <a:prstGeom prst="rect">
              <a:avLst/>
            </a:prstGeom>
            <a:noFill/>
            <a:ln w="222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6" name="Rectangle 115"/>
            <p:cNvSpPr/>
            <p:nvPr/>
          </p:nvSpPr>
          <p:spPr>
            <a:xfrm>
              <a:off x="9397497" y="2308627"/>
              <a:ext cx="407406" cy="344031"/>
            </a:xfrm>
            <a:prstGeom prst="rect">
              <a:avLst/>
            </a:prstGeom>
            <a:noFill/>
            <a:ln w="222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7" name="Rectangle 116"/>
            <p:cNvSpPr/>
            <p:nvPr/>
          </p:nvSpPr>
          <p:spPr>
            <a:xfrm>
              <a:off x="9804903" y="2308626"/>
              <a:ext cx="407406" cy="344031"/>
            </a:xfrm>
            <a:prstGeom prst="rect">
              <a:avLst/>
            </a:prstGeom>
            <a:noFill/>
            <a:ln w="222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8" name="Rectangle 117"/>
            <p:cNvSpPr/>
            <p:nvPr/>
          </p:nvSpPr>
          <p:spPr>
            <a:xfrm>
              <a:off x="10212309" y="2308626"/>
              <a:ext cx="407406" cy="344031"/>
            </a:xfrm>
            <a:prstGeom prst="rect">
              <a:avLst/>
            </a:prstGeom>
            <a:noFill/>
            <a:ln w="222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9" name="Rectangle 118"/>
            <p:cNvSpPr/>
            <p:nvPr/>
          </p:nvSpPr>
          <p:spPr>
            <a:xfrm>
              <a:off x="10619715" y="2308626"/>
              <a:ext cx="407406" cy="344031"/>
            </a:xfrm>
            <a:prstGeom prst="rect">
              <a:avLst/>
            </a:prstGeom>
            <a:noFill/>
            <a:ln w="222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20" name="Rectangle 119"/>
            <p:cNvSpPr/>
            <p:nvPr/>
          </p:nvSpPr>
          <p:spPr>
            <a:xfrm>
              <a:off x="11027121" y="2308627"/>
              <a:ext cx="407406" cy="344031"/>
            </a:xfrm>
            <a:prstGeom prst="rect">
              <a:avLst/>
            </a:prstGeom>
            <a:noFill/>
            <a:ln w="222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21" name="Rectangle 120"/>
            <p:cNvSpPr/>
            <p:nvPr/>
          </p:nvSpPr>
          <p:spPr>
            <a:xfrm>
              <a:off x="8990091" y="2652655"/>
              <a:ext cx="407406" cy="344031"/>
            </a:xfrm>
            <a:prstGeom prst="rect">
              <a:avLst/>
            </a:prstGeom>
            <a:noFill/>
            <a:ln w="222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22" name="Rectangle 121"/>
            <p:cNvSpPr/>
            <p:nvPr/>
          </p:nvSpPr>
          <p:spPr>
            <a:xfrm>
              <a:off x="9397497" y="2652655"/>
              <a:ext cx="407406" cy="344031"/>
            </a:xfrm>
            <a:prstGeom prst="rect">
              <a:avLst/>
            </a:prstGeom>
            <a:noFill/>
            <a:ln w="222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23" name="Rectangle 122"/>
            <p:cNvSpPr/>
            <p:nvPr/>
          </p:nvSpPr>
          <p:spPr>
            <a:xfrm>
              <a:off x="9804903" y="2652654"/>
              <a:ext cx="407406" cy="344031"/>
            </a:xfrm>
            <a:prstGeom prst="rect">
              <a:avLst/>
            </a:prstGeom>
            <a:noFill/>
            <a:ln w="222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24" name="Rectangle 123"/>
            <p:cNvSpPr/>
            <p:nvPr/>
          </p:nvSpPr>
          <p:spPr>
            <a:xfrm>
              <a:off x="10212309" y="2652654"/>
              <a:ext cx="407406" cy="344031"/>
            </a:xfrm>
            <a:prstGeom prst="rect">
              <a:avLst/>
            </a:prstGeom>
            <a:noFill/>
            <a:ln w="222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25" name="Rectangle 124"/>
            <p:cNvSpPr/>
            <p:nvPr/>
          </p:nvSpPr>
          <p:spPr>
            <a:xfrm>
              <a:off x="10619715" y="2652654"/>
              <a:ext cx="407406" cy="344031"/>
            </a:xfrm>
            <a:prstGeom prst="rect">
              <a:avLst/>
            </a:prstGeom>
            <a:noFill/>
            <a:ln w="222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26" name="Rectangle 125"/>
            <p:cNvSpPr/>
            <p:nvPr/>
          </p:nvSpPr>
          <p:spPr>
            <a:xfrm>
              <a:off x="11027121" y="2652655"/>
              <a:ext cx="407406" cy="344031"/>
            </a:xfrm>
            <a:prstGeom prst="rect">
              <a:avLst/>
            </a:prstGeom>
            <a:noFill/>
            <a:ln w="222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27" name="Rectangle 126"/>
            <p:cNvSpPr/>
            <p:nvPr/>
          </p:nvSpPr>
          <p:spPr>
            <a:xfrm>
              <a:off x="8990091" y="929329"/>
              <a:ext cx="407406" cy="344031"/>
            </a:xfrm>
            <a:prstGeom prst="rect">
              <a:avLst/>
            </a:prstGeom>
            <a:noFill/>
            <a:ln w="222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28" name="Rectangle 127"/>
            <p:cNvSpPr/>
            <p:nvPr/>
          </p:nvSpPr>
          <p:spPr>
            <a:xfrm>
              <a:off x="9397497" y="929329"/>
              <a:ext cx="407406" cy="344031"/>
            </a:xfrm>
            <a:prstGeom prst="rect">
              <a:avLst/>
            </a:prstGeom>
            <a:noFill/>
            <a:ln w="222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29" name="Rectangle 128"/>
            <p:cNvSpPr/>
            <p:nvPr/>
          </p:nvSpPr>
          <p:spPr>
            <a:xfrm>
              <a:off x="9804903" y="929328"/>
              <a:ext cx="407406" cy="344031"/>
            </a:xfrm>
            <a:prstGeom prst="rect">
              <a:avLst/>
            </a:prstGeom>
            <a:noFill/>
            <a:ln w="222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0" name="Rectangle 129"/>
            <p:cNvSpPr/>
            <p:nvPr/>
          </p:nvSpPr>
          <p:spPr>
            <a:xfrm>
              <a:off x="10212309" y="929328"/>
              <a:ext cx="407406" cy="344031"/>
            </a:xfrm>
            <a:prstGeom prst="rect">
              <a:avLst/>
            </a:prstGeom>
            <a:noFill/>
            <a:ln w="222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1" name="Rectangle 130"/>
            <p:cNvSpPr/>
            <p:nvPr/>
          </p:nvSpPr>
          <p:spPr>
            <a:xfrm>
              <a:off x="10619715" y="929328"/>
              <a:ext cx="407406" cy="344031"/>
            </a:xfrm>
            <a:prstGeom prst="rect">
              <a:avLst/>
            </a:prstGeom>
            <a:noFill/>
            <a:ln w="222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2" name="Rectangle 131"/>
            <p:cNvSpPr/>
            <p:nvPr/>
          </p:nvSpPr>
          <p:spPr>
            <a:xfrm>
              <a:off x="11027121" y="929329"/>
              <a:ext cx="407406" cy="344031"/>
            </a:xfrm>
            <a:prstGeom prst="rect">
              <a:avLst/>
            </a:prstGeom>
            <a:noFill/>
            <a:ln w="222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133" name="TextBox 132"/>
          <p:cNvSpPr txBox="1"/>
          <p:nvPr/>
        </p:nvSpPr>
        <p:spPr>
          <a:xfrm>
            <a:off x="9174972" y="4101779"/>
            <a:ext cx="2861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4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9564271" y="4111254"/>
            <a:ext cx="2861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2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9951789" y="4101779"/>
            <a:ext cx="2861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8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10384575" y="4111253"/>
            <a:ext cx="2861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…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10786489" y="4111253"/>
            <a:ext cx="2861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…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11188403" y="4117609"/>
            <a:ext cx="3731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..</a:t>
            </a:r>
          </a:p>
        </p:txBody>
      </p:sp>
      <p:sp>
        <p:nvSpPr>
          <p:cNvPr id="169" name="Cube 168"/>
          <p:cNvSpPr/>
          <p:nvPr/>
        </p:nvSpPr>
        <p:spPr>
          <a:xfrm>
            <a:off x="851030" y="4251346"/>
            <a:ext cx="1530036" cy="1569236"/>
          </a:xfrm>
          <a:prstGeom prst="cube">
            <a:avLst>
              <a:gd name="adj" fmla="val 53509"/>
            </a:avLst>
          </a:prstGeom>
          <a:solidFill>
            <a:schemeClr val="accent2">
              <a:lumMod val="60000"/>
              <a:lumOff val="40000"/>
            </a:schemeClr>
          </a:solidFill>
          <a:ln w="1587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0" name="TextBox 169"/>
          <p:cNvSpPr txBox="1"/>
          <p:nvPr/>
        </p:nvSpPr>
        <p:spPr>
          <a:xfrm>
            <a:off x="2524665" y="4948349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/>
              <a:t>*</a:t>
            </a:r>
            <a:endParaRPr lang="en-IN" dirty="0"/>
          </a:p>
        </p:txBody>
      </p:sp>
      <p:sp>
        <p:nvSpPr>
          <p:cNvPr id="171" name="Cube 170"/>
          <p:cNvSpPr/>
          <p:nvPr/>
        </p:nvSpPr>
        <p:spPr>
          <a:xfrm>
            <a:off x="3098925" y="4616478"/>
            <a:ext cx="1167897" cy="1204104"/>
          </a:xfrm>
          <a:prstGeom prst="cube">
            <a:avLst>
              <a:gd name="adj" fmla="val 8353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2" name="TextBox 171"/>
          <p:cNvSpPr txBox="1"/>
          <p:nvPr/>
        </p:nvSpPr>
        <p:spPr>
          <a:xfrm>
            <a:off x="1025130" y="577417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6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96484" y="527078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6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1025130" y="418501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32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3037084" y="579681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1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2866637" y="528750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1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3237721" y="472943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32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4387730" y="5087407"/>
            <a:ext cx="3142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=</a:t>
            </a:r>
          </a:p>
        </p:txBody>
      </p:sp>
      <p:grpSp>
        <p:nvGrpSpPr>
          <p:cNvPr id="179" name="Group 178"/>
          <p:cNvGrpSpPr/>
          <p:nvPr/>
        </p:nvGrpSpPr>
        <p:grpSpPr>
          <a:xfrm>
            <a:off x="5094303" y="4590407"/>
            <a:ext cx="1817107" cy="1580689"/>
            <a:chOff x="8990091" y="929328"/>
            <a:chExt cx="2444436" cy="2067358"/>
          </a:xfrm>
        </p:grpSpPr>
        <p:sp>
          <p:nvSpPr>
            <p:cNvPr id="180" name="Rectangle 179"/>
            <p:cNvSpPr/>
            <p:nvPr/>
          </p:nvSpPr>
          <p:spPr>
            <a:xfrm>
              <a:off x="8990091" y="1276537"/>
              <a:ext cx="407406" cy="344031"/>
            </a:xfrm>
            <a:prstGeom prst="rect">
              <a:avLst/>
            </a:prstGeom>
            <a:noFill/>
            <a:ln w="222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81" name="Rectangle 180"/>
            <p:cNvSpPr/>
            <p:nvPr/>
          </p:nvSpPr>
          <p:spPr>
            <a:xfrm>
              <a:off x="9397497" y="1276537"/>
              <a:ext cx="407406" cy="344031"/>
            </a:xfrm>
            <a:prstGeom prst="rect">
              <a:avLst/>
            </a:prstGeom>
            <a:noFill/>
            <a:ln w="222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82" name="Rectangle 181"/>
            <p:cNvSpPr/>
            <p:nvPr/>
          </p:nvSpPr>
          <p:spPr>
            <a:xfrm>
              <a:off x="9804903" y="1276536"/>
              <a:ext cx="407406" cy="344031"/>
            </a:xfrm>
            <a:prstGeom prst="rect">
              <a:avLst/>
            </a:prstGeom>
            <a:noFill/>
            <a:ln w="222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83" name="Rectangle 182"/>
            <p:cNvSpPr/>
            <p:nvPr/>
          </p:nvSpPr>
          <p:spPr>
            <a:xfrm>
              <a:off x="10212309" y="1276536"/>
              <a:ext cx="407406" cy="344031"/>
            </a:xfrm>
            <a:prstGeom prst="rect">
              <a:avLst/>
            </a:prstGeom>
            <a:noFill/>
            <a:ln w="222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84" name="Rectangle 183"/>
            <p:cNvSpPr/>
            <p:nvPr/>
          </p:nvSpPr>
          <p:spPr>
            <a:xfrm>
              <a:off x="10619715" y="1276536"/>
              <a:ext cx="407406" cy="344031"/>
            </a:xfrm>
            <a:prstGeom prst="rect">
              <a:avLst/>
            </a:prstGeom>
            <a:noFill/>
            <a:ln w="222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85" name="Rectangle 184"/>
            <p:cNvSpPr/>
            <p:nvPr/>
          </p:nvSpPr>
          <p:spPr>
            <a:xfrm>
              <a:off x="11027121" y="1276537"/>
              <a:ext cx="407406" cy="344031"/>
            </a:xfrm>
            <a:prstGeom prst="rect">
              <a:avLst/>
            </a:prstGeom>
            <a:noFill/>
            <a:ln w="222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86" name="Rectangle 185"/>
            <p:cNvSpPr/>
            <p:nvPr/>
          </p:nvSpPr>
          <p:spPr>
            <a:xfrm>
              <a:off x="8990091" y="1620567"/>
              <a:ext cx="407406" cy="344031"/>
            </a:xfrm>
            <a:prstGeom prst="rect">
              <a:avLst/>
            </a:prstGeom>
            <a:noFill/>
            <a:ln w="222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87" name="Rectangle 186"/>
            <p:cNvSpPr/>
            <p:nvPr/>
          </p:nvSpPr>
          <p:spPr>
            <a:xfrm>
              <a:off x="9397497" y="1620567"/>
              <a:ext cx="407406" cy="344031"/>
            </a:xfrm>
            <a:prstGeom prst="rect">
              <a:avLst/>
            </a:prstGeom>
            <a:noFill/>
            <a:ln w="222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88" name="Rectangle 187"/>
            <p:cNvSpPr/>
            <p:nvPr/>
          </p:nvSpPr>
          <p:spPr>
            <a:xfrm>
              <a:off x="9804903" y="1620566"/>
              <a:ext cx="407406" cy="344031"/>
            </a:xfrm>
            <a:prstGeom prst="rect">
              <a:avLst/>
            </a:prstGeom>
            <a:noFill/>
            <a:ln w="222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89" name="Rectangle 188"/>
            <p:cNvSpPr/>
            <p:nvPr/>
          </p:nvSpPr>
          <p:spPr>
            <a:xfrm>
              <a:off x="10212309" y="1620566"/>
              <a:ext cx="407406" cy="344031"/>
            </a:xfrm>
            <a:prstGeom prst="rect">
              <a:avLst/>
            </a:prstGeom>
            <a:noFill/>
            <a:ln w="222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90" name="Rectangle 189"/>
            <p:cNvSpPr/>
            <p:nvPr/>
          </p:nvSpPr>
          <p:spPr>
            <a:xfrm>
              <a:off x="10619715" y="1620566"/>
              <a:ext cx="407406" cy="344031"/>
            </a:xfrm>
            <a:prstGeom prst="rect">
              <a:avLst/>
            </a:prstGeom>
            <a:noFill/>
            <a:ln w="222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91" name="Rectangle 190"/>
            <p:cNvSpPr/>
            <p:nvPr/>
          </p:nvSpPr>
          <p:spPr>
            <a:xfrm>
              <a:off x="11027121" y="1620567"/>
              <a:ext cx="407406" cy="344031"/>
            </a:xfrm>
            <a:prstGeom prst="rect">
              <a:avLst/>
            </a:prstGeom>
            <a:noFill/>
            <a:ln w="222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92" name="Rectangle 191"/>
            <p:cNvSpPr/>
            <p:nvPr/>
          </p:nvSpPr>
          <p:spPr>
            <a:xfrm>
              <a:off x="8990091" y="1964598"/>
              <a:ext cx="407406" cy="344031"/>
            </a:xfrm>
            <a:prstGeom prst="rect">
              <a:avLst/>
            </a:prstGeom>
            <a:noFill/>
            <a:ln w="222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93" name="Rectangle 192"/>
            <p:cNvSpPr/>
            <p:nvPr/>
          </p:nvSpPr>
          <p:spPr>
            <a:xfrm>
              <a:off x="9397497" y="1964598"/>
              <a:ext cx="407406" cy="344031"/>
            </a:xfrm>
            <a:prstGeom prst="rect">
              <a:avLst/>
            </a:prstGeom>
            <a:noFill/>
            <a:ln w="222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94" name="Rectangle 193"/>
            <p:cNvSpPr/>
            <p:nvPr/>
          </p:nvSpPr>
          <p:spPr>
            <a:xfrm>
              <a:off x="9804903" y="1964597"/>
              <a:ext cx="407406" cy="344031"/>
            </a:xfrm>
            <a:prstGeom prst="rect">
              <a:avLst/>
            </a:prstGeom>
            <a:noFill/>
            <a:ln w="222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95" name="Rectangle 194"/>
            <p:cNvSpPr/>
            <p:nvPr/>
          </p:nvSpPr>
          <p:spPr>
            <a:xfrm>
              <a:off x="10212309" y="1964597"/>
              <a:ext cx="407406" cy="344031"/>
            </a:xfrm>
            <a:prstGeom prst="rect">
              <a:avLst/>
            </a:prstGeom>
            <a:noFill/>
            <a:ln w="222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96" name="Rectangle 195"/>
            <p:cNvSpPr/>
            <p:nvPr/>
          </p:nvSpPr>
          <p:spPr>
            <a:xfrm>
              <a:off x="10619715" y="1964597"/>
              <a:ext cx="407406" cy="344031"/>
            </a:xfrm>
            <a:prstGeom prst="rect">
              <a:avLst/>
            </a:prstGeom>
            <a:noFill/>
            <a:ln w="222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97" name="Rectangle 196"/>
            <p:cNvSpPr/>
            <p:nvPr/>
          </p:nvSpPr>
          <p:spPr>
            <a:xfrm>
              <a:off x="11027121" y="1964598"/>
              <a:ext cx="407406" cy="344031"/>
            </a:xfrm>
            <a:prstGeom prst="rect">
              <a:avLst/>
            </a:prstGeom>
            <a:noFill/>
            <a:ln w="222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98" name="Rectangle 197"/>
            <p:cNvSpPr/>
            <p:nvPr/>
          </p:nvSpPr>
          <p:spPr>
            <a:xfrm>
              <a:off x="8990091" y="2308627"/>
              <a:ext cx="407406" cy="344031"/>
            </a:xfrm>
            <a:prstGeom prst="rect">
              <a:avLst/>
            </a:prstGeom>
            <a:noFill/>
            <a:ln w="222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99" name="Rectangle 198"/>
            <p:cNvSpPr/>
            <p:nvPr/>
          </p:nvSpPr>
          <p:spPr>
            <a:xfrm>
              <a:off x="9397497" y="2308627"/>
              <a:ext cx="407406" cy="344031"/>
            </a:xfrm>
            <a:prstGeom prst="rect">
              <a:avLst/>
            </a:prstGeom>
            <a:noFill/>
            <a:ln w="222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00" name="Rectangle 199"/>
            <p:cNvSpPr/>
            <p:nvPr/>
          </p:nvSpPr>
          <p:spPr>
            <a:xfrm>
              <a:off x="9804903" y="2308626"/>
              <a:ext cx="407406" cy="344031"/>
            </a:xfrm>
            <a:prstGeom prst="rect">
              <a:avLst/>
            </a:prstGeom>
            <a:noFill/>
            <a:ln w="222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01" name="Rectangle 200"/>
            <p:cNvSpPr/>
            <p:nvPr/>
          </p:nvSpPr>
          <p:spPr>
            <a:xfrm>
              <a:off x="10212309" y="2308626"/>
              <a:ext cx="407406" cy="344031"/>
            </a:xfrm>
            <a:prstGeom prst="rect">
              <a:avLst/>
            </a:prstGeom>
            <a:noFill/>
            <a:ln w="222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02" name="Rectangle 201"/>
            <p:cNvSpPr/>
            <p:nvPr/>
          </p:nvSpPr>
          <p:spPr>
            <a:xfrm>
              <a:off x="10619715" y="2308626"/>
              <a:ext cx="407406" cy="344031"/>
            </a:xfrm>
            <a:prstGeom prst="rect">
              <a:avLst/>
            </a:prstGeom>
            <a:noFill/>
            <a:ln w="222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03" name="Rectangle 202"/>
            <p:cNvSpPr/>
            <p:nvPr/>
          </p:nvSpPr>
          <p:spPr>
            <a:xfrm>
              <a:off x="11027121" y="2308627"/>
              <a:ext cx="407406" cy="344031"/>
            </a:xfrm>
            <a:prstGeom prst="rect">
              <a:avLst/>
            </a:prstGeom>
            <a:noFill/>
            <a:ln w="222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04" name="Rectangle 203"/>
            <p:cNvSpPr/>
            <p:nvPr/>
          </p:nvSpPr>
          <p:spPr>
            <a:xfrm>
              <a:off x="8990091" y="2652655"/>
              <a:ext cx="407406" cy="344031"/>
            </a:xfrm>
            <a:prstGeom prst="rect">
              <a:avLst/>
            </a:prstGeom>
            <a:noFill/>
            <a:ln w="222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05" name="Rectangle 204"/>
            <p:cNvSpPr/>
            <p:nvPr/>
          </p:nvSpPr>
          <p:spPr>
            <a:xfrm>
              <a:off x="9397497" y="2652655"/>
              <a:ext cx="407406" cy="344031"/>
            </a:xfrm>
            <a:prstGeom prst="rect">
              <a:avLst/>
            </a:prstGeom>
            <a:noFill/>
            <a:ln w="222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06" name="Rectangle 205"/>
            <p:cNvSpPr/>
            <p:nvPr/>
          </p:nvSpPr>
          <p:spPr>
            <a:xfrm>
              <a:off x="9804903" y="2652654"/>
              <a:ext cx="407406" cy="344031"/>
            </a:xfrm>
            <a:prstGeom prst="rect">
              <a:avLst/>
            </a:prstGeom>
            <a:noFill/>
            <a:ln w="222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07" name="Rectangle 206"/>
            <p:cNvSpPr/>
            <p:nvPr/>
          </p:nvSpPr>
          <p:spPr>
            <a:xfrm>
              <a:off x="10212309" y="2652654"/>
              <a:ext cx="407406" cy="344031"/>
            </a:xfrm>
            <a:prstGeom prst="rect">
              <a:avLst/>
            </a:prstGeom>
            <a:noFill/>
            <a:ln w="222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08" name="Rectangle 207"/>
            <p:cNvSpPr/>
            <p:nvPr/>
          </p:nvSpPr>
          <p:spPr>
            <a:xfrm>
              <a:off x="10619715" y="2652654"/>
              <a:ext cx="407406" cy="344031"/>
            </a:xfrm>
            <a:prstGeom prst="rect">
              <a:avLst/>
            </a:prstGeom>
            <a:noFill/>
            <a:ln w="222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09" name="Rectangle 208"/>
            <p:cNvSpPr/>
            <p:nvPr/>
          </p:nvSpPr>
          <p:spPr>
            <a:xfrm>
              <a:off x="11027121" y="2652655"/>
              <a:ext cx="407406" cy="344031"/>
            </a:xfrm>
            <a:prstGeom prst="rect">
              <a:avLst/>
            </a:prstGeom>
            <a:noFill/>
            <a:ln w="222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10" name="Rectangle 209"/>
            <p:cNvSpPr/>
            <p:nvPr/>
          </p:nvSpPr>
          <p:spPr>
            <a:xfrm>
              <a:off x="8990091" y="929329"/>
              <a:ext cx="407406" cy="344031"/>
            </a:xfrm>
            <a:prstGeom prst="rect">
              <a:avLst/>
            </a:prstGeom>
            <a:noFill/>
            <a:ln w="222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11" name="Rectangle 210"/>
            <p:cNvSpPr/>
            <p:nvPr/>
          </p:nvSpPr>
          <p:spPr>
            <a:xfrm>
              <a:off x="9397497" y="929329"/>
              <a:ext cx="407406" cy="344031"/>
            </a:xfrm>
            <a:prstGeom prst="rect">
              <a:avLst/>
            </a:prstGeom>
            <a:noFill/>
            <a:ln w="222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12" name="Rectangle 211"/>
            <p:cNvSpPr/>
            <p:nvPr/>
          </p:nvSpPr>
          <p:spPr>
            <a:xfrm>
              <a:off x="9804903" y="929328"/>
              <a:ext cx="407406" cy="344031"/>
            </a:xfrm>
            <a:prstGeom prst="rect">
              <a:avLst/>
            </a:prstGeom>
            <a:noFill/>
            <a:ln w="222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13" name="Rectangle 212"/>
            <p:cNvSpPr/>
            <p:nvPr/>
          </p:nvSpPr>
          <p:spPr>
            <a:xfrm>
              <a:off x="10212309" y="929328"/>
              <a:ext cx="407406" cy="344031"/>
            </a:xfrm>
            <a:prstGeom prst="rect">
              <a:avLst/>
            </a:prstGeom>
            <a:noFill/>
            <a:ln w="222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14" name="Rectangle 213"/>
            <p:cNvSpPr/>
            <p:nvPr/>
          </p:nvSpPr>
          <p:spPr>
            <a:xfrm>
              <a:off x="10619715" y="929328"/>
              <a:ext cx="407406" cy="344031"/>
            </a:xfrm>
            <a:prstGeom prst="rect">
              <a:avLst/>
            </a:prstGeom>
            <a:noFill/>
            <a:ln w="222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15" name="Rectangle 214"/>
            <p:cNvSpPr/>
            <p:nvPr/>
          </p:nvSpPr>
          <p:spPr>
            <a:xfrm>
              <a:off x="11027121" y="929329"/>
              <a:ext cx="407406" cy="344031"/>
            </a:xfrm>
            <a:prstGeom prst="rect">
              <a:avLst/>
            </a:prstGeom>
            <a:noFill/>
            <a:ln w="222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cxnSp>
        <p:nvCxnSpPr>
          <p:cNvPr id="253" name="Straight Connector 252"/>
          <p:cNvCxnSpPr/>
          <p:nvPr/>
        </p:nvCxnSpPr>
        <p:spPr>
          <a:xfrm flipV="1">
            <a:off x="5094303" y="3647106"/>
            <a:ext cx="908553" cy="936951"/>
          </a:xfrm>
          <a:prstGeom prst="line">
            <a:avLst/>
          </a:prstGeom>
          <a:ln w="15875">
            <a:solidFill>
              <a:schemeClr val="bg2">
                <a:lumMod val="1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Straight Connector 253"/>
          <p:cNvCxnSpPr/>
          <p:nvPr/>
        </p:nvCxnSpPr>
        <p:spPr>
          <a:xfrm flipV="1">
            <a:off x="6921220" y="3643189"/>
            <a:ext cx="908553" cy="936951"/>
          </a:xfrm>
          <a:prstGeom prst="line">
            <a:avLst/>
          </a:prstGeom>
          <a:ln w="15875">
            <a:solidFill>
              <a:schemeClr val="bg2">
                <a:lumMod val="1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" name="Straight Connector 254"/>
          <p:cNvCxnSpPr/>
          <p:nvPr/>
        </p:nvCxnSpPr>
        <p:spPr>
          <a:xfrm flipV="1">
            <a:off x="6907797" y="5240737"/>
            <a:ext cx="908553" cy="936951"/>
          </a:xfrm>
          <a:prstGeom prst="line">
            <a:avLst/>
          </a:prstGeom>
          <a:ln w="15875">
            <a:solidFill>
              <a:schemeClr val="bg2">
                <a:lumMod val="1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Straight Connector 256"/>
          <p:cNvCxnSpPr/>
          <p:nvPr/>
        </p:nvCxnSpPr>
        <p:spPr>
          <a:xfrm flipV="1">
            <a:off x="5996506" y="3643189"/>
            <a:ext cx="1834739" cy="10267"/>
          </a:xfrm>
          <a:prstGeom prst="line">
            <a:avLst/>
          </a:prstGeom>
          <a:ln w="15875">
            <a:solidFill>
              <a:schemeClr val="bg2">
                <a:lumMod val="1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Straight Connector 258"/>
          <p:cNvCxnSpPr/>
          <p:nvPr/>
        </p:nvCxnSpPr>
        <p:spPr>
          <a:xfrm flipH="1">
            <a:off x="7816350" y="3643189"/>
            <a:ext cx="14895" cy="1607256"/>
          </a:xfrm>
          <a:prstGeom prst="line">
            <a:avLst/>
          </a:prstGeom>
          <a:ln w="15875">
            <a:solidFill>
              <a:schemeClr val="bg2">
                <a:lumMod val="1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3" name="Rectangle 262"/>
          <p:cNvSpPr/>
          <p:nvPr/>
        </p:nvSpPr>
        <p:spPr>
          <a:xfrm>
            <a:off x="8867109" y="334789"/>
            <a:ext cx="2941960" cy="5953219"/>
          </a:xfrm>
          <a:prstGeom prst="rect">
            <a:avLst/>
          </a:prstGeom>
          <a:noFill/>
          <a:ln w="2222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4" name="Rectangle 263"/>
          <p:cNvSpPr/>
          <p:nvPr/>
        </p:nvSpPr>
        <p:spPr>
          <a:xfrm>
            <a:off x="558022" y="3565605"/>
            <a:ext cx="7641566" cy="2722403"/>
          </a:xfrm>
          <a:prstGeom prst="rect">
            <a:avLst/>
          </a:prstGeom>
          <a:noFill/>
          <a:ln w="2222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5" name="TextBox 264"/>
          <p:cNvSpPr txBox="1"/>
          <p:nvPr/>
        </p:nvSpPr>
        <p:spPr>
          <a:xfrm>
            <a:off x="9318047" y="6348710"/>
            <a:ext cx="23118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>
                <a:solidFill>
                  <a:srgbClr val="7030A0"/>
                </a:solidFill>
                <a:latin typeface="Arial Narrow" panose="020B0606020202030204" pitchFamily="34" charset="0"/>
              </a:rPr>
              <a:t>1 X 1 Convolutions</a:t>
            </a:r>
          </a:p>
        </p:txBody>
      </p:sp>
      <p:sp>
        <p:nvSpPr>
          <p:cNvPr id="266" name="TextBox 265"/>
          <p:cNvSpPr txBox="1"/>
          <p:nvPr/>
        </p:nvSpPr>
        <p:spPr>
          <a:xfrm>
            <a:off x="2062297" y="6354336"/>
            <a:ext cx="48910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>
                <a:solidFill>
                  <a:srgbClr val="7030A0"/>
                </a:solidFill>
                <a:latin typeface="Arial Narrow" panose="020B0606020202030204" pitchFamily="34" charset="0"/>
              </a:rPr>
              <a:t>1 X 1 </a:t>
            </a:r>
            <a:r>
              <a:rPr lang="en-GB" sz="2400" dirty="0">
                <a:solidFill>
                  <a:srgbClr val="7030A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Convolution reducing channel depth</a:t>
            </a:r>
          </a:p>
        </p:txBody>
      </p:sp>
    </p:spTree>
    <p:extLst>
      <p:ext uri="{BB962C8B-B14F-4D97-AF65-F5344CB8AC3E}">
        <p14:creationId xmlns:p14="http://schemas.microsoft.com/office/powerpoint/2010/main" val="293099165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93675"/>
            <a:ext cx="10515600" cy="777875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Century" panose="02040604050505020304" pitchFamily="18" charset="0"/>
              </a:rPr>
              <a:t>1 X 1 Convolutions</a:t>
            </a:r>
          </a:p>
        </p:txBody>
      </p:sp>
      <p:sp>
        <p:nvSpPr>
          <p:cNvPr id="4" name="Cube 3"/>
          <p:cNvSpPr/>
          <p:nvPr/>
        </p:nvSpPr>
        <p:spPr>
          <a:xfrm>
            <a:off x="928169" y="1798810"/>
            <a:ext cx="2245259" cy="2987643"/>
          </a:xfrm>
          <a:prstGeom prst="cube">
            <a:avLst>
              <a:gd name="adj" fmla="val 57267"/>
            </a:avLst>
          </a:prstGeom>
          <a:solidFill>
            <a:schemeClr val="accent4">
              <a:lumMod val="60000"/>
              <a:lumOff val="40000"/>
              <a:alpha val="71000"/>
            </a:schemeClr>
          </a:solidFill>
          <a:ln w="158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Cube 6"/>
          <p:cNvSpPr/>
          <p:nvPr/>
        </p:nvSpPr>
        <p:spPr>
          <a:xfrm>
            <a:off x="1383621" y="1803573"/>
            <a:ext cx="1785043" cy="1982709"/>
          </a:xfrm>
          <a:prstGeom prst="cube">
            <a:avLst>
              <a:gd name="adj" fmla="val 71616"/>
            </a:avLst>
          </a:prstGeom>
          <a:solidFill>
            <a:schemeClr val="accent6">
              <a:lumMod val="60000"/>
              <a:lumOff val="40000"/>
            </a:schemeClr>
          </a:solidFill>
          <a:ln w="15875">
            <a:solidFill>
              <a:srgbClr val="FF0000">
                <a:alpha val="4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Cube 8"/>
          <p:cNvSpPr/>
          <p:nvPr/>
        </p:nvSpPr>
        <p:spPr>
          <a:xfrm>
            <a:off x="4336127" y="2305049"/>
            <a:ext cx="1866900" cy="1971675"/>
          </a:xfrm>
          <a:prstGeom prst="cube">
            <a:avLst>
              <a:gd name="adj" fmla="val 73197"/>
            </a:avLst>
          </a:prstGeom>
          <a:solidFill>
            <a:schemeClr val="accent1">
              <a:lumMod val="60000"/>
              <a:lumOff val="40000"/>
            </a:schemeClr>
          </a:solidFill>
          <a:ln w="158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/>
          <p:cNvSpPr txBox="1"/>
          <p:nvPr/>
        </p:nvSpPr>
        <p:spPr>
          <a:xfrm>
            <a:off x="3572676" y="3195310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/>
              <a:t>*</a:t>
            </a:r>
            <a:endParaRPr lang="en-IN" dirty="0"/>
          </a:p>
        </p:txBody>
      </p:sp>
      <p:sp>
        <p:nvSpPr>
          <p:cNvPr id="11" name="TextBox 10"/>
          <p:cNvSpPr txBox="1"/>
          <p:nvPr/>
        </p:nvSpPr>
        <p:spPr>
          <a:xfrm>
            <a:off x="6706981" y="3256865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=</a:t>
            </a:r>
            <a:endParaRPr lang="en-IN" dirty="0"/>
          </a:p>
        </p:txBody>
      </p:sp>
      <p:sp>
        <p:nvSpPr>
          <p:cNvPr id="12" name="TextBox 11"/>
          <p:cNvSpPr txBox="1"/>
          <p:nvPr/>
        </p:nvSpPr>
        <p:spPr>
          <a:xfrm>
            <a:off x="4448175" y="427672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34441" y="378628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3533864"/>
            <a:ext cx="3962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</a:rPr>
              <a:t>32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2778" y="4847008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483" y="4276724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</a:rP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86699" y="4092058"/>
            <a:ext cx="3962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</a:rPr>
              <a:t>32</a:t>
            </a:r>
          </a:p>
        </p:txBody>
      </p:sp>
      <p:grpSp>
        <p:nvGrpSpPr>
          <p:cNvPr id="18" name="Group 17"/>
          <p:cNvGrpSpPr/>
          <p:nvPr/>
        </p:nvGrpSpPr>
        <p:grpSpPr>
          <a:xfrm>
            <a:off x="8236687" y="2528792"/>
            <a:ext cx="2878122" cy="2318216"/>
            <a:chOff x="8990091" y="929328"/>
            <a:chExt cx="2444436" cy="2067358"/>
          </a:xfrm>
        </p:grpSpPr>
        <p:sp>
          <p:nvSpPr>
            <p:cNvPr id="19" name="Rectangle 18"/>
            <p:cNvSpPr/>
            <p:nvPr/>
          </p:nvSpPr>
          <p:spPr>
            <a:xfrm>
              <a:off x="8990091" y="1276537"/>
              <a:ext cx="407406" cy="344031"/>
            </a:xfrm>
            <a:prstGeom prst="rect">
              <a:avLst/>
            </a:prstGeom>
            <a:noFill/>
            <a:ln w="2222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9397497" y="1276537"/>
              <a:ext cx="407406" cy="344031"/>
            </a:xfrm>
            <a:prstGeom prst="rect">
              <a:avLst/>
            </a:prstGeom>
            <a:noFill/>
            <a:ln w="2222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9804903" y="1276536"/>
              <a:ext cx="407406" cy="344031"/>
            </a:xfrm>
            <a:prstGeom prst="rect">
              <a:avLst/>
            </a:prstGeom>
            <a:noFill/>
            <a:ln w="2222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10212309" y="1276536"/>
              <a:ext cx="407406" cy="344031"/>
            </a:xfrm>
            <a:prstGeom prst="rect">
              <a:avLst/>
            </a:prstGeom>
            <a:noFill/>
            <a:ln w="2222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10619715" y="1276536"/>
              <a:ext cx="407406" cy="344031"/>
            </a:xfrm>
            <a:prstGeom prst="rect">
              <a:avLst/>
            </a:prstGeom>
            <a:noFill/>
            <a:ln w="2222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4" name="Rectangle 23"/>
            <p:cNvSpPr/>
            <p:nvPr/>
          </p:nvSpPr>
          <p:spPr>
            <a:xfrm>
              <a:off x="11027121" y="1276537"/>
              <a:ext cx="407406" cy="344031"/>
            </a:xfrm>
            <a:prstGeom prst="rect">
              <a:avLst/>
            </a:prstGeom>
            <a:noFill/>
            <a:ln w="2222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8990091" y="1620567"/>
              <a:ext cx="407406" cy="344031"/>
            </a:xfrm>
            <a:prstGeom prst="rect">
              <a:avLst/>
            </a:prstGeom>
            <a:noFill/>
            <a:ln w="2222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397497" y="1620567"/>
              <a:ext cx="407406" cy="344031"/>
            </a:xfrm>
            <a:prstGeom prst="rect">
              <a:avLst/>
            </a:prstGeom>
            <a:noFill/>
            <a:ln w="2222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9804903" y="1620566"/>
              <a:ext cx="407406" cy="344031"/>
            </a:xfrm>
            <a:prstGeom prst="rect">
              <a:avLst/>
            </a:prstGeom>
            <a:noFill/>
            <a:ln w="2222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10212309" y="1620566"/>
              <a:ext cx="407406" cy="344031"/>
            </a:xfrm>
            <a:prstGeom prst="rect">
              <a:avLst/>
            </a:prstGeom>
            <a:noFill/>
            <a:ln w="2222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619715" y="1620566"/>
              <a:ext cx="407406" cy="344031"/>
            </a:xfrm>
            <a:prstGeom prst="rect">
              <a:avLst/>
            </a:prstGeom>
            <a:noFill/>
            <a:ln w="2222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1027121" y="1620567"/>
              <a:ext cx="407406" cy="344031"/>
            </a:xfrm>
            <a:prstGeom prst="rect">
              <a:avLst/>
            </a:prstGeom>
            <a:noFill/>
            <a:ln w="2222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8990091" y="1964598"/>
              <a:ext cx="407406" cy="344031"/>
            </a:xfrm>
            <a:prstGeom prst="rect">
              <a:avLst/>
            </a:prstGeom>
            <a:noFill/>
            <a:ln w="2222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9397497" y="1964598"/>
              <a:ext cx="407406" cy="344031"/>
            </a:xfrm>
            <a:prstGeom prst="rect">
              <a:avLst/>
            </a:prstGeom>
            <a:noFill/>
            <a:ln w="2222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3" name="Rectangle 32"/>
            <p:cNvSpPr/>
            <p:nvPr/>
          </p:nvSpPr>
          <p:spPr>
            <a:xfrm>
              <a:off x="9804903" y="1964597"/>
              <a:ext cx="407406" cy="344031"/>
            </a:xfrm>
            <a:prstGeom prst="rect">
              <a:avLst/>
            </a:prstGeom>
            <a:noFill/>
            <a:ln w="2222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4" name="Rectangle 33"/>
            <p:cNvSpPr/>
            <p:nvPr/>
          </p:nvSpPr>
          <p:spPr>
            <a:xfrm>
              <a:off x="10212309" y="1964597"/>
              <a:ext cx="407406" cy="344031"/>
            </a:xfrm>
            <a:prstGeom prst="rect">
              <a:avLst/>
            </a:prstGeom>
            <a:noFill/>
            <a:ln w="2222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10619715" y="1964597"/>
              <a:ext cx="407406" cy="344031"/>
            </a:xfrm>
            <a:prstGeom prst="rect">
              <a:avLst/>
            </a:prstGeom>
            <a:noFill/>
            <a:ln w="2222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11027121" y="1964598"/>
              <a:ext cx="407406" cy="344031"/>
            </a:xfrm>
            <a:prstGeom prst="rect">
              <a:avLst/>
            </a:prstGeom>
            <a:noFill/>
            <a:ln w="2222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7" name="Rectangle 36"/>
            <p:cNvSpPr/>
            <p:nvPr/>
          </p:nvSpPr>
          <p:spPr>
            <a:xfrm>
              <a:off x="8990091" y="2308627"/>
              <a:ext cx="407406" cy="344031"/>
            </a:xfrm>
            <a:prstGeom prst="rect">
              <a:avLst/>
            </a:prstGeom>
            <a:noFill/>
            <a:ln w="2222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9397497" y="2308627"/>
              <a:ext cx="407406" cy="344031"/>
            </a:xfrm>
            <a:prstGeom prst="rect">
              <a:avLst/>
            </a:prstGeom>
            <a:noFill/>
            <a:ln w="2222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9804903" y="2308626"/>
              <a:ext cx="407406" cy="344031"/>
            </a:xfrm>
            <a:prstGeom prst="rect">
              <a:avLst/>
            </a:prstGeom>
            <a:noFill/>
            <a:ln w="2222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10212309" y="2308626"/>
              <a:ext cx="407406" cy="344031"/>
            </a:xfrm>
            <a:prstGeom prst="rect">
              <a:avLst/>
            </a:prstGeom>
            <a:noFill/>
            <a:ln w="2222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10619715" y="2308626"/>
              <a:ext cx="407406" cy="344031"/>
            </a:xfrm>
            <a:prstGeom prst="rect">
              <a:avLst/>
            </a:prstGeom>
            <a:noFill/>
            <a:ln w="2222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2" name="Rectangle 41"/>
            <p:cNvSpPr/>
            <p:nvPr/>
          </p:nvSpPr>
          <p:spPr>
            <a:xfrm>
              <a:off x="11027121" y="2308627"/>
              <a:ext cx="407406" cy="344031"/>
            </a:xfrm>
            <a:prstGeom prst="rect">
              <a:avLst/>
            </a:prstGeom>
            <a:noFill/>
            <a:ln w="2222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3" name="Rectangle 42"/>
            <p:cNvSpPr/>
            <p:nvPr/>
          </p:nvSpPr>
          <p:spPr>
            <a:xfrm>
              <a:off x="8990091" y="2652655"/>
              <a:ext cx="407406" cy="344031"/>
            </a:xfrm>
            <a:prstGeom prst="rect">
              <a:avLst/>
            </a:prstGeom>
            <a:noFill/>
            <a:ln w="2222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4" name="Rectangle 43"/>
            <p:cNvSpPr/>
            <p:nvPr/>
          </p:nvSpPr>
          <p:spPr>
            <a:xfrm>
              <a:off x="9397497" y="2652655"/>
              <a:ext cx="407406" cy="344031"/>
            </a:xfrm>
            <a:prstGeom prst="rect">
              <a:avLst/>
            </a:prstGeom>
            <a:noFill/>
            <a:ln w="2222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5" name="Rectangle 44"/>
            <p:cNvSpPr/>
            <p:nvPr/>
          </p:nvSpPr>
          <p:spPr>
            <a:xfrm>
              <a:off x="9804903" y="2652654"/>
              <a:ext cx="407406" cy="344031"/>
            </a:xfrm>
            <a:prstGeom prst="rect">
              <a:avLst/>
            </a:prstGeom>
            <a:noFill/>
            <a:ln w="2222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6" name="Rectangle 45"/>
            <p:cNvSpPr/>
            <p:nvPr/>
          </p:nvSpPr>
          <p:spPr>
            <a:xfrm>
              <a:off x="10212309" y="2652654"/>
              <a:ext cx="407406" cy="344031"/>
            </a:xfrm>
            <a:prstGeom prst="rect">
              <a:avLst/>
            </a:prstGeom>
            <a:noFill/>
            <a:ln w="2222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7" name="Rectangle 46"/>
            <p:cNvSpPr/>
            <p:nvPr/>
          </p:nvSpPr>
          <p:spPr>
            <a:xfrm>
              <a:off x="10619715" y="2652654"/>
              <a:ext cx="407406" cy="344031"/>
            </a:xfrm>
            <a:prstGeom prst="rect">
              <a:avLst/>
            </a:prstGeom>
            <a:noFill/>
            <a:ln w="2222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8" name="Rectangle 47"/>
            <p:cNvSpPr/>
            <p:nvPr/>
          </p:nvSpPr>
          <p:spPr>
            <a:xfrm>
              <a:off x="11027121" y="2652655"/>
              <a:ext cx="407406" cy="344031"/>
            </a:xfrm>
            <a:prstGeom prst="rect">
              <a:avLst/>
            </a:prstGeom>
            <a:noFill/>
            <a:ln w="2222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9" name="Rectangle 48"/>
            <p:cNvSpPr/>
            <p:nvPr/>
          </p:nvSpPr>
          <p:spPr>
            <a:xfrm>
              <a:off x="8990091" y="929329"/>
              <a:ext cx="407406" cy="344031"/>
            </a:xfrm>
            <a:prstGeom prst="rect">
              <a:avLst/>
            </a:prstGeom>
            <a:noFill/>
            <a:ln w="2222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0" name="Rectangle 49"/>
            <p:cNvSpPr/>
            <p:nvPr/>
          </p:nvSpPr>
          <p:spPr>
            <a:xfrm>
              <a:off x="9397497" y="929329"/>
              <a:ext cx="407406" cy="344031"/>
            </a:xfrm>
            <a:prstGeom prst="rect">
              <a:avLst/>
            </a:prstGeom>
            <a:noFill/>
            <a:ln w="2222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1" name="Rectangle 50"/>
            <p:cNvSpPr/>
            <p:nvPr/>
          </p:nvSpPr>
          <p:spPr>
            <a:xfrm>
              <a:off x="9804903" y="929328"/>
              <a:ext cx="407406" cy="344031"/>
            </a:xfrm>
            <a:prstGeom prst="rect">
              <a:avLst/>
            </a:prstGeom>
            <a:noFill/>
            <a:ln w="2222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2" name="Rectangle 51"/>
            <p:cNvSpPr/>
            <p:nvPr/>
          </p:nvSpPr>
          <p:spPr>
            <a:xfrm>
              <a:off x="10212309" y="929328"/>
              <a:ext cx="407406" cy="344031"/>
            </a:xfrm>
            <a:prstGeom prst="rect">
              <a:avLst/>
            </a:prstGeom>
            <a:noFill/>
            <a:ln w="2222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3" name="Rectangle 52"/>
            <p:cNvSpPr/>
            <p:nvPr/>
          </p:nvSpPr>
          <p:spPr>
            <a:xfrm>
              <a:off x="10619715" y="929328"/>
              <a:ext cx="407406" cy="344031"/>
            </a:xfrm>
            <a:prstGeom prst="rect">
              <a:avLst/>
            </a:prstGeom>
            <a:noFill/>
            <a:ln w="2222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4" name="Rectangle 53"/>
            <p:cNvSpPr/>
            <p:nvPr/>
          </p:nvSpPr>
          <p:spPr>
            <a:xfrm>
              <a:off x="11027121" y="929329"/>
              <a:ext cx="407406" cy="344031"/>
            </a:xfrm>
            <a:prstGeom prst="rect">
              <a:avLst/>
            </a:prstGeom>
            <a:noFill/>
            <a:ln w="2222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55" name="TextBox 54"/>
          <p:cNvSpPr txBox="1"/>
          <p:nvPr/>
        </p:nvSpPr>
        <p:spPr>
          <a:xfrm>
            <a:off x="9572227" y="4941140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</a:rPr>
              <a:t>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125200" y="3496794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</a:rPr>
              <a:t>6 </a:t>
            </a:r>
          </a:p>
        </p:txBody>
      </p:sp>
    </p:spTree>
    <p:extLst>
      <p:ext uri="{BB962C8B-B14F-4D97-AF65-F5344CB8AC3E}">
        <p14:creationId xmlns:p14="http://schemas.microsoft.com/office/powerpoint/2010/main" val="279039532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93675"/>
            <a:ext cx="10515600" cy="777875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Century" panose="02040604050505020304" pitchFamily="18" charset="0"/>
              </a:rPr>
              <a:t>1 X 1 Convolutions</a:t>
            </a:r>
          </a:p>
        </p:txBody>
      </p:sp>
      <p:sp>
        <p:nvSpPr>
          <p:cNvPr id="4" name="Cube 3"/>
          <p:cNvSpPr/>
          <p:nvPr/>
        </p:nvSpPr>
        <p:spPr>
          <a:xfrm>
            <a:off x="928169" y="3211148"/>
            <a:ext cx="2245259" cy="2987643"/>
          </a:xfrm>
          <a:prstGeom prst="cube">
            <a:avLst>
              <a:gd name="adj" fmla="val 57267"/>
            </a:avLst>
          </a:prstGeom>
          <a:solidFill>
            <a:schemeClr val="accent4">
              <a:lumMod val="60000"/>
              <a:lumOff val="40000"/>
              <a:alpha val="71000"/>
            </a:schemeClr>
          </a:solidFill>
          <a:ln w="158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Cube 6"/>
          <p:cNvSpPr/>
          <p:nvPr/>
        </p:nvSpPr>
        <p:spPr>
          <a:xfrm>
            <a:off x="1383621" y="3215911"/>
            <a:ext cx="1785043" cy="1982709"/>
          </a:xfrm>
          <a:prstGeom prst="cube">
            <a:avLst>
              <a:gd name="adj" fmla="val 71616"/>
            </a:avLst>
          </a:prstGeom>
          <a:solidFill>
            <a:schemeClr val="accent6">
              <a:lumMod val="60000"/>
              <a:lumOff val="40000"/>
            </a:schemeClr>
          </a:solidFill>
          <a:ln w="15875">
            <a:solidFill>
              <a:srgbClr val="FF0000">
                <a:alpha val="4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Cube 8"/>
          <p:cNvSpPr/>
          <p:nvPr/>
        </p:nvSpPr>
        <p:spPr>
          <a:xfrm>
            <a:off x="4336127" y="3717387"/>
            <a:ext cx="1866900" cy="1971675"/>
          </a:xfrm>
          <a:prstGeom prst="cube">
            <a:avLst>
              <a:gd name="adj" fmla="val 73197"/>
            </a:avLst>
          </a:prstGeom>
          <a:solidFill>
            <a:schemeClr val="accent1">
              <a:lumMod val="60000"/>
              <a:lumOff val="40000"/>
            </a:schemeClr>
          </a:solidFill>
          <a:ln w="158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/>
          <p:cNvSpPr txBox="1"/>
          <p:nvPr/>
        </p:nvSpPr>
        <p:spPr>
          <a:xfrm>
            <a:off x="3709715" y="4161378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/>
              <a:t>*</a:t>
            </a:r>
            <a:endParaRPr lang="en-IN" dirty="0"/>
          </a:p>
        </p:txBody>
      </p:sp>
      <p:sp>
        <p:nvSpPr>
          <p:cNvPr id="11" name="TextBox 10"/>
          <p:cNvSpPr txBox="1"/>
          <p:nvPr/>
        </p:nvSpPr>
        <p:spPr>
          <a:xfrm>
            <a:off x="6706981" y="4669203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=</a:t>
            </a:r>
            <a:endParaRPr lang="en-IN" dirty="0"/>
          </a:p>
        </p:txBody>
      </p:sp>
      <p:sp>
        <p:nvSpPr>
          <p:cNvPr id="12" name="TextBox 11"/>
          <p:cNvSpPr txBox="1"/>
          <p:nvPr/>
        </p:nvSpPr>
        <p:spPr>
          <a:xfrm>
            <a:off x="4448175" y="568906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34441" y="519862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4946202"/>
            <a:ext cx="3962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</a:rPr>
              <a:t>32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2778" y="6259346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483" y="5689062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</a:rP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86699" y="5504396"/>
            <a:ext cx="3962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</a:rPr>
              <a:t>32</a:t>
            </a:r>
          </a:p>
        </p:txBody>
      </p:sp>
      <p:grpSp>
        <p:nvGrpSpPr>
          <p:cNvPr id="18" name="Group 17"/>
          <p:cNvGrpSpPr/>
          <p:nvPr/>
        </p:nvGrpSpPr>
        <p:grpSpPr>
          <a:xfrm>
            <a:off x="8236687" y="3941130"/>
            <a:ext cx="2878122" cy="2318216"/>
            <a:chOff x="8990091" y="929328"/>
            <a:chExt cx="2444436" cy="2067358"/>
          </a:xfrm>
        </p:grpSpPr>
        <p:sp>
          <p:nvSpPr>
            <p:cNvPr id="19" name="Rectangle 18"/>
            <p:cNvSpPr/>
            <p:nvPr/>
          </p:nvSpPr>
          <p:spPr>
            <a:xfrm>
              <a:off x="8990091" y="1276537"/>
              <a:ext cx="407406" cy="344031"/>
            </a:xfrm>
            <a:prstGeom prst="rect">
              <a:avLst/>
            </a:prstGeom>
            <a:noFill/>
            <a:ln w="2222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9397497" y="1276537"/>
              <a:ext cx="407406" cy="344031"/>
            </a:xfrm>
            <a:prstGeom prst="rect">
              <a:avLst/>
            </a:prstGeom>
            <a:noFill/>
            <a:ln w="2222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9804903" y="1276536"/>
              <a:ext cx="407406" cy="344031"/>
            </a:xfrm>
            <a:prstGeom prst="rect">
              <a:avLst/>
            </a:prstGeom>
            <a:noFill/>
            <a:ln w="2222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10212309" y="1276536"/>
              <a:ext cx="407406" cy="344031"/>
            </a:xfrm>
            <a:prstGeom prst="rect">
              <a:avLst/>
            </a:prstGeom>
            <a:noFill/>
            <a:ln w="2222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10619715" y="1276536"/>
              <a:ext cx="407406" cy="344031"/>
            </a:xfrm>
            <a:prstGeom prst="rect">
              <a:avLst/>
            </a:prstGeom>
            <a:noFill/>
            <a:ln w="2222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4" name="Rectangle 23"/>
            <p:cNvSpPr/>
            <p:nvPr/>
          </p:nvSpPr>
          <p:spPr>
            <a:xfrm>
              <a:off x="11027121" y="1276537"/>
              <a:ext cx="407406" cy="344031"/>
            </a:xfrm>
            <a:prstGeom prst="rect">
              <a:avLst/>
            </a:prstGeom>
            <a:noFill/>
            <a:ln w="2222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8990091" y="1620567"/>
              <a:ext cx="407406" cy="344031"/>
            </a:xfrm>
            <a:prstGeom prst="rect">
              <a:avLst/>
            </a:prstGeom>
            <a:noFill/>
            <a:ln w="2222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397497" y="1620567"/>
              <a:ext cx="407406" cy="344031"/>
            </a:xfrm>
            <a:prstGeom prst="rect">
              <a:avLst/>
            </a:prstGeom>
            <a:noFill/>
            <a:ln w="2222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9804903" y="1620566"/>
              <a:ext cx="407406" cy="344031"/>
            </a:xfrm>
            <a:prstGeom prst="rect">
              <a:avLst/>
            </a:prstGeom>
            <a:noFill/>
            <a:ln w="2222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10212309" y="1620566"/>
              <a:ext cx="407406" cy="344031"/>
            </a:xfrm>
            <a:prstGeom prst="rect">
              <a:avLst/>
            </a:prstGeom>
            <a:noFill/>
            <a:ln w="2222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619715" y="1620566"/>
              <a:ext cx="407406" cy="344031"/>
            </a:xfrm>
            <a:prstGeom prst="rect">
              <a:avLst/>
            </a:prstGeom>
            <a:noFill/>
            <a:ln w="2222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1027121" y="1620567"/>
              <a:ext cx="407406" cy="344031"/>
            </a:xfrm>
            <a:prstGeom prst="rect">
              <a:avLst/>
            </a:prstGeom>
            <a:noFill/>
            <a:ln w="2222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8990091" y="1964598"/>
              <a:ext cx="407406" cy="344031"/>
            </a:xfrm>
            <a:prstGeom prst="rect">
              <a:avLst/>
            </a:prstGeom>
            <a:noFill/>
            <a:ln w="2222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9397497" y="1964598"/>
              <a:ext cx="407406" cy="344031"/>
            </a:xfrm>
            <a:prstGeom prst="rect">
              <a:avLst/>
            </a:prstGeom>
            <a:noFill/>
            <a:ln w="2222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3" name="Rectangle 32"/>
            <p:cNvSpPr/>
            <p:nvPr/>
          </p:nvSpPr>
          <p:spPr>
            <a:xfrm>
              <a:off x="9804903" y="1964597"/>
              <a:ext cx="407406" cy="344031"/>
            </a:xfrm>
            <a:prstGeom prst="rect">
              <a:avLst/>
            </a:prstGeom>
            <a:noFill/>
            <a:ln w="2222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4" name="Rectangle 33"/>
            <p:cNvSpPr/>
            <p:nvPr/>
          </p:nvSpPr>
          <p:spPr>
            <a:xfrm>
              <a:off x="10212309" y="1964597"/>
              <a:ext cx="407406" cy="344031"/>
            </a:xfrm>
            <a:prstGeom prst="rect">
              <a:avLst/>
            </a:prstGeom>
            <a:noFill/>
            <a:ln w="2222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10619715" y="1964597"/>
              <a:ext cx="407406" cy="344031"/>
            </a:xfrm>
            <a:prstGeom prst="rect">
              <a:avLst/>
            </a:prstGeom>
            <a:noFill/>
            <a:ln w="2222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11027121" y="1964598"/>
              <a:ext cx="407406" cy="344031"/>
            </a:xfrm>
            <a:prstGeom prst="rect">
              <a:avLst/>
            </a:prstGeom>
            <a:noFill/>
            <a:ln w="2222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7" name="Rectangle 36"/>
            <p:cNvSpPr/>
            <p:nvPr/>
          </p:nvSpPr>
          <p:spPr>
            <a:xfrm>
              <a:off x="8990091" y="2308627"/>
              <a:ext cx="407406" cy="344031"/>
            </a:xfrm>
            <a:prstGeom prst="rect">
              <a:avLst/>
            </a:prstGeom>
            <a:noFill/>
            <a:ln w="2222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9397497" y="2308627"/>
              <a:ext cx="407406" cy="344031"/>
            </a:xfrm>
            <a:prstGeom prst="rect">
              <a:avLst/>
            </a:prstGeom>
            <a:noFill/>
            <a:ln w="2222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9804903" y="2308626"/>
              <a:ext cx="407406" cy="344031"/>
            </a:xfrm>
            <a:prstGeom prst="rect">
              <a:avLst/>
            </a:prstGeom>
            <a:noFill/>
            <a:ln w="2222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10212309" y="2308626"/>
              <a:ext cx="407406" cy="344031"/>
            </a:xfrm>
            <a:prstGeom prst="rect">
              <a:avLst/>
            </a:prstGeom>
            <a:noFill/>
            <a:ln w="2222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10619715" y="2308626"/>
              <a:ext cx="407406" cy="344031"/>
            </a:xfrm>
            <a:prstGeom prst="rect">
              <a:avLst/>
            </a:prstGeom>
            <a:noFill/>
            <a:ln w="2222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2" name="Rectangle 41"/>
            <p:cNvSpPr/>
            <p:nvPr/>
          </p:nvSpPr>
          <p:spPr>
            <a:xfrm>
              <a:off x="11027121" y="2308627"/>
              <a:ext cx="407406" cy="344031"/>
            </a:xfrm>
            <a:prstGeom prst="rect">
              <a:avLst/>
            </a:prstGeom>
            <a:noFill/>
            <a:ln w="2222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3" name="Rectangle 42"/>
            <p:cNvSpPr/>
            <p:nvPr/>
          </p:nvSpPr>
          <p:spPr>
            <a:xfrm>
              <a:off x="8990091" y="2652655"/>
              <a:ext cx="407406" cy="344031"/>
            </a:xfrm>
            <a:prstGeom prst="rect">
              <a:avLst/>
            </a:prstGeom>
            <a:noFill/>
            <a:ln w="2222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4" name="Rectangle 43"/>
            <p:cNvSpPr/>
            <p:nvPr/>
          </p:nvSpPr>
          <p:spPr>
            <a:xfrm>
              <a:off x="9397497" y="2652655"/>
              <a:ext cx="407406" cy="344031"/>
            </a:xfrm>
            <a:prstGeom prst="rect">
              <a:avLst/>
            </a:prstGeom>
            <a:noFill/>
            <a:ln w="2222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5" name="Rectangle 44"/>
            <p:cNvSpPr/>
            <p:nvPr/>
          </p:nvSpPr>
          <p:spPr>
            <a:xfrm>
              <a:off x="9804903" y="2652654"/>
              <a:ext cx="407406" cy="344031"/>
            </a:xfrm>
            <a:prstGeom prst="rect">
              <a:avLst/>
            </a:prstGeom>
            <a:noFill/>
            <a:ln w="2222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6" name="Rectangle 45"/>
            <p:cNvSpPr/>
            <p:nvPr/>
          </p:nvSpPr>
          <p:spPr>
            <a:xfrm>
              <a:off x="10212309" y="2652654"/>
              <a:ext cx="407406" cy="344031"/>
            </a:xfrm>
            <a:prstGeom prst="rect">
              <a:avLst/>
            </a:prstGeom>
            <a:noFill/>
            <a:ln w="2222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7" name="Rectangle 46"/>
            <p:cNvSpPr/>
            <p:nvPr/>
          </p:nvSpPr>
          <p:spPr>
            <a:xfrm>
              <a:off x="10619715" y="2652654"/>
              <a:ext cx="407406" cy="344031"/>
            </a:xfrm>
            <a:prstGeom prst="rect">
              <a:avLst/>
            </a:prstGeom>
            <a:noFill/>
            <a:ln w="2222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8" name="Rectangle 47"/>
            <p:cNvSpPr/>
            <p:nvPr/>
          </p:nvSpPr>
          <p:spPr>
            <a:xfrm>
              <a:off x="11027121" y="2652655"/>
              <a:ext cx="407406" cy="344031"/>
            </a:xfrm>
            <a:prstGeom prst="rect">
              <a:avLst/>
            </a:prstGeom>
            <a:noFill/>
            <a:ln w="2222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9" name="Rectangle 48"/>
            <p:cNvSpPr/>
            <p:nvPr/>
          </p:nvSpPr>
          <p:spPr>
            <a:xfrm>
              <a:off x="8990091" y="929329"/>
              <a:ext cx="407406" cy="344031"/>
            </a:xfrm>
            <a:prstGeom prst="rect">
              <a:avLst/>
            </a:prstGeom>
            <a:noFill/>
            <a:ln w="2222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0" name="Rectangle 49"/>
            <p:cNvSpPr/>
            <p:nvPr/>
          </p:nvSpPr>
          <p:spPr>
            <a:xfrm>
              <a:off x="9397497" y="929329"/>
              <a:ext cx="407406" cy="344031"/>
            </a:xfrm>
            <a:prstGeom prst="rect">
              <a:avLst/>
            </a:prstGeom>
            <a:noFill/>
            <a:ln w="2222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1" name="Rectangle 50"/>
            <p:cNvSpPr/>
            <p:nvPr/>
          </p:nvSpPr>
          <p:spPr>
            <a:xfrm>
              <a:off x="9804903" y="929328"/>
              <a:ext cx="407406" cy="344031"/>
            </a:xfrm>
            <a:prstGeom prst="rect">
              <a:avLst/>
            </a:prstGeom>
            <a:noFill/>
            <a:ln w="2222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2" name="Rectangle 51"/>
            <p:cNvSpPr/>
            <p:nvPr/>
          </p:nvSpPr>
          <p:spPr>
            <a:xfrm>
              <a:off x="10212309" y="929328"/>
              <a:ext cx="407406" cy="344031"/>
            </a:xfrm>
            <a:prstGeom prst="rect">
              <a:avLst/>
            </a:prstGeom>
            <a:noFill/>
            <a:ln w="2222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3" name="Rectangle 52"/>
            <p:cNvSpPr/>
            <p:nvPr/>
          </p:nvSpPr>
          <p:spPr>
            <a:xfrm>
              <a:off x="10619715" y="929328"/>
              <a:ext cx="407406" cy="344031"/>
            </a:xfrm>
            <a:prstGeom prst="rect">
              <a:avLst/>
            </a:prstGeom>
            <a:noFill/>
            <a:ln w="2222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4" name="Rectangle 53"/>
            <p:cNvSpPr/>
            <p:nvPr/>
          </p:nvSpPr>
          <p:spPr>
            <a:xfrm>
              <a:off x="11027121" y="929329"/>
              <a:ext cx="407406" cy="344031"/>
            </a:xfrm>
            <a:prstGeom prst="rect">
              <a:avLst/>
            </a:prstGeom>
            <a:noFill/>
            <a:ln w="2222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55" name="TextBox 54"/>
          <p:cNvSpPr txBox="1"/>
          <p:nvPr/>
        </p:nvSpPr>
        <p:spPr>
          <a:xfrm>
            <a:off x="9482092" y="6303715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</a:rPr>
              <a:t>6 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2945794" y="3903030"/>
            <a:ext cx="2483456" cy="0"/>
          </a:xfrm>
          <a:prstGeom prst="line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/>
          <p:nvPr/>
        </p:nvCxnSpPr>
        <p:spPr>
          <a:xfrm>
            <a:off x="1964719" y="4885652"/>
            <a:ext cx="2483456" cy="0"/>
          </a:xfrm>
          <a:prstGeom prst="line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/>
          <p:nvPr/>
        </p:nvCxnSpPr>
        <p:spPr>
          <a:xfrm>
            <a:off x="2314030" y="4523017"/>
            <a:ext cx="2483456" cy="0"/>
          </a:xfrm>
          <a:prstGeom prst="line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/>
          <p:cNvCxnSpPr/>
          <p:nvPr/>
        </p:nvCxnSpPr>
        <p:spPr>
          <a:xfrm>
            <a:off x="2582982" y="4207265"/>
            <a:ext cx="2617668" cy="0"/>
          </a:xfrm>
          <a:prstGeom prst="line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Isosceles Triangle 60"/>
          <p:cNvSpPr/>
          <p:nvPr/>
        </p:nvSpPr>
        <p:spPr>
          <a:xfrm>
            <a:off x="9739285" y="5139337"/>
            <a:ext cx="344685" cy="273043"/>
          </a:xfrm>
          <a:prstGeom prst="triangle">
            <a:avLst/>
          </a:prstGeom>
          <a:solidFill>
            <a:srgbClr val="00B0F0">
              <a:alpha val="37000"/>
            </a:srgb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63" name="Straight Arrow Connector 62"/>
          <p:cNvCxnSpPr>
            <a:endCxn id="61" idx="1"/>
          </p:cNvCxnSpPr>
          <p:nvPr/>
        </p:nvCxnSpPr>
        <p:spPr>
          <a:xfrm>
            <a:off x="6128173" y="4193100"/>
            <a:ext cx="3697283" cy="1082759"/>
          </a:xfrm>
          <a:prstGeom prst="straightConnector1">
            <a:avLst/>
          </a:prstGeom>
          <a:ln w="127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/>
          <p:cNvCxnSpPr>
            <a:endCxn id="61" idx="1"/>
          </p:cNvCxnSpPr>
          <p:nvPr/>
        </p:nvCxnSpPr>
        <p:spPr>
          <a:xfrm>
            <a:off x="5867400" y="4511391"/>
            <a:ext cx="3958056" cy="764468"/>
          </a:xfrm>
          <a:prstGeom prst="straightConnector1">
            <a:avLst/>
          </a:prstGeom>
          <a:ln w="127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/>
          <p:cNvCxnSpPr>
            <a:endCxn id="61" idx="1"/>
          </p:cNvCxnSpPr>
          <p:nvPr/>
        </p:nvCxnSpPr>
        <p:spPr>
          <a:xfrm>
            <a:off x="5480673" y="4909132"/>
            <a:ext cx="4344783" cy="366727"/>
          </a:xfrm>
          <a:prstGeom prst="straightConnector1">
            <a:avLst/>
          </a:prstGeom>
          <a:ln w="127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/>
          <p:cNvCxnSpPr>
            <a:endCxn id="61" idx="1"/>
          </p:cNvCxnSpPr>
          <p:nvPr/>
        </p:nvCxnSpPr>
        <p:spPr>
          <a:xfrm flipV="1">
            <a:off x="4963220" y="5275859"/>
            <a:ext cx="4862236" cy="107427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4224280" y="3554980"/>
            <a:ext cx="3962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</a:rPr>
              <a:t>32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376664" y="4281772"/>
            <a:ext cx="3962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</a:rPr>
              <a:t>32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09600" y="1229897"/>
            <a:ext cx="101368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Arial Narrow" panose="020B0606020202030204" pitchFamily="34" charset="0"/>
                <a:cs typeface="Times New Roman" panose="02020603050405020304" pitchFamily="18" charset="0"/>
              </a:rPr>
              <a:t>Pixel values from each of the </a:t>
            </a:r>
            <a:r>
              <a:rPr lang="en-IN" sz="2400" dirty="0">
                <a:solidFill>
                  <a:srgbClr val="7030A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32 channels </a:t>
            </a:r>
            <a:r>
              <a:rPr lang="en-IN" sz="2400" dirty="0">
                <a:latin typeface="Arial Narrow" panose="020B0606020202030204" pitchFamily="34" charset="0"/>
                <a:cs typeface="Times New Roman" panose="02020603050405020304" pitchFamily="18" charset="0"/>
              </a:rPr>
              <a:t>are multiplied with corresponding convolution kernel coefficients and are series summed to get one pixel of response matrix.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1125200" y="4960240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</a:rPr>
              <a:t>6 </a:t>
            </a:r>
          </a:p>
        </p:txBody>
      </p:sp>
    </p:spTree>
    <p:extLst>
      <p:ext uri="{BB962C8B-B14F-4D97-AF65-F5344CB8AC3E}">
        <p14:creationId xmlns:p14="http://schemas.microsoft.com/office/powerpoint/2010/main" val="234636591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8581756" y="2377510"/>
            <a:ext cx="2878122" cy="2318216"/>
            <a:chOff x="8990091" y="929328"/>
            <a:chExt cx="2444436" cy="2067358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19" name="Rectangle 18"/>
            <p:cNvSpPr/>
            <p:nvPr/>
          </p:nvSpPr>
          <p:spPr>
            <a:xfrm>
              <a:off x="8990091" y="1276537"/>
              <a:ext cx="407406" cy="344031"/>
            </a:xfrm>
            <a:prstGeom prst="rect">
              <a:avLst/>
            </a:prstGeom>
            <a:grpFill/>
            <a:ln w="2222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9397497" y="1276537"/>
              <a:ext cx="407406" cy="344031"/>
            </a:xfrm>
            <a:prstGeom prst="rect">
              <a:avLst/>
            </a:prstGeom>
            <a:grpFill/>
            <a:ln w="2222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9804903" y="1276536"/>
              <a:ext cx="407406" cy="344031"/>
            </a:xfrm>
            <a:prstGeom prst="rect">
              <a:avLst/>
            </a:prstGeom>
            <a:grpFill/>
            <a:ln w="2222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10212309" y="1276536"/>
              <a:ext cx="407406" cy="344031"/>
            </a:xfrm>
            <a:prstGeom prst="rect">
              <a:avLst/>
            </a:prstGeom>
            <a:grpFill/>
            <a:ln w="2222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10619715" y="1276536"/>
              <a:ext cx="407406" cy="344031"/>
            </a:xfrm>
            <a:prstGeom prst="rect">
              <a:avLst/>
            </a:prstGeom>
            <a:grpFill/>
            <a:ln w="2222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4" name="Rectangle 23"/>
            <p:cNvSpPr/>
            <p:nvPr/>
          </p:nvSpPr>
          <p:spPr>
            <a:xfrm>
              <a:off x="11027121" y="1276537"/>
              <a:ext cx="407406" cy="344031"/>
            </a:xfrm>
            <a:prstGeom prst="rect">
              <a:avLst/>
            </a:prstGeom>
            <a:grpFill/>
            <a:ln w="2222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8990091" y="1620567"/>
              <a:ext cx="407406" cy="344031"/>
            </a:xfrm>
            <a:prstGeom prst="rect">
              <a:avLst/>
            </a:prstGeom>
            <a:grpFill/>
            <a:ln w="2222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397497" y="1620567"/>
              <a:ext cx="407406" cy="344031"/>
            </a:xfrm>
            <a:prstGeom prst="rect">
              <a:avLst/>
            </a:prstGeom>
            <a:grpFill/>
            <a:ln w="2222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9804903" y="1620566"/>
              <a:ext cx="407406" cy="344031"/>
            </a:xfrm>
            <a:prstGeom prst="rect">
              <a:avLst/>
            </a:prstGeom>
            <a:grpFill/>
            <a:ln w="2222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10212309" y="1620566"/>
              <a:ext cx="407406" cy="344031"/>
            </a:xfrm>
            <a:prstGeom prst="rect">
              <a:avLst/>
            </a:prstGeom>
            <a:grpFill/>
            <a:ln w="2222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619715" y="1620566"/>
              <a:ext cx="407406" cy="344031"/>
            </a:xfrm>
            <a:prstGeom prst="rect">
              <a:avLst/>
            </a:prstGeom>
            <a:grpFill/>
            <a:ln w="2222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1027121" y="1620567"/>
              <a:ext cx="407406" cy="344031"/>
            </a:xfrm>
            <a:prstGeom prst="rect">
              <a:avLst/>
            </a:prstGeom>
            <a:grpFill/>
            <a:ln w="2222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8990091" y="1964598"/>
              <a:ext cx="407406" cy="344031"/>
            </a:xfrm>
            <a:prstGeom prst="rect">
              <a:avLst/>
            </a:prstGeom>
            <a:grpFill/>
            <a:ln w="2222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9397497" y="1964598"/>
              <a:ext cx="407406" cy="344031"/>
            </a:xfrm>
            <a:prstGeom prst="rect">
              <a:avLst/>
            </a:prstGeom>
            <a:grpFill/>
            <a:ln w="2222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3" name="Rectangle 32"/>
            <p:cNvSpPr/>
            <p:nvPr/>
          </p:nvSpPr>
          <p:spPr>
            <a:xfrm>
              <a:off x="9804903" y="1964597"/>
              <a:ext cx="407406" cy="344031"/>
            </a:xfrm>
            <a:prstGeom prst="rect">
              <a:avLst/>
            </a:prstGeom>
            <a:grpFill/>
            <a:ln w="2222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4" name="Rectangle 33"/>
            <p:cNvSpPr/>
            <p:nvPr/>
          </p:nvSpPr>
          <p:spPr>
            <a:xfrm>
              <a:off x="10212309" y="1964597"/>
              <a:ext cx="407406" cy="344031"/>
            </a:xfrm>
            <a:prstGeom prst="rect">
              <a:avLst/>
            </a:prstGeom>
            <a:grpFill/>
            <a:ln w="2222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10619715" y="1964597"/>
              <a:ext cx="407406" cy="344031"/>
            </a:xfrm>
            <a:prstGeom prst="rect">
              <a:avLst/>
            </a:prstGeom>
            <a:grpFill/>
            <a:ln w="2222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11027121" y="1964598"/>
              <a:ext cx="407406" cy="344031"/>
            </a:xfrm>
            <a:prstGeom prst="rect">
              <a:avLst/>
            </a:prstGeom>
            <a:grpFill/>
            <a:ln w="2222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7" name="Rectangle 36"/>
            <p:cNvSpPr/>
            <p:nvPr/>
          </p:nvSpPr>
          <p:spPr>
            <a:xfrm>
              <a:off x="8990091" y="2308627"/>
              <a:ext cx="407406" cy="344031"/>
            </a:xfrm>
            <a:prstGeom prst="rect">
              <a:avLst/>
            </a:prstGeom>
            <a:grpFill/>
            <a:ln w="2222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9397497" y="2308627"/>
              <a:ext cx="407406" cy="344031"/>
            </a:xfrm>
            <a:prstGeom prst="rect">
              <a:avLst/>
            </a:prstGeom>
            <a:grpFill/>
            <a:ln w="2222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9804903" y="2308626"/>
              <a:ext cx="407406" cy="344031"/>
            </a:xfrm>
            <a:prstGeom prst="rect">
              <a:avLst/>
            </a:prstGeom>
            <a:grpFill/>
            <a:ln w="2222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10212309" y="2308626"/>
              <a:ext cx="407406" cy="344031"/>
            </a:xfrm>
            <a:prstGeom prst="rect">
              <a:avLst/>
            </a:prstGeom>
            <a:grpFill/>
            <a:ln w="2222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10619715" y="2308626"/>
              <a:ext cx="407406" cy="344031"/>
            </a:xfrm>
            <a:prstGeom prst="rect">
              <a:avLst/>
            </a:prstGeom>
            <a:grpFill/>
            <a:ln w="2222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2" name="Rectangle 41"/>
            <p:cNvSpPr/>
            <p:nvPr/>
          </p:nvSpPr>
          <p:spPr>
            <a:xfrm>
              <a:off x="11027121" y="2308627"/>
              <a:ext cx="407406" cy="344031"/>
            </a:xfrm>
            <a:prstGeom prst="rect">
              <a:avLst/>
            </a:prstGeom>
            <a:grpFill/>
            <a:ln w="2222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3" name="Rectangle 42"/>
            <p:cNvSpPr/>
            <p:nvPr/>
          </p:nvSpPr>
          <p:spPr>
            <a:xfrm>
              <a:off x="8990091" y="2652655"/>
              <a:ext cx="407406" cy="344031"/>
            </a:xfrm>
            <a:prstGeom prst="rect">
              <a:avLst/>
            </a:prstGeom>
            <a:grpFill/>
            <a:ln w="2222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4" name="Rectangle 43"/>
            <p:cNvSpPr/>
            <p:nvPr/>
          </p:nvSpPr>
          <p:spPr>
            <a:xfrm>
              <a:off x="9397497" y="2652655"/>
              <a:ext cx="407406" cy="344031"/>
            </a:xfrm>
            <a:prstGeom prst="rect">
              <a:avLst/>
            </a:prstGeom>
            <a:grpFill/>
            <a:ln w="2222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5" name="Rectangle 44"/>
            <p:cNvSpPr/>
            <p:nvPr/>
          </p:nvSpPr>
          <p:spPr>
            <a:xfrm>
              <a:off x="9804903" y="2652654"/>
              <a:ext cx="407406" cy="344031"/>
            </a:xfrm>
            <a:prstGeom prst="rect">
              <a:avLst/>
            </a:prstGeom>
            <a:grpFill/>
            <a:ln w="2222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6" name="Rectangle 45"/>
            <p:cNvSpPr/>
            <p:nvPr/>
          </p:nvSpPr>
          <p:spPr>
            <a:xfrm>
              <a:off x="10212309" y="2652654"/>
              <a:ext cx="407406" cy="344031"/>
            </a:xfrm>
            <a:prstGeom prst="rect">
              <a:avLst/>
            </a:prstGeom>
            <a:grpFill/>
            <a:ln w="2222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7" name="Rectangle 46"/>
            <p:cNvSpPr/>
            <p:nvPr/>
          </p:nvSpPr>
          <p:spPr>
            <a:xfrm>
              <a:off x="10619715" y="2652654"/>
              <a:ext cx="407406" cy="344031"/>
            </a:xfrm>
            <a:prstGeom prst="rect">
              <a:avLst/>
            </a:prstGeom>
            <a:grpFill/>
            <a:ln w="2222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8" name="Rectangle 47"/>
            <p:cNvSpPr/>
            <p:nvPr/>
          </p:nvSpPr>
          <p:spPr>
            <a:xfrm>
              <a:off x="11027121" y="2652655"/>
              <a:ext cx="407406" cy="344031"/>
            </a:xfrm>
            <a:prstGeom prst="rect">
              <a:avLst/>
            </a:prstGeom>
            <a:grpFill/>
            <a:ln w="2222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9" name="Rectangle 48"/>
            <p:cNvSpPr/>
            <p:nvPr/>
          </p:nvSpPr>
          <p:spPr>
            <a:xfrm>
              <a:off x="8990091" y="929329"/>
              <a:ext cx="407406" cy="344031"/>
            </a:xfrm>
            <a:prstGeom prst="rect">
              <a:avLst/>
            </a:prstGeom>
            <a:grpFill/>
            <a:ln w="2222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0" name="Rectangle 49"/>
            <p:cNvSpPr/>
            <p:nvPr/>
          </p:nvSpPr>
          <p:spPr>
            <a:xfrm>
              <a:off x="9397497" y="929329"/>
              <a:ext cx="407406" cy="344031"/>
            </a:xfrm>
            <a:prstGeom prst="rect">
              <a:avLst/>
            </a:prstGeom>
            <a:grpFill/>
            <a:ln w="2222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1" name="Rectangle 50"/>
            <p:cNvSpPr/>
            <p:nvPr/>
          </p:nvSpPr>
          <p:spPr>
            <a:xfrm>
              <a:off x="9804903" y="929328"/>
              <a:ext cx="407406" cy="344031"/>
            </a:xfrm>
            <a:prstGeom prst="rect">
              <a:avLst/>
            </a:prstGeom>
            <a:grpFill/>
            <a:ln w="2222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2" name="Rectangle 51"/>
            <p:cNvSpPr/>
            <p:nvPr/>
          </p:nvSpPr>
          <p:spPr>
            <a:xfrm>
              <a:off x="10212309" y="929328"/>
              <a:ext cx="407406" cy="344031"/>
            </a:xfrm>
            <a:prstGeom prst="rect">
              <a:avLst/>
            </a:prstGeom>
            <a:grpFill/>
            <a:ln w="2222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3" name="Rectangle 52"/>
            <p:cNvSpPr/>
            <p:nvPr/>
          </p:nvSpPr>
          <p:spPr>
            <a:xfrm>
              <a:off x="10619715" y="929328"/>
              <a:ext cx="407406" cy="344031"/>
            </a:xfrm>
            <a:prstGeom prst="rect">
              <a:avLst/>
            </a:prstGeom>
            <a:grpFill/>
            <a:ln w="2222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4" name="Rectangle 53"/>
            <p:cNvSpPr/>
            <p:nvPr/>
          </p:nvSpPr>
          <p:spPr>
            <a:xfrm>
              <a:off x="11027121" y="929329"/>
              <a:ext cx="407406" cy="344031"/>
            </a:xfrm>
            <a:prstGeom prst="rect">
              <a:avLst/>
            </a:prstGeom>
            <a:grpFill/>
            <a:ln w="2222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60" name="Group 59"/>
          <p:cNvGrpSpPr/>
          <p:nvPr/>
        </p:nvGrpSpPr>
        <p:grpSpPr>
          <a:xfrm>
            <a:off x="8734156" y="2529910"/>
            <a:ext cx="2878122" cy="2318216"/>
            <a:chOff x="8990091" y="929328"/>
            <a:chExt cx="2444436" cy="2067358"/>
          </a:xfrm>
          <a:solidFill>
            <a:schemeClr val="tx2">
              <a:lumMod val="40000"/>
              <a:lumOff val="60000"/>
            </a:schemeClr>
          </a:solidFill>
        </p:grpSpPr>
        <p:sp>
          <p:nvSpPr>
            <p:cNvPr id="61" name="Rectangle 60"/>
            <p:cNvSpPr/>
            <p:nvPr/>
          </p:nvSpPr>
          <p:spPr>
            <a:xfrm>
              <a:off x="8990091" y="1276537"/>
              <a:ext cx="407406" cy="344031"/>
            </a:xfrm>
            <a:prstGeom prst="rect">
              <a:avLst/>
            </a:prstGeom>
            <a:grpFill/>
            <a:ln w="2222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2" name="Rectangle 61"/>
            <p:cNvSpPr/>
            <p:nvPr/>
          </p:nvSpPr>
          <p:spPr>
            <a:xfrm>
              <a:off x="9397497" y="1276537"/>
              <a:ext cx="407406" cy="344031"/>
            </a:xfrm>
            <a:prstGeom prst="rect">
              <a:avLst/>
            </a:prstGeom>
            <a:grpFill/>
            <a:ln w="2222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3" name="Rectangle 62"/>
            <p:cNvSpPr/>
            <p:nvPr/>
          </p:nvSpPr>
          <p:spPr>
            <a:xfrm>
              <a:off x="9804903" y="1276536"/>
              <a:ext cx="407406" cy="344031"/>
            </a:xfrm>
            <a:prstGeom prst="rect">
              <a:avLst/>
            </a:prstGeom>
            <a:grpFill/>
            <a:ln w="2222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4" name="Rectangle 63"/>
            <p:cNvSpPr/>
            <p:nvPr/>
          </p:nvSpPr>
          <p:spPr>
            <a:xfrm>
              <a:off x="10212309" y="1276536"/>
              <a:ext cx="407406" cy="344031"/>
            </a:xfrm>
            <a:prstGeom prst="rect">
              <a:avLst/>
            </a:prstGeom>
            <a:grpFill/>
            <a:ln w="2222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5" name="Rectangle 64"/>
            <p:cNvSpPr/>
            <p:nvPr/>
          </p:nvSpPr>
          <p:spPr>
            <a:xfrm>
              <a:off x="10619715" y="1276536"/>
              <a:ext cx="407406" cy="344031"/>
            </a:xfrm>
            <a:prstGeom prst="rect">
              <a:avLst/>
            </a:prstGeom>
            <a:grpFill/>
            <a:ln w="2222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6" name="Rectangle 65"/>
            <p:cNvSpPr/>
            <p:nvPr/>
          </p:nvSpPr>
          <p:spPr>
            <a:xfrm>
              <a:off x="11027121" y="1276537"/>
              <a:ext cx="407406" cy="344031"/>
            </a:xfrm>
            <a:prstGeom prst="rect">
              <a:avLst/>
            </a:prstGeom>
            <a:grpFill/>
            <a:ln w="2222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7" name="Rectangle 66"/>
            <p:cNvSpPr/>
            <p:nvPr/>
          </p:nvSpPr>
          <p:spPr>
            <a:xfrm>
              <a:off x="8990091" y="1620567"/>
              <a:ext cx="407406" cy="344031"/>
            </a:xfrm>
            <a:prstGeom prst="rect">
              <a:avLst/>
            </a:prstGeom>
            <a:grpFill/>
            <a:ln w="2222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8" name="Rectangle 67"/>
            <p:cNvSpPr/>
            <p:nvPr/>
          </p:nvSpPr>
          <p:spPr>
            <a:xfrm>
              <a:off x="9397497" y="1620567"/>
              <a:ext cx="407406" cy="344031"/>
            </a:xfrm>
            <a:prstGeom prst="rect">
              <a:avLst/>
            </a:prstGeom>
            <a:grpFill/>
            <a:ln w="2222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9" name="Rectangle 68"/>
            <p:cNvSpPr/>
            <p:nvPr/>
          </p:nvSpPr>
          <p:spPr>
            <a:xfrm>
              <a:off x="9804903" y="1620566"/>
              <a:ext cx="407406" cy="344031"/>
            </a:xfrm>
            <a:prstGeom prst="rect">
              <a:avLst/>
            </a:prstGeom>
            <a:grpFill/>
            <a:ln w="2222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0" name="Rectangle 69"/>
            <p:cNvSpPr/>
            <p:nvPr/>
          </p:nvSpPr>
          <p:spPr>
            <a:xfrm>
              <a:off x="10212309" y="1620566"/>
              <a:ext cx="407406" cy="344031"/>
            </a:xfrm>
            <a:prstGeom prst="rect">
              <a:avLst/>
            </a:prstGeom>
            <a:grpFill/>
            <a:ln w="2222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1" name="Rectangle 70"/>
            <p:cNvSpPr/>
            <p:nvPr/>
          </p:nvSpPr>
          <p:spPr>
            <a:xfrm>
              <a:off x="10619715" y="1620566"/>
              <a:ext cx="407406" cy="344031"/>
            </a:xfrm>
            <a:prstGeom prst="rect">
              <a:avLst/>
            </a:prstGeom>
            <a:grpFill/>
            <a:ln w="2222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2" name="Rectangle 71"/>
            <p:cNvSpPr/>
            <p:nvPr/>
          </p:nvSpPr>
          <p:spPr>
            <a:xfrm>
              <a:off x="11027121" y="1620567"/>
              <a:ext cx="407406" cy="344031"/>
            </a:xfrm>
            <a:prstGeom prst="rect">
              <a:avLst/>
            </a:prstGeom>
            <a:grpFill/>
            <a:ln w="2222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3" name="Rectangle 72"/>
            <p:cNvSpPr/>
            <p:nvPr/>
          </p:nvSpPr>
          <p:spPr>
            <a:xfrm>
              <a:off x="8990091" y="1964598"/>
              <a:ext cx="407406" cy="344031"/>
            </a:xfrm>
            <a:prstGeom prst="rect">
              <a:avLst/>
            </a:prstGeom>
            <a:grpFill/>
            <a:ln w="2222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4" name="Rectangle 73"/>
            <p:cNvSpPr/>
            <p:nvPr/>
          </p:nvSpPr>
          <p:spPr>
            <a:xfrm>
              <a:off x="9397497" y="1964598"/>
              <a:ext cx="407406" cy="344031"/>
            </a:xfrm>
            <a:prstGeom prst="rect">
              <a:avLst/>
            </a:prstGeom>
            <a:grpFill/>
            <a:ln w="2222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5" name="Rectangle 74"/>
            <p:cNvSpPr/>
            <p:nvPr/>
          </p:nvSpPr>
          <p:spPr>
            <a:xfrm>
              <a:off x="9804903" y="1964597"/>
              <a:ext cx="407406" cy="344031"/>
            </a:xfrm>
            <a:prstGeom prst="rect">
              <a:avLst/>
            </a:prstGeom>
            <a:grpFill/>
            <a:ln w="2222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6" name="Rectangle 75"/>
            <p:cNvSpPr/>
            <p:nvPr/>
          </p:nvSpPr>
          <p:spPr>
            <a:xfrm>
              <a:off x="10212309" y="1964597"/>
              <a:ext cx="407406" cy="344031"/>
            </a:xfrm>
            <a:prstGeom prst="rect">
              <a:avLst/>
            </a:prstGeom>
            <a:grpFill/>
            <a:ln w="2222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7" name="Rectangle 76"/>
            <p:cNvSpPr/>
            <p:nvPr/>
          </p:nvSpPr>
          <p:spPr>
            <a:xfrm>
              <a:off x="10619715" y="1964597"/>
              <a:ext cx="407406" cy="344031"/>
            </a:xfrm>
            <a:prstGeom prst="rect">
              <a:avLst/>
            </a:prstGeom>
            <a:grpFill/>
            <a:ln w="2222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8" name="Rectangle 77"/>
            <p:cNvSpPr/>
            <p:nvPr/>
          </p:nvSpPr>
          <p:spPr>
            <a:xfrm>
              <a:off x="11027121" y="1964598"/>
              <a:ext cx="407406" cy="344031"/>
            </a:xfrm>
            <a:prstGeom prst="rect">
              <a:avLst/>
            </a:prstGeom>
            <a:grpFill/>
            <a:ln w="2222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9" name="Rectangle 78"/>
            <p:cNvSpPr/>
            <p:nvPr/>
          </p:nvSpPr>
          <p:spPr>
            <a:xfrm>
              <a:off x="8990091" y="2308627"/>
              <a:ext cx="407406" cy="344031"/>
            </a:xfrm>
            <a:prstGeom prst="rect">
              <a:avLst/>
            </a:prstGeom>
            <a:grpFill/>
            <a:ln w="2222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0" name="Rectangle 79"/>
            <p:cNvSpPr/>
            <p:nvPr/>
          </p:nvSpPr>
          <p:spPr>
            <a:xfrm>
              <a:off x="9397497" y="2308627"/>
              <a:ext cx="407406" cy="344031"/>
            </a:xfrm>
            <a:prstGeom prst="rect">
              <a:avLst/>
            </a:prstGeom>
            <a:grpFill/>
            <a:ln w="2222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1" name="Rectangle 80"/>
            <p:cNvSpPr/>
            <p:nvPr/>
          </p:nvSpPr>
          <p:spPr>
            <a:xfrm>
              <a:off x="9804903" y="2308626"/>
              <a:ext cx="407406" cy="344031"/>
            </a:xfrm>
            <a:prstGeom prst="rect">
              <a:avLst/>
            </a:prstGeom>
            <a:grpFill/>
            <a:ln w="2222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2" name="Rectangle 81"/>
            <p:cNvSpPr/>
            <p:nvPr/>
          </p:nvSpPr>
          <p:spPr>
            <a:xfrm>
              <a:off x="10212309" y="2308626"/>
              <a:ext cx="407406" cy="344031"/>
            </a:xfrm>
            <a:prstGeom prst="rect">
              <a:avLst/>
            </a:prstGeom>
            <a:grpFill/>
            <a:ln w="2222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3" name="Rectangle 82"/>
            <p:cNvSpPr/>
            <p:nvPr/>
          </p:nvSpPr>
          <p:spPr>
            <a:xfrm>
              <a:off x="10619715" y="2308626"/>
              <a:ext cx="407406" cy="344031"/>
            </a:xfrm>
            <a:prstGeom prst="rect">
              <a:avLst/>
            </a:prstGeom>
            <a:grpFill/>
            <a:ln w="2222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4" name="Rectangle 83"/>
            <p:cNvSpPr/>
            <p:nvPr/>
          </p:nvSpPr>
          <p:spPr>
            <a:xfrm>
              <a:off x="11027121" y="2308627"/>
              <a:ext cx="407406" cy="344031"/>
            </a:xfrm>
            <a:prstGeom prst="rect">
              <a:avLst/>
            </a:prstGeom>
            <a:grpFill/>
            <a:ln w="2222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5" name="Rectangle 84"/>
            <p:cNvSpPr/>
            <p:nvPr/>
          </p:nvSpPr>
          <p:spPr>
            <a:xfrm>
              <a:off x="8990091" y="2652655"/>
              <a:ext cx="407406" cy="344031"/>
            </a:xfrm>
            <a:prstGeom prst="rect">
              <a:avLst/>
            </a:prstGeom>
            <a:grpFill/>
            <a:ln w="2222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6" name="Rectangle 85"/>
            <p:cNvSpPr/>
            <p:nvPr/>
          </p:nvSpPr>
          <p:spPr>
            <a:xfrm>
              <a:off x="9397497" y="2652655"/>
              <a:ext cx="407406" cy="344031"/>
            </a:xfrm>
            <a:prstGeom prst="rect">
              <a:avLst/>
            </a:prstGeom>
            <a:grpFill/>
            <a:ln w="2222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7" name="Rectangle 86"/>
            <p:cNvSpPr/>
            <p:nvPr/>
          </p:nvSpPr>
          <p:spPr>
            <a:xfrm>
              <a:off x="9804903" y="2652654"/>
              <a:ext cx="407406" cy="344031"/>
            </a:xfrm>
            <a:prstGeom prst="rect">
              <a:avLst/>
            </a:prstGeom>
            <a:grpFill/>
            <a:ln w="2222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8" name="Rectangle 87"/>
            <p:cNvSpPr/>
            <p:nvPr/>
          </p:nvSpPr>
          <p:spPr>
            <a:xfrm>
              <a:off x="10212309" y="2652654"/>
              <a:ext cx="407406" cy="344031"/>
            </a:xfrm>
            <a:prstGeom prst="rect">
              <a:avLst/>
            </a:prstGeom>
            <a:grpFill/>
            <a:ln w="2222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9" name="Rectangle 88"/>
            <p:cNvSpPr/>
            <p:nvPr/>
          </p:nvSpPr>
          <p:spPr>
            <a:xfrm>
              <a:off x="10619715" y="2652654"/>
              <a:ext cx="407406" cy="344031"/>
            </a:xfrm>
            <a:prstGeom prst="rect">
              <a:avLst/>
            </a:prstGeom>
            <a:grpFill/>
            <a:ln w="2222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0" name="Rectangle 89"/>
            <p:cNvSpPr/>
            <p:nvPr/>
          </p:nvSpPr>
          <p:spPr>
            <a:xfrm>
              <a:off x="11027121" y="2652655"/>
              <a:ext cx="407406" cy="344031"/>
            </a:xfrm>
            <a:prstGeom prst="rect">
              <a:avLst/>
            </a:prstGeom>
            <a:grpFill/>
            <a:ln w="2222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1" name="Rectangle 90"/>
            <p:cNvSpPr/>
            <p:nvPr/>
          </p:nvSpPr>
          <p:spPr>
            <a:xfrm>
              <a:off x="8990091" y="929329"/>
              <a:ext cx="407406" cy="344031"/>
            </a:xfrm>
            <a:prstGeom prst="rect">
              <a:avLst/>
            </a:prstGeom>
            <a:grpFill/>
            <a:ln w="2222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2" name="Rectangle 91"/>
            <p:cNvSpPr/>
            <p:nvPr/>
          </p:nvSpPr>
          <p:spPr>
            <a:xfrm>
              <a:off x="9397497" y="929329"/>
              <a:ext cx="407406" cy="344031"/>
            </a:xfrm>
            <a:prstGeom prst="rect">
              <a:avLst/>
            </a:prstGeom>
            <a:grpFill/>
            <a:ln w="2222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3" name="Rectangle 92"/>
            <p:cNvSpPr/>
            <p:nvPr/>
          </p:nvSpPr>
          <p:spPr>
            <a:xfrm>
              <a:off x="9804903" y="929328"/>
              <a:ext cx="407406" cy="344031"/>
            </a:xfrm>
            <a:prstGeom prst="rect">
              <a:avLst/>
            </a:prstGeom>
            <a:grpFill/>
            <a:ln w="2222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4" name="Rectangle 93"/>
            <p:cNvSpPr/>
            <p:nvPr/>
          </p:nvSpPr>
          <p:spPr>
            <a:xfrm>
              <a:off x="10212309" y="929328"/>
              <a:ext cx="407406" cy="344031"/>
            </a:xfrm>
            <a:prstGeom prst="rect">
              <a:avLst/>
            </a:prstGeom>
            <a:grpFill/>
            <a:ln w="2222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5" name="Rectangle 94"/>
            <p:cNvSpPr/>
            <p:nvPr/>
          </p:nvSpPr>
          <p:spPr>
            <a:xfrm>
              <a:off x="10619715" y="929328"/>
              <a:ext cx="407406" cy="344031"/>
            </a:xfrm>
            <a:prstGeom prst="rect">
              <a:avLst/>
            </a:prstGeom>
            <a:grpFill/>
            <a:ln w="2222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6" name="Rectangle 95"/>
            <p:cNvSpPr/>
            <p:nvPr/>
          </p:nvSpPr>
          <p:spPr>
            <a:xfrm>
              <a:off x="11027121" y="929329"/>
              <a:ext cx="407406" cy="344031"/>
            </a:xfrm>
            <a:prstGeom prst="rect">
              <a:avLst/>
            </a:prstGeom>
            <a:grpFill/>
            <a:ln w="2222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97" name="Group 96"/>
          <p:cNvGrpSpPr/>
          <p:nvPr/>
        </p:nvGrpSpPr>
        <p:grpSpPr>
          <a:xfrm>
            <a:off x="8886556" y="2682310"/>
            <a:ext cx="2878122" cy="2318216"/>
            <a:chOff x="8990091" y="929328"/>
            <a:chExt cx="2444436" cy="2067358"/>
          </a:xfrm>
          <a:solidFill>
            <a:schemeClr val="accent6">
              <a:lumMod val="60000"/>
              <a:lumOff val="40000"/>
            </a:schemeClr>
          </a:solidFill>
        </p:grpSpPr>
        <p:sp>
          <p:nvSpPr>
            <p:cNvPr id="98" name="Rectangle 97"/>
            <p:cNvSpPr/>
            <p:nvPr/>
          </p:nvSpPr>
          <p:spPr>
            <a:xfrm>
              <a:off x="8990091" y="1276537"/>
              <a:ext cx="407406" cy="344031"/>
            </a:xfrm>
            <a:prstGeom prst="rect">
              <a:avLst/>
            </a:prstGeom>
            <a:grpFill/>
            <a:ln w="2222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9" name="Rectangle 98"/>
            <p:cNvSpPr/>
            <p:nvPr/>
          </p:nvSpPr>
          <p:spPr>
            <a:xfrm>
              <a:off x="9397497" y="1276537"/>
              <a:ext cx="407406" cy="344031"/>
            </a:xfrm>
            <a:prstGeom prst="rect">
              <a:avLst/>
            </a:prstGeom>
            <a:grpFill/>
            <a:ln w="2222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0" name="Rectangle 99"/>
            <p:cNvSpPr/>
            <p:nvPr/>
          </p:nvSpPr>
          <p:spPr>
            <a:xfrm>
              <a:off x="9804903" y="1276536"/>
              <a:ext cx="407406" cy="344031"/>
            </a:xfrm>
            <a:prstGeom prst="rect">
              <a:avLst/>
            </a:prstGeom>
            <a:grpFill/>
            <a:ln w="2222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1" name="Rectangle 100"/>
            <p:cNvSpPr/>
            <p:nvPr/>
          </p:nvSpPr>
          <p:spPr>
            <a:xfrm>
              <a:off x="10212309" y="1276536"/>
              <a:ext cx="407406" cy="344031"/>
            </a:xfrm>
            <a:prstGeom prst="rect">
              <a:avLst/>
            </a:prstGeom>
            <a:grpFill/>
            <a:ln w="2222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2" name="Rectangle 101"/>
            <p:cNvSpPr/>
            <p:nvPr/>
          </p:nvSpPr>
          <p:spPr>
            <a:xfrm>
              <a:off x="10619715" y="1276536"/>
              <a:ext cx="407406" cy="344031"/>
            </a:xfrm>
            <a:prstGeom prst="rect">
              <a:avLst/>
            </a:prstGeom>
            <a:grpFill/>
            <a:ln w="2222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3" name="Rectangle 102"/>
            <p:cNvSpPr/>
            <p:nvPr/>
          </p:nvSpPr>
          <p:spPr>
            <a:xfrm>
              <a:off x="11027121" y="1276537"/>
              <a:ext cx="407406" cy="344031"/>
            </a:xfrm>
            <a:prstGeom prst="rect">
              <a:avLst/>
            </a:prstGeom>
            <a:grpFill/>
            <a:ln w="2222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4" name="Rectangle 103"/>
            <p:cNvSpPr/>
            <p:nvPr/>
          </p:nvSpPr>
          <p:spPr>
            <a:xfrm>
              <a:off x="8990091" y="1620567"/>
              <a:ext cx="407406" cy="344031"/>
            </a:xfrm>
            <a:prstGeom prst="rect">
              <a:avLst/>
            </a:prstGeom>
            <a:grpFill/>
            <a:ln w="2222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5" name="Rectangle 104"/>
            <p:cNvSpPr/>
            <p:nvPr/>
          </p:nvSpPr>
          <p:spPr>
            <a:xfrm>
              <a:off x="9397497" y="1620567"/>
              <a:ext cx="407406" cy="344031"/>
            </a:xfrm>
            <a:prstGeom prst="rect">
              <a:avLst/>
            </a:prstGeom>
            <a:grpFill/>
            <a:ln w="2222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6" name="Rectangle 105"/>
            <p:cNvSpPr/>
            <p:nvPr/>
          </p:nvSpPr>
          <p:spPr>
            <a:xfrm>
              <a:off x="9804903" y="1620566"/>
              <a:ext cx="407406" cy="344031"/>
            </a:xfrm>
            <a:prstGeom prst="rect">
              <a:avLst/>
            </a:prstGeom>
            <a:grpFill/>
            <a:ln w="2222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7" name="Rectangle 106"/>
            <p:cNvSpPr/>
            <p:nvPr/>
          </p:nvSpPr>
          <p:spPr>
            <a:xfrm>
              <a:off x="10212309" y="1620566"/>
              <a:ext cx="407406" cy="344031"/>
            </a:xfrm>
            <a:prstGeom prst="rect">
              <a:avLst/>
            </a:prstGeom>
            <a:grpFill/>
            <a:ln w="2222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8" name="Rectangle 107"/>
            <p:cNvSpPr/>
            <p:nvPr/>
          </p:nvSpPr>
          <p:spPr>
            <a:xfrm>
              <a:off x="10619715" y="1620566"/>
              <a:ext cx="407406" cy="344031"/>
            </a:xfrm>
            <a:prstGeom prst="rect">
              <a:avLst/>
            </a:prstGeom>
            <a:grpFill/>
            <a:ln w="2222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9" name="Rectangle 108"/>
            <p:cNvSpPr/>
            <p:nvPr/>
          </p:nvSpPr>
          <p:spPr>
            <a:xfrm>
              <a:off x="11027121" y="1620567"/>
              <a:ext cx="407406" cy="344031"/>
            </a:xfrm>
            <a:prstGeom prst="rect">
              <a:avLst/>
            </a:prstGeom>
            <a:grpFill/>
            <a:ln w="2222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0" name="Rectangle 109"/>
            <p:cNvSpPr/>
            <p:nvPr/>
          </p:nvSpPr>
          <p:spPr>
            <a:xfrm>
              <a:off x="8990091" y="1964598"/>
              <a:ext cx="407406" cy="344031"/>
            </a:xfrm>
            <a:prstGeom prst="rect">
              <a:avLst/>
            </a:prstGeom>
            <a:grpFill/>
            <a:ln w="2222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1" name="Rectangle 110"/>
            <p:cNvSpPr/>
            <p:nvPr/>
          </p:nvSpPr>
          <p:spPr>
            <a:xfrm>
              <a:off x="9397497" y="1964598"/>
              <a:ext cx="407406" cy="344031"/>
            </a:xfrm>
            <a:prstGeom prst="rect">
              <a:avLst/>
            </a:prstGeom>
            <a:grpFill/>
            <a:ln w="2222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2" name="Rectangle 111"/>
            <p:cNvSpPr/>
            <p:nvPr/>
          </p:nvSpPr>
          <p:spPr>
            <a:xfrm>
              <a:off x="9804903" y="1964597"/>
              <a:ext cx="407406" cy="344031"/>
            </a:xfrm>
            <a:prstGeom prst="rect">
              <a:avLst/>
            </a:prstGeom>
            <a:grpFill/>
            <a:ln w="2222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3" name="Rectangle 112"/>
            <p:cNvSpPr/>
            <p:nvPr/>
          </p:nvSpPr>
          <p:spPr>
            <a:xfrm>
              <a:off x="10212309" y="1964597"/>
              <a:ext cx="407406" cy="344031"/>
            </a:xfrm>
            <a:prstGeom prst="rect">
              <a:avLst/>
            </a:prstGeom>
            <a:grpFill/>
            <a:ln w="2222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4" name="Rectangle 113"/>
            <p:cNvSpPr/>
            <p:nvPr/>
          </p:nvSpPr>
          <p:spPr>
            <a:xfrm>
              <a:off x="10619715" y="1964597"/>
              <a:ext cx="407406" cy="344031"/>
            </a:xfrm>
            <a:prstGeom prst="rect">
              <a:avLst/>
            </a:prstGeom>
            <a:grpFill/>
            <a:ln w="2222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5" name="Rectangle 114"/>
            <p:cNvSpPr/>
            <p:nvPr/>
          </p:nvSpPr>
          <p:spPr>
            <a:xfrm>
              <a:off x="11027121" y="1964598"/>
              <a:ext cx="407406" cy="344031"/>
            </a:xfrm>
            <a:prstGeom prst="rect">
              <a:avLst/>
            </a:prstGeom>
            <a:grpFill/>
            <a:ln w="2222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6" name="Rectangle 115"/>
            <p:cNvSpPr/>
            <p:nvPr/>
          </p:nvSpPr>
          <p:spPr>
            <a:xfrm>
              <a:off x="8990091" y="2308627"/>
              <a:ext cx="407406" cy="344031"/>
            </a:xfrm>
            <a:prstGeom prst="rect">
              <a:avLst/>
            </a:prstGeom>
            <a:grpFill/>
            <a:ln w="2222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7" name="Rectangle 116"/>
            <p:cNvSpPr/>
            <p:nvPr/>
          </p:nvSpPr>
          <p:spPr>
            <a:xfrm>
              <a:off x="9397497" y="2308627"/>
              <a:ext cx="407406" cy="344031"/>
            </a:xfrm>
            <a:prstGeom prst="rect">
              <a:avLst/>
            </a:prstGeom>
            <a:grpFill/>
            <a:ln w="2222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8" name="Rectangle 117"/>
            <p:cNvSpPr/>
            <p:nvPr/>
          </p:nvSpPr>
          <p:spPr>
            <a:xfrm>
              <a:off x="9804903" y="2308626"/>
              <a:ext cx="407406" cy="344031"/>
            </a:xfrm>
            <a:prstGeom prst="rect">
              <a:avLst/>
            </a:prstGeom>
            <a:grpFill/>
            <a:ln w="2222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9" name="Rectangle 118"/>
            <p:cNvSpPr/>
            <p:nvPr/>
          </p:nvSpPr>
          <p:spPr>
            <a:xfrm>
              <a:off x="10212309" y="2308626"/>
              <a:ext cx="407406" cy="344031"/>
            </a:xfrm>
            <a:prstGeom prst="rect">
              <a:avLst/>
            </a:prstGeom>
            <a:grpFill/>
            <a:ln w="2222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20" name="Rectangle 119"/>
            <p:cNvSpPr/>
            <p:nvPr/>
          </p:nvSpPr>
          <p:spPr>
            <a:xfrm>
              <a:off x="10619715" y="2308626"/>
              <a:ext cx="407406" cy="344031"/>
            </a:xfrm>
            <a:prstGeom prst="rect">
              <a:avLst/>
            </a:prstGeom>
            <a:grpFill/>
            <a:ln w="2222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21" name="Rectangle 120"/>
            <p:cNvSpPr/>
            <p:nvPr/>
          </p:nvSpPr>
          <p:spPr>
            <a:xfrm>
              <a:off x="11027121" y="2308627"/>
              <a:ext cx="407406" cy="344031"/>
            </a:xfrm>
            <a:prstGeom prst="rect">
              <a:avLst/>
            </a:prstGeom>
            <a:grpFill/>
            <a:ln w="2222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22" name="Rectangle 121"/>
            <p:cNvSpPr/>
            <p:nvPr/>
          </p:nvSpPr>
          <p:spPr>
            <a:xfrm>
              <a:off x="8990091" y="2652655"/>
              <a:ext cx="407406" cy="344031"/>
            </a:xfrm>
            <a:prstGeom prst="rect">
              <a:avLst/>
            </a:prstGeom>
            <a:grpFill/>
            <a:ln w="2222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23" name="Rectangle 122"/>
            <p:cNvSpPr/>
            <p:nvPr/>
          </p:nvSpPr>
          <p:spPr>
            <a:xfrm>
              <a:off x="9397497" y="2652655"/>
              <a:ext cx="407406" cy="344031"/>
            </a:xfrm>
            <a:prstGeom prst="rect">
              <a:avLst/>
            </a:prstGeom>
            <a:grpFill/>
            <a:ln w="2222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24" name="Rectangle 123"/>
            <p:cNvSpPr/>
            <p:nvPr/>
          </p:nvSpPr>
          <p:spPr>
            <a:xfrm>
              <a:off x="9804903" y="2652654"/>
              <a:ext cx="407406" cy="344031"/>
            </a:xfrm>
            <a:prstGeom prst="rect">
              <a:avLst/>
            </a:prstGeom>
            <a:grpFill/>
            <a:ln w="2222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25" name="Rectangle 124"/>
            <p:cNvSpPr/>
            <p:nvPr/>
          </p:nvSpPr>
          <p:spPr>
            <a:xfrm>
              <a:off x="10212309" y="2652654"/>
              <a:ext cx="407406" cy="344031"/>
            </a:xfrm>
            <a:prstGeom prst="rect">
              <a:avLst/>
            </a:prstGeom>
            <a:grpFill/>
            <a:ln w="2222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26" name="Rectangle 125"/>
            <p:cNvSpPr/>
            <p:nvPr/>
          </p:nvSpPr>
          <p:spPr>
            <a:xfrm>
              <a:off x="10619715" y="2652654"/>
              <a:ext cx="407406" cy="344031"/>
            </a:xfrm>
            <a:prstGeom prst="rect">
              <a:avLst/>
            </a:prstGeom>
            <a:grpFill/>
            <a:ln w="2222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27" name="Rectangle 126"/>
            <p:cNvSpPr/>
            <p:nvPr/>
          </p:nvSpPr>
          <p:spPr>
            <a:xfrm>
              <a:off x="11027121" y="2652655"/>
              <a:ext cx="407406" cy="344031"/>
            </a:xfrm>
            <a:prstGeom prst="rect">
              <a:avLst/>
            </a:prstGeom>
            <a:grpFill/>
            <a:ln w="2222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28" name="Rectangle 127"/>
            <p:cNvSpPr/>
            <p:nvPr/>
          </p:nvSpPr>
          <p:spPr>
            <a:xfrm>
              <a:off x="8990091" y="929329"/>
              <a:ext cx="407406" cy="344031"/>
            </a:xfrm>
            <a:prstGeom prst="rect">
              <a:avLst/>
            </a:prstGeom>
            <a:grpFill/>
            <a:ln w="2222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29" name="Rectangle 128"/>
            <p:cNvSpPr/>
            <p:nvPr/>
          </p:nvSpPr>
          <p:spPr>
            <a:xfrm>
              <a:off x="9397497" y="929329"/>
              <a:ext cx="407406" cy="344031"/>
            </a:xfrm>
            <a:prstGeom prst="rect">
              <a:avLst/>
            </a:prstGeom>
            <a:grpFill/>
            <a:ln w="2222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0" name="Rectangle 129"/>
            <p:cNvSpPr/>
            <p:nvPr/>
          </p:nvSpPr>
          <p:spPr>
            <a:xfrm>
              <a:off x="9804903" y="929328"/>
              <a:ext cx="407406" cy="344031"/>
            </a:xfrm>
            <a:prstGeom prst="rect">
              <a:avLst/>
            </a:prstGeom>
            <a:grpFill/>
            <a:ln w="2222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1" name="Rectangle 130"/>
            <p:cNvSpPr/>
            <p:nvPr/>
          </p:nvSpPr>
          <p:spPr>
            <a:xfrm>
              <a:off x="10212309" y="929328"/>
              <a:ext cx="407406" cy="344031"/>
            </a:xfrm>
            <a:prstGeom prst="rect">
              <a:avLst/>
            </a:prstGeom>
            <a:grpFill/>
            <a:ln w="2222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2" name="Rectangle 131"/>
            <p:cNvSpPr/>
            <p:nvPr/>
          </p:nvSpPr>
          <p:spPr>
            <a:xfrm>
              <a:off x="10619715" y="929328"/>
              <a:ext cx="407406" cy="344031"/>
            </a:xfrm>
            <a:prstGeom prst="rect">
              <a:avLst/>
            </a:prstGeom>
            <a:grpFill/>
            <a:ln w="2222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3" name="Rectangle 132"/>
            <p:cNvSpPr/>
            <p:nvPr/>
          </p:nvSpPr>
          <p:spPr>
            <a:xfrm>
              <a:off x="11027121" y="929329"/>
              <a:ext cx="407406" cy="344031"/>
            </a:xfrm>
            <a:prstGeom prst="rect">
              <a:avLst/>
            </a:prstGeom>
            <a:grpFill/>
            <a:ln w="2222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134" name="Group 133"/>
          <p:cNvGrpSpPr/>
          <p:nvPr/>
        </p:nvGrpSpPr>
        <p:grpSpPr>
          <a:xfrm>
            <a:off x="9038956" y="2834710"/>
            <a:ext cx="2878122" cy="2318216"/>
            <a:chOff x="8990091" y="929328"/>
            <a:chExt cx="2444436" cy="2067358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135" name="Rectangle 134"/>
            <p:cNvSpPr/>
            <p:nvPr/>
          </p:nvSpPr>
          <p:spPr>
            <a:xfrm>
              <a:off x="8990091" y="1276537"/>
              <a:ext cx="407406" cy="344031"/>
            </a:xfrm>
            <a:prstGeom prst="rect">
              <a:avLst/>
            </a:prstGeom>
            <a:grpFill/>
            <a:ln w="2222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6" name="Rectangle 135"/>
            <p:cNvSpPr/>
            <p:nvPr/>
          </p:nvSpPr>
          <p:spPr>
            <a:xfrm>
              <a:off x="9397497" y="1276537"/>
              <a:ext cx="407406" cy="344031"/>
            </a:xfrm>
            <a:prstGeom prst="rect">
              <a:avLst/>
            </a:prstGeom>
            <a:grpFill/>
            <a:ln w="2222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7" name="Rectangle 136"/>
            <p:cNvSpPr/>
            <p:nvPr/>
          </p:nvSpPr>
          <p:spPr>
            <a:xfrm>
              <a:off x="9804903" y="1276536"/>
              <a:ext cx="407406" cy="344031"/>
            </a:xfrm>
            <a:prstGeom prst="rect">
              <a:avLst/>
            </a:prstGeom>
            <a:grpFill/>
            <a:ln w="2222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8" name="Rectangle 137"/>
            <p:cNvSpPr/>
            <p:nvPr/>
          </p:nvSpPr>
          <p:spPr>
            <a:xfrm>
              <a:off x="10212309" y="1276536"/>
              <a:ext cx="407406" cy="344031"/>
            </a:xfrm>
            <a:prstGeom prst="rect">
              <a:avLst/>
            </a:prstGeom>
            <a:grpFill/>
            <a:ln w="2222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9" name="Rectangle 138"/>
            <p:cNvSpPr/>
            <p:nvPr/>
          </p:nvSpPr>
          <p:spPr>
            <a:xfrm>
              <a:off x="10619715" y="1276536"/>
              <a:ext cx="407406" cy="344031"/>
            </a:xfrm>
            <a:prstGeom prst="rect">
              <a:avLst/>
            </a:prstGeom>
            <a:grpFill/>
            <a:ln w="2222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40" name="Rectangle 139"/>
            <p:cNvSpPr/>
            <p:nvPr/>
          </p:nvSpPr>
          <p:spPr>
            <a:xfrm>
              <a:off x="11027121" y="1276537"/>
              <a:ext cx="407406" cy="344031"/>
            </a:xfrm>
            <a:prstGeom prst="rect">
              <a:avLst/>
            </a:prstGeom>
            <a:grpFill/>
            <a:ln w="2222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41" name="Rectangle 140"/>
            <p:cNvSpPr/>
            <p:nvPr/>
          </p:nvSpPr>
          <p:spPr>
            <a:xfrm>
              <a:off x="8990091" y="1620567"/>
              <a:ext cx="407406" cy="344031"/>
            </a:xfrm>
            <a:prstGeom prst="rect">
              <a:avLst/>
            </a:prstGeom>
            <a:grpFill/>
            <a:ln w="2222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42" name="Rectangle 141"/>
            <p:cNvSpPr/>
            <p:nvPr/>
          </p:nvSpPr>
          <p:spPr>
            <a:xfrm>
              <a:off x="9397497" y="1620567"/>
              <a:ext cx="407406" cy="344031"/>
            </a:xfrm>
            <a:prstGeom prst="rect">
              <a:avLst/>
            </a:prstGeom>
            <a:grpFill/>
            <a:ln w="2222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43" name="Rectangle 142"/>
            <p:cNvSpPr/>
            <p:nvPr/>
          </p:nvSpPr>
          <p:spPr>
            <a:xfrm>
              <a:off x="9804903" y="1620566"/>
              <a:ext cx="407406" cy="344031"/>
            </a:xfrm>
            <a:prstGeom prst="rect">
              <a:avLst/>
            </a:prstGeom>
            <a:grpFill/>
            <a:ln w="2222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44" name="Rectangle 143"/>
            <p:cNvSpPr/>
            <p:nvPr/>
          </p:nvSpPr>
          <p:spPr>
            <a:xfrm>
              <a:off x="10212309" y="1620566"/>
              <a:ext cx="407406" cy="344031"/>
            </a:xfrm>
            <a:prstGeom prst="rect">
              <a:avLst/>
            </a:prstGeom>
            <a:grpFill/>
            <a:ln w="2222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45" name="Rectangle 144"/>
            <p:cNvSpPr/>
            <p:nvPr/>
          </p:nvSpPr>
          <p:spPr>
            <a:xfrm>
              <a:off x="10619715" y="1620566"/>
              <a:ext cx="407406" cy="344031"/>
            </a:xfrm>
            <a:prstGeom prst="rect">
              <a:avLst/>
            </a:prstGeom>
            <a:grpFill/>
            <a:ln w="2222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46" name="Rectangle 145"/>
            <p:cNvSpPr/>
            <p:nvPr/>
          </p:nvSpPr>
          <p:spPr>
            <a:xfrm>
              <a:off x="11027121" y="1620567"/>
              <a:ext cx="407406" cy="344031"/>
            </a:xfrm>
            <a:prstGeom prst="rect">
              <a:avLst/>
            </a:prstGeom>
            <a:grpFill/>
            <a:ln w="2222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47" name="Rectangle 146"/>
            <p:cNvSpPr/>
            <p:nvPr/>
          </p:nvSpPr>
          <p:spPr>
            <a:xfrm>
              <a:off x="8990091" y="1964598"/>
              <a:ext cx="407406" cy="344031"/>
            </a:xfrm>
            <a:prstGeom prst="rect">
              <a:avLst/>
            </a:prstGeom>
            <a:grpFill/>
            <a:ln w="2222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48" name="Rectangle 147"/>
            <p:cNvSpPr/>
            <p:nvPr/>
          </p:nvSpPr>
          <p:spPr>
            <a:xfrm>
              <a:off x="9397497" y="1964598"/>
              <a:ext cx="407406" cy="344031"/>
            </a:xfrm>
            <a:prstGeom prst="rect">
              <a:avLst/>
            </a:prstGeom>
            <a:grpFill/>
            <a:ln w="2222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49" name="Rectangle 148"/>
            <p:cNvSpPr/>
            <p:nvPr/>
          </p:nvSpPr>
          <p:spPr>
            <a:xfrm>
              <a:off x="9804903" y="1964597"/>
              <a:ext cx="407406" cy="344031"/>
            </a:xfrm>
            <a:prstGeom prst="rect">
              <a:avLst/>
            </a:prstGeom>
            <a:grpFill/>
            <a:ln w="2222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50" name="Rectangle 149"/>
            <p:cNvSpPr/>
            <p:nvPr/>
          </p:nvSpPr>
          <p:spPr>
            <a:xfrm>
              <a:off x="10212309" y="1964597"/>
              <a:ext cx="407406" cy="344031"/>
            </a:xfrm>
            <a:prstGeom prst="rect">
              <a:avLst/>
            </a:prstGeom>
            <a:grpFill/>
            <a:ln w="2222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51" name="Rectangle 150"/>
            <p:cNvSpPr/>
            <p:nvPr/>
          </p:nvSpPr>
          <p:spPr>
            <a:xfrm>
              <a:off x="10619715" y="1964597"/>
              <a:ext cx="407406" cy="344031"/>
            </a:xfrm>
            <a:prstGeom prst="rect">
              <a:avLst/>
            </a:prstGeom>
            <a:grpFill/>
            <a:ln w="2222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52" name="Rectangle 151"/>
            <p:cNvSpPr/>
            <p:nvPr/>
          </p:nvSpPr>
          <p:spPr>
            <a:xfrm>
              <a:off x="11027121" y="1964598"/>
              <a:ext cx="407406" cy="344031"/>
            </a:xfrm>
            <a:prstGeom prst="rect">
              <a:avLst/>
            </a:prstGeom>
            <a:grpFill/>
            <a:ln w="2222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53" name="Rectangle 152"/>
            <p:cNvSpPr/>
            <p:nvPr/>
          </p:nvSpPr>
          <p:spPr>
            <a:xfrm>
              <a:off x="8990091" y="2308627"/>
              <a:ext cx="407406" cy="344031"/>
            </a:xfrm>
            <a:prstGeom prst="rect">
              <a:avLst/>
            </a:prstGeom>
            <a:grpFill/>
            <a:ln w="2222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54" name="Rectangle 153"/>
            <p:cNvSpPr/>
            <p:nvPr/>
          </p:nvSpPr>
          <p:spPr>
            <a:xfrm>
              <a:off x="9397497" y="2308627"/>
              <a:ext cx="407406" cy="344031"/>
            </a:xfrm>
            <a:prstGeom prst="rect">
              <a:avLst/>
            </a:prstGeom>
            <a:grpFill/>
            <a:ln w="2222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55" name="Rectangle 154"/>
            <p:cNvSpPr/>
            <p:nvPr/>
          </p:nvSpPr>
          <p:spPr>
            <a:xfrm>
              <a:off x="9804903" y="2308626"/>
              <a:ext cx="407406" cy="344031"/>
            </a:xfrm>
            <a:prstGeom prst="rect">
              <a:avLst/>
            </a:prstGeom>
            <a:grpFill/>
            <a:ln w="2222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56" name="Rectangle 155"/>
            <p:cNvSpPr/>
            <p:nvPr/>
          </p:nvSpPr>
          <p:spPr>
            <a:xfrm>
              <a:off x="10212309" y="2308626"/>
              <a:ext cx="407406" cy="344031"/>
            </a:xfrm>
            <a:prstGeom prst="rect">
              <a:avLst/>
            </a:prstGeom>
            <a:grpFill/>
            <a:ln w="2222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57" name="Rectangle 156"/>
            <p:cNvSpPr/>
            <p:nvPr/>
          </p:nvSpPr>
          <p:spPr>
            <a:xfrm>
              <a:off x="10619715" y="2308626"/>
              <a:ext cx="407406" cy="344031"/>
            </a:xfrm>
            <a:prstGeom prst="rect">
              <a:avLst/>
            </a:prstGeom>
            <a:grpFill/>
            <a:ln w="2222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58" name="Rectangle 157"/>
            <p:cNvSpPr/>
            <p:nvPr/>
          </p:nvSpPr>
          <p:spPr>
            <a:xfrm>
              <a:off x="11027121" y="2308627"/>
              <a:ext cx="407406" cy="344031"/>
            </a:xfrm>
            <a:prstGeom prst="rect">
              <a:avLst/>
            </a:prstGeom>
            <a:grpFill/>
            <a:ln w="2222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59" name="Rectangle 158"/>
            <p:cNvSpPr/>
            <p:nvPr/>
          </p:nvSpPr>
          <p:spPr>
            <a:xfrm>
              <a:off x="8990091" y="2652655"/>
              <a:ext cx="407406" cy="344031"/>
            </a:xfrm>
            <a:prstGeom prst="rect">
              <a:avLst/>
            </a:prstGeom>
            <a:grpFill/>
            <a:ln w="2222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60" name="Rectangle 159"/>
            <p:cNvSpPr/>
            <p:nvPr/>
          </p:nvSpPr>
          <p:spPr>
            <a:xfrm>
              <a:off x="9397497" y="2652655"/>
              <a:ext cx="407406" cy="344031"/>
            </a:xfrm>
            <a:prstGeom prst="rect">
              <a:avLst/>
            </a:prstGeom>
            <a:grpFill/>
            <a:ln w="2222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61" name="Rectangle 160"/>
            <p:cNvSpPr/>
            <p:nvPr/>
          </p:nvSpPr>
          <p:spPr>
            <a:xfrm>
              <a:off x="9804903" y="2652654"/>
              <a:ext cx="407406" cy="344031"/>
            </a:xfrm>
            <a:prstGeom prst="rect">
              <a:avLst/>
            </a:prstGeom>
            <a:grpFill/>
            <a:ln w="2222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62" name="Rectangle 161"/>
            <p:cNvSpPr/>
            <p:nvPr/>
          </p:nvSpPr>
          <p:spPr>
            <a:xfrm>
              <a:off x="10212309" y="2652654"/>
              <a:ext cx="407406" cy="344031"/>
            </a:xfrm>
            <a:prstGeom prst="rect">
              <a:avLst/>
            </a:prstGeom>
            <a:grpFill/>
            <a:ln w="2222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63" name="Rectangle 162"/>
            <p:cNvSpPr/>
            <p:nvPr/>
          </p:nvSpPr>
          <p:spPr>
            <a:xfrm>
              <a:off x="10619715" y="2652654"/>
              <a:ext cx="407406" cy="344031"/>
            </a:xfrm>
            <a:prstGeom prst="rect">
              <a:avLst/>
            </a:prstGeom>
            <a:grpFill/>
            <a:ln w="2222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64" name="Rectangle 163"/>
            <p:cNvSpPr/>
            <p:nvPr/>
          </p:nvSpPr>
          <p:spPr>
            <a:xfrm>
              <a:off x="11027121" y="2652655"/>
              <a:ext cx="407406" cy="344031"/>
            </a:xfrm>
            <a:prstGeom prst="rect">
              <a:avLst/>
            </a:prstGeom>
            <a:grpFill/>
            <a:ln w="2222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65" name="Rectangle 164"/>
            <p:cNvSpPr/>
            <p:nvPr/>
          </p:nvSpPr>
          <p:spPr>
            <a:xfrm>
              <a:off x="8990091" y="929329"/>
              <a:ext cx="407406" cy="344031"/>
            </a:xfrm>
            <a:prstGeom prst="rect">
              <a:avLst/>
            </a:prstGeom>
            <a:grpFill/>
            <a:ln w="2222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66" name="Rectangle 165"/>
            <p:cNvSpPr/>
            <p:nvPr/>
          </p:nvSpPr>
          <p:spPr>
            <a:xfrm>
              <a:off x="9397497" y="929329"/>
              <a:ext cx="407406" cy="344031"/>
            </a:xfrm>
            <a:prstGeom prst="rect">
              <a:avLst/>
            </a:prstGeom>
            <a:grpFill/>
            <a:ln w="2222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67" name="Rectangle 166"/>
            <p:cNvSpPr/>
            <p:nvPr/>
          </p:nvSpPr>
          <p:spPr>
            <a:xfrm>
              <a:off x="9804903" y="929328"/>
              <a:ext cx="407406" cy="344031"/>
            </a:xfrm>
            <a:prstGeom prst="rect">
              <a:avLst/>
            </a:prstGeom>
            <a:grpFill/>
            <a:ln w="2222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68" name="Rectangle 167"/>
            <p:cNvSpPr/>
            <p:nvPr/>
          </p:nvSpPr>
          <p:spPr>
            <a:xfrm>
              <a:off x="10212309" y="929328"/>
              <a:ext cx="407406" cy="344031"/>
            </a:xfrm>
            <a:prstGeom prst="rect">
              <a:avLst/>
            </a:prstGeom>
            <a:grpFill/>
            <a:ln w="2222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69" name="Rectangle 168"/>
            <p:cNvSpPr/>
            <p:nvPr/>
          </p:nvSpPr>
          <p:spPr>
            <a:xfrm>
              <a:off x="10619715" y="929328"/>
              <a:ext cx="407406" cy="344031"/>
            </a:xfrm>
            <a:prstGeom prst="rect">
              <a:avLst/>
            </a:prstGeom>
            <a:grpFill/>
            <a:ln w="2222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70" name="Rectangle 169"/>
            <p:cNvSpPr/>
            <p:nvPr/>
          </p:nvSpPr>
          <p:spPr>
            <a:xfrm>
              <a:off x="11027121" y="929329"/>
              <a:ext cx="407406" cy="344031"/>
            </a:xfrm>
            <a:prstGeom prst="rect">
              <a:avLst/>
            </a:prstGeom>
            <a:grpFill/>
            <a:ln w="2222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93675"/>
            <a:ext cx="10515600" cy="777875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Century" panose="02040604050505020304" pitchFamily="18" charset="0"/>
              </a:rPr>
              <a:t>1 X 1 Convolutions</a:t>
            </a:r>
          </a:p>
        </p:txBody>
      </p:sp>
      <p:sp>
        <p:nvSpPr>
          <p:cNvPr id="4" name="Cube 3"/>
          <p:cNvSpPr/>
          <p:nvPr/>
        </p:nvSpPr>
        <p:spPr>
          <a:xfrm>
            <a:off x="928169" y="1798810"/>
            <a:ext cx="2245259" cy="2987643"/>
          </a:xfrm>
          <a:prstGeom prst="cube">
            <a:avLst>
              <a:gd name="adj" fmla="val 57267"/>
            </a:avLst>
          </a:prstGeom>
          <a:solidFill>
            <a:schemeClr val="accent4">
              <a:lumMod val="60000"/>
              <a:lumOff val="40000"/>
              <a:alpha val="71000"/>
            </a:schemeClr>
          </a:solidFill>
          <a:ln w="158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Cube 6"/>
          <p:cNvSpPr/>
          <p:nvPr/>
        </p:nvSpPr>
        <p:spPr>
          <a:xfrm>
            <a:off x="1383621" y="1803573"/>
            <a:ext cx="1785043" cy="1982709"/>
          </a:xfrm>
          <a:prstGeom prst="cube">
            <a:avLst>
              <a:gd name="adj" fmla="val 71616"/>
            </a:avLst>
          </a:prstGeom>
          <a:solidFill>
            <a:schemeClr val="accent6">
              <a:lumMod val="60000"/>
              <a:lumOff val="40000"/>
            </a:schemeClr>
          </a:solidFill>
          <a:ln w="15875">
            <a:solidFill>
              <a:srgbClr val="FF0000">
                <a:alpha val="4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Cube 8"/>
          <p:cNvSpPr/>
          <p:nvPr/>
        </p:nvSpPr>
        <p:spPr>
          <a:xfrm>
            <a:off x="3729557" y="2305049"/>
            <a:ext cx="1866900" cy="1971675"/>
          </a:xfrm>
          <a:prstGeom prst="cube">
            <a:avLst>
              <a:gd name="adj" fmla="val 73197"/>
            </a:avLst>
          </a:prstGeom>
          <a:solidFill>
            <a:schemeClr val="accent1">
              <a:lumMod val="60000"/>
              <a:lumOff val="40000"/>
            </a:schemeClr>
          </a:solidFill>
          <a:ln w="158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/>
          <p:cNvSpPr txBox="1"/>
          <p:nvPr/>
        </p:nvSpPr>
        <p:spPr>
          <a:xfrm>
            <a:off x="3318814" y="3140113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/>
              <a:t>*</a:t>
            </a:r>
            <a:endParaRPr lang="en-IN" dirty="0"/>
          </a:p>
        </p:txBody>
      </p:sp>
      <p:sp>
        <p:nvSpPr>
          <p:cNvPr id="11" name="TextBox 10"/>
          <p:cNvSpPr txBox="1"/>
          <p:nvPr/>
        </p:nvSpPr>
        <p:spPr>
          <a:xfrm>
            <a:off x="7580316" y="3519660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=</a:t>
            </a:r>
            <a:endParaRPr lang="en-IN" dirty="0"/>
          </a:p>
        </p:txBody>
      </p:sp>
      <p:sp>
        <p:nvSpPr>
          <p:cNvPr id="12" name="TextBox 11"/>
          <p:cNvSpPr txBox="1"/>
          <p:nvPr/>
        </p:nvSpPr>
        <p:spPr>
          <a:xfrm>
            <a:off x="5805667" y="426675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2155" y="3743832"/>
            <a:ext cx="3962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</a:rPr>
              <a:t>32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2778" y="4847008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483" y="4276724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</a:rP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86699" y="4092058"/>
            <a:ext cx="3962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</a:rPr>
              <a:t>32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325617" y="5213180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</a:rPr>
              <a:t>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45703" y="3173970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</a:rPr>
              <a:t>6 </a:t>
            </a:r>
          </a:p>
        </p:txBody>
      </p:sp>
      <p:sp>
        <p:nvSpPr>
          <p:cNvPr id="57" name="Cube 56"/>
          <p:cNvSpPr/>
          <p:nvPr/>
        </p:nvSpPr>
        <p:spPr>
          <a:xfrm>
            <a:off x="4360460" y="2320612"/>
            <a:ext cx="1866900" cy="1971675"/>
          </a:xfrm>
          <a:prstGeom prst="cube">
            <a:avLst>
              <a:gd name="adj" fmla="val 73197"/>
            </a:avLst>
          </a:prstGeom>
          <a:solidFill>
            <a:schemeClr val="tx2">
              <a:lumMod val="40000"/>
              <a:lumOff val="60000"/>
            </a:schemeClr>
          </a:solidFill>
          <a:ln w="158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8" name="Cube 57"/>
          <p:cNvSpPr/>
          <p:nvPr/>
        </p:nvSpPr>
        <p:spPr>
          <a:xfrm>
            <a:off x="5013282" y="2309526"/>
            <a:ext cx="1866900" cy="1971675"/>
          </a:xfrm>
          <a:prstGeom prst="cube">
            <a:avLst>
              <a:gd name="adj" fmla="val 73197"/>
            </a:avLst>
          </a:prstGeom>
          <a:solidFill>
            <a:schemeClr val="accent6">
              <a:lumMod val="60000"/>
              <a:lumOff val="40000"/>
            </a:schemeClr>
          </a:solidFill>
          <a:ln w="158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9" name="Cube 58"/>
          <p:cNvSpPr/>
          <p:nvPr/>
        </p:nvSpPr>
        <p:spPr>
          <a:xfrm>
            <a:off x="5690929" y="2320612"/>
            <a:ext cx="1866900" cy="1971675"/>
          </a:xfrm>
          <a:prstGeom prst="cube">
            <a:avLst>
              <a:gd name="adj" fmla="val 73197"/>
            </a:avLst>
          </a:prstGeom>
          <a:solidFill>
            <a:schemeClr val="accent2">
              <a:lumMod val="60000"/>
              <a:lumOff val="40000"/>
            </a:schemeClr>
          </a:solidFill>
          <a:ln w="158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/>
          <p:cNvSpPr txBox="1"/>
          <p:nvPr/>
        </p:nvSpPr>
        <p:spPr>
          <a:xfrm>
            <a:off x="5450810" y="378628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41360902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0162" y="136525"/>
            <a:ext cx="10515600" cy="958943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Century" panose="02040604050505020304" pitchFamily="18" charset="0"/>
              </a:rPr>
              <a:t>What does 1 X 1 Convolution do?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9368" y="1205593"/>
            <a:ext cx="1017018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 Narrow" panose="020B0606020202030204" pitchFamily="34" charset="0"/>
              </a:rPr>
              <a:t>A 1×1 convolution is used to </a:t>
            </a:r>
            <a:r>
              <a:rPr lang="en-US" sz="2400" dirty="0">
                <a:solidFill>
                  <a:srgbClr val="7030A0"/>
                </a:solidFill>
                <a:latin typeface="Arial Narrow" panose="020B0606020202030204" pitchFamily="34" charset="0"/>
              </a:rPr>
              <a:t>reduce the channel dimensionality </a:t>
            </a:r>
            <a:r>
              <a:rPr lang="en-US" sz="2400" dirty="0">
                <a:latin typeface="Arial Narrow" panose="020B0606020202030204" pitchFamily="34" charset="0"/>
              </a:rPr>
              <a:t>of feature maps without altering their spatial dimensions (height and width).</a:t>
            </a:r>
            <a:endParaRPr lang="en-IN" sz="2400" dirty="0">
              <a:latin typeface="Arial Narrow" panose="020B0606020202030204" pitchFamily="34" charset="0"/>
            </a:endParaRPr>
          </a:p>
        </p:txBody>
      </p:sp>
      <p:sp>
        <p:nvSpPr>
          <p:cNvPr id="6" name="Cube 5"/>
          <p:cNvSpPr/>
          <p:nvPr/>
        </p:nvSpPr>
        <p:spPr>
          <a:xfrm>
            <a:off x="2295243" y="2471595"/>
            <a:ext cx="2245259" cy="2987643"/>
          </a:xfrm>
          <a:prstGeom prst="cube">
            <a:avLst>
              <a:gd name="adj" fmla="val 57267"/>
            </a:avLst>
          </a:prstGeom>
          <a:solidFill>
            <a:schemeClr val="accent4">
              <a:lumMod val="60000"/>
              <a:lumOff val="40000"/>
              <a:alpha val="71000"/>
            </a:schemeClr>
          </a:solidFill>
          <a:ln w="158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Cube 6"/>
          <p:cNvSpPr/>
          <p:nvPr/>
        </p:nvSpPr>
        <p:spPr>
          <a:xfrm>
            <a:off x="7345568" y="2969536"/>
            <a:ext cx="1572095" cy="1810693"/>
          </a:xfrm>
          <a:prstGeom prst="cube">
            <a:avLst>
              <a:gd name="adj" fmla="val 45470"/>
            </a:avLst>
          </a:prstGeom>
          <a:solidFill>
            <a:schemeClr val="accent4">
              <a:lumMod val="60000"/>
              <a:lumOff val="40000"/>
              <a:alpha val="71000"/>
            </a:schemeClr>
          </a:solidFill>
          <a:ln w="158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ight Arrow 7"/>
          <p:cNvSpPr/>
          <p:nvPr/>
        </p:nvSpPr>
        <p:spPr>
          <a:xfrm>
            <a:off x="5140157" y="3693812"/>
            <a:ext cx="1584357" cy="181070"/>
          </a:xfrm>
          <a:prstGeom prst="rightArrow">
            <a:avLst/>
          </a:prstGeom>
          <a:solidFill>
            <a:schemeClr val="accent2">
              <a:lumMod val="75000"/>
            </a:schemeClr>
          </a:solidFill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5017885" y="2969536"/>
            <a:ext cx="18288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dirty="0">
                <a:solidFill>
                  <a:srgbClr val="7030A0"/>
                </a:solidFill>
                <a:latin typeface="Arial Narrow" panose="020B0606020202030204" pitchFamily="34" charset="0"/>
              </a:rPr>
              <a:t>CONV 1 X 1 X 192</a:t>
            </a:r>
          </a:p>
          <a:p>
            <a:pPr algn="ctr"/>
            <a:r>
              <a:rPr lang="en-IN" dirty="0">
                <a:solidFill>
                  <a:srgbClr val="7030A0"/>
                </a:solidFill>
                <a:latin typeface="Arial Narrow" panose="020B0606020202030204" pitchFamily="34" charset="0"/>
              </a:rPr>
              <a:t>32 Filters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53078" y="5459238"/>
            <a:ext cx="3962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</a:rPr>
              <a:t>28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6142" y="4670078"/>
            <a:ext cx="3962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</a:rPr>
              <a:t>28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0947" y="4882341"/>
            <a:ext cx="502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</a:rPr>
              <a:t>192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17391" y="4780229"/>
            <a:ext cx="3962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</a:rPr>
              <a:t>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0455" y="3991069"/>
            <a:ext cx="3962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</a:rPr>
              <a:t>28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21401" y="4300746"/>
            <a:ext cx="3962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</a:rPr>
              <a:t>32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22218" y="2236206"/>
            <a:ext cx="8935770" cy="401973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190683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2A899C-5AB2-49C3-B455-BD6D88386F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9407" y="1439089"/>
            <a:ext cx="11265817" cy="901839"/>
          </a:xfrm>
        </p:spPr>
        <p:txBody>
          <a:bodyPr>
            <a:noAutofit/>
          </a:bodyPr>
          <a:lstStyle/>
          <a:p>
            <a:pPr algn="just"/>
            <a:r>
              <a:rPr lang="en-GB" sz="1800" dirty="0" err="1">
                <a:latin typeface="Arial Narrow" panose="020B0606020202030204" pitchFamily="34" charset="0"/>
              </a:rPr>
              <a:t>GoogLeNet</a:t>
            </a:r>
            <a:r>
              <a:rPr lang="en-GB" sz="1800" dirty="0">
                <a:latin typeface="Arial Narrow" panose="020B0606020202030204" pitchFamily="34" charset="0"/>
              </a:rPr>
              <a:t> stacks </a:t>
            </a:r>
            <a:r>
              <a:rPr lang="en-GB" sz="1800" dirty="0">
                <a:solidFill>
                  <a:srgbClr val="00B0F0"/>
                </a:solidFill>
                <a:latin typeface="Arial Narrow" panose="020B0606020202030204" pitchFamily="34" charset="0"/>
              </a:rPr>
              <a:t>multiple Inception modules hierarchically</a:t>
            </a:r>
            <a:r>
              <a:rPr lang="en-GB" sz="1800" dirty="0">
                <a:latin typeface="Arial Narrow" panose="020B0606020202030204" pitchFamily="34" charset="0"/>
              </a:rPr>
              <a:t>, allowing the network to learn increasingly abstract and scale-invariant features. </a:t>
            </a:r>
          </a:p>
          <a:p>
            <a:pPr algn="just"/>
            <a:r>
              <a:rPr lang="en-GB" sz="1800" dirty="0">
                <a:latin typeface="Arial Narrow" panose="020B0606020202030204" pitchFamily="34" charset="0"/>
              </a:rPr>
              <a:t>To reduce computational cost, </a:t>
            </a:r>
            <a:r>
              <a:rPr lang="en-GB" sz="1800" dirty="0">
                <a:solidFill>
                  <a:srgbClr val="00B0F0"/>
                </a:solidFill>
                <a:latin typeface="Arial Narrow" panose="020B0606020202030204" pitchFamily="34" charset="0"/>
              </a:rPr>
              <a:t>1×1 convolutions </a:t>
            </a:r>
            <a:r>
              <a:rPr lang="en-GB" sz="1800" dirty="0">
                <a:latin typeface="Arial Narrow" panose="020B0606020202030204" pitchFamily="34" charset="0"/>
              </a:rPr>
              <a:t>are strategically used as </a:t>
            </a:r>
            <a:r>
              <a:rPr lang="en-GB" sz="1800" dirty="0">
                <a:solidFill>
                  <a:srgbClr val="00B0F0"/>
                </a:solidFill>
                <a:latin typeface="Arial Narrow" panose="020B0606020202030204" pitchFamily="34" charset="0"/>
              </a:rPr>
              <a:t>bottleneck layers </a:t>
            </a:r>
            <a:r>
              <a:rPr lang="en-GB" sz="1800" dirty="0">
                <a:latin typeface="Arial Narrow" panose="020B0606020202030204" pitchFamily="34" charset="0"/>
              </a:rPr>
              <a:t>before the computationally expensive 3×3 and 5×5 convolutions, significantly decreasing the number of input channels and reducing parameters and floating-point operations. </a:t>
            </a:r>
          </a:p>
          <a:p>
            <a:pPr algn="just"/>
            <a:r>
              <a:rPr lang="en-GB" sz="1800" dirty="0">
                <a:latin typeface="Arial Narrow" panose="020B0606020202030204" pitchFamily="34" charset="0"/>
              </a:rPr>
              <a:t>This design addresses the </a:t>
            </a:r>
            <a:r>
              <a:rPr lang="en-GB" sz="1800" dirty="0">
                <a:solidFill>
                  <a:srgbClr val="00B0F0"/>
                </a:solidFill>
                <a:latin typeface="Arial Narrow" panose="020B0606020202030204" pitchFamily="34" charset="0"/>
              </a:rPr>
              <a:t>trade-off between network width and computational complexity while preserving expressive capacity</a:t>
            </a:r>
            <a:r>
              <a:rPr lang="en-GB" sz="1800" dirty="0">
                <a:latin typeface="Arial Narrow" panose="020B0606020202030204" pitchFamily="34" charset="0"/>
              </a:rPr>
              <a:t>. </a:t>
            </a:r>
          </a:p>
          <a:p>
            <a:pPr algn="just"/>
            <a:endParaRPr lang="en-GB" sz="2000" dirty="0">
              <a:latin typeface="Arial Narrow" panose="020B060602020203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A55267B-6AD9-457E-99C7-FDF599BC9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407" y="367901"/>
            <a:ext cx="10515600" cy="886626"/>
          </a:xfrm>
        </p:spPr>
        <p:txBody>
          <a:bodyPr>
            <a:normAutofit fontScale="90000"/>
          </a:bodyPr>
          <a:lstStyle/>
          <a:p>
            <a:r>
              <a:rPr lang="en-IN" sz="4000" dirty="0">
                <a:latin typeface="Century" panose="02040604050505020304" pitchFamily="18" charset="0"/>
              </a:rPr>
              <a:t>Google Net</a:t>
            </a:r>
            <a:br>
              <a:rPr lang="en-IN" dirty="0">
                <a:latin typeface="Century" panose="02040604050505020304" pitchFamily="18" charset="0"/>
              </a:rPr>
            </a:br>
            <a:r>
              <a:rPr lang="en-IN" sz="2700" dirty="0">
                <a:solidFill>
                  <a:srgbClr val="DE76E6"/>
                </a:solidFill>
                <a:latin typeface="Century" panose="02040604050505020304" pitchFamily="18" charset="0"/>
              </a:rPr>
              <a:t>Inception Module</a:t>
            </a:r>
            <a:endParaRPr lang="en-IN" sz="2400" dirty="0">
              <a:solidFill>
                <a:srgbClr val="DE76E6"/>
              </a:solidFill>
              <a:latin typeface="Century" panose="02040604050505020304" pitchFamily="18" charset="0"/>
            </a:endParaRPr>
          </a:p>
        </p:txBody>
      </p:sp>
      <p:pic>
        <p:nvPicPr>
          <p:cNvPr id="5" name="Picture 2" descr="https://miro.medium.com/v2/resize:fit:700/0*q5eMDjUHKqEyo7qY.png">
            <a:extLst>
              <a:ext uri="{FF2B5EF4-FFF2-40B4-BE49-F238E27FC236}">
                <a16:creationId xmlns:a16="http://schemas.microsoft.com/office/drawing/2014/main" id="{DD963E93-25E1-4E22-B1B8-0FA01B16A9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6330" y="3638327"/>
            <a:ext cx="6667500" cy="2752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https://miro.medium.com/v2/resize:fit:700/0*cNu65t6O5thbHBYe.png">
            <a:extLst>
              <a:ext uri="{FF2B5EF4-FFF2-40B4-BE49-F238E27FC236}">
                <a16:creationId xmlns:a16="http://schemas.microsoft.com/office/drawing/2014/main" id="{9CEF28B6-3DC7-495C-8A85-0CE59C57FB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1935" y="4227410"/>
            <a:ext cx="3418036" cy="17578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Freeform 7">
            <a:extLst>
              <a:ext uri="{FF2B5EF4-FFF2-40B4-BE49-F238E27FC236}">
                <a16:creationId xmlns:a16="http://schemas.microsoft.com/office/drawing/2014/main" id="{4DB14810-605C-431A-8F7D-B438157E8297}"/>
              </a:ext>
            </a:extLst>
          </p:cNvPr>
          <p:cNvSpPr/>
          <p:nvPr/>
        </p:nvSpPr>
        <p:spPr>
          <a:xfrm>
            <a:off x="2745972" y="3415485"/>
            <a:ext cx="5120640" cy="541020"/>
          </a:xfrm>
          <a:custGeom>
            <a:avLst/>
            <a:gdLst>
              <a:gd name="connsiteX0" fmla="*/ 0 w 5120640"/>
              <a:gd name="connsiteY0" fmla="*/ 541020 h 541020"/>
              <a:gd name="connsiteX1" fmla="*/ 1402080 w 5120640"/>
              <a:gd name="connsiteY1" fmla="*/ 114300 h 541020"/>
              <a:gd name="connsiteX2" fmla="*/ 2720340 w 5120640"/>
              <a:gd name="connsiteY2" fmla="*/ 0 h 541020"/>
              <a:gd name="connsiteX3" fmla="*/ 4640580 w 5120640"/>
              <a:gd name="connsiteY3" fmla="*/ 114300 h 541020"/>
              <a:gd name="connsiteX4" fmla="*/ 5120640 w 5120640"/>
              <a:gd name="connsiteY4" fmla="*/ 518160 h 541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20640" h="541020">
                <a:moveTo>
                  <a:pt x="0" y="541020"/>
                </a:moveTo>
                <a:cubicBezTo>
                  <a:pt x="474345" y="372745"/>
                  <a:pt x="948690" y="204470"/>
                  <a:pt x="1402080" y="114300"/>
                </a:cubicBezTo>
                <a:cubicBezTo>
                  <a:pt x="1855470" y="24130"/>
                  <a:pt x="2180590" y="0"/>
                  <a:pt x="2720340" y="0"/>
                </a:cubicBezTo>
                <a:cubicBezTo>
                  <a:pt x="3260090" y="0"/>
                  <a:pt x="4240530" y="27940"/>
                  <a:pt x="4640580" y="114300"/>
                </a:cubicBezTo>
                <a:cubicBezTo>
                  <a:pt x="5040630" y="200660"/>
                  <a:pt x="5080635" y="359410"/>
                  <a:pt x="5120640" y="518160"/>
                </a:cubicBezTo>
              </a:path>
            </a:pathLst>
          </a:custGeom>
          <a:noFill/>
          <a:ln w="19050">
            <a:solidFill>
              <a:schemeClr val="accent4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972C6B1-9661-4414-A67D-A76000A5410D}"/>
              </a:ext>
            </a:extLst>
          </p:cNvPr>
          <p:cNvSpPr/>
          <p:nvPr/>
        </p:nvSpPr>
        <p:spPr>
          <a:xfrm>
            <a:off x="7444509" y="3921998"/>
            <a:ext cx="823191" cy="1105695"/>
          </a:xfrm>
          <a:prstGeom prst="ellipse">
            <a:avLst/>
          </a:prstGeom>
          <a:noFill/>
          <a:ln w="2222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D944C67-CF55-44A3-8D56-A466DF6E5909}"/>
              </a:ext>
            </a:extLst>
          </p:cNvPr>
          <p:cNvSpPr/>
          <p:nvPr/>
        </p:nvSpPr>
        <p:spPr>
          <a:xfrm>
            <a:off x="788092" y="3962509"/>
            <a:ext cx="3855720" cy="2293620"/>
          </a:xfrm>
          <a:prstGeom prst="ellipse">
            <a:avLst/>
          </a:prstGeom>
          <a:solidFill>
            <a:schemeClr val="accent4">
              <a:lumMod val="60000"/>
              <a:lumOff val="40000"/>
              <a:alpha val="12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9DCEB7D-835F-46F9-B23C-8836A4BEA75B}"/>
              </a:ext>
            </a:extLst>
          </p:cNvPr>
          <p:cNvSpPr txBox="1"/>
          <p:nvPr/>
        </p:nvSpPr>
        <p:spPr>
          <a:xfrm>
            <a:off x="5413246" y="6532336"/>
            <a:ext cx="668041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>
                <a:latin typeface="Arial Narrow" panose="020B0606020202030204" pitchFamily="34" charset="0"/>
              </a:rPr>
              <a:t>Image Source : </a:t>
            </a:r>
            <a:r>
              <a:rPr lang="en-IN" sz="1400" dirty="0">
                <a:latin typeface="Arial Narrow" panose="020B0606020202030204" pitchFamily="34" charset="0"/>
                <a:hlinkClick r:id="rId4"/>
              </a:rPr>
              <a:t>https://miro.medium.com/v2/resize:fit:720/format:webp/0*q5eMDjUHKqEyo7qY.png</a:t>
            </a:r>
            <a:r>
              <a:rPr lang="en-IN" sz="1400" dirty="0">
                <a:latin typeface="Arial Narrow" panose="020B060602020203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4467767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820DB8-D2F0-4AF3-9894-BF04969357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4979" y="1536189"/>
            <a:ext cx="10247722" cy="1738012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en-GB" sz="2300" dirty="0">
                <a:latin typeface="Arial Narrow" panose="020B0606020202030204" pitchFamily="34" charset="0"/>
              </a:rPr>
              <a:t>Additionally, the architecture incorporates </a:t>
            </a:r>
            <a:r>
              <a:rPr lang="en-GB" sz="2300" dirty="0">
                <a:solidFill>
                  <a:srgbClr val="00B0F0"/>
                </a:solidFill>
                <a:latin typeface="Arial Narrow" panose="020B0606020202030204" pitchFamily="34" charset="0"/>
              </a:rPr>
              <a:t>auxiliary classifiers </a:t>
            </a:r>
            <a:r>
              <a:rPr lang="en-GB" sz="2300" dirty="0">
                <a:latin typeface="Arial Narrow" panose="020B0606020202030204" pitchFamily="34" charset="0"/>
              </a:rPr>
              <a:t>during training to improve gradient propagation and mitigate the vanishing gradient problem. </a:t>
            </a:r>
          </a:p>
          <a:p>
            <a:pPr algn="just"/>
            <a:endParaRPr lang="en-GB" sz="2300" dirty="0">
              <a:latin typeface="Arial Narrow" panose="020B0606020202030204" pitchFamily="34" charset="0"/>
            </a:endParaRPr>
          </a:p>
          <a:p>
            <a:pPr algn="just"/>
            <a:r>
              <a:rPr lang="en-GB" sz="2300" dirty="0">
                <a:latin typeface="Arial Narrow" panose="020B0606020202030204" pitchFamily="34" charset="0"/>
              </a:rPr>
              <a:t>As a result, </a:t>
            </a:r>
            <a:r>
              <a:rPr lang="en-GB" sz="2300" dirty="0" err="1">
                <a:latin typeface="Arial Narrow" panose="020B0606020202030204" pitchFamily="34" charset="0"/>
              </a:rPr>
              <a:t>GoogLeNet</a:t>
            </a:r>
            <a:r>
              <a:rPr lang="en-GB" sz="2300" dirty="0">
                <a:latin typeface="Arial Narrow" panose="020B0606020202030204" pitchFamily="34" charset="0"/>
              </a:rPr>
              <a:t> achieved </a:t>
            </a:r>
            <a:r>
              <a:rPr lang="en-GB" sz="2300" dirty="0">
                <a:solidFill>
                  <a:srgbClr val="00B0F0"/>
                </a:solidFill>
                <a:latin typeface="Arial Narrow" panose="020B0606020202030204" pitchFamily="34" charset="0"/>
              </a:rPr>
              <a:t>state-of-the-art performance on the ImageNet benchmark </a:t>
            </a:r>
            <a:r>
              <a:rPr lang="en-GB" sz="2300" dirty="0">
                <a:latin typeface="Arial Narrow" panose="020B0606020202030204" pitchFamily="34" charset="0"/>
              </a:rPr>
              <a:t>with </a:t>
            </a:r>
            <a:r>
              <a:rPr lang="en-GB" sz="2300" dirty="0">
                <a:solidFill>
                  <a:srgbClr val="00B0F0"/>
                </a:solidFill>
                <a:latin typeface="Arial Narrow" panose="020B0606020202030204" pitchFamily="34" charset="0"/>
              </a:rPr>
              <a:t>substantially fewer parameters </a:t>
            </a:r>
            <a:r>
              <a:rPr lang="en-GB" sz="2300" dirty="0">
                <a:latin typeface="Arial Narrow" panose="020B0606020202030204" pitchFamily="34" charset="0"/>
              </a:rPr>
              <a:t>than earlier deep convolutional networks, demonstrating that </a:t>
            </a:r>
            <a:r>
              <a:rPr lang="en-GB" sz="2300" dirty="0">
                <a:solidFill>
                  <a:srgbClr val="00B0F0"/>
                </a:solidFill>
                <a:latin typeface="Arial Narrow" panose="020B0606020202030204" pitchFamily="34" charset="0"/>
              </a:rPr>
              <a:t>sparse approximations</a:t>
            </a:r>
            <a:r>
              <a:rPr lang="en-GB" sz="2300" dirty="0">
                <a:latin typeface="Arial Narrow" panose="020B0606020202030204" pitchFamily="34" charset="0"/>
              </a:rPr>
              <a:t> can be efficiently implemented using dense convolutional operations.</a:t>
            </a:r>
          </a:p>
          <a:p>
            <a:endParaRPr lang="en-GB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C735864-32A2-4555-9BF7-1CD58AF203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0341"/>
            <a:ext cx="5058296" cy="1325563"/>
          </a:xfrm>
        </p:spPr>
        <p:txBody>
          <a:bodyPr/>
          <a:lstStyle/>
          <a:p>
            <a:r>
              <a:rPr lang="en-IN" sz="3600" dirty="0">
                <a:latin typeface="Century" panose="02040604050505020304" pitchFamily="18" charset="0"/>
              </a:rPr>
              <a:t>Google Net </a:t>
            </a:r>
            <a:br>
              <a:rPr lang="en-IN" dirty="0">
                <a:latin typeface="Century" panose="02040604050505020304" pitchFamily="18" charset="0"/>
              </a:rPr>
            </a:br>
            <a:r>
              <a:rPr lang="en-IN" sz="2800" dirty="0" err="1">
                <a:solidFill>
                  <a:srgbClr val="DE76E6"/>
                </a:solidFill>
                <a:latin typeface="Century" panose="02040604050505020304" pitchFamily="18" charset="0"/>
              </a:rPr>
              <a:t>Szegedy</a:t>
            </a:r>
            <a:r>
              <a:rPr lang="en-IN" sz="2800" dirty="0">
                <a:solidFill>
                  <a:srgbClr val="DE76E6"/>
                </a:solidFill>
                <a:latin typeface="Century" panose="02040604050505020304" pitchFamily="18" charset="0"/>
              </a:rPr>
              <a:t> et. al. 2014</a:t>
            </a:r>
            <a:endParaRPr lang="en-IN" dirty="0">
              <a:solidFill>
                <a:srgbClr val="DE76E6"/>
              </a:solidFill>
              <a:latin typeface="Century" panose="02040604050505020304" pitchFamily="18" charset="0"/>
            </a:endParaRPr>
          </a:p>
        </p:txBody>
      </p:sp>
      <p:pic>
        <p:nvPicPr>
          <p:cNvPr id="5" name="Picture 2" descr="https://miro.medium.com/v2/resize:fit:700/0*q5eMDjUHKqEyo7qY.png">
            <a:extLst>
              <a:ext uri="{FF2B5EF4-FFF2-40B4-BE49-F238E27FC236}">
                <a16:creationId xmlns:a16="http://schemas.microsoft.com/office/drawing/2014/main" id="{9389DE05-C0D1-471D-BA9F-2036B098F6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6330" y="3638327"/>
            <a:ext cx="6667500" cy="2752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https://miro.medium.com/v2/resize:fit:700/0*cNu65t6O5thbHBYe.png">
            <a:extLst>
              <a:ext uri="{FF2B5EF4-FFF2-40B4-BE49-F238E27FC236}">
                <a16:creationId xmlns:a16="http://schemas.microsoft.com/office/drawing/2014/main" id="{B86947C1-138E-4402-A298-34C364A19D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1935" y="4227410"/>
            <a:ext cx="3418036" cy="17578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Freeform 7">
            <a:extLst>
              <a:ext uri="{FF2B5EF4-FFF2-40B4-BE49-F238E27FC236}">
                <a16:creationId xmlns:a16="http://schemas.microsoft.com/office/drawing/2014/main" id="{1C804182-F71D-41A8-8222-AECA547A2BB6}"/>
              </a:ext>
            </a:extLst>
          </p:cNvPr>
          <p:cNvSpPr/>
          <p:nvPr/>
        </p:nvSpPr>
        <p:spPr>
          <a:xfrm>
            <a:off x="2745972" y="3415485"/>
            <a:ext cx="5120640" cy="541020"/>
          </a:xfrm>
          <a:custGeom>
            <a:avLst/>
            <a:gdLst>
              <a:gd name="connsiteX0" fmla="*/ 0 w 5120640"/>
              <a:gd name="connsiteY0" fmla="*/ 541020 h 541020"/>
              <a:gd name="connsiteX1" fmla="*/ 1402080 w 5120640"/>
              <a:gd name="connsiteY1" fmla="*/ 114300 h 541020"/>
              <a:gd name="connsiteX2" fmla="*/ 2720340 w 5120640"/>
              <a:gd name="connsiteY2" fmla="*/ 0 h 541020"/>
              <a:gd name="connsiteX3" fmla="*/ 4640580 w 5120640"/>
              <a:gd name="connsiteY3" fmla="*/ 114300 h 541020"/>
              <a:gd name="connsiteX4" fmla="*/ 5120640 w 5120640"/>
              <a:gd name="connsiteY4" fmla="*/ 518160 h 541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20640" h="541020">
                <a:moveTo>
                  <a:pt x="0" y="541020"/>
                </a:moveTo>
                <a:cubicBezTo>
                  <a:pt x="474345" y="372745"/>
                  <a:pt x="948690" y="204470"/>
                  <a:pt x="1402080" y="114300"/>
                </a:cubicBezTo>
                <a:cubicBezTo>
                  <a:pt x="1855470" y="24130"/>
                  <a:pt x="2180590" y="0"/>
                  <a:pt x="2720340" y="0"/>
                </a:cubicBezTo>
                <a:cubicBezTo>
                  <a:pt x="3260090" y="0"/>
                  <a:pt x="4240530" y="27940"/>
                  <a:pt x="4640580" y="114300"/>
                </a:cubicBezTo>
                <a:cubicBezTo>
                  <a:pt x="5040630" y="200660"/>
                  <a:pt x="5080635" y="359410"/>
                  <a:pt x="5120640" y="518160"/>
                </a:cubicBezTo>
              </a:path>
            </a:pathLst>
          </a:custGeom>
          <a:noFill/>
          <a:ln w="19050">
            <a:solidFill>
              <a:schemeClr val="accent4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212930D-584D-4E51-B0C8-04D02C5EFEDC}"/>
              </a:ext>
            </a:extLst>
          </p:cNvPr>
          <p:cNvSpPr/>
          <p:nvPr/>
        </p:nvSpPr>
        <p:spPr>
          <a:xfrm>
            <a:off x="7444509" y="3921998"/>
            <a:ext cx="823191" cy="1105695"/>
          </a:xfrm>
          <a:prstGeom prst="ellipse">
            <a:avLst/>
          </a:prstGeom>
          <a:noFill/>
          <a:ln w="2222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11F7710-921E-40F9-AB45-588C03851A4A}"/>
              </a:ext>
            </a:extLst>
          </p:cNvPr>
          <p:cNvSpPr/>
          <p:nvPr/>
        </p:nvSpPr>
        <p:spPr>
          <a:xfrm>
            <a:off x="788092" y="3962509"/>
            <a:ext cx="3855720" cy="2293620"/>
          </a:xfrm>
          <a:prstGeom prst="ellipse">
            <a:avLst/>
          </a:prstGeom>
          <a:solidFill>
            <a:schemeClr val="accent4">
              <a:lumMod val="60000"/>
              <a:lumOff val="40000"/>
              <a:alpha val="12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9A2D831-ABD0-4ADB-B1E8-D217F908CC72}"/>
              </a:ext>
            </a:extLst>
          </p:cNvPr>
          <p:cNvSpPr txBox="1"/>
          <p:nvPr/>
        </p:nvSpPr>
        <p:spPr>
          <a:xfrm>
            <a:off x="5413246" y="6532336"/>
            <a:ext cx="668041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>
                <a:latin typeface="Arial Narrow" panose="020B0606020202030204" pitchFamily="34" charset="0"/>
              </a:rPr>
              <a:t>Image Source : </a:t>
            </a:r>
            <a:r>
              <a:rPr lang="en-IN" sz="1400" dirty="0">
                <a:latin typeface="Arial Narrow" panose="020B0606020202030204" pitchFamily="34" charset="0"/>
                <a:hlinkClick r:id="rId4"/>
              </a:rPr>
              <a:t>https://miro.medium.com/v2/resize:fit:720/format:webp/0*q5eMDjUHKqEyo7qY.png</a:t>
            </a:r>
            <a:r>
              <a:rPr lang="en-IN" sz="1400" dirty="0">
                <a:latin typeface="Arial Narrow" panose="020B060602020203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7454234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Oval 31"/>
          <p:cNvSpPr/>
          <p:nvPr/>
        </p:nvSpPr>
        <p:spPr>
          <a:xfrm>
            <a:off x="10536125" y="3647339"/>
            <a:ext cx="1363448" cy="890096"/>
          </a:xfrm>
          <a:prstGeom prst="ellipse">
            <a:avLst/>
          </a:prstGeom>
          <a:solidFill>
            <a:schemeClr val="accent6">
              <a:lumMod val="40000"/>
              <a:lumOff val="60000"/>
              <a:alpha val="39000"/>
            </a:schemeClr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8291739" y="835416"/>
            <a:ext cx="1544459" cy="1077333"/>
          </a:xfrm>
          <a:prstGeom prst="ellipse">
            <a:avLst/>
          </a:prstGeom>
          <a:solidFill>
            <a:srgbClr val="FF0000">
              <a:alpha val="39000"/>
            </a:srgbClr>
          </a:solidFill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Oval 17"/>
          <p:cNvSpPr/>
          <p:nvPr/>
        </p:nvSpPr>
        <p:spPr>
          <a:xfrm>
            <a:off x="8361139" y="4925374"/>
            <a:ext cx="1544459" cy="971741"/>
          </a:xfrm>
          <a:prstGeom prst="ellipse">
            <a:avLst/>
          </a:prstGeom>
          <a:solidFill>
            <a:srgbClr val="FF0000">
              <a:alpha val="39000"/>
            </a:srgbClr>
          </a:solidFill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Oval 18"/>
          <p:cNvSpPr/>
          <p:nvPr/>
        </p:nvSpPr>
        <p:spPr>
          <a:xfrm>
            <a:off x="6083899" y="2496682"/>
            <a:ext cx="1285955" cy="823865"/>
          </a:xfrm>
          <a:prstGeom prst="ellipse">
            <a:avLst/>
          </a:prstGeom>
          <a:solidFill>
            <a:schemeClr val="accent4">
              <a:lumMod val="60000"/>
              <a:lumOff val="40000"/>
              <a:alpha val="39000"/>
            </a:schemeClr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7531769" y="2496682"/>
            <a:ext cx="1285955" cy="823865"/>
          </a:xfrm>
          <a:prstGeom prst="ellipse">
            <a:avLst/>
          </a:prstGeom>
          <a:solidFill>
            <a:schemeClr val="accent4">
              <a:lumMod val="60000"/>
              <a:lumOff val="40000"/>
              <a:alpha val="39000"/>
            </a:schemeClr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10575666" y="2496682"/>
            <a:ext cx="1285955" cy="823865"/>
          </a:xfrm>
          <a:prstGeom prst="ellipse">
            <a:avLst/>
          </a:prstGeom>
          <a:solidFill>
            <a:schemeClr val="accent4">
              <a:lumMod val="60000"/>
              <a:lumOff val="40000"/>
              <a:alpha val="39000"/>
            </a:schemeClr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9095067" y="2496682"/>
            <a:ext cx="1223730" cy="823865"/>
          </a:xfrm>
          <a:prstGeom prst="ellipse">
            <a:avLst/>
          </a:prstGeom>
          <a:solidFill>
            <a:schemeClr val="accent4">
              <a:lumMod val="60000"/>
              <a:lumOff val="40000"/>
              <a:alpha val="39000"/>
            </a:schemeClr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7505700" y="3638550"/>
            <a:ext cx="1331175" cy="878472"/>
          </a:xfrm>
          <a:prstGeom prst="ellipse">
            <a:avLst/>
          </a:prstGeom>
          <a:solidFill>
            <a:schemeClr val="accent4">
              <a:lumMod val="60000"/>
              <a:lumOff val="40000"/>
              <a:alpha val="39000"/>
            </a:schemeClr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9063969" y="3639759"/>
            <a:ext cx="1285955" cy="840316"/>
          </a:xfrm>
          <a:prstGeom prst="ellipse">
            <a:avLst/>
          </a:prstGeom>
          <a:solidFill>
            <a:schemeClr val="accent4">
              <a:lumMod val="60000"/>
              <a:lumOff val="40000"/>
              <a:alpha val="39000"/>
            </a:schemeClr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9134" y="172634"/>
            <a:ext cx="5058296" cy="1325563"/>
          </a:xfrm>
        </p:spPr>
        <p:txBody>
          <a:bodyPr/>
          <a:lstStyle/>
          <a:p>
            <a:r>
              <a:rPr lang="en-IN" sz="3600" dirty="0">
                <a:latin typeface="Century" panose="02040604050505020304" pitchFamily="18" charset="0"/>
              </a:rPr>
              <a:t>Google Net </a:t>
            </a:r>
            <a:br>
              <a:rPr lang="en-IN" dirty="0">
                <a:latin typeface="Century" panose="02040604050505020304" pitchFamily="18" charset="0"/>
              </a:rPr>
            </a:br>
            <a:r>
              <a:rPr lang="en-IN" sz="2800" dirty="0" err="1">
                <a:solidFill>
                  <a:srgbClr val="DE76E6"/>
                </a:solidFill>
                <a:latin typeface="Century" panose="02040604050505020304" pitchFamily="18" charset="0"/>
              </a:rPr>
              <a:t>Szegedy</a:t>
            </a:r>
            <a:r>
              <a:rPr lang="en-IN" sz="2800" dirty="0">
                <a:solidFill>
                  <a:srgbClr val="DE76E6"/>
                </a:solidFill>
                <a:latin typeface="Century" panose="02040604050505020304" pitchFamily="18" charset="0"/>
              </a:rPr>
              <a:t> et. al. 2014</a:t>
            </a:r>
            <a:endParaRPr lang="en-IN" dirty="0">
              <a:solidFill>
                <a:srgbClr val="DE76E6"/>
              </a:solidFill>
              <a:latin typeface="Century" panose="020406040505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0980" y="1450550"/>
            <a:ext cx="5251011" cy="4375999"/>
          </a:xfrm>
        </p:spPr>
        <p:txBody>
          <a:bodyPr>
            <a:noAutofit/>
          </a:bodyPr>
          <a:lstStyle/>
          <a:p>
            <a:pPr algn="just">
              <a:lnSpc>
                <a:spcPct val="120000"/>
              </a:lnSpc>
            </a:pPr>
            <a:r>
              <a:rPr lang="en-US" sz="2000" dirty="0">
                <a:latin typeface="Arial Narrow" panose="020B0606020202030204" pitchFamily="34" charset="0"/>
              </a:rPr>
              <a:t>The same parallel branches as in the naïve Inception module are used, but with </a:t>
            </a:r>
            <a:r>
              <a:rPr lang="en-US" sz="2000" dirty="0">
                <a:solidFill>
                  <a:srgbClr val="00B0F0"/>
                </a:solidFill>
                <a:latin typeface="Arial Narrow" panose="020B0606020202030204" pitchFamily="34" charset="0"/>
              </a:rPr>
              <a:t>1×1 convolutions (64 filters)</a:t>
            </a:r>
            <a:r>
              <a:rPr lang="en-US" sz="2000" dirty="0">
                <a:latin typeface="Arial Narrow" panose="020B0606020202030204" pitchFamily="34" charset="0"/>
              </a:rPr>
              <a:t> added as bottleneck layers before the computationally expensive convolutions.</a:t>
            </a:r>
          </a:p>
          <a:p>
            <a:pPr algn="just">
              <a:lnSpc>
                <a:spcPct val="120000"/>
              </a:lnSpc>
              <a:buNone/>
            </a:pPr>
            <a:r>
              <a:rPr lang="en-US" sz="2000" dirty="0">
                <a:solidFill>
                  <a:srgbClr val="00B0F0"/>
                </a:solidFill>
                <a:latin typeface="Arial Narrow" panose="020B0606020202030204" pitchFamily="34" charset="0"/>
              </a:rPr>
              <a:t>Computational Cost Analysis</a:t>
            </a:r>
          </a:p>
          <a:p>
            <a:pPr algn="just">
              <a:lnSpc>
                <a:spcPct val="120000"/>
              </a:lnSpc>
              <a:buNone/>
            </a:pPr>
            <a:r>
              <a:rPr lang="en-US" sz="2000" dirty="0" err="1">
                <a:solidFill>
                  <a:srgbClr val="00B0F0"/>
                </a:solidFill>
                <a:latin typeface="Arial Narrow" panose="020B0606020202030204" pitchFamily="34" charset="0"/>
              </a:rPr>
              <a:t>Conv</a:t>
            </a:r>
            <a:r>
              <a:rPr lang="en-US" sz="2000" dirty="0">
                <a:solidFill>
                  <a:srgbClr val="00B0F0"/>
                </a:solidFill>
                <a:latin typeface="Arial Narrow" panose="020B0606020202030204" pitchFamily="34" charset="0"/>
              </a:rPr>
              <a:t> Ops Calculation:</a:t>
            </a:r>
          </a:p>
          <a:p>
            <a:pPr lvl="1" algn="just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Arial Narrow" panose="020B0606020202030204" pitchFamily="34" charset="0"/>
              </a:rPr>
              <a:t>[1x1 </a:t>
            </a:r>
            <a:r>
              <a:rPr lang="en-US" altLang="en-US" sz="2000" dirty="0" err="1">
                <a:latin typeface="Arial Narrow" panose="020B0606020202030204" pitchFamily="34" charset="0"/>
              </a:rPr>
              <a:t>conv</a:t>
            </a:r>
            <a:r>
              <a:rPr lang="en-US" altLang="en-US" sz="2000" dirty="0">
                <a:latin typeface="Arial Narrow" panose="020B0606020202030204" pitchFamily="34" charset="0"/>
              </a:rPr>
              <a:t>, 64] 28x28x64x1x1x256</a:t>
            </a:r>
          </a:p>
          <a:p>
            <a:pPr lvl="1" algn="just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Arial Narrow" panose="020B0606020202030204" pitchFamily="34" charset="0"/>
              </a:rPr>
              <a:t>[1x1 </a:t>
            </a:r>
            <a:r>
              <a:rPr lang="en-US" altLang="en-US" sz="2000" dirty="0" err="1">
                <a:latin typeface="Arial Narrow" panose="020B0606020202030204" pitchFamily="34" charset="0"/>
              </a:rPr>
              <a:t>conv</a:t>
            </a:r>
            <a:r>
              <a:rPr lang="en-US" altLang="en-US" sz="2000" dirty="0">
                <a:latin typeface="Arial Narrow" panose="020B0606020202030204" pitchFamily="34" charset="0"/>
              </a:rPr>
              <a:t>, 64] 28x28x64x1x1x256</a:t>
            </a:r>
          </a:p>
          <a:p>
            <a:pPr lvl="1" algn="just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Arial Narrow" panose="020B0606020202030204" pitchFamily="34" charset="0"/>
              </a:rPr>
              <a:t>[1x1 </a:t>
            </a:r>
            <a:r>
              <a:rPr lang="en-US" altLang="en-US" sz="2000" dirty="0" err="1">
                <a:latin typeface="Arial Narrow" panose="020B0606020202030204" pitchFamily="34" charset="0"/>
              </a:rPr>
              <a:t>conv</a:t>
            </a:r>
            <a:r>
              <a:rPr lang="en-US" altLang="en-US" sz="2000" dirty="0">
                <a:latin typeface="Arial Narrow" panose="020B0606020202030204" pitchFamily="34" charset="0"/>
              </a:rPr>
              <a:t>, 128] 28x28x128x1x1x256</a:t>
            </a:r>
          </a:p>
          <a:p>
            <a:pPr lvl="1" algn="just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Arial Narrow" panose="020B0606020202030204" pitchFamily="34" charset="0"/>
              </a:rPr>
              <a:t>[3x3 </a:t>
            </a:r>
            <a:r>
              <a:rPr lang="en-US" altLang="en-US" sz="2000" dirty="0" err="1">
                <a:latin typeface="Arial Narrow" panose="020B0606020202030204" pitchFamily="34" charset="0"/>
              </a:rPr>
              <a:t>conv</a:t>
            </a:r>
            <a:r>
              <a:rPr lang="en-US" altLang="en-US" sz="2000" dirty="0">
                <a:latin typeface="Arial Narrow" panose="020B0606020202030204" pitchFamily="34" charset="0"/>
              </a:rPr>
              <a:t>, 192] 28x28x192x3x3x64</a:t>
            </a:r>
          </a:p>
          <a:p>
            <a:pPr lvl="1" algn="just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Arial Narrow" panose="020B0606020202030204" pitchFamily="34" charset="0"/>
              </a:rPr>
              <a:t>[5x5 </a:t>
            </a:r>
            <a:r>
              <a:rPr lang="en-US" altLang="en-US" sz="2000" dirty="0" err="1">
                <a:latin typeface="Arial Narrow" panose="020B0606020202030204" pitchFamily="34" charset="0"/>
              </a:rPr>
              <a:t>conv</a:t>
            </a:r>
            <a:r>
              <a:rPr lang="en-US" altLang="en-US" sz="2000" dirty="0">
                <a:latin typeface="Arial Narrow" panose="020B0606020202030204" pitchFamily="34" charset="0"/>
              </a:rPr>
              <a:t>, 96] 28x28x96x5x5x64</a:t>
            </a:r>
          </a:p>
          <a:p>
            <a:pPr lvl="1" algn="just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Arial Narrow" panose="020B0606020202030204" pitchFamily="34" charset="0"/>
              </a:rPr>
              <a:t>[1x1 </a:t>
            </a:r>
            <a:r>
              <a:rPr lang="en-US" altLang="en-US" sz="2000" dirty="0" err="1">
                <a:latin typeface="Arial Narrow" panose="020B0606020202030204" pitchFamily="34" charset="0"/>
              </a:rPr>
              <a:t>conv</a:t>
            </a:r>
            <a:r>
              <a:rPr lang="en-US" altLang="en-US" sz="2000" dirty="0">
                <a:latin typeface="Arial Narrow" panose="020B0606020202030204" pitchFamily="34" charset="0"/>
              </a:rPr>
              <a:t>, 64] 28x28x64x1x1x256</a:t>
            </a:r>
          </a:p>
          <a:p>
            <a:pPr marL="0" lvl="0" indent="0" algn="just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>
                <a:solidFill>
                  <a:srgbClr val="00B0F0"/>
                </a:solidFill>
                <a:latin typeface="Arial Narrow" panose="020B0606020202030204" pitchFamily="34" charset="0"/>
              </a:rPr>
              <a:t>Total: 358M ops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61950" y="953333"/>
            <a:ext cx="14093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dirty="0">
                <a:solidFill>
                  <a:srgbClr val="002060"/>
                </a:solidFill>
                <a:latin typeface="Arial Narrow" panose="020B0606020202030204" pitchFamily="34" charset="0"/>
              </a:rPr>
              <a:t>Filter </a:t>
            </a:r>
          </a:p>
          <a:p>
            <a:pPr algn="ctr"/>
            <a:r>
              <a:rPr lang="en-IN" dirty="0">
                <a:solidFill>
                  <a:srgbClr val="002060"/>
                </a:solidFill>
                <a:latin typeface="Arial Narrow" panose="020B0606020202030204" pitchFamily="34" charset="0"/>
              </a:rPr>
              <a:t>Concatenation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1154" y="2587217"/>
            <a:ext cx="11614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dirty="0">
                <a:solidFill>
                  <a:srgbClr val="00B0F0"/>
                </a:solidFill>
                <a:latin typeface="Arial Narrow" panose="020B0606020202030204" pitchFamily="34" charset="0"/>
              </a:rPr>
              <a:t>1 X 1</a:t>
            </a:r>
          </a:p>
          <a:p>
            <a:pPr algn="ctr"/>
            <a:r>
              <a:rPr lang="en-IN" dirty="0">
                <a:solidFill>
                  <a:srgbClr val="00B0F0"/>
                </a:solidFill>
                <a:latin typeface="Arial Narrow" panose="020B0606020202030204" pitchFamily="34" charset="0"/>
              </a:rPr>
              <a:t>Conv. (128)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78060" y="2587216"/>
            <a:ext cx="11614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dirty="0">
                <a:solidFill>
                  <a:srgbClr val="00B0F0"/>
                </a:solidFill>
                <a:latin typeface="Arial Narrow" panose="020B0606020202030204" pitchFamily="34" charset="0"/>
              </a:rPr>
              <a:t>3 X 3</a:t>
            </a:r>
          </a:p>
          <a:p>
            <a:pPr algn="ctr"/>
            <a:r>
              <a:rPr lang="en-IN" dirty="0">
                <a:solidFill>
                  <a:srgbClr val="00B0F0"/>
                </a:solidFill>
                <a:latin typeface="Arial Narrow" panose="020B0606020202030204" pitchFamily="34" charset="0"/>
              </a:rPr>
              <a:t>Conv. (192)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7983" y="2587213"/>
            <a:ext cx="105567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dirty="0">
                <a:solidFill>
                  <a:srgbClr val="00B0F0"/>
                </a:solidFill>
                <a:latin typeface="Arial Narrow" panose="020B0606020202030204" pitchFamily="34" charset="0"/>
              </a:rPr>
              <a:t>5 X 5</a:t>
            </a:r>
          </a:p>
          <a:p>
            <a:pPr algn="ctr"/>
            <a:r>
              <a:rPr lang="en-IN" dirty="0">
                <a:solidFill>
                  <a:srgbClr val="00B0F0"/>
                </a:solidFill>
                <a:latin typeface="Arial Narrow" panose="020B0606020202030204" pitchFamily="34" charset="0"/>
              </a:rPr>
              <a:t>Conv. (96)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0807" y="2587212"/>
            <a:ext cx="105567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dirty="0">
                <a:solidFill>
                  <a:srgbClr val="00B0F0"/>
                </a:solidFill>
                <a:latin typeface="Arial Narrow" panose="020B0606020202030204" pitchFamily="34" charset="0"/>
              </a:rPr>
              <a:t>1 X 1</a:t>
            </a:r>
          </a:p>
          <a:p>
            <a:pPr algn="ctr"/>
            <a:r>
              <a:rPr lang="en-IN" dirty="0">
                <a:solidFill>
                  <a:srgbClr val="00B0F0"/>
                </a:solidFill>
                <a:latin typeface="Arial Narrow" panose="020B0606020202030204" pitchFamily="34" charset="0"/>
              </a:rPr>
              <a:t>Conv. (64)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4444" y="3753090"/>
            <a:ext cx="105567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dirty="0">
                <a:solidFill>
                  <a:srgbClr val="00B0F0"/>
                </a:solidFill>
                <a:latin typeface="Arial Narrow" panose="020B0606020202030204" pitchFamily="34" charset="0"/>
              </a:rPr>
              <a:t>1 X 1</a:t>
            </a:r>
          </a:p>
          <a:p>
            <a:pPr algn="ctr"/>
            <a:r>
              <a:rPr lang="en-IN" dirty="0">
                <a:solidFill>
                  <a:srgbClr val="00B0F0"/>
                </a:solidFill>
                <a:latin typeface="Arial Narrow" panose="020B0606020202030204" pitchFamily="34" charset="0"/>
              </a:rPr>
              <a:t>Conv. (64)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5728" y="3716140"/>
            <a:ext cx="105567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dirty="0">
                <a:solidFill>
                  <a:srgbClr val="00B0F0"/>
                </a:solidFill>
                <a:latin typeface="Arial Narrow" panose="020B0606020202030204" pitchFamily="34" charset="0"/>
              </a:rPr>
              <a:t>1 X 1</a:t>
            </a:r>
          </a:p>
          <a:p>
            <a:pPr algn="ctr"/>
            <a:r>
              <a:rPr lang="en-IN" dirty="0">
                <a:solidFill>
                  <a:srgbClr val="00B0F0"/>
                </a:solidFill>
                <a:latin typeface="Arial Narrow" panose="020B0606020202030204" pitchFamily="34" charset="0"/>
              </a:rPr>
              <a:t>Conv. (64)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90467" y="3679729"/>
            <a:ext cx="12282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dirty="0">
                <a:solidFill>
                  <a:srgbClr val="00B0F0"/>
                </a:solidFill>
                <a:latin typeface="Arial Narrow" panose="020B0606020202030204" pitchFamily="34" charset="0"/>
              </a:rPr>
              <a:t>3 X 3</a:t>
            </a:r>
          </a:p>
          <a:p>
            <a:pPr algn="ctr"/>
            <a:r>
              <a:rPr lang="en-IN" dirty="0">
                <a:solidFill>
                  <a:srgbClr val="00B0F0"/>
                </a:solidFill>
                <a:latin typeface="Arial Narrow" panose="020B0606020202030204" pitchFamily="34" charset="0"/>
              </a:rPr>
              <a:t>Max Pooling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1312" y="5226579"/>
            <a:ext cx="1449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dirty="0">
                <a:solidFill>
                  <a:srgbClr val="002060"/>
                </a:solidFill>
                <a:latin typeface="Arial Narrow" panose="020B0606020202030204" pitchFamily="34" charset="0"/>
              </a:rPr>
              <a:t>Previous Layer</a:t>
            </a:r>
          </a:p>
        </p:txBody>
      </p:sp>
      <p:cxnSp>
        <p:nvCxnSpPr>
          <p:cNvPr id="36" name="Straight Arrow Connector 35"/>
          <p:cNvCxnSpPr>
            <a:stCxn id="19" idx="0"/>
            <a:endCxn id="17" idx="4"/>
          </p:cNvCxnSpPr>
          <p:nvPr/>
        </p:nvCxnSpPr>
        <p:spPr>
          <a:xfrm flipV="1">
            <a:off x="6726877" y="1912749"/>
            <a:ext cx="2337092" cy="583933"/>
          </a:xfrm>
          <a:prstGeom prst="straightConnector1">
            <a:avLst/>
          </a:prstGeom>
          <a:ln w="158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21" idx="0"/>
            <a:endCxn id="17" idx="4"/>
          </p:cNvCxnSpPr>
          <p:nvPr/>
        </p:nvCxnSpPr>
        <p:spPr>
          <a:xfrm flipV="1">
            <a:off x="8174747" y="1912749"/>
            <a:ext cx="889222" cy="583933"/>
          </a:xfrm>
          <a:prstGeom prst="straightConnector1">
            <a:avLst/>
          </a:prstGeom>
          <a:ln w="158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>
            <a:stCxn id="23" idx="0"/>
            <a:endCxn id="17" idx="4"/>
          </p:cNvCxnSpPr>
          <p:nvPr/>
        </p:nvCxnSpPr>
        <p:spPr>
          <a:xfrm flipH="1" flipV="1">
            <a:off x="9063969" y="1912749"/>
            <a:ext cx="642963" cy="583933"/>
          </a:xfrm>
          <a:prstGeom prst="straightConnector1">
            <a:avLst/>
          </a:prstGeom>
          <a:ln w="158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22" idx="0"/>
            <a:endCxn id="17" idx="4"/>
          </p:cNvCxnSpPr>
          <p:nvPr/>
        </p:nvCxnSpPr>
        <p:spPr>
          <a:xfrm flipH="1" flipV="1">
            <a:off x="9063969" y="1912749"/>
            <a:ext cx="2154675" cy="583933"/>
          </a:xfrm>
          <a:prstGeom prst="straightConnector1">
            <a:avLst/>
          </a:prstGeom>
          <a:ln w="158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>
            <a:stCxn id="26" idx="0"/>
            <a:endCxn id="21" idx="4"/>
          </p:cNvCxnSpPr>
          <p:nvPr/>
        </p:nvCxnSpPr>
        <p:spPr>
          <a:xfrm flipV="1">
            <a:off x="8171288" y="3320547"/>
            <a:ext cx="3459" cy="318003"/>
          </a:xfrm>
          <a:prstGeom prst="straightConnector1">
            <a:avLst/>
          </a:prstGeom>
          <a:ln w="158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25" idx="0"/>
            <a:endCxn id="23" idx="4"/>
          </p:cNvCxnSpPr>
          <p:nvPr/>
        </p:nvCxnSpPr>
        <p:spPr>
          <a:xfrm flipH="1" flipV="1">
            <a:off x="9706932" y="3320547"/>
            <a:ext cx="15" cy="319212"/>
          </a:xfrm>
          <a:prstGeom prst="straightConnector1">
            <a:avLst/>
          </a:prstGeom>
          <a:ln w="158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>
            <a:stCxn id="32" idx="0"/>
            <a:endCxn id="22" idx="4"/>
          </p:cNvCxnSpPr>
          <p:nvPr/>
        </p:nvCxnSpPr>
        <p:spPr>
          <a:xfrm flipV="1">
            <a:off x="11217849" y="3320547"/>
            <a:ext cx="795" cy="326792"/>
          </a:xfrm>
          <a:prstGeom prst="straightConnector1">
            <a:avLst/>
          </a:prstGeom>
          <a:ln w="158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Elbow Connector 50"/>
          <p:cNvCxnSpPr>
            <a:stCxn id="19" idx="4"/>
            <a:endCxn id="15" idx="1"/>
          </p:cNvCxnSpPr>
          <p:nvPr/>
        </p:nvCxnSpPr>
        <p:spPr>
          <a:xfrm rot="16200000" flipH="1">
            <a:off x="6523745" y="3523678"/>
            <a:ext cx="2090698" cy="1684435"/>
          </a:xfrm>
          <a:prstGeom prst="bentConnector2">
            <a:avLst/>
          </a:prstGeom>
          <a:ln w="15875">
            <a:solidFill>
              <a:srgbClr val="00B05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>
            <a:stCxn id="18" idx="0"/>
            <a:endCxn id="26" idx="4"/>
          </p:cNvCxnSpPr>
          <p:nvPr/>
        </p:nvCxnSpPr>
        <p:spPr>
          <a:xfrm flipH="1" flipV="1">
            <a:off x="8171288" y="4517022"/>
            <a:ext cx="962081" cy="408352"/>
          </a:xfrm>
          <a:prstGeom prst="straightConnector1">
            <a:avLst/>
          </a:prstGeom>
          <a:ln w="158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>
            <a:stCxn id="18" idx="0"/>
            <a:endCxn id="25" idx="4"/>
          </p:cNvCxnSpPr>
          <p:nvPr/>
        </p:nvCxnSpPr>
        <p:spPr>
          <a:xfrm flipV="1">
            <a:off x="9133369" y="4480075"/>
            <a:ext cx="573578" cy="445299"/>
          </a:xfrm>
          <a:prstGeom prst="straightConnector1">
            <a:avLst/>
          </a:prstGeom>
          <a:ln w="158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>
            <a:stCxn id="18" idx="0"/>
            <a:endCxn id="32" idx="4"/>
          </p:cNvCxnSpPr>
          <p:nvPr/>
        </p:nvCxnSpPr>
        <p:spPr>
          <a:xfrm flipV="1">
            <a:off x="9133369" y="4537435"/>
            <a:ext cx="2084480" cy="387939"/>
          </a:xfrm>
          <a:prstGeom prst="straightConnector1">
            <a:avLst/>
          </a:prstGeom>
          <a:ln w="158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Rectangle 57"/>
          <p:cNvSpPr/>
          <p:nvPr/>
        </p:nvSpPr>
        <p:spPr>
          <a:xfrm>
            <a:off x="5957180" y="557419"/>
            <a:ext cx="6015745" cy="5707579"/>
          </a:xfrm>
          <a:prstGeom prst="rect">
            <a:avLst/>
          </a:prstGeom>
          <a:noFill/>
          <a:ln w="222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7" name="TextBox 66"/>
          <p:cNvSpPr txBox="1"/>
          <p:nvPr/>
        </p:nvSpPr>
        <p:spPr>
          <a:xfrm>
            <a:off x="6143061" y="2204715"/>
            <a:ext cx="12458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b="1" dirty="0">
                <a:solidFill>
                  <a:srgbClr val="7030A0"/>
                </a:solidFill>
                <a:latin typeface="Arial Narrow" panose="020B0606020202030204" pitchFamily="34" charset="0"/>
              </a:rPr>
              <a:t>28 X 28 X 128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626723" y="2204715"/>
            <a:ext cx="12458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b="1" dirty="0">
                <a:solidFill>
                  <a:srgbClr val="7030A0"/>
                </a:solidFill>
                <a:latin typeface="Arial Narrow" panose="020B0606020202030204" pitchFamily="34" charset="0"/>
              </a:rPr>
              <a:t>28 X 28 X 192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620746" y="2232463"/>
            <a:ext cx="11528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b="1" dirty="0">
                <a:solidFill>
                  <a:srgbClr val="7030A0"/>
                </a:solidFill>
                <a:latin typeface="Arial Narrow" panose="020B0606020202030204" pitchFamily="34" charset="0"/>
              </a:rPr>
              <a:t>28 X 28 X 64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097125" y="2231961"/>
            <a:ext cx="11528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b="1" dirty="0">
                <a:solidFill>
                  <a:srgbClr val="7030A0"/>
                </a:solidFill>
                <a:latin typeface="Arial Narrow" panose="020B0606020202030204" pitchFamily="34" charset="0"/>
              </a:rPr>
              <a:t>28 X 28 X 96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677568" y="3362645"/>
            <a:ext cx="12458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b="1" dirty="0">
                <a:solidFill>
                  <a:srgbClr val="7030A0"/>
                </a:solidFill>
                <a:latin typeface="Arial Narrow" panose="020B0606020202030204" pitchFamily="34" charset="0"/>
              </a:rPr>
              <a:t>28 X 28 X 256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623874" y="3339664"/>
            <a:ext cx="11528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b="1" dirty="0">
                <a:solidFill>
                  <a:srgbClr val="7030A0"/>
                </a:solidFill>
                <a:latin typeface="Arial Narrow" panose="020B0606020202030204" pitchFamily="34" charset="0"/>
              </a:rPr>
              <a:t>28 X 28 X 64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136034" y="3360602"/>
            <a:ext cx="11528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b="1" dirty="0">
                <a:solidFill>
                  <a:srgbClr val="7030A0"/>
                </a:solidFill>
                <a:latin typeface="Arial Narrow" panose="020B0606020202030204" pitchFamily="34" charset="0"/>
              </a:rPr>
              <a:t>28 X 28 X 64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441041" y="496862"/>
            <a:ext cx="12458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b="1" dirty="0">
                <a:solidFill>
                  <a:srgbClr val="7030A0"/>
                </a:solidFill>
                <a:latin typeface="Arial Narrow" panose="020B0606020202030204" pitchFamily="34" charset="0"/>
              </a:rPr>
              <a:t>28 X 28 X 480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905598" y="5225825"/>
            <a:ext cx="180530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b="1" dirty="0">
                <a:solidFill>
                  <a:srgbClr val="7030A0"/>
                </a:solidFill>
                <a:latin typeface="Arial Narrow" panose="020B0606020202030204" pitchFamily="34" charset="0"/>
              </a:rPr>
              <a:t>Input : 28 X 28 X 256</a:t>
            </a:r>
          </a:p>
        </p:txBody>
      </p:sp>
    </p:spTree>
    <p:extLst>
      <p:ext uri="{BB962C8B-B14F-4D97-AF65-F5344CB8AC3E}">
        <p14:creationId xmlns:p14="http://schemas.microsoft.com/office/powerpoint/2010/main" val="405105083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Rounded Rectangle 187"/>
          <p:cNvSpPr/>
          <p:nvPr/>
        </p:nvSpPr>
        <p:spPr>
          <a:xfrm>
            <a:off x="199176" y="712237"/>
            <a:ext cx="5563449" cy="5640938"/>
          </a:xfrm>
          <a:prstGeom prst="roundRect">
            <a:avLst/>
          </a:prstGeom>
          <a:solidFill>
            <a:schemeClr val="bg2">
              <a:lumMod val="75000"/>
              <a:alpha val="30000"/>
            </a:schemeClr>
          </a:solidFill>
          <a:ln w="2222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8139" y="0"/>
            <a:ext cx="10846806" cy="712237"/>
          </a:xfrm>
        </p:spPr>
        <p:txBody>
          <a:bodyPr>
            <a:normAutofit/>
          </a:bodyPr>
          <a:lstStyle/>
          <a:p>
            <a:r>
              <a:rPr lang="en-IN" sz="3200" dirty="0">
                <a:latin typeface="Century" panose="02040604050505020304" pitchFamily="18" charset="0"/>
              </a:rPr>
              <a:t>How 1 X 1 </a:t>
            </a:r>
            <a:r>
              <a:rPr lang="en-IN" sz="3200" dirty="0" err="1">
                <a:latin typeface="Century" panose="02040604050505020304" pitchFamily="18" charset="0"/>
              </a:rPr>
              <a:t>Conv</a:t>
            </a:r>
            <a:r>
              <a:rPr lang="en-IN" sz="3200" dirty="0">
                <a:latin typeface="Century" panose="02040604050505020304" pitchFamily="18" charset="0"/>
              </a:rPr>
              <a:t>, 64 filter Bottlenecks reduce complexity </a:t>
            </a:r>
          </a:p>
        </p:txBody>
      </p:sp>
      <p:sp>
        <p:nvSpPr>
          <p:cNvPr id="5" name="Oval 4"/>
          <p:cNvSpPr/>
          <p:nvPr/>
        </p:nvSpPr>
        <p:spPr>
          <a:xfrm>
            <a:off x="3939284" y="4902645"/>
            <a:ext cx="909505" cy="485609"/>
          </a:xfrm>
          <a:prstGeom prst="ellipse">
            <a:avLst/>
          </a:prstGeom>
          <a:solidFill>
            <a:schemeClr val="accent6">
              <a:lumMod val="40000"/>
              <a:lumOff val="60000"/>
              <a:alpha val="39000"/>
            </a:schemeClr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/>
          </a:p>
        </p:txBody>
      </p:sp>
      <p:sp>
        <p:nvSpPr>
          <p:cNvPr id="6" name="Oval 5"/>
          <p:cNvSpPr/>
          <p:nvPr/>
        </p:nvSpPr>
        <p:spPr>
          <a:xfrm>
            <a:off x="2444786" y="2952163"/>
            <a:ext cx="1064937" cy="524634"/>
          </a:xfrm>
          <a:prstGeom prst="ellipse">
            <a:avLst/>
          </a:prstGeom>
          <a:solidFill>
            <a:srgbClr val="FF0000">
              <a:alpha val="39000"/>
            </a:srgbClr>
          </a:solidFill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/>
          </a:p>
        </p:txBody>
      </p:sp>
      <p:sp>
        <p:nvSpPr>
          <p:cNvPr id="7" name="Oval 6"/>
          <p:cNvSpPr/>
          <p:nvPr/>
        </p:nvSpPr>
        <p:spPr>
          <a:xfrm>
            <a:off x="2260251" y="5714441"/>
            <a:ext cx="1333486" cy="555018"/>
          </a:xfrm>
          <a:prstGeom prst="ellipse">
            <a:avLst/>
          </a:prstGeom>
          <a:solidFill>
            <a:srgbClr val="FF0000">
              <a:alpha val="39000"/>
            </a:srgbClr>
          </a:solidFill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/>
          </a:p>
        </p:txBody>
      </p:sp>
      <p:sp>
        <p:nvSpPr>
          <p:cNvPr id="8" name="Oval 7"/>
          <p:cNvSpPr/>
          <p:nvPr/>
        </p:nvSpPr>
        <p:spPr>
          <a:xfrm>
            <a:off x="889805" y="4047068"/>
            <a:ext cx="951732" cy="478148"/>
          </a:xfrm>
          <a:prstGeom prst="ellipse">
            <a:avLst/>
          </a:prstGeom>
          <a:solidFill>
            <a:schemeClr val="accent4">
              <a:lumMod val="60000"/>
              <a:lumOff val="40000"/>
              <a:alpha val="39000"/>
            </a:schemeClr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/>
          </a:p>
        </p:txBody>
      </p:sp>
      <p:sp>
        <p:nvSpPr>
          <p:cNvPr id="9" name="Oval 8"/>
          <p:cNvSpPr/>
          <p:nvPr/>
        </p:nvSpPr>
        <p:spPr>
          <a:xfrm>
            <a:off x="1880218" y="4039033"/>
            <a:ext cx="938402" cy="487217"/>
          </a:xfrm>
          <a:prstGeom prst="ellipse">
            <a:avLst/>
          </a:prstGeom>
          <a:solidFill>
            <a:schemeClr val="accent4">
              <a:lumMod val="60000"/>
              <a:lumOff val="40000"/>
              <a:alpha val="39000"/>
            </a:schemeClr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/>
          </a:p>
        </p:txBody>
      </p:sp>
      <p:sp>
        <p:nvSpPr>
          <p:cNvPr id="10" name="Oval 9"/>
          <p:cNvSpPr/>
          <p:nvPr/>
        </p:nvSpPr>
        <p:spPr>
          <a:xfrm>
            <a:off x="3923103" y="4037179"/>
            <a:ext cx="925685" cy="497695"/>
          </a:xfrm>
          <a:prstGeom prst="ellipse">
            <a:avLst/>
          </a:prstGeom>
          <a:solidFill>
            <a:schemeClr val="accent4">
              <a:lumMod val="60000"/>
              <a:lumOff val="40000"/>
              <a:alpha val="39000"/>
            </a:schemeClr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/>
          </a:p>
        </p:txBody>
      </p:sp>
      <p:sp>
        <p:nvSpPr>
          <p:cNvPr id="11" name="Oval 10"/>
          <p:cNvSpPr/>
          <p:nvPr/>
        </p:nvSpPr>
        <p:spPr>
          <a:xfrm>
            <a:off x="2959052" y="4037178"/>
            <a:ext cx="851515" cy="488037"/>
          </a:xfrm>
          <a:prstGeom prst="ellipse">
            <a:avLst/>
          </a:prstGeom>
          <a:solidFill>
            <a:schemeClr val="accent4">
              <a:lumMod val="60000"/>
              <a:lumOff val="40000"/>
              <a:alpha val="39000"/>
            </a:schemeClr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/>
          </a:p>
        </p:txBody>
      </p:sp>
      <p:sp>
        <p:nvSpPr>
          <p:cNvPr id="12" name="Oval 11"/>
          <p:cNvSpPr/>
          <p:nvPr/>
        </p:nvSpPr>
        <p:spPr>
          <a:xfrm>
            <a:off x="1886025" y="4894298"/>
            <a:ext cx="935496" cy="474808"/>
          </a:xfrm>
          <a:prstGeom prst="ellipse">
            <a:avLst/>
          </a:prstGeom>
          <a:solidFill>
            <a:schemeClr val="accent4">
              <a:lumMod val="60000"/>
              <a:lumOff val="40000"/>
              <a:alpha val="39000"/>
            </a:schemeClr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/>
          </a:p>
        </p:txBody>
      </p:sp>
      <p:sp>
        <p:nvSpPr>
          <p:cNvPr id="13" name="Oval 12"/>
          <p:cNvSpPr/>
          <p:nvPr/>
        </p:nvSpPr>
        <p:spPr>
          <a:xfrm>
            <a:off x="2929651" y="4871900"/>
            <a:ext cx="938341" cy="509412"/>
          </a:xfrm>
          <a:prstGeom prst="ellipse">
            <a:avLst/>
          </a:prstGeom>
          <a:solidFill>
            <a:schemeClr val="accent4">
              <a:lumMod val="60000"/>
              <a:lumOff val="40000"/>
              <a:alpha val="39000"/>
            </a:schemeClr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/>
          </a:p>
        </p:txBody>
      </p:sp>
      <p:sp>
        <p:nvSpPr>
          <p:cNvPr id="14" name="TextBox 13"/>
          <p:cNvSpPr txBox="1"/>
          <p:nvPr/>
        </p:nvSpPr>
        <p:spPr>
          <a:xfrm>
            <a:off x="2437203" y="2934057"/>
            <a:ext cx="10926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200" dirty="0">
                <a:solidFill>
                  <a:srgbClr val="002060"/>
                </a:solidFill>
              </a:rPr>
              <a:t>Filter </a:t>
            </a:r>
          </a:p>
          <a:p>
            <a:pPr algn="ctr"/>
            <a:r>
              <a:rPr lang="en-IN" sz="1200" dirty="0">
                <a:solidFill>
                  <a:srgbClr val="002060"/>
                </a:solidFill>
              </a:rPr>
              <a:t>Concatenation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2454" y="4037180"/>
            <a:ext cx="8844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200" dirty="0">
                <a:solidFill>
                  <a:srgbClr val="00B0F0"/>
                </a:solidFill>
              </a:rPr>
              <a:t>1 X 1</a:t>
            </a:r>
          </a:p>
          <a:p>
            <a:pPr algn="ctr"/>
            <a:r>
              <a:rPr lang="en-IN" sz="1200" dirty="0">
                <a:solidFill>
                  <a:srgbClr val="00B0F0"/>
                </a:solidFill>
              </a:rPr>
              <a:t>Conv. (128)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7215" y="4047068"/>
            <a:ext cx="8844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200" dirty="0">
                <a:solidFill>
                  <a:srgbClr val="00B0F0"/>
                </a:solidFill>
              </a:rPr>
              <a:t>3 X 3</a:t>
            </a:r>
          </a:p>
          <a:p>
            <a:pPr algn="ctr"/>
            <a:r>
              <a:rPr lang="en-IN" sz="1200" dirty="0">
                <a:solidFill>
                  <a:srgbClr val="00B0F0"/>
                </a:solidFill>
              </a:rPr>
              <a:t>Conv. (192)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56779" y="4028344"/>
            <a:ext cx="8058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200" dirty="0">
                <a:solidFill>
                  <a:srgbClr val="00B0F0"/>
                </a:solidFill>
              </a:rPr>
              <a:t>5 X 5</a:t>
            </a:r>
          </a:p>
          <a:p>
            <a:pPr algn="ctr"/>
            <a:r>
              <a:rPr lang="en-IN" sz="1200" dirty="0">
                <a:solidFill>
                  <a:srgbClr val="00B0F0"/>
                </a:solidFill>
              </a:rPr>
              <a:t>Conv. (96)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75599" y="4037180"/>
            <a:ext cx="8058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200" dirty="0">
                <a:solidFill>
                  <a:srgbClr val="00B0F0"/>
                </a:solidFill>
              </a:rPr>
              <a:t>1 X 1</a:t>
            </a:r>
          </a:p>
          <a:p>
            <a:pPr algn="ctr"/>
            <a:r>
              <a:rPr lang="en-IN" sz="1200" dirty="0">
                <a:solidFill>
                  <a:srgbClr val="00B0F0"/>
                </a:solidFill>
              </a:rPr>
              <a:t>Conv. (64)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74350" y="4910593"/>
            <a:ext cx="8058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200" dirty="0">
                <a:solidFill>
                  <a:srgbClr val="00B0F0"/>
                </a:solidFill>
              </a:rPr>
              <a:t>1 X 1</a:t>
            </a:r>
          </a:p>
          <a:p>
            <a:pPr algn="ctr"/>
            <a:r>
              <a:rPr lang="en-IN" sz="1200" dirty="0">
                <a:solidFill>
                  <a:srgbClr val="00B0F0"/>
                </a:solidFill>
              </a:rPr>
              <a:t>Conv. (64)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32253" y="4889335"/>
            <a:ext cx="9357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dirty="0">
                <a:solidFill>
                  <a:srgbClr val="00B0F0"/>
                </a:solidFill>
              </a:rPr>
              <a:t>1 X 1</a:t>
            </a:r>
          </a:p>
          <a:p>
            <a:pPr algn="ctr"/>
            <a:r>
              <a:rPr lang="en-IN" sz="1200" dirty="0">
                <a:solidFill>
                  <a:srgbClr val="00B0F0"/>
                </a:solidFill>
              </a:rPr>
              <a:t>Conv. (64)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27344" y="4865878"/>
            <a:ext cx="95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200" dirty="0">
                <a:solidFill>
                  <a:srgbClr val="00B0F0"/>
                </a:solidFill>
              </a:rPr>
              <a:t>3 X 3</a:t>
            </a:r>
          </a:p>
          <a:p>
            <a:pPr algn="ctr"/>
            <a:r>
              <a:rPr lang="en-IN" sz="1200" dirty="0">
                <a:solidFill>
                  <a:srgbClr val="00B0F0"/>
                </a:solidFill>
              </a:rPr>
              <a:t>Max Pooling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83992" y="5816632"/>
            <a:ext cx="10860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200" dirty="0">
                <a:solidFill>
                  <a:srgbClr val="002060"/>
                </a:solidFill>
              </a:rPr>
              <a:t>Previous Layer</a:t>
            </a:r>
          </a:p>
        </p:txBody>
      </p:sp>
      <p:cxnSp>
        <p:nvCxnSpPr>
          <p:cNvPr id="23" name="Straight Arrow Connector 22"/>
          <p:cNvCxnSpPr>
            <a:stCxn id="8" idx="0"/>
            <a:endCxn id="6" idx="4"/>
          </p:cNvCxnSpPr>
          <p:nvPr/>
        </p:nvCxnSpPr>
        <p:spPr>
          <a:xfrm flipV="1">
            <a:off x="1365671" y="3476797"/>
            <a:ext cx="1611584" cy="570271"/>
          </a:xfrm>
          <a:prstGeom prst="straightConnector1">
            <a:avLst/>
          </a:prstGeom>
          <a:ln w="158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9" idx="0"/>
            <a:endCxn id="6" idx="4"/>
          </p:cNvCxnSpPr>
          <p:nvPr/>
        </p:nvCxnSpPr>
        <p:spPr>
          <a:xfrm flipV="1">
            <a:off x="2349419" y="3476797"/>
            <a:ext cx="627836" cy="562236"/>
          </a:xfrm>
          <a:prstGeom prst="straightConnector1">
            <a:avLst/>
          </a:prstGeom>
          <a:ln w="158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11" idx="0"/>
            <a:endCxn id="6" idx="4"/>
          </p:cNvCxnSpPr>
          <p:nvPr/>
        </p:nvCxnSpPr>
        <p:spPr>
          <a:xfrm flipH="1" flipV="1">
            <a:off x="2977255" y="3476797"/>
            <a:ext cx="407555" cy="560381"/>
          </a:xfrm>
          <a:prstGeom prst="straightConnector1">
            <a:avLst/>
          </a:prstGeom>
          <a:ln w="158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10" idx="0"/>
            <a:endCxn id="6" idx="4"/>
          </p:cNvCxnSpPr>
          <p:nvPr/>
        </p:nvCxnSpPr>
        <p:spPr>
          <a:xfrm flipH="1" flipV="1">
            <a:off x="2977255" y="3476797"/>
            <a:ext cx="1408691" cy="560382"/>
          </a:xfrm>
          <a:prstGeom prst="straightConnector1">
            <a:avLst/>
          </a:prstGeom>
          <a:ln w="158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stCxn id="12" idx="0"/>
            <a:endCxn id="9" idx="4"/>
          </p:cNvCxnSpPr>
          <p:nvPr/>
        </p:nvCxnSpPr>
        <p:spPr>
          <a:xfrm flipH="1" flipV="1">
            <a:off x="2349419" y="4526250"/>
            <a:ext cx="4354" cy="368048"/>
          </a:xfrm>
          <a:prstGeom prst="straightConnector1">
            <a:avLst/>
          </a:prstGeom>
          <a:ln w="158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13" idx="0"/>
            <a:endCxn id="11" idx="4"/>
          </p:cNvCxnSpPr>
          <p:nvPr/>
        </p:nvCxnSpPr>
        <p:spPr>
          <a:xfrm flipH="1" flipV="1">
            <a:off x="3384810" y="4525215"/>
            <a:ext cx="14012" cy="346685"/>
          </a:xfrm>
          <a:prstGeom prst="straightConnector1">
            <a:avLst/>
          </a:prstGeom>
          <a:ln w="158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5" idx="0"/>
            <a:endCxn id="10" idx="4"/>
          </p:cNvCxnSpPr>
          <p:nvPr/>
        </p:nvCxnSpPr>
        <p:spPr>
          <a:xfrm flipH="1" flipV="1">
            <a:off x="4385946" y="4534874"/>
            <a:ext cx="8091" cy="367771"/>
          </a:xfrm>
          <a:prstGeom prst="straightConnector1">
            <a:avLst/>
          </a:prstGeom>
          <a:ln w="158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Elbow Connector 29"/>
          <p:cNvCxnSpPr>
            <a:stCxn id="8" idx="4"/>
            <a:endCxn id="7" idx="2"/>
          </p:cNvCxnSpPr>
          <p:nvPr/>
        </p:nvCxnSpPr>
        <p:spPr>
          <a:xfrm rot="16200000" flipH="1">
            <a:off x="1079594" y="4811293"/>
            <a:ext cx="1466734" cy="894580"/>
          </a:xfrm>
          <a:prstGeom prst="bentConnector2">
            <a:avLst/>
          </a:prstGeom>
          <a:ln w="15875">
            <a:solidFill>
              <a:srgbClr val="00B05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endCxn id="12" idx="4"/>
          </p:cNvCxnSpPr>
          <p:nvPr/>
        </p:nvCxnSpPr>
        <p:spPr>
          <a:xfrm flipH="1" flipV="1">
            <a:off x="2353773" y="5369106"/>
            <a:ext cx="600380" cy="363441"/>
          </a:xfrm>
          <a:prstGeom prst="straightConnector1">
            <a:avLst/>
          </a:prstGeom>
          <a:ln w="158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7" idx="0"/>
            <a:endCxn id="13" idx="4"/>
          </p:cNvCxnSpPr>
          <p:nvPr/>
        </p:nvCxnSpPr>
        <p:spPr>
          <a:xfrm flipV="1">
            <a:off x="2926994" y="5381312"/>
            <a:ext cx="471828" cy="333129"/>
          </a:xfrm>
          <a:prstGeom prst="straightConnector1">
            <a:avLst/>
          </a:prstGeom>
          <a:ln w="158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stCxn id="7" idx="0"/>
            <a:endCxn id="5" idx="4"/>
          </p:cNvCxnSpPr>
          <p:nvPr/>
        </p:nvCxnSpPr>
        <p:spPr>
          <a:xfrm flipV="1">
            <a:off x="2926994" y="5388254"/>
            <a:ext cx="1467043" cy="326187"/>
          </a:xfrm>
          <a:prstGeom prst="straightConnector1">
            <a:avLst/>
          </a:prstGeom>
          <a:ln w="158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921621" y="3776483"/>
            <a:ext cx="91563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100" b="1" dirty="0">
                <a:solidFill>
                  <a:srgbClr val="7030A0"/>
                </a:solidFill>
                <a:latin typeface="Arial Narrow" panose="020B0606020202030204" pitchFamily="34" charset="0"/>
              </a:rPr>
              <a:t>28 X 28 X 128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871312" y="3764299"/>
            <a:ext cx="91563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100" b="1" dirty="0">
                <a:solidFill>
                  <a:srgbClr val="7030A0"/>
                </a:solidFill>
                <a:latin typeface="Arial Narrow" panose="020B0606020202030204" pitchFamily="34" charset="0"/>
              </a:rPr>
              <a:t>28 X 28 X 192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950999" y="3782511"/>
            <a:ext cx="85151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100" b="1" dirty="0">
                <a:solidFill>
                  <a:srgbClr val="7030A0"/>
                </a:solidFill>
                <a:latin typeface="Arial Narrow" panose="020B0606020202030204" pitchFamily="34" charset="0"/>
              </a:rPr>
              <a:t>28 X 28 X 64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54153" y="3771672"/>
            <a:ext cx="85151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100" b="1" dirty="0">
                <a:solidFill>
                  <a:srgbClr val="7030A0"/>
                </a:solidFill>
                <a:latin typeface="Arial Narrow" panose="020B0606020202030204" pitchFamily="34" charset="0"/>
              </a:rPr>
              <a:t>28 X 28 X 96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39284" y="4605958"/>
            <a:ext cx="91563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100" b="1" dirty="0">
                <a:solidFill>
                  <a:srgbClr val="7030A0"/>
                </a:solidFill>
                <a:latin typeface="Arial Narrow" panose="020B0606020202030204" pitchFamily="34" charset="0"/>
              </a:rPr>
              <a:t>28 X 28 X 256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893965" y="4605958"/>
            <a:ext cx="85151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100" b="1" dirty="0">
                <a:solidFill>
                  <a:srgbClr val="7030A0"/>
                </a:solidFill>
                <a:latin typeface="Arial Narrow" panose="020B0606020202030204" pitchFamily="34" charset="0"/>
              </a:rPr>
              <a:t>28 X 28 X 64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77158" y="4596900"/>
            <a:ext cx="85151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100" b="1" dirty="0">
                <a:solidFill>
                  <a:srgbClr val="7030A0"/>
                </a:solidFill>
                <a:latin typeface="Arial Narrow" panose="020B0606020202030204" pitchFamily="34" charset="0"/>
              </a:rPr>
              <a:t>28 X 28 X 64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530499" y="2717492"/>
            <a:ext cx="91563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100" b="1" dirty="0">
                <a:solidFill>
                  <a:srgbClr val="7030A0"/>
                </a:solidFill>
                <a:latin typeface="Arial Narrow" panose="020B0606020202030204" pitchFamily="34" charset="0"/>
              </a:rPr>
              <a:t>28 X 28 X 480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91721" y="5871686"/>
            <a:ext cx="130035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100" b="1" dirty="0">
                <a:solidFill>
                  <a:srgbClr val="7030A0"/>
                </a:solidFill>
                <a:latin typeface="Arial Narrow" panose="020B0606020202030204" pitchFamily="34" charset="0"/>
              </a:rPr>
              <a:t>Input : 28 X 28 X 256</a:t>
            </a:r>
          </a:p>
        </p:txBody>
      </p:sp>
      <p:sp>
        <p:nvSpPr>
          <p:cNvPr id="195" name="Content Placeholder 2"/>
          <p:cNvSpPr>
            <a:spLocks noGrp="1"/>
          </p:cNvSpPr>
          <p:nvPr>
            <p:ph idx="1"/>
          </p:nvPr>
        </p:nvSpPr>
        <p:spPr>
          <a:xfrm>
            <a:off x="583654" y="868530"/>
            <a:ext cx="4650467" cy="1892687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sz="1400" dirty="0">
                <a:latin typeface="Arial Narrow" panose="020B0606020202030204" pitchFamily="34" charset="0"/>
              </a:rPr>
              <a:t>The same parallel branches as in the naïve Inception module are used, but with </a:t>
            </a:r>
            <a:r>
              <a:rPr lang="en-US" sz="1400" dirty="0">
                <a:solidFill>
                  <a:srgbClr val="7030A0"/>
                </a:solidFill>
                <a:latin typeface="Arial Narrow" panose="020B0606020202030204" pitchFamily="34" charset="0"/>
              </a:rPr>
              <a:t>1×1 convolutions (64 filters</a:t>
            </a:r>
            <a:r>
              <a:rPr lang="en-US" sz="1400" dirty="0">
                <a:latin typeface="Arial Narrow" panose="020B0606020202030204" pitchFamily="34" charset="0"/>
              </a:rPr>
              <a:t>) added as bottleneck layers before the computationally expensive convolutions.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>
                <a:solidFill>
                  <a:srgbClr val="7030A0"/>
                </a:solidFill>
                <a:latin typeface="Arial Narrow" panose="020B0606020202030204" pitchFamily="34" charset="0"/>
              </a:rPr>
              <a:t>Computational Cost Analysis 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 err="1">
                <a:solidFill>
                  <a:srgbClr val="7030A0"/>
                </a:solidFill>
                <a:latin typeface="Arial Narrow" panose="020B0606020202030204" pitchFamily="34" charset="0"/>
              </a:rPr>
              <a:t>Conv</a:t>
            </a:r>
            <a:r>
              <a:rPr lang="en-US" sz="1200" dirty="0">
                <a:solidFill>
                  <a:srgbClr val="7030A0"/>
                </a:solidFill>
                <a:latin typeface="Arial Narrow" panose="020B0606020202030204" pitchFamily="34" charset="0"/>
              </a:rPr>
              <a:t> Ops Calculation: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100" b="1" dirty="0">
                <a:latin typeface="Arial Narrow" panose="020B0606020202030204" pitchFamily="34" charset="0"/>
              </a:rPr>
              <a:t>[1x1 </a:t>
            </a:r>
            <a:r>
              <a:rPr lang="en-US" altLang="en-US" sz="1100" b="1" dirty="0" err="1">
                <a:latin typeface="Arial Narrow" panose="020B0606020202030204" pitchFamily="34" charset="0"/>
              </a:rPr>
              <a:t>conv</a:t>
            </a:r>
            <a:r>
              <a:rPr lang="en-US" altLang="en-US" sz="1100" b="1" dirty="0">
                <a:latin typeface="Arial Narrow" panose="020B0606020202030204" pitchFamily="34" charset="0"/>
              </a:rPr>
              <a:t>, 64] </a:t>
            </a:r>
            <a:r>
              <a:rPr lang="en-US" altLang="en-US" sz="1100" dirty="0">
                <a:latin typeface="Arial Narrow" panose="020B0606020202030204" pitchFamily="34" charset="0"/>
              </a:rPr>
              <a:t>28x28x64x1x1x256 </a:t>
            </a:r>
            <a:r>
              <a:rPr lang="en-US" altLang="en-US" sz="1600" b="1" dirty="0">
                <a:latin typeface="Arial Narrow" panose="020B0606020202030204" pitchFamily="34" charset="0"/>
              </a:rPr>
              <a:t>;</a:t>
            </a:r>
            <a:r>
              <a:rPr lang="en-US" altLang="en-US" sz="1100" dirty="0">
                <a:latin typeface="Arial Narrow" panose="020B0606020202030204" pitchFamily="34" charset="0"/>
              </a:rPr>
              <a:t> </a:t>
            </a:r>
            <a:r>
              <a:rPr lang="en-US" altLang="en-US" sz="1100" b="1" dirty="0">
                <a:latin typeface="Arial Narrow" panose="020B0606020202030204" pitchFamily="34" charset="0"/>
              </a:rPr>
              <a:t>[1x1 </a:t>
            </a:r>
            <a:r>
              <a:rPr lang="en-US" altLang="en-US" sz="1100" b="1" dirty="0" err="1">
                <a:latin typeface="Arial Narrow" panose="020B0606020202030204" pitchFamily="34" charset="0"/>
              </a:rPr>
              <a:t>conv</a:t>
            </a:r>
            <a:r>
              <a:rPr lang="en-US" altLang="en-US" sz="1100" b="1" dirty="0">
                <a:latin typeface="Arial Narrow" panose="020B0606020202030204" pitchFamily="34" charset="0"/>
              </a:rPr>
              <a:t>, 64] </a:t>
            </a:r>
            <a:r>
              <a:rPr lang="en-US" altLang="en-US" sz="1100" dirty="0">
                <a:latin typeface="Arial Narrow" panose="020B0606020202030204" pitchFamily="34" charset="0"/>
              </a:rPr>
              <a:t>28x28x64x1x1x256 </a:t>
            </a:r>
            <a:r>
              <a:rPr lang="en-US" altLang="en-US" sz="1100" b="1" dirty="0">
                <a:latin typeface="Arial Narrow" panose="020B0606020202030204" pitchFamily="34" charset="0"/>
              </a:rPr>
              <a:t>;</a:t>
            </a:r>
            <a:r>
              <a:rPr lang="en-US" altLang="en-US" sz="1100" dirty="0">
                <a:latin typeface="Arial Narrow" panose="020B0606020202030204" pitchFamily="34" charset="0"/>
              </a:rPr>
              <a:t> </a:t>
            </a:r>
            <a:r>
              <a:rPr lang="en-US" altLang="en-US" sz="1100" b="1" dirty="0">
                <a:latin typeface="Arial Narrow" panose="020B0606020202030204" pitchFamily="34" charset="0"/>
              </a:rPr>
              <a:t>[1x1 </a:t>
            </a:r>
            <a:r>
              <a:rPr lang="en-US" altLang="en-US" sz="1100" b="1" dirty="0" err="1">
                <a:latin typeface="Arial Narrow" panose="020B0606020202030204" pitchFamily="34" charset="0"/>
              </a:rPr>
              <a:t>conv</a:t>
            </a:r>
            <a:r>
              <a:rPr lang="en-US" altLang="en-US" sz="1100" b="1" dirty="0">
                <a:latin typeface="Arial Narrow" panose="020B0606020202030204" pitchFamily="34" charset="0"/>
              </a:rPr>
              <a:t>, 128] </a:t>
            </a:r>
            <a:r>
              <a:rPr lang="en-US" altLang="en-US" sz="1100" dirty="0">
                <a:latin typeface="Arial Narrow" panose="020B0606020202030204" pitchFamily="34" charset="0"/>
              </a:rPr>
              <a:t>28x28x128x1x1x256 </a:t>
            </a:r>
            <a:r>
              <a:rPr lang="en-US" altLang="en-US" sz="1100" b="1" dirty="0">
                <a:latin typeface="Arial Narrow" panose="020B0606020202030204" pitchFamily="34" charset="0"/>
              </a:rPr>
              <a:t>;</a:t>
            </a:r>
            <a:r>
              <a:rPr lang="en-US" altLang="en-US" sz="1100" dirty="0">
                <a:latin typeface="Arial Narrow" panose="020B0606020202030204" pitchFamily="34" charset="0"/>
              </a:rPr>
              <a:t> </a:t>
            </a:r>
            <a:r>
              <a:rPr lang="en-US" altLang="en-US" sz="1100" b="1" dirty="0">
                <a:latin typeface="Arial Narrow" panose="020B0606020202030204" pitchFamily="34" charset="0"/>
              </a:rPr>
              <a:t>[3x3 </a:t>
            </a:r>
            <a:r>
              <a:rPr lang="en-US" altLang="en-US" sz="1100" b="1" dirty="0" err="1">
                <a:latin typeface="Arial Narrow" panose="020B0606020202030204" pitchFamily="34" charset="0"/>
              </a:rPr>
              <a:t>conv</a:t>
            </a:r>
            <a:r>
              <a:rPr lang="en-US" altLang="en-US" sz="1100" b="1" dirty="0">
                <a:latin typeface="Arial Narrow" panose="020B0606020202030204" pitchFamily="34" charset="0"/>
              </a:rPr>
              <a:t>, 192] </a:t>
            </a:r>
            <a:r>
              <a:rPr lang="en-US" altLang="en-US" sz="1100" dirty="0">
                <a:latin typeface="Arial Narrow" panose="020B0606020202030204" pitchFamily="34" charset="0"/>
              </a:rPr>
              <a:t>28x28x192x3x3x64 </a:t>
            </a:r>
            <a:r>
              <a:rPr lang="en-US" altLang="en-US" sz="1100" b="1" dirty="0">
                <a:latin typeface="Arial Narrow" panose="020B0606020202030204" pitchFamily="34" charset="0"/>
              </a:rPr>
              <a:t>;</a:t>
            </a:r>
            <a:r>
              <a:rPr lang="en-US" altLang="en-US" sz="1100" dirty="0">
                <a:latin typeface="Arial Narrow" panose="020B0606020202030204" pitchFamily="34" charset="0"/>
              </a:rPr>
              <a:t> </a:t>
            </a:r>
            <a:r>
              <a:rPr lang="en-US" altLang="en-US" sz="1100" b="1" dirty="0">
                <a:latin typeface="Arial Narrow" panose="020B0606020202030204" pitchFamily="34" charset="0"/>
              </a:rPr>
              <a:t>[5x5 </a:t>
            </a:r>
            <a:r>
              <a:rPr lang="en-US" altLang="en-US" sz="1100" b="1" dirty="0" err="1">
                <a:latin typeface="Arial Narrow" panose="020B0606020202030204" pitchFamily="34" charset="0"/>
              </a:rPr>
              <a:t>conv</a:t>
            </a:r>
            <a:r>
              <a:rPr lang="en-US" altLang="en-US" sz="1100" b="1" dirty="0">
                <a:latin typeface="Arial Narrow" panose="020B0606020202030204" pitchFamily="34" charset="0"/>
              </a:rPr>
              <a:t>, 96] </a:t>
            </a:r>
            <a:r>
              <a:rPr lang="en-US" altLang="en-US" sz="1100" dirty="0">
                <a:latin typeface="Arial Narrow" panose="020B0606020202030204" pitchFamily="34" charset="0"/>
              </a:rPr>
              <a:t>8x28x96x5x5x64 ; </a:t>
            </a:r>
            <a:r>
              <a:rPr lang="en-US" altLang="en-US" sz="1100" b="1" dirty="0">
                <a:latin typeface="Arial Narrow" panose="020B0606020202030204" pitchFamily="34" charset="0"/>
              </a:rPr>
              <a:t>[1x1 </a:t>
            </a:r>
            <a:r>
              <a:rPr lang="en-US" altLang="en-US" sz="1100" b="1" dirty="0" err="1">
                <a:latin typeface="Arial Narrow" panose="020B0606020202030204" pitchFamily="34" charset="0"/>
              </a:rPr>
              <a:t>conv</a:t>
            </a:r>
            <a:r>
              <a:rPr lang="en-US" altLang="en-US" sz="1100" b="1" dirty="0">
                <a:latin typeface="Arial Narrow" panose="020B0606020202030204" pitchFamily="34" charset="0"/>
              </a:rPr>
              <a:t>, 64] </a:t>
            </a:r>
            <a:r>
              <a:rPr lang="en-US" altLang="en-US" sz="1100" dirty="0">
                <a:latin typeface="Arial Narrow" panose="020B0606020202030204" pitchFamily="34" charset="0"/>
              </a:rPr>
              <a:t>28x28x64x1x1x256</a:t>
            </a:r>
            <a:endParaRPr lang="en-US" altLang="en-US" sz="1400" dirty="0">
              <a:latin typeface="Arial Narrow" panose="020B0606020202030204" pitchFamily="34" charset="0"/>
            </a:endParaRP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200" dirty="0">
                <a:solidFill>
                  <a:srgbClr val="7030A0"/>
                </a:solidFill>
                <a:latin typeface="Arial Narrow" panose="020B0606020202030204" pitchFamily="34" charset="0"/>
              </a:rPr>
              <a:t>Total: 358M ops</a:t>
            </a:r>
          </a:p>
        </p:txBody>
      </p:sp>
      <p:pic>
        <p:nvPicPr>
          <p:cNvPr id="201" name="Picture 2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4095" y="3483682"/>
            <a:ext cx="4556368" cy="2749656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202" name="TextBox 201"/>
          <p:cNvSpPr txBox="1"/>
          <p:nvPr/>
        </p:nvSpPr>
        <p:spPr>
          <a:xfrm>
            <a:off x="7181475" y="4857952"/>
            <a:ext cx="8483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b="1" dirty="0">
                <a:solidFill>
                  <a:srgbClr val="FF0000"/>
                </a:solidFill>
                <a:latin typeface="Arial Narrow" panose="020B0606020202030204" pitchFamily="34" charset="0"/>
              </a:rPr>
              <a:t>28X28X128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8332743" y="4858509"/>
            <a:ext cx="8483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b="1" dirty="0">
                <a:solidFill>
                  <a:srgbClr val="FF0000"/>
                </a:solidFill>
                <a:latin typeface="Arial Narrow" panose="020B0606020202030204" pitchFamily="34" charset="0"/>
              </a:rPr>
              <a:t>28X28X192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9418313" y="4857953"/>
            <a:ext cx="77777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b="1" dirty="0">
                <a:solidFill>
                  <a:srgbClr val="FF0000"/>
                </a:solidFill>
                <a:latin typeface="Arial Narrow" panose="020B0606020202030204" pitchFamily="34" charset="0"/>
              </a:rPr>
              <a:t>28X28X96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10426896" y="4857952"/>
            <a:ext cx="8483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b="1" dirty="0">
                <a:solidFill>
                  <a:srgbClr val="FF0000"/>
                </a:solidFill>
                <a:latin typeface="Arial Narrow" panose="020B0606020202030204" pitchFamily="34" charset="0"/>
              </a:rPr>
              <a:t>28X28X256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7057805" y="4227997"/>
            <a:ext cx="10871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00" b="1" dirty="0">
                <a:solidFill>
                  <a:srgbClr val="7030A0"/>
                </a:solidFill>
                <a:latin typeface="Arial Narrow" panose="020B0606020202030204" pitchFamily="34" charset="0"/>
              </a:rPr>
              <a:t>No. of filters = 128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8224011" y="4226373"/>
            <a:ext cx="10871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00" b="1" dirty="0">
                <a:solidFill>
                  <a:srgbClr val="7030A0"/>
                </a:solidFill>
                <a:latin typeface="Arial Narrow" panose="020B0606020202030204" pitchFamily="34" charset="0"/>
              </a:rPr>
              <a:t>No. of filters = 192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9294558" y="4226373"/>
            <a:ext cx="102944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00" b="1" dirty="0">
                <a:solidFill>
                  <a:srgbClr val="7030A0"/>
                </a:solidFill>
                <a:latin typeface="Arial Narrow" panose="020B0606020202030204" pitchFamily="34" charset="0"/>
              </a:rPr>
              <a:t>No. of filters = 96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8576030" y="3310743"/>
            <a:ext cx="14045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400">
                <a:solidFill>
                  <a:srgbClr val="7030A0"/>
                </a:solidFill>
                <a:latin typeface="Arial Narrow" panose="020B0606020202030204" pitchFamily="34" charset="0"/>
              </a:defRPr>
            </a:lvl1pPr>
          </a:lstStyle>
          <a:p>
            <a:r>
              <a:rPr lang="en-IN" b="1" dirty="0"/>
              <a:t>Input: 28X28X256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8741139" y="5812227"/>
            <a:ext cx="9525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>
                <a:solidFill>
                  <a:srgbClr val="FF0000"/>
                </a:solidFill>
                <a:latin typeface="Arial Narrow" panose="020B0606020202030204" pitchFamily="34" charset="0"/>
              </a:rPr>
              <a:t>28X28X672</a:t>
            </a:r>
            <a:endParaRPr lang="en-IN" b="1" dirty="0">
              <a:solidFill>
                <a:srgbClr val="FF0000"/>
              </a:solidFill>
              <a:latin typeface="Arial Narrow" panose="020B0606020202030204" pitchFamily="34" charset="0"/>
            </a:endParaRPr>
          </a:p>
        </p:txBody>
      </p:sp>
      <p:sp>
        <p:nvSpPr>
          <p:cNvPr id="212" name="TextBox 211"/>
          <p:cNvSpPr txBox="1"/>
          <p:nvPr/>
        </p:nvSpPr>
        <p:spPr>
          <a:xfrm>
            <a:off x="7180966" y="833685"/>
            <a:ext cx="3809521" cy="22529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Font typeface="Arial" panose="020B0604020202020204" pitchFamily="34" charset="0"/>
              <a:buNone/>
            </a:pP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Computational Cost Analysis </a:t>
            </a:r>
          </a:p>
          <a:p>
            <a:pPr algn="just">
              <a:buFont typeface="Arial" panose="020B0604020202020204" pitchFamily="34" charset="0"/>
              <a:buNone/>
            </a:pPr>
            <a:r>
              <a:rPr lang="en-US" dirty="0" err="1">
                <a:solidFill>
                  <a:srgbClr val="7030A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Conv</a:t>
            </a: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 Ops Calculation:	</a:t>
            </a:r>
            <a:endParaRPr lang="en-US" dirty="0">
              <a:solidFill>
                <a:srgbClr val="00B0F0"/>
              </a:solidFill>
              <a:latin typeface="Arial Narrow" panose="020B0606020202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</a:pP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[1x1 </a:t>
            </a:r>
            <a:r>
              <a:rPr lang="en-US" dirty="0" err="1">
                <a:solidFill>
                  <a:srgbClr val="7030A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conv</a:t>
            </a: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, 128]: </a:t>
            </a:r>
            <a:r>
              <a:rPr 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28x28x128x1x1x256</a:t>
            </a:r>
          </a:p>
          <a:p>
            <a:pPr algn="just">
              <a:lnSpc>
                <a:spcPct val="120000"/>
              </a:lnSpc>
            </a:pP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[3x3 </a:t>
            </a:r>
            <a:r>
              <a:rPr lang="en-US" dirty="0" err="1">
                <a:solidFill>
                  <a:srgbClr val="7030A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conv</a:t>
            </a: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, 192]: </a:t>
            </a:r>
            <a:r>
              <a:rPr 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28x28x192x3x3x256</a:t>
            </a:r>
          </a:p>
          <a:p>
            <a:pPr algn="just">
              <a:lnSpc>
                <a:spcPct val="120000"/>
              </a:lnSpc>
            </a:pP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[5x5 </a:t>
            </a:r>
            <a:r>
              <a:rPr lang="en-US" dirty="0" err="1">
                <a:solidFill>
                  <a:srgbClr val="7030A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conv</a:t>
            </a: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, 96]: </a:t>
            </a:r>
            <a:r>
              <a:rPr 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28x28x96x5x5x256</a:t>
            </a:r>
          </a:p>
          <a:p>
            <a:pPr algn="just">
              <a:lnSpc>
                <a:spcPct val="120000"/>
              </a:lnSpc>
            </a:pP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Total: 854M ops</a:t>
            </a:r>
          </a:p>
          <a:p>
            <a:endParaRPr lang="en-IN" dirty="0"/>
          </a:p>
        </p:txBody>
      </p:sp>
      <p:sp>
        <p:nvSpPr>
          <p:cNvPr id="213" name="Rounded Rectangle 212"/>
          <p:cNvSpPr/>
          <p:nvPr/>
        </p:nvSpPr>
        <p:spPr>
          <a:xfrm>
            <a:off x="6602584" y="712237"/>
            <a:ext cx="5185582" cy="5640938"/>
          </a:xfrm>
          <a:prstGeom prst="roundRect">
            <a:avLst/>
          </a:prstGeom>
          <a:solidFill>
            <a:schemeClr val="bg2">
              <a:lumMod val="75000"/>
              <a:alpha val="30000"/>
            </a:schemeClr>
          </a:solidFill>
          <a:ln w="2222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B0905914-F91E-4B5B-9616-808F3DCCFA90}"/>
              </a:ext>
            </a:extLst>
          </p:cNvPr>
          <p:cNvSpPr/>
          <p:nvPr/>
        </p:nvSpPr>
        <p:spPr>
          <a:xfrm>
            <a:off x="269136" y="6414845"/>
            <a:ext cx="1121494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rgbClr val="7030A0"/>
                </a:solidFill>
                <a:latin typeface="Arial Narrow" panose="020B0606020202030204" pitchFamily="34" charset="0"/>
              </a:rPr>
              <a:t>Compared to </a:t>
            </a:r>
            <a:r>
              <a:rPr lang="en-US" altLang="en-US" b="1" dirty="0">
                <a:solidFill>
                  <a:srgbClr val="FFC000"/>
                </a:solidFill>
                <a:latin typeface="Arial Narrow" panose="020B0606020202030204" pitchFamily="34" charset="0"/>
              </a:rPr>
              <a:t>854M ops </a:t>
            </a:r>
            <a:r>
              <a:rPr lang="en-US" altLang="en-US" dirty="0">
                <a:solidFill>
                  <a:srgbClr val="7030A0"/>
                </a:solidFill>
                <a:latin typeface="Arial Narrow" panose="020B0606020202030204" pitchFamily="34" charset="0"/>
              </a:rPr>
              <a:t>for naive version Bottleneck can also reduce depth to </a:t>
            </a:r>
            <a:r>
              <a:rPr lang="en-US" altLang="en-US" b="1" dirty="0">
                <a:solidFill>
                  <a:srgbClr val="FFC00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358M ops</a:t>
            </a:r>
            <a:r>
              <a:rPr lang="en-US" altLang="en-US" dirty="0">
                <a:solidFill>
                  <a:srgbClr val="FFC000"/>
                </a:solidFill>
                <a:latin typeface="Arial Narrow" panose="020B0606020202030204" pitchFamily="34" charset="0"/>
              </a:rPr>
              <a:t> </a:t>
            </a:r>
            <a:r>
              <a:rPr lang="en-US" altLang="en-US" dirty="0">
                <a:solidFill>
                  <a:srgbClr val="7030A0"/>
                </a:solidFill>
                <a:latin typeface="Arial Narrow" panose="020B0606020202030204" pitchFamily="34" charset="0"/>
              </a:rPr>
              <a:t>after pooling layer</a:t>
            </a:r>
          </a:p>
        </p:txBody>
      </p:sp>
    </p:spTree>
    <p:extLst>
      <p:ext uri="{BB962C8B-B14F-4D97-AF65-F5344CB8AC3E}">
        <p14:creationId xmlns:p14="http://schemas.microsoft.com/office/powerpoint/2010/main" val="311849604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877B3-BB0C-E8EF-D796-A0B6C8D410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66146"/>
          </a:xfrm>
        </p:spPr>
        <p:txBody>
          <a:bodyPr/>
          <a:lstStyle/>
          <a:p>
            <a:r>
              <a:rPr lang="en-US" dirty="0">
                <a:latin typeface="Century" panose="02040604050505020304" pitchFamily="18" charset="0"/>
                <a:ea typeface="Calibri Light"/>
                <a:cs typeface="Calibri Light"/>
              </a:rPr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001286-9349-A4FD-CF1F-79D5D7F990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89823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IN" sz="3200" dirty="0">
                <a:latin typeface="Arial Narrow" panose="020B0606020202030204" pitchFamily="34" charset="0"/>
                <a:cs typeface="Times New Roman" panose="02020603050405020304" pitchFamily="18" charset="0"/>
              </a:rPr>
              <a:t>CNN Architectures</a:t>
            </a:r>
          </a:p>
          <a:p>
            <a:endParaRPr lang="en-IN" sz="32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  <a:p>
            <a:r>
              <a:rPr lang="en-IN" sz="3200" dirty="0" err="1">
                <a:latin typeface="Arial Narrow" panose="020B0606020202030204" pitchFamily="34" charset="0"/>
                <a:cs typeface="Times New Roman" panose="02020603050405020304" pitchFamily="18" charset="0"/>
              </a:rPr>
              <a:t>LeNet</a:t>
            </a:r>
            <a:endParaRPr lang="en-IN" sz="32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  <a:p>
            <a:r>
              <a:rPr lang="en-IN" sz="3200" dirty="0" err="1">
                <a:latin typeface="Arial Narrow" panose="020B0606020202030204" pitchFamily="34" charset="0"/>
                <a:cs typeface="Times New Roman" panose="02020603050405020304" pitchFamily="18" charset="0"/>
              </a:rPr>
              <a:t>AlexNet</a:t>
            </a:r>
            <a:endParaRPr lang="en-IN" sz="32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  <a:p>
            <a:r>
              <a:rPr lang="en-IN" sz="3200" dirty="0">
                <a:latin typeface="Arial Narrow" panose="020B0606020202030204" pitchFamily="34" charset="0"/>
                <a:cs typeface="Times New Roman" panose="02020603050405020304" pitchFamily="18" charset="0"/>
              </a:rPr>
              <a:t>VGG Net</a:t>
            </a:r>
          </a:p>
          <a:p>
            <a:r>
              <a:rPr lang="en-IN" sz="3200" dirty="0">
                <a:latin typeface="Arial Narrow" panose="020B0606020202030204" pitchFamily="34" charset="0"/>
                <a:cs typeface="Times New Roman" panose="02020603050405020304" pitchFamily="18" charset="0"/>
              </a:rPr>
              <a:t>Google Net</a:t>
            </a:r>
          </a:p>
          <a:p>
            <a:pPr lvl="1"/>
            <a:r>
              <a:rPr lang="en-IN" sz="2800" dirty="0">
                <a:latin typeface="Arial Narrow" panose="020B0606020202030204" pitchFamily="34" charset="0"/>
                <a:cs typeface="Times New Roman" panose="02020603050405020304" pitchFamily="18" charset="0"/>
              </a:rPr>
              <a:t>Inception Net</a:t>
            </a:r>
            <a:endParaRPr lang="en-IN" sz="20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943591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D1312-3FC0-4078-A2B9-78735F9B2C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61661" y="1543688"/>
            <a:ext cx="9144000" cy="2387600"/>
          </a:xfrm>
        </p:spPr>
        <p:txBody>
          <a:bodyPr>
            <a:normAutofit/>
          </a:bodyPr>
          <a:lstStyle/>
          <a:p>
            <a:r>
              <a:rPr lang="en-IN" sz="4000" dirty="0">
                <a:solidFill>
                  <a:srgbClr val="002060"/>
                </a:solidFill>
                <a:latin typeface="Arial Narrow" panose="020B0606020202030204" pitchFamily="34" charset="0"/>
              </a:rPr>
              <a:t>CNN Optimization</a:t>
            </a:r>
            <a:br>
              <a:rPr lang="en-IN" sz="4000" dirty="0">
                <a:solidFill>
                  <a:srgbClr val="002060"/>
                </a:solidFill>
                <a:latin typeface="Arial Narrow" panose="020B0606020202030204" pitchFamily="34" charset="0"/>
              </a:rPr>
            </a:br>
            <a:endParaRPr lang="en-IN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B6BD41-65D8-4E39-9EB8-873E6D5917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29939"/>
            <a:ext cx="9144000" cy="1655762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00B050"/>
                </a:solidFill>
                <a:latin typeface="Book Antiqua" panose="02040602050305030304" pitchFamily="18" charset="0"/>
              </a:rPr>
              <a:t>Generative AI for Computer Vision</a:t>
            </a:r>
            <a:endParaRPr lang="en-IN" sz="3600" dirty="0">
              <a:solidFill>
                <a:srgbClr val="002060"/>
              </a:solidFill>
              <a:latin typeface="Arial Narrow" panose="020B0606020202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279711-0489-4234-BC9E-AEC0ED47B657}"/>
              </a:ext>
            </a:extLst>
          </p:cNvPr>
          <p:cNvSpPr txBox="1"/>
          <p:nvPr/>
        </p:nvSpPr>
        <p:spPr>
          <a:xfrm>
            <a:off x="4035287" y="860753"/>
            <a:ext cx="379674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latin typeface="Arial Narrow" panose="020B0606020202030204" pitchFamily="34" charset="0"/>
              </a:rPr>
              <a:t>Next</a:t>
            </a:r>
          </a:p>
          <a:p>
            <a:pPr algn="ctr"/>
            <a:endParaRPr lang="en-IN" sz="2800" dirty="0">
              <a:latin typeface="Arial Narrow" panose="020B0606020202030204" pitchFamily="34" charset="0"/>
            </a:endParaRPr>
          </a:p>
          <a:p>
            <a:pPr algn="ctr"/>
            <a:r>
              <a:rPr lang="en-IN" sz="2800" dirty="0">
                <a:latin typeface="Arial Narrow" panose="020B0606020202030204" pitchFamily="34" charset="0"/>
              </a:rPr>
              <a:t>Lecture 4: Part 3</a:t>
            </a:r>
          </a:p>
        </p:txBody>
      </p:sp>
    </p:spTree>
    <p:extLst>
      <p:ext uri="{BB962C8B-B14F-4D97-AF65-F5344CB8AC3E}">
        <p14:creationId xmlns:p14="http://schemas.microsoft.com/office/powerpoint/2010/main" val="7572812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6733</TotalTime>
  <Words>4892</Words>
  <Application>Microsoft Office PowerPoint</Application>
  <PresentationFormat>Widescreen</PresentationFormat>
  <Paragraphs>705</Paragraphs>
  <Slides>38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7" baseType="lpstr">
      <vt:lpstr>Arial</vt:lpstr>
      <vt:lpstr>Arial Narrow</vt:lpstr>
      <vt:lpstr>Book Antiqua</vt:lpstr>
      <vt:lpstr>Calibri</vt:lpstr>
      <vt:lpstr>Calibri Light</vt:lpstr>
      <vt:lpstr>Cambria Math</vt:lpstr>
      <vt:lpstr>Century</vt:lpstr>
      <vt:lpstr>Times New Roman</vt:lpstr>
      <vt:lpstr>Office Theme</vt:lpstr>
      <vt:lpstr>Convolutional Neural Network – II Model Architectures </vt:lpstr>
      <vt:lpstr>Content</vt:lpstr>
      <vt:lpstr>LeNet – 5 [LeCun et al., 1998]</vt:lpstr>
      <vt:lpstr>LeNet – 5 [LeCun et al., 1998]</vt:lpstr>
      <vt:lpstr>Padding</vt:lpstr>
      <vt:lpstr>AlexNet Krizhevsky et. al. 2012</vt:lpstr>
      <vt:lpstr>AlexNet Krizhevsky et. al. 2012</vt:lpstr>
      <vt:lpstr>AlexNet Krizhevsky et. al. 2012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Stack of 3 X 3 conv (stride 1) layers has same effective receptive field as one 7 X 7 conv layer</vt:lpstr>
      <vt:lpstr>PowerPoint Presentation</vt:lpstr>
      <vt:lpstr>VGG Net Simonyan and Zisserman 2014</vt:lpstr>
      <vt:lpstr>VGG Net Simonyan and Zisserman 2014</vt:lpstr>
      <vt:lpstr>PowerPoint Presentation</vt:lpstr>
      <vt:lpstr>Google Net Szegedy et. al. 2014 </vt:lpstr>
      <vt:lpstr>Google Net Szegedy et. al. 2014 </vt:lpstr>
      <vt:lpstr>Architecture of Google Net Szegedy et. al. 2014 </vt:lpstr>
      <vt:lpstr>Google Net Inception Module</vt:lpstr>
      <vt:lpstr>Google Net Inception Module</vt:lpstr>
      <vt:lpstr>Google Net  Szegedy et. al. 2014</vt:lpstr>
      <vt:lpstr>Google Net  Szegedy et. al. 2014</vt:lpstr>
      <vt:lpstr>Google Net  Szegedy et. al. 2014</vt:lpstr>
      <vt:lpstr>Google Net Inception Module</vt:lpstr>
      <vt:lpstr>Bottleneck Layer</vt:lpstr>
      <vt:lpstr>1 X 1 Convolutions</vt:lpstr>
      <vt:lpstr>1 X 1 Convolutions</vt:lpstr>
      <vt:lpstr>1 X 1 Convolutions</vt:lpstr>
      <vt:lpstr>What does 1 X 1 Convolution do?</vt:lpstr>
      <vt:lpstr>Google Net Inception Module</vt:lpstr>
      <vt:lpstr>Google Net  Szegedy et. al. 2014</vt:lpstr>
      <vt:lpstr>Google Net  Szegedy et. al. 2014</vt:lpstr>
      <vt:lpstr>How 1 X 1 Conv, 64 filter Bottlenecks reduce complexity </vt:lpstr>
      <vt:lpstr>Summary</vt:lpstr>
      <vt:lpstr>CNN Optimization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Convolutional Neural Network – II Model Architectures </dc:title>
  <dc:creator>IITG</dc:creator>
  <cp:lastModifiedBy>HP</cp:lastModifiedBy>
  <cp:revision>31</cp:revision>
  <dcterms:created xsi:type="dcterms:W3CDTF">2026-07-07T09:19:41Z</dcterms:created>
  <dcterms:modified xsi:type="dcterms:W3CDTF">2026-07-19T07:53:42Z</dcterms:modified>
</cp:coreProperties>
</file>