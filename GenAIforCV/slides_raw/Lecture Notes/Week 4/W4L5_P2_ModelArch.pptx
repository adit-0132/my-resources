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6" r:id="rId3"/>
    <p:sldId id="272" r:id="rId4"/>
    <p:sldId id="257" r:id="rId5"/>
    <p:sldId id="269" r:id="rId6"/>
    <p:sldId id="270" r:id="rId7"/>
    <p:sldId id="271" r:id="rId8"/>
    <p:sldId id="273" r:id="rId9"/>
    <p:sldId id="274" r:id="rId10"/>
    <p:sldId id="276" r:id="rId11"/>
    <p:sldId id="278" r:id="rId12"/>
    <p:sldId id="280" r:id="rId13"/>
    <p:sldId id="277" r:id="rId14"/>
    <p:sldId id="282" r:id="rId15"/>
    <p:sldId id="279" r:id="rId16"/>
    <p:sldId id="283" r:id="rId17"/>
    <p:sldId id="284" r:id="rId18"/>
    <p:sldId id="285" r:id="rId19"/>
    <p:sldId id="286" r:id="rId20"/>
    <p:sldId id="288" r:id="rId21"/>
    <p:sldId id="289" r:id="rId22"/>
    <p:sldId id="287" r:id="rId23"/>
    <p:sldId id="290" r:id="rId24"/>
    <p:sldId id="291" r:id="rId25"/>
    <p:sldId id="30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4475F-DEE5-428F-90F8-20383DC2DE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69ABF6-1BFF-4728-94F9-A34FAD04DE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63C28E-EBCF-4B3B-8FE9-20193BCFDA48}"/>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5" name="Footer Placeholder 4">
            <a:extLst>
              <a:ext uri="{FF2B5EF4-FFF2-40B4-BE49-F238E27FC236}">
                <a16:creationId xmlns:a16="http://schemas.microsoft.com/office/drawing/2014/main" id="{D2C69DC3-BEFA-4881-A7F6-F865298D13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DA1CF5-6093-4401-B3FF-765795926F40}"/>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653616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6DED8-B24D-4462-AA52-4C8F912065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CA5B08-FAD6-4D85-84F4-EA327C4E492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CD254C-CB69-410B-8CFC-F9D79CFD81FE}"/>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5" name="Footer Placeholder 4">
            <a:extLst>
              <a:ext uri="{FF2B5EF4-FFF2-40B4-BE49-F238E27FC236}">
                <a16:creationId xmlns:a16="http://schemas.microsoft.com/office/drawing/2014/main" id="{FF066DD0-381D-48A0-80D8-FFADA38CCC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052E28-FA73-4BFE-9263-78F70CBAD6D9}"/>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306411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38293-7E0D-46F2-8242-98346BEA2B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FF31AE4-872C-420B-9E23-C20CDE15A6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F5B7EEC-1F66-4CB2-BFDF-DF385E15F784}"/>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5" name="Footer Placeholder 4">
            <a:extLst>
              <a:ext uri="{FF2B5EF4-FFF2-40B4-BE49-F238E27FC236}">
                <a16:creationId xmlns:a16="http://schemas.microsoft.com/office/drawing/2014/main" id="{D2F76E17-2BE4-47B3-8738-2A2F704ECD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E5A2F9-BEA8-407E-873D-5E5061D36FE0}"/>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1954467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44EA5-3141-4F42-9C1A-C829A6B8C1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E97483-4D70-42F2-884B-0414D52C1C2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234ABF-83BE-4C87-9501-D8FAE56A554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271886-99D5-4C75-AD18-5FDC80D88AB6}"/>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6" name="Footer Placeholder 5">
            <a:extLst>
              <a:ext uri="{FF2B5EF4-FFF2-40B4-BE49-F238E27FC236}">
                <a16:creationId xmlns:a16="http://schemas.microsoft.com/office/drawing/2014/main" id="{5F1D2AE6-3D10-445D-BE19-0172407A4C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54DADD-D102-41EC-9C82-1A55FB3B5F48}"/>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1615071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89BDC-3ABB-46E6-AE57-058FDD9E6D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E67974-8B0A-4108-9D8D-104E7F8FC0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3C19A9C-C6CC-4B55-B957-379A76835D7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F562D6-CB8C-47B5-BC95-7D7DFAB7B7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2CB5849-5F31-46F2-B3DA-5892F7C8C6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9F3E97-9130-4DDD-9108-21D4A4C3DF8F}"/>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8" name="Footer Placeholder 7">
            <a:extLst>
              <a:ext uri="{FF2B5EF4-FFF2-40B4-BE49-F238E27FC236}">
                <a16:creationId xmlns:a16="http://schemas.microsoft.com/office/drawing/2014/main" id="{AE73E5F7-2214-4F93-9851-08D18E4224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20CCB9-F484-4BAB-A2C2-C532A7C80D28}"/>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392340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32477-A197-4235-B1B8-4D04A5E074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706903-8BAA-423C-B264-D9C31679FB7E}"/>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4" name="Footer Placeholder 3">
            <a:extLst>
              <a:ext uri="{FF2B5EF4-FFF2-40B4-BE49-F238E27FC236}">
                <a16:creationId xmlns:a16="http://schemas.microsoft.com/office/drawing/2014/main" id="{B8BA9D79-A7EA-4541-8562-C1BF154318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9DACE1-A89B-47B0-97CA-4B7A7E0E4C92}"/>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359189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B539B8-B22E-4E60-9E80-5A4633C7AE47}"/>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3" name="Footer Placeholder 2">
            <a:extLst>
              <a:ext uri="{FF2B5EF4-FFF2-40B4-BE49-F238E27FC236}">
                <a16:creationId xmlns:a16="http://schemas.microsoft.com/office/drawing/2014/main" id="{8A211315-42B0-45E6-BD5A-7182C9E153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273606-ADF8-4D60-82F5-5C581C312FB0}"/>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215670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3C63C-EB67-45F5-BE43-B63E8BF48E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38DEE70-ACA4-424C-A172-AF5EB71B6E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20C09F2-024E-42AA-B88A-F0CFEAA06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1CB97A-BD7F-4B46-86BE-D2BC34563915}"/>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6" name="Footer Placeholder 5">
            <a:extLst>
              <a:ext uri="{FF2B5EF4-FFF2-40B4-BE49-F238E27FC236}">
                <a16:creationId xmlns:a16="http://schemas.microsoft.com/office/drawing/2014/main" id="{03D43109-2838-4E4B-80D7-B88F27BDF5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10D55B-B94C-4AAB-BF8C-B98C7B35DA6E}"/>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3177612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08766-97DB-481B-B8A6-95DCA9C38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91B339-C307-400F-840D-716F71303C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9122CD-D0D4-4D1F-94A8-DF6B6214B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D247254-AAFF-4E0C-90EA-91FD6B3825D7}"/>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6" name="Footer Placeholder 5">
            <a:extLst>
              <a:ext uri="{FF2B5EF4-FFF2-40B4-BE49-F238E27FC236}">
                <a16:creationId xmlns:a16="http://schemas.microsoft.com/office/drawing/2014/main" id="{8DA442FE-1C4B-446C-9CF8-3F34EB09C7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0AB92D-9396-437C-B864-D4FF3A0200C5}"/>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3581860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287FF-295E-4111-8D39-5718762817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FB4E63-E00A-4FEE-B161-06F09F7BB9C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0AC425-E2E4-4CBA-902E-8BBBCF244093}"/>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5" name="Footer Placeholder 4">
            <a:extLst>
              <a:ext uri="{FF2B5EF4-FFF2-40B4-BE49-F238E27FC236}">
                <a16:creationId xmlns:a16="http://schemas.microsoft.com/office/drawing/2014/main" id="{9CEFFE60-92A1-4094-9D8B-2B623404A1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0CAA96-2C95-40D1-9775-A85D8CAC1965}"/>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4099022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5FE215-220D-4A79-8677-6C6F6AE1E0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5F20F2-4DB8-4900-9D39-4EA2689328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57A2F3-6494-4214-88E1-9BB99AEC4106}"/>
              </a:ext>
            </a:extLst>
          </p:cNvPr>
          <p:cNvSpPr>
            <a:spLocks noGrp="1"/>
          </p:cNvSpPr>
          <p:nvPr>
            <p:ph type="dt" sz="half" idx="10"/>
          </p:nvPr>
        </p:nvSpPr>
        <p:spPr/>
        <p:txBody>
          <a:bodyPr/>
          <a:lstStyle/>
          <a:p>
            <a:fld id="{5FD1D307-FE47-4F1F-AA9F-19C85428FD9F}" type="datetimeFigureOut">
              <a:rPr lang="en-IN" smtClean="0"/>
              <a:t>30-07-2026</a:t>
            </a:fld>
            <a:endParaRPr lang="en-IN"/>
          </a:p>
        </p:txBody>
      </p:sp>
      <p:sp>
        <p:nvSpPr>
          <p:cNvPr id="5" name="Footer Placeholder 4">
            <a:extLst>
              <a:ext uri="{FF2B5EF4-FFF2-40B4-BE49-F238E27FC236}">
                <a16:creationId xmlns:a16="http://schemas.microsoft.com/office/drawing/2014/main" id="{22CE094E-4227-4984-B0F3-546E600ADC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76D7E5-794D-47EA-BD5D-1583B70C7F63}"/>
              </a:ext>
            </a:extLst>
          </p:cNvPr>
          <p:cNvSpPr>
            <a:spLocks noGrp="1"/>
          </p:cNvSpPr>
          <p:nvPr>
            <p:ph type="sldNum" sz="quarter" idx="12"/>
          </p:nvPr>
        </p:nvSpPr>
        <p:spPr/>
        <p:txBody>
          <a:bodyPr/>
          <a:lstStyle/>
          <a:p>
            <a:fld id="{C015ED47-09FE-4B2F-829A-7289890321E8}" type="slidenum">
              <a:rPr lang="en-IN" smtClean="0"/>
              <a:t>‹#›</a:t>
            </a:fld>
            <a:endParaRPr lang="en-IN"/>
          </a:p>
        </p:txBody>
      </p:sp>
    </p:spTree>
    <p:extLst>
      <p:ext uri="{BB962C8B-B14F-4D97-AF65-F5344CB8AC3E}">
        <p14:creationId xmlns:p14="http://schemas.microsoft.com/office/powerpoint/2010/main" val="162784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07FD71-B992-45CA-9EB7-1C40F95C34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7D9910-4E2B-4DE8-B726-8352991EA3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8F4AA7-3C94-4055-85C2-7E75FC3CE7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D1D307-FE47-4F1F-AA9F-19C85428FD9F}" type="datetimeFigureOut">
              <a:rPr lang="en-IN" smtClean="0"/>
              <a:t>30-07-2026</a:t>
            </a:fld>
            <a:endParaRPr lang="en-IN"/>
          </a:p>
        </p:txBody>
      </p:sp>
      <p:sp>
        <p:nvSpPr>
          <p:cNvPr id="5" name="Footer Placeholder 4">
            <a:extLst>
              <a:ext uri="{FF2B5EF4-FFF2-40B4-BE49-F238E27FC236}">
                <a16:creationId xmlns:a16="http://schemas.microsoft.com/office/drawing/2014/main" id="{F87AAB21-19AA-4CB7-AC48-EC44698106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16D60F-E8E7-4EF5-A1EF-A64C5E0DE7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5ED47-09FE-4B2F-829A-7289890321E8}" type="slidenum">
              <a:rPr lang="en-IN" smtClean="0"/>
              <a:t>‹#›</a:t>
            </a:fld>
            <a:endParaRPr lang="en-IN"/>
          </a:p>
        </p:txBody>
      </p:sp>
    </p:spTree>
    <p:extLst>
      <p:ext uri="{BB962C8B-B14F-4D97-AF65-F5344CB8AC3E}">
        <p14:creationId xmlns:p14="http://schemas.microsoft.com/office/powerpoint/2010/main" val="14008475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864199"/>
            <a:ext cx="9144000" cy="2387600"/>
          </a:xfrm>
        </p:spPr>
        <p:txBody>
          <a:bodyPr>
            <a:normAutofit/>
          </a:bodyPr>
          <a:lstStyle/>
          <a:p>
            <a:r>
              <a:rPr lang="en-IN" sz="4000" dirty="0">
                <a:solidFill>
                  <a:srgbClr val="002060"/>
                </a:solidFill>
                <a:latin typeface="Arial Narrow" panose="020B0606020202030204" pitchFamily="34" charset="0"/>
              </a:rPr>
              <a:t>CNN Model Architectures -II</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5</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2</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B80029-4EAA-4050-95AD-F786E41909AC}"/>
              </a:ext>
            </a:extLst>
          </p:cNvPr>
          <p:cNvSpPr>
            <a:spLocks noGrp="1"/>
          </p:cNvSpPr>
          <p:nvPr>
            <p:ph type="title"/>
          </p:nvPr>
        </p:nvSpPr>
        <p:spPr/>
        <p:txBody>
          <a:bodyPr>
            <a:normAutofit/>
          </a:bodyPr>
          <a:lstStyle/>
          <a:p>
            <a:r>
              <a:rPr lang="en-IN" sz="3600" dirty="0">
                <a:latin typeface="Century" panose="02040604050505020304" pitchFamily="18" charset="0"/>
              </a:rPr>
              <a:t>Content</a:t>
            </a:r>
          </a:p>
        </p:txBody>
      </p:sp>
      <p:sp>
        <p:nvSpPr>
          <p:cNvPr id="5" name="Content Placeholder 4">
            <a:extLst>
              <a:ext uri="{FF2B5EF4-FFF2-40B4-BE49-F238E27FC236}">
                <a16:creationId xmlns:a16="http://schemas.microsoft.com/office/drawing/2014/main" id="{4E59758B-DD80-4677-B579-AF6EC83245F0}"/>
              </a:ext>
            </a:extLst>
          </p:cNvPr>
          <p:cNvSpPr>
            <a:spLocks noGrp="1"/>
          </p:cNvSpPr>
          <p:nvPr>
            <p:ph idx="1"/>
          </p:nvPr>
        </p:nvSpPr>
        <p:spPr/>
        <p:txBody>
          <a:bodyPr/>
          <a:lstStyle/>
          <a:p>
            <a:r>
              <a:rPr lang="en-IN" dirty="0">
                <a:latin typeface="Arial Narrow" panose="020B0606020202030204" pitchFamily="34" charset="0"/>
              </a:rPr>
              <a:t>Dense Net</a:t>
            </a:r>
          </a:p>
          <a:p>
            <a:r>
              <a:rPr lang="en-IN" dirty="0">
                <a:latin typeface="Arial Narrow" panose="020B0606020202030204" pitchFamily="34" charset="0"/>
              </a:rPr>
              <a:t>Mobile Net</a:t>
            </a:r>
          </a:p>
          <a:p>
            <a:r>
              <a:rPr lang="en-IN" dirty="0">
                <a:latin typeface="Arial Narrow" panose="020B0606020202030204" pitchFamily="34" charset="0"/>
              </a:rPr>
              <a:t>Efficient Net</a:t>
            </a:r>
          </a:p>
          <a:p>
            <a:endParaRPr lang="en-IN" dirty="0"/>
          </a:p>
        </p:txBody>
      </p:sp>
    </p:spTree>
    <p:extLst>
      <p:ext uri="{BB962C8B-B14F-4D97-AF65-F5344CB8AC3E}">
        <p14:creationId xmlns:p14="http://schemas.microsoft.com/office/powerpoint/2010/main" val="877683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B80029-4EAA-4050-95AD-F786E41909AC}"/>
              </a:ext>
            </a:extLst>
          </p:cNvPr>
          <p:cNvSpPr>
            <a:spLocks noGrp="1"/>
          </p:cNvSpPr>
          <p:nvPr>
            <p:ph type="title"/>
          </p:nvPr>
        </p:nvSpPr>
        <p:spPr/>
        <p:txBody>
          <a:bodyPr>
            <a:normAutofit/>
          </a:bodyPr>
          <a:lstStyle/>
          <a:p>
            <a:r>
              <a:rPr lang="en-IN" sz="3600" dirty="0">
                <a:latin typeface="Century" panose="02040604050505020304" pitchFamily="18" charset="0"/>
              </a:rPr>
              <a:t>Content</a:t>
            </a:r>
          </a:p>
        </p:txBody>
      </p:sp>
      <p:sp>
        <p:nvSpPr>
          <p:cNvPr id="5" name="Content Placeholder 4">
            <a:extLst>
              <a:ext uri="{FF2B5EF4-FFF2-40B4-BE49-F238E27FC236}">
                <a16:creationId xmlns:a16="http://schemas.microsoft.com/office/drawing/2014/main" id="{4E59758B-DD80-4677-B579-AF6EC83245F0}"/>
              </a:ext>
            </a:extLst>
          </p:cNvPr>
          <p:cNvSpPr>
            <a:spLocks noGrp="1"/>
          </p:cNvSpPr>
          <p:nvPr>
            <p:ph idx="1"/>
          </p:nvPr>
        </p:nvSpPr>
        <p:spPr/>
        <p:txBody>
          <a:bodyPr/>
          <a:lstStyle/>
          <a:p>
            <a:r>
              <a:rPr lang="en-IN" dirty="0">
                <a:latin typeface="Arial Narrow" panose="020B0606020202030204" pitchFamily="34" charset="0"/>
              </a:rPr>
              <a:t>Dense Net</a:t>
            </a:r>
          </a:p>
          <a:p>
            <a:r>
              <a:rPr lang="en-IN" dirty="0">
                <a:solidFill>
                  <a:schemeClr val="bg1">
                    <a:lumMod val="85000"/>
                  </a:schemeClr>
                </a:solidFill>
                <a:latin typeface="Arial Narrow" panose="020B0606020202030204" pitchFamily="34" charset="0"/>
              </a:rPr>
              <a:t>Mobile Net</a:t>
            </a:r>
          </a:p>
          <a:p>
            <a:r>
              <a:rPr lang="en-IN" dirty="0">
                <a:solidFill>
                  <a:schemeClr val="bg1">
                    <a:lumMod val="85000"/>
                  </a:schemeClr>
                </a:solidFill>
                <a:latin typeface="Arial Narrow" panose="020B0606020202030204" pitchFamily="34" charset="0"/>
              </a:rPr>
              <a:t>Efficient Net</a:t>
            </a:r>
          </a:p>
          <a:p>
            <a:endParaRPr lang="en-IN" dirty="0"/>
          </a:p>
        </p:txBody>
      </p:sp>
    </p:spTree>
    <p:extLst>
      <p:ext uri="{BB962C8B-B14F-4D97-AF65-F5344CB8AC3E}">
        <p14:creationId xmlns:p14="http://schemas.microsoft.com/office/powerpoint/2010/main" val="645283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C7AD-4763-4782-A969-415BA9C69FF3}"/>
              </a:ext>
            </a:extLst>
          </p:cNvPr>
          <p:cNvSpPr>
            <a:spLocks noGrp="1"/>
          </p:cNvSpPr>
          <p:nvPr>
            <p:ph type="title"/>
          </p:nvPr>
        </p:nvSpPr>
        <p:spPr/>
        <p:txBody>
          <a:bodyPr>
            <a:normAutofit/>
          </a:bodyPr>
          <a:lstStyle/>
          <a:p>
            <a:r>
              <a:rPr lang="en-US" sz="3600" dirty="0">
                <a:latin typeface="Century" panose="02040604050505020304" pitchFamily="18" charset="0"/>
              </a:rPr>
              <a:t>Dense-Net</a:t>
            </a: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6C3A93A7-A490-4787-8E07-A37A6B166383}"/>
              </a:ext>
            </a:extLst>
          </p:cNvPr>
          <p:cNvSpPr>
            <a:spLocks noGrp="1"/>
          </p:cNvSpPr>
          <p:nvPr>
            <p:ph idx="1"/>
          </p:nvPr>
        </p:nvSpPr>
        <p:spPr>
          <a:xfrm>
            <a:off x="838200" y="1586753"/>
            <a:ext cx="6046694" cy="4906122"/>
          </a:xfrm>
        </p:spPr>
        <p:txBody>
          <a:bodyPr>
            <a:normAutofit/>
          </a:bodyPr>
          <a:lstStyle/>
          <a:p>
            <a:pPr algn="just"/>
            <a:r>
              <a:rPr lang="en-US" sz="2000" dirty="0">
                <a:latin typeface="Arial Narrow" panose="020B0606020202030204" pitchFamily="34" charset="0"/>
              </a:rPr>
              <a:t>Dense-Net (Densely Connected Convolutional Network) is a </a:t>
            </a:r>
            <a:r>
              <a:rPr lang="en-US" sz="2000" dirty="0">
                <a:solidFill>
                  <a:srgbClr val="00B0F0"/>
                </a:solidFill>
                <a:latin typeface="Arial Narrow" panose="020B0606020202030204" pitchFamily="34" charset="0"/>
              </a:rPr>
              <a:t>convolutional neural network architecture that introduces direct connections between every layer and all subsequent layers within a dense block</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Unlike traditional CNNs, where each layer receives input only from the previous layer, </a:t>
            </a:r>
            <a:r>
              <a:rPr lang="en-US" sz="2000" dirty="0">
                <a:solidFill>
                  <a:srgbClr val="00B0F0"/>
                </a:solidFill>
                <a:latin typeface="Arial Narrow" panose="020B0606020202030204" pitchFamily="34" charset="0"/>
              </a:rPr>
              <a:t>Dense-Net concatenates the feature maps from all preceding layers and uses them as input for the current layer</a:t>
            </a:r>
            <a:r>
              <a:rPr lang="en-US" sz="2000" dirty="0">
                <a:latin typeface="Arial Narrow" panose="020B0606020202030204" pitchFamily="34" charset="0"/>
              </a:rPr>
              <a:t>.</a:t>
            </a:r>
          </a:p>
          <a:p>
            <a:pPr algn="just"/>
            <a:r>
              <a:rPr lang="en-US" sz="2000" dirty="0">
                <a:latin typeface="Arial Narrow" panose="020B0606020202030204" pitchFamily="34" charset="0"/>
              </a:rPr>
              <a:t> </a:t>
            </a:r>
          </a:p>
          <a:p>
            <a:pPr algn="just"/>
            <a:r>
              <a:rPr lang="en-US" sz="2000" dirty="0">
                <a:latin typeface="Arial Narrow" panose="020B0606020202030204" pitchFamily="34" charset="0"/>
              </a:rPr>
              <a:t>This dense connectivity </a:t>
            </a:r>
            <a:r>
              <a:rPr lang="en-US" sz="2000" dirty="0">
                <a:solidFill>
                  <a:srgbClr val="00B0F0"/>
                </a:solidFill>
                <a:latin typeface="Arial Narrow" panose="020B0606020202030204" pitchFamily="34" charset="0"/>
              </a:rPr>
              <a:t>improves feature reuse</a:t>
            </a:r>
            <a:r>
              <a:rPr lang="en-US" sz="2000" dirty="0">
                <a:latin typeface="Arial Narrow" panose="020B0606020202030204" pitchFamily="34" charset="0"/>
              </a:rPr>
              <a:t>, </a:t>
            </a:r>
            <a:r>
              <a:rPr lang="en-US" sz="2000" dirty="0">
                <a:solidFill>
                  <a:srgbClr val="00B0F0"/>
                </a:solidFill>
                <a:latin typeface="Arial Narrow" panose="020B0606020202030204" pitchFamily="34" charset="0"/>
              </a:rPr>
              <a:t>strengthens gradient flow</a:t>
            </a:r>
            <a:r>
              <a:rPr lang="en-US" sz="2000" dirty="0">
                <a:latin typeface="Arial Narrow" panose="020B0606020202030204" pitchFamily="34" charset="0"/>
              </a:rPr>
              <a:t>, and </a:t>
            </a:r>
            <a:r>
              <a:rPr lang="en-US" sz="2000" dirty="0">
                <a:solidFill>
                  <a:srgbClr val="00B0F0"/>
                </a:solidFill>
                <a:latin typeface="Arial Narrow" panose="020B0606020202030204" pitchFamily="34" charset="0"/>
              </a:rPr>
              <a:t>alleviates the vanishing gradient problem</a:t>
            </a:r>
            <a:r>
              <a:rPr lang="en-US" sz="2000" dirty="0">
                <a:latin typeface="Arial Narrow" panose="020B0606020202030204" pitchFamily="34" charset="0"/>
              </a:rPr>
              <a:t>, enabling the training of very deep networks with fewer parameters. </a:t>
            </a:r>
          </a:p>
        </p:txBody>
      </p:sp>
      <p:pic>
        <p:nvPicPr>
          <p:cNvPr id="4" name="Picture 2" descr="https://contributor.insightmediagroup.io/wp-content/uploads/2026/04/1r3K1uSN4xpLydqdb_D6UAw.png">
            <a:extLst>
              <a:ext uri="{FF2B5EF4-FFF2-40B4-BE49-F238E27FC236}">
                <a16:creationId xmlns:a16="http://schemas.microsoft.com/office/drawing/2014/main" id="{E621C364-7722-47DE-B772-0DF1EA1991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8903" y="1946271"/>
            <a:ext cx="4124885" cy="296545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4D9CC24-1519-45FD-8261-5A4D4CFB5A7D}"/>
              </a:ext>
            </a:extLst>
          </p:cNvPr>
          <p:cNvSpPr/>
          <p:nvPr/>
        </p:nvSpPr>
        <p:spPr>
          <a:xfrm>
            <a:off x="6956612" y="5050070"/>
            <a:ext cx="5235388" cy="707886"/>
          </a:xfrm>
          <a:prstGeom prst="rect">
            <a:avLst/>
          </a:prstGeom>
        </p:spPr>
        <p:txBody>
          <a:bodyPr wrap="square">
            <a:spAutoFit/>
          </a:bodyPr>
          <a:lstStyle/>
          <a:p>
            <a:r>
              <a:rPr lang="en-IN" sz="2000" dirty="0">
                <a:latin typeface="Arial Narrow" panose="020B0606020202030204" pitchFamily="34" charset="0"/>
              </a:rPr>
              <a:t>A 5-layer dense block with a growth rate of k = 4. Each layer takes all preceding feature-maps as input.</a:t>
            </a:r>
          </a:p>
        </p:txBody>
      </p:sp>
      <p:sp>
        <p:nvSpPr>
          <p:cNvPr id="6" name="Rectangle 5">
            <a:extLst>
              <a:ext uri="{FF2B5EF4-FFF2-40B4-BE49-F238E27FC236}">
                <a16:creationId xmlns:a16="http://schemas.microsoft.com/office/drawing/2014/main" id="{DE08D033-77F9-4423-9F51-6F58754D28F9}"/>
              </a:ext>
            </a:extLst>
          </p:cNvPr>
          <p:cNvSpPr/>
          <p:nvPr/>
        </p:nvSpPr>
        <p:spPr>
          <a:xfrm>
            <a:off x="836593" y="6278657"/>
            <a:ext cx="9779665" cy="307777"/>
          </a:xfrm>
          <a:prstGeom prst="rect">
            <a:avLst/>
          </a:prstGeom>
        </p:spPr>
        <p:txBody>
          <a:bodyPr wrap="none">
            <a:spAutoFit/>
          </a:bodyPr>
          <a:lstStyle/>
          <a:p>
            <a:r>
              <a:rPr lang="en-IN" sz="1400" dirty="0">
                <a:solidFill>
                  <a:srgbClr val="333333"/>
                </a:solidFill>
                <a:latin typeface="Arial Narrow" panose="020B0606020202030204" pitchFamily="34" charset="0"/>
              </a:rPr>
              <a:t>Image Source: Gao Huang; Zhuang Liu; Laurens Van Der </a:t>
            </a:r>
            <a:r>
              <a:rPr lang="en-IN" sz="1400" dirty="0" err="1">
                <a:solidFill>
                  <a:srgbClr val="333333"/>
                </a:solidFill>
                <a:latin typeface="Arial Narrow" panose="020B0606020202030204" pitchFamily="34" charset="0"/>
              </a:rPr>
              <a:t>Maaten</a:t>
            </a:r>
            <a:r>
              <a:rPr lang="en-IN" sz="1400" dirty="0">
                <a:solidFill>
                  <a:srgbClr val="333333"/>
                </a:solidFill>
                <a:latin typeface="Arial Narrow" panose="020B0606020202030204" pitchFamily="34" charset="0"/>
              </a:rPr>
              <a:t>; Kilian Q. Weinberger, “Densely Connected Convolutional Networks”, CVPR 2017</a:t>
            </a:r>
            <a:endParaRPr lang="en-IN" sz="1400" i="0" dirty="0">
              <a:solidFill>
                <a:srgbClr val="333333"/>
              </a:solidFill>
              <a:effectLst/>
              <a:latin typeface="Arial Narrow" panose="020B0606020202030204" pitchFamily="34" charset="0"/>
            </a:endParaRPr>
          </a:p>
        </p:txBody>
      </p:sp>
    </p:spTree>
    <p:extLst>
      <p:ext uri="{BB962C8B-B14F-4D97-AF65-F5344CB8AC3E}">
        <p14:creationId xmlns:p14="http://schemas.microsoft.com/office/powerpoint/2010/main" val="1518280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A7090D-794D-4070-861C-49BC060D6E58}"/>
              </a:ext>
            </a:extLst>
          </p:cNvPr>
          <p:cNvSpPr>
            <a:spLocks noGrp="1"/>
          </p:cNvSpPr>
          <p:nvPr>
            <p:ph idx="1"/>
          </p:nvPr>
        </p:nvSpPr>
        <p:spPr>
          <a:xfrm>
            <a:off x="838200" y="1825625"/>
            <a:ext cx="6118412" cy="4351338"/>
          </a:xfrm>
        </p:spPr>
        <p:txBody>
          <a:bodyPr>
            <a:normAutofit fontScale="92500" lnSpcReduction="20000"/>
          </a:bodyPr>
          <a:lstStyle/>
          <a:p>
            <a:pPr algn="just"/>
            <a:r>
              <a:rPr lang="en-US" sz="2400" dirty="0">
                <a:latin typeface="Arial Narrow" panose="020B0606020202030204" pitchFamily="34" charset="0"/>
              </a:rPr>
              <a:t>A Dense-Net architecture typically consists of </a:t>
            </a:r>
            <a:r>
              <a:rPr lang="en-US" sz="2400" dirty="0">
                <a:solidFill>
                  <a:srgbClr val="00B0F0"/>
                </a:solidFill>
                <a:latin typeface="Arial Narrow" panose="020B0606020202030204" pitchFamily="34" charset="0"/>
              </a:rPr>
              <a:t>an initial convolution layer</a:t>
            </a:r>
            <a:r>
              <a:rPr lang="en-US" sz="2400" dirty="0">
                <a:latin typeface="Arial Narrow" panose="020B0606020202030204" pitchFamily="34" charset="0"/>
              </a:rPr>
              <a:t>, </a:t>
            </a:r>
            <a:r>
              <a:rPr lang="en-US" sz="2400" dirty="0">
                <a:solidFill>
                  <a:srgbClr val="00B0F0"/>
                </a:solidFill>
                <a:latin typeface="Arial Narrow" panose="020B0606020202030204" pitchFamily="34" charset="0"/>
              </a:rPr>
              <a:t>multiple dense blocks separated by transition layers</a:t>
            </a:r>
            <a:r>
              <a:rPr lang="en-US" sz="2400" dirty="0">
                <a:latin typeface="Arial Narrow" panose="020B0606020202030204" pitchFamily="34" charset="0"/>
              </a:rPr>
              <a:t>, and a </a:t>
            </a:r>
            <a:r>
              <a:rPr lang="en-US" sz="2400" dirty="0">
                <a:solidFill>
                  <a:srgbClr val="00B0F0"/>
                </a:solidFill>
                <a:latin typeface="Arial Narrow" panose="020B0606020202030204" pitchFamily="34" charset="0"/>
              </a:rPr>
              <a:t>final classification layer</a:t>
            </a:r>
            <a:r>
              <a:rPr lang="en-US" sz="2400" dirty="0">
                <a:latin typeface="Arial Narrow" panose="020B0606020202030204" pitchFamily="34" charset="0"/>
              </a:rPr>
              <a:t>. </a:t>
            </a:r>
          </a:p>
          <a:p>
            <a:pPr algn="just"/>
            <a:endParaRPr lang="en-US" sz="2400" dirty="0">
              <a:latin typeface="Arial Narrow" panose="020B0606020202030204" pitchFamily="34" charset="0"/>
            </a:endParaRPr>
          </a:p>
          <a:p>
            <a:pPr algn="just"/>
            <a:r>
              <a:rPr lang="en-US" sz="2400" dirty="0">
                <a:latin typeface="Arial Narrow" panose="020B0606020202030204" pitchFamily="34" charset="0"/>
              </a:rPr>
              <a:t>Each dense block contains several convolutional layers, while </a:t>
            </a:r>
            <a:r>
              <a:rPr lang="en-US" sz="2400" dirty="0">
                <a:solidFill>
                  <a:srgbClr val="00B0F0"/>
                </a:solidFill>
                <a:latin typeface="Arial Narrow" panose="020B0606020202030204" pitchFamily="34" charset="0"/>
              </a:rPr>
              <a:t>transition layers include batch normalization, a 1×1 convolution, and average pooling to reduce the number of feature maps and spatial dimensions</a:t>
            </a:r>
            <a:r>
              <a:rPr lang="en-US" sz="2400" dirty="0">
                <a:latin typeface="Arial Narrow" panose="020B0606020202030204" pitchFamily="34" charset="0"/>
              </a:rPr>
              <a:t>. </a:t>
            </a:r>
          </a:p>
          <a:p>
            <a:pPr algn="just"/>
            <a:endParaRPr lang="en-US" sz="2400" dirty="0">
              <a:latin typeface="Arial Narrow" panose="020B0606020202030204" pitchFamily="34" charset="0"/>
            </a:endParaRPr>
          </a:p>
          <a:p>
            <a:pPr algn="just"/>
            <a:r>
              <a:rPr lang="en-US" sz="2400" dirty="0">
                <a:latin typeface="Arial Narrow" panose="020B0606020202030204" pitchFamily="34" charset="0"/>
              </a:rPr>
              <a:t>By encouraging </a:t>
            </a:r>
            <a:r>
              <a:rPr lang="en-US" sz="2400" dirty="0">
                <a:solidFill>
                  <a:srgbClr val="00B0F0"/>
                </a:solidFill>
                <a:latin typeface="Arial Narrow" panose="020B0606020202030204" pitchFamily="34" charset="0"/>
              </a:rPr>
              <a:t>feature propagation and minimizing redundant learning</a:t>
            </a:r>
            <a:r>
              <a:rPr lang="en-US" sz="2400" dirty="0">
                <a:latin typeface="Arial Narrow" panose="020B0606020202030204" pitchFamily="34" charset="0"/>
              </a:rPr>
              <a:t>, Dense-Net achieves </a:t>
            </a:r>
            <a:r>
              <a:rPr lang="en-US" sz="2400" dirty="0">
                <a:solidFill>
                  <a:srgbClr val="00B0F0"/>
                </a:solidFill>
                <a:latin typeface="Arial Narrow" panose="020B0606020202030204" pitchFamily="34" charset="0"/>
              </a:rPr>
              <a:t>high classification accuracy with improved computational efficienc</a:t>
            </a:r>
            <a:r>
              <a:rPr lang="en-US" sz="2400" dirty="0">
                <a:latin typeface="Arial Narrow" panose="020B0606020202030204" pitchFamily="34" charset="0"/>
              </a:rPr>
              <a:t>y, making it well suited </a:t>
            </a:r>
            <a:r>
              <a:rPr lang="en-US" sz="2400" dirty="0">
                <a:solidFill>
                  <a:srgbClr val="00B0F0"/>
                </a:solidFill>
                <a:latin typeface="Arial Narrow" panose="020B0606020202030204" pitchFamily="34" charset="0"/>
              </a:rPr>
              <a:t>for image classification, object detection, and medical image analysis tasks</a:t>
            </a:r>
            <a:r>
              <a:rPr lang="en-US" sz="2400" dirty="0">
                <a:latin typeface="Arial Narrow" panose="020B0606020202030204" pitchFamily="34" charset="0"/>
              </a:rPr>
              <a:t>.</a:t>
            </a:r>
            <a:endParaRPr lang="en-IN" sz="2400" dirty="0">
              <a:latin typeface="Arial Narrow" panose="020B0606020202030204" pitchFamily="34" charset="0"/>
            </a:endParaRPr>
          </a:p>
          <a:p>
            <a:endParaRPr lang="en-IN" dirty="0"/>
          </a:p>
        </p:txBody>
      </p:sp>
      <p:pic>
        <p:nvPicPr>
          <p:cNvPr id="1026" name="Picture 2" descr="https://contributor.insightmediagroup.io/wp-content/uploads/2026/04/1r3K1uSN4xpLydqdb_D6UAw.png">
            <a:extLst>
              <a:ext uri="{FF2B5EF4-FFF2-40B4-BE49-F238E27FC236}">
                <a16:creationId xmlns:a16="http://schemas.microsoft.com/office/drawing/2014/main" id="{FB7135B7-1185-420F-B36A-629C849D99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8903" y="1946271"/>
            <a:ext cx="4124885" cy="296545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A84AAD7-F55C-4EB3-933E-CDA9C07DA839}"/>
              </a:ext>
            </a:extLst>
          </p:cNvPr>
          <p:cNvSpPr/>
          <p:nvPr/>
        </p:nvSpPr>
        <p:spPr>
          <a:xfrm>
            <a:off x="6956612" y="5050070"/>
            <a:ext cx="5235388" cy="707886"/>
          </a:xfrm>
          <a:prstGeom prst="rect">
            <a:avLst/>
          </a:prstGeom>
        </p:spPr>
        <p:txBody>
          <a:bodyPr wrap="square">
            <a:spAutoFit/>
          </a:bodyPr>
          <a:lstStyle/>
          <a:p>
            <a:r>
              <a:rPr lang="en-IN" sz="2000" dirty="0">
                <a:latin typeface="Arial Narrow" panose="020B0606020202030204" pitchFamily="34" charset="0"/>
              </a:rPr>
              <a:t>A 5-layer dense block with a growth rate of k = 4. Each layer takes all preceding feature-maps as input.</a:t>
            </a:r>
          </a:p>
        </p:txBody>
      </p:sp>
      <p:sp>
        <p:nvSpPr>
          <p:cNvPr id="7" name="Title 1">
            <a:extLst>
              <a:ext uri="{FF2B5EF4-FFF2-40B4-BE49-F238E27FC236}">
                <a16:creationId xmlns:a16="http://schemas.microsoft.com/office/drawing/2014/main" id="{227559E1-DEDA-4163-862D-6C8EA1A5F0E3}"/>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Dense-Net</a:t>
            </a:r>
            <a:endParaRPr lang="en-IN" sz="3600" dirty="0">
              <a:latin typeface="Century" panose="02040604050505020304" pitchFamily="18" charset="0"/>
            </a:endParaRPr>
          </a:p>
        </p:txBody>
      </p:sp>
      <p:sp>
        <p:nvSpPr>
          <p:cNvPr id="6" name="Rectangle 5">
            <a:extLst>
              <a:ext uri="{FF2B5EF4-FFF2-40B4-BE49-F238E27FC236}">
                <a16:creationId xmlns:a16="http://schemas.microsoft.com/office/drawing/2014/main" id="{0C562A7D-C065-47A8-8DF7-C3203E737426}"/>
              </a:ext>
            </a:extLst>
          </p:cNvPr>
          <p:cNvSpPr/>
          <p:nvPr/>
        </p:nvSpPr>
        <p:spPr>
          <a:xfrm>
            <a:off x="836593" y="6278657"/>
            <a:ext cx="9779665" cy="307777"/>
          </a:xfrm>
          <a:prstGeom prst="rect">
            <a:avLst/>
          </a:prstGeom>
        </p:spPr>
        <p:txBody>
          <a:bodyPr wrap="none">
            <a:spAutoFit/>
          </a:bodyPr>
          <a:lstStyle/>
          <a:p>
            <a:r>
              <a:rPr lang="en-IN" sz="1400" dirty="0">
                <a:solidFill>
                  <a:srgbClr val="333333"/>
                </a:solidFill>
                <a:latin typeface="Arial Narrow" panose="020B0606020202030204" pitchFamily="34" charset="0"/>
              </a:rPr>
              <a:t>Image Source: Gao Huang; Zhuang Liu; Laurens Van Der </a:t>
            </a:r>
            <a:r>
              <a:rPr lang="en-IN" sz="1400" dirty="0" err="1">
                <a:solidFill>
                  <a:srgbClr val="333333"/>
                </a:solidFill>
                <a:latin typeface="Arial Narrow" panose="020B0606020202030204" pitchFamily="34" charset="0"/>
              </a:rPr>
              <a:t>Maaten</a:t>
            </a:r>
            <a:r>
              <a:rPr lang="en-IN" sz="1400" dirty="0">
                <a:solidFill>
                  <a:srgbClr val="333333"/>
                </a:solidFill>
                <a:latin typeface="Arial Narrow" panose="020B0606020202030204" pitchFamily="34" charset="0"/>
              </a:rPr>
              <a:t>; Kilian Q. Weinberger, “Densely Connected Convolutional Networks”, CVPR 2017</a:t>
            </a:r>
            <a:endParaRPr lang="en-IN" sz="1400" i="0" dirty="0">
              <a:solidFill>
                <a:srgbClr val="333333"/>
              </a:solidFill>
              <a:effectLst/>
              <a:latin typeface="Arial Narrow" panose="020B0606020202030204" pitchFamily="34" charset="0"/>
            </a:endParaRPr>
          </a:p>
        </p:txBody>
      </p:sp>
    </p:spTree>
    <p:extLst>
      <p:ext uri="{BB962C8B-B14F-4D97-AF65-F5344CB8AC3E}">
        <p14:creationId xmlns:p14="http://schemas.microsoft.com/office/powerpoint/2010/main" val="885381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6DAC7C-AE36-41E7-8EC3-D4AA157AC460}"/>
              </a:ext>
            </a:extLst>
          </p:cNvPr>
          <p:cNvSpPr>
            <a:spLocks noGrp="1"/>
          </p:cNvSpPr>
          <p:nvPr>
            <p:ph idx="1"/>
          </p:nvPr>
        </p:nvSpPr>
        <p:spPr>
          <a:xfrm>
            <a:off x="838200" y="1825625"/>
            <a:ext cx="5705475" cy="4584700"/>
          </a:xfrm>
        </p:spPr>
        <p:txBody>
          <a:bodyPr>
            <a:normAutofit/>
          </a:bodyPr>
          <a:lstStyle/>
          <a:p>
            <a:pPr algn="just"/>
            <a:r>
              <a:rPr lang="en-US" sz="2000" dirty="0">
                <a:latin typeface="Arial Narrow" panose="020B0606020202030204" pitchFamily="34" charset="0"/>
              </a:rPr>
              <a:t>In a conventional Convolutional Neural Network (CNN), an architecture with </a:t>
            </a:r>
            <a:r>
              <a:rPr lang="en-US" sz="2000" dirty="0">
                <a:solidFill>
                  <a:srgbClr val="00B0F0"/>
                </a:solidFill>
                <a:latin typeface="Arial Narrow" panose="020B0606020202030204" pitchFamily="34" charset="0"/>
              </a:rPr>
              <a:t>L</a:t>
            </a:r>
            <a:r>
              <a:rPr lang="en-US" sz="2000" dirty="0">
                <a:latin typeface="Arial Narrow" panose="020B0606020202030204" pitchFamily="34" charset="0"/>
              </a:rPr>
              <a:t> layers typically contains </a:t>
            </a:r>
            <a:r>
              <a:rPr lang="en-US" sz="2000" dirty="0">
                <a:solidFill>
                  <a:srgbClr val="00B0F0"/>
                </a:solidFill>
                <a:latin typeface="Arial Narrow" panose="020B0606020202030204" pitchFamily="34" charset="0"/>
              </a:rPr>
              <a:t>L</a:t>
            </a:r>
            <a:r>
              <a:rPr lang="en-US" sz="2000" dirty="0">
                <a:latin typeface="Arial Narrow" panose="020B0606020202030204" pitchFamily="34" charset="0"/>
              </a:rPr>
              <a:t> direct connections, where each layer receives input only from the immediately preceding layer and passes its output to the next.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For example, a traditional 6-layer CNN would have only </a:t>
            </a:r>
            <a:r>
              <a:rPr lang="en-US" sz="2000" dirty="0">
                <a:solidFill>
                  <a:srgbClr val="00B0F0"/>
                </a:solidFill>
                <a:latin typeface="Arial Narrow" panose="020B0606020202030204" pitchFamily="34" charset="0"/>
              </a:rPr>
              <a:t>six sequential connections </a:t>
            </a:r>
            <a:r>
              <a:rPr lang="en-US" sz="2000" dirty="0">
                <a:latin typeface="Arial Narrow" panose="020B0606020202030204" pitchFamily="34" charset="0"/>
              </a:rPr>
              <a:t>represented by the straight arrows between adjacent layers.</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In contrast, </a:t>
            </a:r>
            <a:r>
              <a:rPr lang="en-US" sz="2000" dirty="0" err="1">
                <a:solidFill>
                  <a:srgbClr val="00B0F0"/>
                </a:solidFill>
                <a:latin typeface="Arial Narrow" panose="020B0606020202030204" pitchFamily="34" charset="0"/>
              </a:rPr>
              <a:t>DenseNet</a:t>
            </a:r>
            <a:r>
              <a:rPr lang="en-US" sz="2000" dirty="0">
                <a:latin typeface="Arial Narrow" panose="020B0606020202030204" pitchFamily="34" charset="0"/>
              </a:rPr>
              <a:t> introduces dense connectivity, where each layer receives feature maps from </a:t>
            </a:r>
            <a:r>
              <a:rPr lang="en-US" sz="2000" dirty="0">
                <a:solidFill>
                  <a:srgbClr val="00B0F0"/>
                </a:solidFill>
                <a:latin typeface="Arial Narrow" panose="020B0606020202030204" pitchFamily="34" charset="0"/>
              </a:rPr>
              <a:t>all preceding layers </a:t>
            </a:r>
            <a:r>
              <a:rPr lang="en-US" sz="2000" dirty="0">
                <a:latin typeface="Arial Narrow" panose="020B0606020202030204" pitchFamily="34" charset="0"/>
              </a:rPr>
              <a:t>and forwards its own feature maps to </a:t>
            </a:r>
            <a:r>
              <a:rPr lang="en-US" sz="2000" dirty="0">
                <a:solidFill>
                  <a:srgbClr val="00B0F0"/>
                </a:solidFill>
                <a:latin typeface="Arial Narrow" panose="020B0606020202030204" pitchFamily="34" charset="0"/>
              </a:rPr>
              <a:t>all subsequent layers</a:t>
            </a:r>
            <a:r>
              <a:rPr lang="en-US" sz="2000" dirty="0">
                <a:latin typeface="Arial Narrow" panose="020B0606020202030204" pitchFamily="34" charset="0"/>
              </a:rPr>
              <a:t>. </a:t>
            </a:r>
          </a:p>
        </p:txBody>
      </p:sp>
      <p:grpSp>
        <p:nvGrpSpPr>
          <p:cNvPr id="4" name="Group 3">
            <a:extLst>
              <a:ext uri="{FF2B5EF4-FFF2-40B4-BE49-F238E27FC236}">
                <a16:creationId xmlns:a16="http://schemas.microsoft.com/office/drawing/2014/main" id="{9D67911D-0493-45EA-B80E-BFC78433B6DB}"/>
              </a:ext>
            </a:extLst>
          </p:cNvPr>
          <p:cNvGrpSpPr/>
          <p:nvPr/>
        </p:nvGrpSpPr>
        <p:grpSpPr>
          <a:xfrm>
            <a:off x="6916081" y="1877760"/>
            <a:ext cx="5199405" cy="4393146"/>
            <a:chOff x="1229656" y="1963485"/>
            <a:chExt cx="5199405" cy="4393146"/>
          </a:xfrm>
        </p:grpSpPr>
        <p:sp>
          <p:nvSpPr>
            <p:cNvPr id="5" name="Oval 4">
              <a:extLst>
                <a:ext uri="{FF2B5EF4-FFF2-40B4-BE49-F238E27FC236}">
                  <a16:creationId xmlns:a16="http://schemas.microsoft.com/office/drawing/2014/main" id="{74814446-F71E-4074-9D0A-6A0FA718762F}"/>
                </a:ext>
              </a:extLst>
            </p:cNvPr>
            <p:cNvSpPr/>
            <p:nvPr/>
          </p:nvSpPr>
          <p:spPr>
            <a:xfrm>
              <a:off x="2116790" y="2131997"/>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40FE6F0D-9A79-4D05-B7D1-F91611CC31F5}"/>
                </a:ext>
              </a:extLst>
            </p:cNvPr>
            <p:cNvCxnSpPr>
              <a:stCxn id="7" idx="3"/>
              <a:endCxn id="5" idx="2"/>
            </p:cNvCxnSpPr>
            <p:nvPr/>
          </p:nvCxnSpPr>
          <p:spPr>
            <a:xfrm>
              <a:off x="1847828" y="2356544"/>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0961C63-2C4B-40FC-94C9-1A63A8231B19}"/>
                </a:ext>
              </a:extLst>
            </p:cNvPr>
            <p:cNvPicPr>
              <a:picLocks noChangeAspect="1"/>
            </p:cNvPicPr>
            <p:nvPr/>
          </p:nvPicPr>
          <p:blipFill rotWithShape="1">
            <a:blip r:embed="rId2"/>
            <a:srcRect l="12909"/>
            <a:stretch/>
          </p:blipFill>
          <p:spPr>
            <a:xfrm>
              <a:off x="1229656" y="1963485"/>
              <a:ext cx="618172" cy="786118"/>
            </a:xfrm>
            <a:prstGeom prst="rect">
              <a:avLst/>
            </a:prstGeom>
          </p:spPr>
        </p:pic>
        <p:sp>
          <p:nvSpPr>
            <p:cNvPr id="8" name="Oval 7">
              <a:extLst>
                <a:ext uri="{FF2B5EF4-FFF2-40B4-BE49-F238E27FC236}">
                  <a16:creationId xmlns:a16="http://schemas.microsoft.com/office/drawing/2014/main" id="{2B3E12EA-103D-402A-89C9-E6488D456D24}"/>
                </a:ext>
              </a:extLst>
            </p:cNvPr>
            <p:cNvSpPr/>
            <p:nvPr/>
          </p:nvSpPr>
          <p:spPr>
            <a:xfrm>
              <a:off x="5181349" y="2086708"/>
              <a:ext cx="1196340" cy="553774"/>
            </a:xfrm>
            <a:prstGeom prst="ellipse">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00B0F0"/>
                  </a:solidFill>
                  <a:latin typeface="Arial Narrow" panose="020B0606020202030204" pitchFamily="34" charset="0"/>
                </a:rPr>
                <a:t>Classifier</a:t>
              </a:r>
            </a:p>
          </p:txBody>
        </p:sp>
        <p:sp>
          <p:nvSpPr>
            <p:cNvPr id="9" name="TextBox 8">
              <a:extLst>
                <a:ext uri="{FF2B5EF4-FFF2-40B4-BE49-F238E27FC236}">
                  <a16:creationId xmlns:a16="http://schemas.microsoft.com/office/drawing/2014/main" id="{08FEE136-548B-4403-8A70-CCF6AC923EFE}"/>
                </a:ext>
              </a:extLst>
            </p:cNvPr>
            <p:cNvSpPr txBox="1"/>
            <p:nvPr/>
          </p:nvSpPr>
          <p:spPr>
            <a:xfrm>
              <a:off x="4504823" y="2568985"/>
              <a:ext cx="1317990" cy="400110"/>
            </a:xfrm>
            <a:prstGeom prst="rect">
              <a:avLst/>
            </a:prstGeom>
            <a:noFill/>
          </p:spPr>
          <p:txBody>
            <a:bodyPr wrap="non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Plain CNN</a:t>
              </a:r>
            </a:p>
          </p:txBody>
        </p:sp>
        <p:sp>
          <p:nvSpPr>
            <p:cNvPr id="10" name="Oval 9">
              <a:extLst>
                <a:ext uri="{FF2B5EF4-FFF2-40B4-BE49-F238E27FC236}">
                  <a16:creationId xmlns:a16="http://schemas.microsoft.com/office/drawing/2014/main" id="{E013A56C-35EC-4862-BECE-042D5CB30643}"/>
                </a:ext>
              </a:extLst>
            </p:cNvPr>
            <p:cNvSpPr/>
            <p:nvPr/>
          </p:nvSpPr>
          <p:spPr>
            <a:xfrm>
              <a:off x="2636067" y="2129576"/>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CDEA6FEA-6BC4-4459-B05B-57ABB32E42F1}"/>
                </a:ext>
              </a:extLst>
            </p:cNvPr>
            <p:cNvCxnSpPr>
              <a:stCxn id="5" idx="6"/>
              <a:endCxn id="10" idx="2"/>
            </p:cNvCxnSpPr>
            <p:nvPr/>
          </p:nvCxnSpPr>
          <p:spPr>
            <a:xfrm flipV="1">
              <a:off x="2367105" y="2356544"/>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8F6A87DC-3487-4565-9931-BC2955FCD2BF}"/>
                </a:ext>
              </a:extLst>
            </p:cNvPr>
            <p:cNvSpPr/>
            <p:nvPr/>
          </p:nvSpPr>
          <p:spPr>
            <a:xfrm>
              <a:off x="3154327" y="212715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89407C56-C240-4AA5-9324-2E8E00C1AC83}"/>
                </a:ext>
              </a:extLst>
            </p:cNvPr>
            <p:cNvCxnSpPr>
              <a:endCxn id="12" idx="2"/>
            </p:cNvCxnSpPr>
            <p:nvPr/>
          </p:nvCxnSpPr>
          <p:spPr>
            <a:xfrm>
              <a:off x="2885365" y="235170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ADA7B259-1A7B-4736-A2BF-BF70675C184A}"/>
                </a:ext>
              </a:extLst>
            </p:cNvPr>
            <p:cNvSpPr/>
            <p:nvPr/>
          </p:nvSpPr>
          <p:spPr>
            <a:xfrm>
              <a:off x="3648844" y="212715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43997F24-568E-4A7B-A395-09DFAE10DDFC}"/>
                </a:ext>
              </a:extLst>
            </p:cNvPr>
            <p:cNvCxnSpPr>
              <a:endCxn id="14" idx="2"/>
            </p:cNvCxnSpPr>
            <p:nvPr/>
          </p:nvCxnSpPr>
          <p:spPr>
            <a:xfrm>
              <a:off x="3379882" y="235170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F7134B34-1C97-404B-ABD5-B5D18E32DCC9}"/>
                </a:ext>
              </a:extLst>
            </p:cNvPr>
            <p:cNvSpPr/>
            <p:nvPr/>
          </p:nvSpPr>
          <p:spPr>
            <a:xfrm>
              <a:off x="4168121" y="2124734"/>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F1D4D175-B5BC-42D0-BD5A-CE81DE87C2E0}"/>
                </a:ext>
              </a:extLst>
            </p:cNvPr>
            <p:cNvCxnSpPr>
              <a:endCxn id="16" idx="2"/>
            </p:cNvCxnSpPr>
            <p:nvPr/>
          </p:nvCxnSpPr>
          <p:spPr>
            <a:xfrm>
              <a:off x="3899159" y="2349281"/>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4B937FC-E67E-46E6-B99D-781F18D12A7E}"/>
                </a:ext>
              </a:extLst>
            </p:cNvPr>
            <p:cNvCxnSpPr>
              <a:cxnSpLocks/>
            </p:cNvCxnSpPr>
            <p:nvPr/>
          </p:nvCxnSpPr>
          <p:spPr>
            <a:xfrm>
              <a:off x="4417419" y="2346860"/>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DECA1D20-E425-40B2-AE43-05A4C64B858B}"/>
                </a:ext>
              </a:extLst>
            </p:cNvPr>
            <p:cNvSpPr/>
            <p:nvPr/>
          </p:nvSpPr>
          <p:spPr>
            <a:xfrm>
              <a:off x="2116790" y="326646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C5D8CDB9-48DE-499C-88B2-0854770EF4AC}"/>
                </a:ext>
              </a:extLst>
            </p:cNvPr>
            <p:cNvCxnSpPr>
              <a:stCxn id="21" idx="3"/>
              <a:endCxn id="19" idx="2"/>
            </p:cNvCxnSpPr>
            <p:nvPr/>
          </p:nvCxnSpPr>
          <p:spPr>
            <a:xfrm>
              <a:off x="1847828" y="349101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D155ECB8-3D48-43AA-9A6B-03598DFBAF58}"/>
                </a:ext>
              </a:extLst>
            </p:cNvPr>
            <p:cNvPicPr>
              <a:picLocks noChangeAspect="1"/>
            </p:cNvPicPr>
            <p:nvPr/>
          </p:nvPicPr>
          <p:blipFill rotWithShape="1">
            <a:blip r:embed="rId2"/>
            <a:srcRect l="12909"/>
            <a:stretch/>
          </p:blipFill>
          <p:spPr>
            <a:xfrm>
              <a:off x="1229656" y="3097953"/>
              <a:ext cx="618172" cy="786118"/>
            </a:xfrm>
            <a:prstGeom prst="rect">
              <a:avLst/>
            </a:prstGeom>
          </p:spPr>
        </p:pic>
        <p:sp>
          <p:nvSpPr>
            <p:cNvPr id="22" name="Oval 21">
              <a:extLst>
                <a:ext uri="{FF2B5EF4-FFF2-40B4-BE49-F238E27FC236}">
                  <a16:creationId xmlns:a16="http://schemas.microsoft.com/office/drawing/2014/main" id="{16AE6E42-53E1-463C-8B35-D4C7641C72CE}"/>
                </a:ext>
              </a:extLst>
            </p:cNvPr>
            <p:cNvSpPr/>
            <p:nvPr/>
          </p:nvSpPr>
          <p:spPr>
            <a:xfrm>
              <a:off x="5137111" y="3188488"/>
              <a:ext cx="1196340" cy="553774"/>
            </a:xfrm>
            <a:prstGeom prst="ellipse">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00B0F0"/>
                  </a:solidFill>
                  <a:latin typeface="Arial Narrow" panose="020B0606020202030204" pitchFamily="34" charset="0"/>
                </a:rPr>
                <a:t>Classifier</a:t>
              </a:r>
            </a:p>
          </p:txBody>
        </p:sp>
        <p:sp>
          <p:nvSpPr>
            <p:cNvPr id="23" name="Oval 22">
              <a:extLst>
                <a:ext uri="{FF2B5EF4-FFF2-40B4-BE49-F238E27FC236}">
                  <a16:creationId xmlns:a16="http://schemas.microsoft.com/office/drawing/2014/main" id="{1A12F76D-5046-4179-9195-BFB6B5FA9548}"/>
                </a:ext>
              </a:extLst>
            </p:cNvPr>
            <p:cNvSpPr/>
            <p:nvPr/>
          </p:nvSpPr>
          <p:spPr>
            <a:xfrm>
              <a:off x="2599411" y="3270490"/>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676A65A3-CF32-4F44-AF16-2ADAC48BFDA6}"/>
                </a:ext>
              </a:extLst>
            </p:cNvPr>
            <p:cNvCxnSpPr>
              <a:cxnSpLocks/>
            </p:cNvCxnSpPr>
            <p:nvPr/>
          </p:nvCxnSpPr>
          <p:spPr>
            <a:xfrm>
              <a:off x="2356764" y="3494115"/>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E96F2E5-CA07-41E5-8751-F89F732134E2}"/>
                </a:ext>
              </a:extLst>
            </p:cNvPr>
            <p:cNvCxnSpPr>
              <a:cxnSpLocks/>
              <a:endCxn id="22" idx="2"/>
            </p:cNvCxnSpPr>
            <p:nvPr/>
          </p:nvCxnSpPr>
          <p:spPr>
            <a:xfrm flipV="1">
              <a:off x="4869166" y="3465375"/>
              <a:ext cx="267945" cy="3632"/>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E62FC11-A833-46D7-8E09-EF98C3FE5314}"/>
                </a:ext>
              </a:extLst>
            </p:cNvPr>
            <p:cNvCxnSpPr>
              <a:endCxn id="23" idx="0"/>
            </p:cNvCxnSpPr>
            <p:nvPr/>
          </p:nvCxnSpPr>
          <p:spPr>
            <a:xfrm>
              <a:off x="2724568" y="3097953"/>
              <a:ext cx="1" cy="172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43D216A-6554-4003-9D20-A4A67E6CD5C4}"/>
                </a:ext>
              </a:extLst>
            </p:cNvPr>
            <p:cNvCxnSpPr>
              <a:cxnSpLocks/>
            </p:cNvCxnSpPr>
            <p:nvPr/>
          </p:nvCxnSpPr>
          <p:spPr>
            <a:xfrm flipV="1">
              <a:off x="1946113" y="3097953"/>
              <a:ext cx="0" cy="3930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C56BF5F-F301-4E1E-89BE-121D3476342C}"/>
                </a:ext>
              </a:extLst>
            </p:cNvPr>
            <p:cNvCxnSpPr>
              <a:cxnSpLocks/>
            </p:cNvCxnSpPr>
            <p:nvPr/>
          </p:nvCxnSpPr>
          <p:spPr>
            <a:xfrm>
              <a:off x="1946113" y="3089479"/>
              <a:ext cx="778455" cy="8474"/>
            </a:xfrm>
            <a:prstGeom prst="line">
              <a:avLst/>
            </a:prstGeom>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66143A0E-757F-4C5A-8BD0-125532F48433}"/>
                </a:ext>
              </a:extLst>
            </p:cNvPr>
            <p:cNvSpPr/>
            <p:nvPr/>
          </p:nvSpPr>
          <p:spPr>
            <a:xfrm>
              <a:off x="3126994" y="3257991"/>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Arrow Connector 29">
              <a:extLst>
                <a:ext uri="{FF2B5EF4-FFF2-40B4-BE49-F238E27FC236}">
                  <a16:creationId xmlns:a16="http://schemas.microsoft.com/office/drawing/2014/main" id="{65A6C9E6-214B-4B3A-9A35-469787F227F6}"/>
                </a:ext>
              </a:extLst>
            </p:cNvPr>
            <p:cNvCxnSpPr>
              <a:endCxn id="29" idx="2"/>
            </p:cNvCxnSpPr>
            <p:nvPr/>
          </p:nvCxnSpPr>
          <p:spPr>
            <a:xfrm>
              <a:off x="2858032" y="3482538"/>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705A3730-FD03-4B08-9310-DF2512990B61}"/>
                </a:ext>
              </a:extLst>
            </p:cNvPr>
            <p:cNvSpPr/>
            <p:nvPr/>
          </p:nvSpPr>
          <p:spPr>
            <a:xfrm>
              <a:off x="3609615" y="3262016"/>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Arrow Connector 31">
              <a:extLst>
                <a:ext uri="{FF2B5EF4-FFF2-40B4-BE49-F238E27FC236}">
                  <a16:creationId xmlns:a16="http://schemas.microsoft.com/office/drawing/2014/main" id="{DD3CF41D-FB74-4B9F-805D-D6C76A1B8819}"/>
                </a:ext>
              </a:extLst>
            </p:cNvPr>
            <p:cNvCxnSpPr>
              <a:cxnSpLocks/>
            </p:cNvCxnSpPr>
            <p:nvPr/>
          </p:nvCxnSpPr>
          <p:spPr>
            <a:xfrm>
              <a:off x="3366968" y="3485641"/>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8800ADC-37CE-4623-86BA-2658E3DA91CF}"/>
                </a:ext>
              </a:extLst>
            </p:cNvPr>
            <p:cNvCxnSpPr>
              <a:endCxn id="31" idx="0"/>
            </p:cNvCxnSpPr>
            <p:nvPr/>
          </p:nvCxnSpPr>
          <p:spPr>
            <a:xfrm>
              <a:off x="3734772" y="3089479"/>
              <a:ext cx="1" cy="172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97E7507-22FE-40D7-8C71-0A861CE55045}"/>
                </a:ext>
              </a:extLst>
            </p:cNvPr>
            <p:cNvCxnSpPr>
              <a:cxnSpLocks/>
            </p:cNvCxnSpPr>
            <p:nvPr/>
          </p:nvCxnSpPr>
          <p:spPr>
            <a:xfrm flipV="1">
              <a:off x="2956317" y="3089479"/>
              <a:ext cx="0" cy="3930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8B4853D-84BA-47C7-8602-376EBA951E58}"/>
                </a:ext>
              </a:extLst>
            </p:cNvPr>
            <p:cNvCxnSpPr>
              <a:cxnSpLocks/>
            </p:cNvCxnSpPr>
            <p:nvPr/>
          </p:nvCxnSpPr>
          <p:spPr>
            <a:xfrm>
              <a:off x="2956317" y="3081005"/>
              <a:ext cx="778455" cy="8474"/>
            </a:xfrm>
            <a:prstGeom prst="line">
              <a:avLst/>
            </a:prstGeom>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62642D12-9F6B-4D6E-9D6B-FD464E565AED}"/>
                </a:ext>
              </a:extLst>
            </p:cNvPr>
            <p:cNvSpPr/>
            <p:nvPr/>
          </p:nvSpPr>
          <p:spPr>
            <a:xfrm>
              <a:off x="4136531" y="3266130"/>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7" name="Straight Arrow Connector 36">
              <a:extLst>
                <a:ext uri="{FF2B5EF4-FFF2-40B4-BE49-F238E27FC236}">
                  <a16:creationId xmlns:a16="http://schemas.microsoft.com/office/drawing/2014/main" id="{75F37AED-7CBA-4F86-9DDB-FD89F420EE2D}"/>
                </a:ext>
              </a:extLst>
            </p:cNvPr>
            <p:cNvCxnSpPr>
              <a:endCxn id="36" idx="2"/>
            </p:cNvCxnSpPr>
            <p:nvPr/>
          </p:nvCxnSpPr>
          <p:spPr>
            <a:xfrm>
              <a:off x="3867569" y="3490677"/>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E38D4193-1532-40D8-8CEB-A97A9C0AE859}"/>
                </a:ext>
              </a:extLst>
            </p:cNvPr>
            <p:cNvSpPr/>
            <p:nvPr/>
          </p:nvSpPr>
          <p:spPr>
            <a:xfrm>
              <a:off x="4619152" y="327015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 name="Straight Arrow Connector 38">
              <a:extLst>
                <a:ext uri="{FF2B5EF4-FFF2-40B4-BE49-F238E27FC236}">
                  <a16:creationId xmlns:a16="http://schemas.microsoft.com/office/drawing/2014/main" id="{201F2C3E-4634-45AC-B6D7-F7CB935D623B}"/>
                </a:ext>
              </a:extLst>
            </p:cNvPr>
            <p:cNvCxnSpPr>
              <a:cxnSpLocks/>
            </p:cNvCxnSpPr>
            <p:nvPr/>
          </p:nvCxnSpPr>
          <p:spPr>
            <a:xfrm>
              <a:off x="4376505" y="3493780"/>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3F74C13-7D7E-43B4-80F1-8A9592474435}"/>
                </a:ext>
              </a:extLst>
            </p:cNvPr>
            <p:cNvCxnSpPr>
              <a:endCxn id="38" idx="0"/>
            </p:cNvCxnSpPr>
            <p:nvPr/>
          </p:nvCxnSpPr>
          <p:spPr>
            <a:xfrm>
              <a:off x="4744309" y="3097618"/>
              <a:ext cx="1" cy="172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4F5813F-CCF0-423D-B0BF-F5CCE31D168B}"/>
                </a:ext>
              </a:extLst>
            </p:cNvPr>
            <p:cNvCxnSpPr>
              <a:cxnSpLocks/>
            </p:cNvCxnSpPr>
            <p:nvPr/>
          </p:nvCxnSpPr>
          <p:spPr>
            <a:xfrm flipV="1">
              <a:off x="3965854" y="3097618"/>
              <a:ext cx="0" cy="39305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74B735A-4649-47B3-A7DC-B6D7150EC739}"/>
                </a:ext>
              </a:extLst>
            </p:cNvPr>
            <p:cNvCxnSpPr>
              <a:cxnSpLocks/>
            </p:cNvCxnSpPr>
            <p:nvPr/>
          </p:nvCxnSpPr>
          <p:spPr>
            <a:xfrm>
              <a:off x="3965854" y="3089144"/>
              <a:ext cx="778455" cy="8474"/>
            </a:xfrm>
            <a:prstGeom prst="line">
              <a:avLst/>
            </a:prstGeom>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F6AE4FC5-63F5-4D99-96B2-CC1B00952D60}"/>
                </a:ext>
              </a:extLst>
            </p:cNvPr>
            <p:cNvSpPr/>
            <p:nvPr/>
          </p:nvSpPr>
          <p:spPr>
            <a:xfrm>
              <a:off x="4672230" y="2124734"/>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Arrow Connector 43">
              <a:extLst>
                <a:ext uri="{FF2B5EF4-FFF2-40B4-BE49-F238E27FC236}">
                  <a16:creationId xmlns:a16="http://schemas.microsoft.com/office/drawing/2014/main" id="{61C7B7AA-B79B-4435-B24C-8E15F7B580C2}"/>
                </a:ext>
              </a:extLst>
            </p:cNvPr>
            <p:cNvCxnSpPr>
              <a:cxnSpLocks/>
            </p:cNvCxnSpPr>
            <p:nvPr/>
          </p:nvCxnSpPr>
          <p:spPr>
            <a:xfrm>
              <a:off x="4921528" y="2346860"/>
              <a:ext cx="268962" cy="2421"/>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F7847664-273D-4A6C-AFEB-E548F57CA3A0}"/>
                </a:ext>
              </a:extLst>
            </p:cNvPr>
            <p:cNvSpPr/>
            <p:nvPr/>
          </p:nvSpPr>
          <p:spPr>
            <a:xfrm>
              <a:off x="2168162" y="4844367"/>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6" name="Straight Arrow Connector 45">
              <a:extLst>
                <a:ext uri="{FF2B5EF4-FFF2-40B4-BE49-F238E27FC236}">
                  <a16:creationId xmlns:a16="http://schemas.microsoft.com/office/drawing/2014/main" id="{BD16FC1F-6850-47E3-B67E-E616FAC6F9EB}"/>
                </a:ext>
              </a:extLst>
            </p:cNvPr>
            <p:cNvCxnSpPr>
              <a:stCxn id="47" idx="3"/>
              <a:endCxn id="45" idx="2"/>
            </p:cNvCxnSpPr>
            <p:nvPr/>
          </p:nvCxnSpPr>
          <p:spPr>
            <a:xfrm>
              <a:off x="1899200" y="5068914"/>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7" name="Picture 46">
              <a:extLst>
                <a:ext uri="{FF2B5EF4-FFF2-40B4-BE49-F238E27FC236}">
                  <a16:creationId xmlns:a16="http://schemas.microsoft.com/office/drawing/2014/main" id="{1633FD10-2832-463A-B002-81C415C123CC}"/>
                </a:ext>
              </a:extLst>
            </p:cNvPr>
            <p:cNvPicPr>
              <a:picLocks noChangeAspect="1"/>
            </p:cNvPicPr>
            <p:nvPr/>
          </p:nvPicPr>
          <p:blipFill rotWithShape="1">
            <a:blip r:embed="rId2"/>
            <a:srcRect l="12909"/>
            <a:stretch/>
          </p:blipFill>
          <p:spPr>
            <a:xfrm>
              <a:off x="1281028" y="4675855"/>
              <a:ext cx="618172" cy="786118"/>
            </a:xfrm>
            <a:prstGeom prst="rect">
              <a:avLst/>
            </a:prstGeom>
          </p:spPr>
        </p:pic>
        <p:sp>
          <p:nvSpPr>
            <p:cNvPr id="48" name="Oval 47">
              <a:extLst>
                <a:ext uri="{FF2B5EF4-FFF2-40B4-BE49-F238E27FC236}">
                  <a16:creationId xmlns:a16="http://schemas.microsoft.com/office/drawing/2014/main" id="{A78FB06A-7C2C-43C4-8222-54F64C208203}"/>
                </a:ext>
              </a:extLst>
            </p:cNvPr>
            <p:cNvSpPr/>
            <p:nvPr/>
          </p:nvSpPr>
          <p:spPr>
            <a:xfrm>
              <a:off x="5232721" y="4799078"/>
              <a:ext cx="1196340" cy="553774"/>
            </a:xfrm>
            <a:prstGeom prst="ellipse">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00B0F0"/>
                  </a:solidFill>
                  <a:latin typeface="Arial Narrow" panose="020B0606020202030204" pitchFamily="34" charset="0"/>
                </a:rPr>
                <a:t>Classifier</a:t>
              </a:r>
            </a:p>
          </p:txBody>
        </p:sp>
        <p:sp>
          <p:nvSpPr>
            <p:cNvPr id="49" name="Oval 48">
              <a:extLst>
                <a:ext uri="{FF2B5EF4-FFF2-40B4-BE49-F238E27FC236}">
                  <a16:creationId xmlns:a16="http://schemas.microsoft.com/office/drawing/2014/main" id="{A2FCF0DF-CF2B-4485-BAFC-5B6680253B51}"/>
                </a:ext>
              </a:extLst>
            </p:cNvPr>
            <p:cNvSpPr/>
            <p:nvPr/>
          </p:nvSpPr>
          <p:spPr>
            <a:xfrm>
              <a:off x="2687439" y="4841946"/>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Arrow Connector 49">
              <a:extLst>
                <a:ext uri="{FF2B5EF4-FFF2-40B4-BE49-F238E27FC236}">
                  <a16:creationId xmlns:a16="http://schemas.microsoft.com/office/drawing/2014/main" id="{AD5BE9FB-4614-43CE-AD07-E9C472944E41}"/>
                </a:ext>
              </a:extLst>
            </p:cNvPr>
            <p:cNvCxnSpPr>
              <a:stCxn id="45" idx="6"/>
              <a:endCxn id="49" idx="2"/>
            </p:cNvCxnSpPr>
            <p:nvPr/>
          </p:nvCxnSpPr>
          <p:spPr>
            <a:xfrm flipV="1">
              <a:off x="2418477" y="5068914"/>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4CE2D43A-E3E6-4898-9F32-D6948E75ADE1}"/>
                </a:ext>
              </a:extLst>
            </p:cNvPr>
            <p:cNvSpPr/>
            <p:nvPr/>
          </p:nvSpPr>
          <p:spPr>
            <a:xfrm>
              <a:off x="3205699" y="483952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2" name="Straight Arrow Connector 51">
              <a:extLst>
                <a:ext uri="{FF2B5EF4-FFF2-40B4-BE49-F238E27FC236}">
                  <a16:creationId xmlns:a16="http://schemas.microsoft.com/office/drawing/2014/main" id="{57C9E843-A35B-47EB-B59B-3E99B2A3ADDC}"/>
                </a:ext>
              </a:extLst>
            </p:cNvPr>
            <p:cNvCxnSpPr>
              <a:endCxn id="51" idx="2"/>
            </p:cNvCxnSpPr>
            <p:nvPr/>
          </p:nvCxnSpPr>
          <p:spPr>
            <a:xfrm>
              <a:off x="2936737" y="506407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306B2AFC-378D-47AE-8A64-82AE619309B5}"/>
                </a:ext>
              </a:extLst>
            </p:cNvPr>
            <p:cNvSpPr/>
            <p:nvPr/>
          </p:nvSpPr>
          <p:spPr>
            <a:xfrm>
              <a:off x="3700216" y="483952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4" name="Straight Arrow Connector 53">
              <a:extLst>
                <a:ext uri="{FF2B5EF4-FFF2-40B4-BE49-F238E27FC236}">
                  <a16:creationId xmlns:a16="http://schemas.microsoft.com/office/drawing/2014/main" id="{BB999A7B-9A2E-413E-B8FF-9E99A81DE012}"/>
                </a:ext>
              </a:extLst>
            </p:cNvPr>
            <p:cNvCxnSpPr>
              <a:endCxn id="53" idx="2"/>
            </p:cNvCxnSpPr>
            <p:nvPr/>
          </p:nvCxnSpPr>
          <p:spPr>
            <a:xfrm>
              <a:off x="3431254" y="506407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7CEC7C30-C290-4203-A72B-0A3C4F4B78B6}"/>
                </a:ext>
              </a:extLst>
            </p:cNvPr>
            <p:cNvSpPr/>
            <p:nvPr/>
          </p:nvSpPr>
          <p:spPr>
            <a:xfrm>
              <a:off x="4219493" y="4837104"/>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6" name="Straight Arrow Connector 55">
              <a:extLst>
                <a:ext uri="{FF2B5EF4-FFF2-40B4-BE49-F238E27FC236}">
                  <a16:creationId xmlns:a16="http://schemas.microsoft.com/office/drawing/2014/main" id="{640FACD8-04E0-4E5A-8060-16BD55F329B9}"/>
                </a:ext>
              </a:extLst>
            </p:cNvPr>
            <p:cNvCxnSpPr>
              <a:endCxn id="55" idx="2"/>
            </p:cNvCxnSpPr>
            <p:nvPr/>
          </p:nvCxnSpPr>
          <p:spPr>
            <a:xfrm>
              <a:off x="3950531" y="5061651"/>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96A3F87-10DD-489C-84D8-821E13089076}"/>
                </a:ext>
              </a:extLst>
            </p:cNvPr>
            <p:cNvCxnSpPr>
              <a:cxnSpLocks/>
            </p:cNvCxnSpPr>
            <p:nvPr/>
          </p:nvCxnSpPr>
          <p:spPr>
            <a:xfrm>
              <a:off x="4468791" y="5059230"/>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0D571D9F-7010-4D94-9670-AC447F728E40}"/>
                </a:ext>
              </a:extLst>
            </p:cNvPr>
            <p:cNvSpPr/>
            <p:nvPr/>
          </p:nvSpPr>
          <p:spPr>
            <a:xfrm>
              <a:off x="4723602" y="4837104"/>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9" name="Straight Arrow Connector 58">
              <a:extLst>
                <a:ext uri="{FF2B5EF4-FFF2-40B4-BE49-F238E27FC236}">
                  <a16:creationId xmlns:a16="http://schemas.microsoft.com/office/drawing/2014/main" id="{D1A77C5D-487F-4BBF-BE8B-9F84FBF9CCA4}"/>
                </a:ext>
              </a:extLst>
            </p:cNvPr>
            <p:cNvCxnSpPr>
              <a:cxnSpLocks/>
            </p:cNvCxnSpPr>
            <p:nvPr/>
          </p:nvCxnSpPr>
          <p:spPr>
            <a:xfrm>
              <a:off x="4972900" y="5059230"/>
              <a:ext cx="268962" cy="2421"/>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8BBF3A3-BE00-417E-AAA2-4AE3CC962382}"/>
                </a:ext>
              </a:extLst>
            </p:cNvPr>
            <p:cNvCxnSpPr/>
            <p:nvPr/>
          </p:nvCxnSpPr>
          <p:spPr>
            <a:xfrm flipV="1">
              <a:off x="2024726" y="4683117"/>
              <a:ext cx="0" cy="3833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775CF6F-9D67-4101-A82F-AF255BAD678B}"/>
                </a:ext>
              </a:extLst>
            </p:cNvPr>
            <p:cNvCxnSpPr/>
            <p:nvPr/>
          </p:nvCxnSpPr>
          <p:spPr>
            <a:xfrm>
              <a:off x="2024716" y="4684820"/>
              <a:ext cx="281507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B54F5952-DFED-464B-AF46-458A9D579137}"/>
                </a:ext>
              </a:extLst>
            </p:cNvPr>
            <p:cNvCxnSpPr/>
            <p:nvPr/>
          </p:nvCxnSpPr>
          <p:spPr>
            <a:xfrm>
              <a:off x="2802626" y="4682497"/>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85FDD70C-9055-4A64-A286-A1976F315B72}"/>
                </a:ext>
              </a:extLst>
            </p:cNvPr>
            <p:cNvCxnSpPr/>
            <p:nvPr/>
          </p:nvCxnSpPr>
          <p:spPr>
            <a:xfrm>
              <a:off x="3316065" y="4671830"/>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5B9594F-8016-4598-B1AC-E7AC2649D5D4}"/>
                </a:ext>
              </a:extLst>
            </p:cNvPr>
            <p:cNvCxnSpPr/>
            <p:nvPr/>
          </p:nvCxnSpPr>
          <p:spPr>
            <a:xfrm>
              <a:off x="3827470" y="4682496"/>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A46348A-54F4-4EE3-B0BE-0E422C9661BB}"/>
                </a:ext>
              </a:extLst>
            </p:cNvPr>
            <p:cNvCxnSpPr/>
            <p:nvPr/>
          </p:nvCxnSpPr>
          <p:spPr>
            <a:xfrm>
              <a:off x="4336418" y="4671830"/>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BF8FFA8-7328-4E98-ABE5-0BA7958F980F}"/>
                </a:ext>
              </a:extLst>
            </p:cNvPr>
            <p:cNvCxnSpPr/>
            <p:nvPr/>
          </p:nvCxnSpPr>
          <p:spPr>
            <a:xfrm>
              <a:off x="4838971" y="4692959"/>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19336C1-6902-40E5-BFEE-7D1F90A5B8A0}"/>
                </a:ext>
              </a:extLst>
            </p:cNvPr>
            <p:cNvCxnSpPr/>
            <p:nvPr/>
          </p:nvCxnSpPr>
          <p:spPr>
            <a:xfrm flipV="1">
              <a:off x="2516842" y="4584190"/>
              <a:ext cx="0" cy="482302"/>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7E713E5-E929-41B8-8A21-90A4B43056E4}"/>
                </a:ext>
              </a:extLst>
            </p:cNvPr>
            <p:cNvCxnSpPr>
              <a:cxnSpLocks/>
            </p:cNvCxnSpPr>
            <p:nvPr/>
          </p:nvCxnSpPr>
          <p:spPr>
            <a:xfrm>
              <a:off x="2516842" y="4584190"/>
              <a:ext cx="241283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479E186-31C0-49B8-9627-BD3C2EC47B1B}"/>
                </a:ext>
              </a:extLst>
            </p:cNvPr>
            <p:cNvCxnSpPr>
              <a:endCxn id="58" idx="7"/>
            </p:cNvCxnSpPr>
            <p:nvPr/>
          </p:nvCxnSpPr>
          <p:spPr>
            <a:xfrm>
              <a:off x="4929679" y="4584190"/>
              <a:ext cx="7580" cy="31939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1A3D7FD0-4A63-459D-B831-8871F56082CB}"/>
                </a:ext>
              </a:extLst>
            </p:cNvPr>
            <p:cNvCxnSpPr/>
            <p:nvPr/>
          </p:nvCxnSpPr>
          <p:spPr>
            <a:xfrm>
              <a:off x="4419392" y="4584190"/>
              <a:ext cx="7580" cy="31939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D14382B4-2288-4FE5-8EB8-81F379FB0AA2}"/>
                </a:ext>
              </a:extLst>
            </p:cNvPr>
            <p:cNvCxnSpPr/>
            <p:nvPr/>
          </p:nvCxnSpPr>
          <p:spPr>
            <a:xfrm>
              <a:off x="3916685" y="4584190"/>
              <a:ext cx="7580" cy="31939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E135E2BC-CF73-495D-8D3C-0382205C6177}"/>
                </a:ext>
              </a:extLst>
            </p:cNvPr>
            <p:cNvCxnSpPr/>
            <p:nvPr/>
          </p:nvCxnSpPr>
          <p:spPr>
            <a:xfrm>
              <a:off x="3406398" y="4582067"/>
              <a:ext cx="7580" cy="31939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703E91A-12DB-41BB-8D34-D8D0ACB12CCC}"/>
                </a:ext>
              </a:extLst>
            </p:cNvPr>
            <p:cNvCxnSpPr/>
            <p:nvPr/>
          </p:nvCxnSpPr>
          <p:spPr>
            <a:xfrm flipV="1">
              <a:off x="3016830" y="4460365"/>
              <a:ext cx="0" cy="59886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0751BC4-76A1-457C-AA20-ADDD0FE1CFD7}"/>
                </a:ext>
              </a:extLst>
            </p:cNvPr>
            <p:cNvCxnSpPr>
              <a:cxnSpLocks/>
            </p:cNvCxnSpPr>
            <p:nvPr/>
          </p:nvCxnSpPr>
          <p:spPr>
            <a:xfrm>
              <a:off x="3016830" y="4460365"/>
              <a:ext cx="1730064" cy="781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E16DD83-1730-4795-A102-9280A0DD5D41}"/>
                </a:ext>
              </a:extLst>
            </p:cNvPr>
            <p:cNvCxnSpPr/>
            <p:nvPr/>
          </p:nvCxnSpPr>
          <p:spPr>
            <a:xfrm>
              <a:off x="4746894" y="4468183"/>
              <a:ext cx="0" cy="46672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DC8B5B5-92E0-4E92-9708-F6304643D5E2}"/>
                </a:ext>
              </a:extLst>
            </p:cNvPr>
            <p:cNvCxnSpPr/>
            <p:nvPr/>
          </p:nvCxnSpPr>
          <p:spPr>
            <a:xfrm>
              <a:off x="4254275" y="4468183"/>
              <a:ext cx="0" cy="46672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038C8E3F-5CFB-4849-9C5D-AB68CBA90CA2}"/>
                </a:ext>
              </a:extLst>
            </p:cNvPr>
            <p:cNvCxnSpPr/>
            <p:nvPr/>
          </p:nvCxnSpPr>
          <p:spPr>
            <a:xfrm>
              <a:off x="3728488" y="4468183"/>
              <a:ext cx="0" cy="46672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B92EB3C-2599-4731-8E6F-211577FAE0E4}"/>
                </a:ext>
              </a:extLst>
            </p:cNvPr>
            <p:cNvCxnSpPr/>
            <p:nvPr/>
          </p:nvCxnSpPr>
          <p:spPr>
            <a:xfrm>
              <a:off x="3546663" y="5066492"/>
              <a:ext cx="0" cy="395481"/>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ADC4B23-4F3B-4C85-8AB2-194FE49459FD}"/>
                </a:ext>
              </a:extLst>
            </p:cNvPr>
            <p:cNvCxnSpPr>
              <a:cxnSpLocks/>
            </p:cNvCxnSpPr>
            <p:nvPr/>
          </p:nvCxnSpPr>
          <p:spPr>
            <a:xfrm>
              <a:off x="3546663" y="5461973"/>
              <a:ext cx="1292308"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5F52B76-A0EC-476C-A8BF-9866E34A1FBE}"/>
                </a:ext>
              </a:extLst>
            </p:cNvPr>
            <p:cNvCxnSpPr>
              <a:cxnSpLocks/>
            </p:cNvCxnSpPr>
            <p:nvPr/>
          </p:nvCxnSpPr>
          <p:spPr>
            <a:xfrm flipV="1">
              <a:off x="4838971" y="5291039"/>
              <a:ext cx="0" cy="17093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2CDB79B4-CC85-4CA0-AB5F-2EB162BF2221}"/>
                </a:ext>
              </a:extLst>
            </p:cNvPr>
            <p:cNvCxnSpPr>
              <a:cxnSpLocks/>
            </p:cNvCxnSpPr>
            <p:nvPr/>
          </p:nvCxnSpPr>
          <p:spPr>
            <a:xfrm flipV="1">
              <a:off x="4336418" y="5278651"/>
              <a:ext cx="0" cy="17093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05D34B9-A32B-48D0-969B-3736625C80A7}"/>
                </a:ext>
              </a:extLst>
            </p:cNvPr>
            <p:cNvCxnSpPr/>
            <p:nvPr/>
          </p:nvCxnSpPr>
          <p:spPr>
            <a:xfrm>
              <a:off x="4026367" y="5059230"/>
              <a:ext cx="0" cy="55366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463C93B-86B5-4A68-A29B-1F26B2385E78}"/>
                </a:ext>
              </a:extLst>
            </p:cNvPr>
            <p:cNvCxnSpPr/>
            <p:nvPr/>
          </p:nvCxnSpPr>
          <p:spPr>
            <a:xfrm>
              <a:off x="4026367" y="5612890"/>
              <a:ext cx="90331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A453E8A7-EEB1-447A-9343-E573A3D2385F}"/>
                </a:ext>
              </a:extLst>
            </p:cNvPr>
            <p:cNvCxnSpPr>
              <a:cxnSpLocks/>
            </p:cNvCxnSpPr>
            <p:nvPr/>
          </p:nvCxnSpPr>
          <p:spPr>
            <a:xfrm flipH="1" flipV="1">
              <a:off x="4929679" y="5213259"/>
              <a:ext cx="7580" cy="40915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22D1CD92-7019-452D-9DAB-B97074E36DD1}"/>
                </a:ext>
              </a:extLst>
            </p:cNvPr>
            <p:cNvSpPr txBox="1"/>
            <p:nvPr/>
          </p:nvSpPr>
          <p:spPr>
            <a:xfrm>
              <a:off x="4619152" y="3851020"/>
              <a:ext cx="1003801" cy="400110"/>
            </a:xfrm>
            <a:prstGeom prst="rect">
              <a:avLst/>
            </a:prstGeom>
            <a:noFill/>
          </p:spPr>
          <p:txBody>
            <a:bodyPr wrap="non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Res Net</a:t>
              </a:r>
            </a:p>
          </p:txBody>
        </p:sp>
        <p:sp>
          <p:nvSpPr>
            <p:cNvPr id="86" name="TextBox 85">
              <a:extLst>
                <a:ext uri="{FF2B5EF4-FFF2-40B4-BE49-F238E27FC236}">
                  <a16:creationId xmlns:a16="http://schemas.microsoft.com/office/drawing/2014/main" id="{3B7E51D8-8972-4A9B-8821-CA7030591002}"/>
                </a:ext>
              </a:extLst>
            </p:cNvPr>
            <p:cNvSpPr txBox="1"/>
            <p:nvPr/>
          </p:nvSpPr>
          <p:spPr>
            <a:xfrm>
              <a:off x="4592008" y="5603324"/>
              <a:ext cx="1260281" cy="400110"/>
            </a:xfrm>
            <a:prstGeom prst="rect">
              <a:avLst/>
            </a:prstGeom>
            <a:noFill/>
          </p:spPr>
          <p:txBody>
            <a:bodyPr wrap="non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Dense Net</a:t>
              </a:r>
            </a:p>
          </p:txBody>
        </p:sp>
        <p:sp>
          <p:nvSpPr>
            <p:cNvPr id="87" name="TextBox 86">
              <a:extLst>
                <a:ext uri="{FF2B5EF4-FFF2-40B4-BE49-F238E27FC236}">
                  <a16:creationId xmlns:a16="http://schemas.microsoft.com/office/drawing/2014/main" id="{ED6A7458-9834-4F04-8799-632D97D3C5E3}"/>
                </a:ext>
              </a:extLst>
            </p:cNvPr>
            <p:cNvSpPr txBox="1"/>
            <p:nvPr/>
          </p:nvSpPr>
          <p:spPr>
            <a:xfrm>
              <a:off x="2024716" y="5987299"/>
              <a:ext cx="3918961" cy="369332"/>
            </a:xfrm>
            <a:prstGeom prst="rect">
              <a:avLst/>
            </a:prstGeom>
            <a:noFill/>
          </p:spPr>
          <p:txBody>
            <a:bodyPr wrap="square" rtlCol="0">
              <a:spAutoFit/>
            </a:bodyPr>
            <a:lstStyle/>
            <a:p>
              <a:r>
                <a:rPr lang="en-IN" dirty="0">
                  <a:solidFill>
                    <a:srgbClr val="7030A0"/>
                  </a:solidFill>
                  <a:latin typeface="Arial Narrow" panose="020B0606020202030204" pitchFamily="34" charset="0"/>
                </a:rPr>
                <a:t>6+5+4+3+2+1=21 (Total Connections)</a:t>
              </a:r>
            </a:p>
          </p:txBody>
        </p:sp>
        <p:sp>
          <p:nvSpPr>
            <p:cNvPr id="88" name="Rectangle 87">
              <a:extLst>
                <a:ext uri="{FF2B5EF4-FFF2-40B4-BE49-F238E27FC236}">
                  <a16:creationId xmlns:a16="http://schemas.microsoft.com/office/drawing/2014/main" id="{ADD68017-ACFA-4C3F-A27D-1F22FAF861D4}"/>
                </a:ext>
              </a:extLst>
            </p:cNvPr>
            <p:cNvSpPr/>
            <p:nvPr/>
          </p:nvSpPr>
          <p:spPr>
            <a:xfrm>
              <a:off x="2046124" y="5620191"/>
              <a:ext cx="1430200" cy="369332"/>
            </a:xfrm>
            <a:prstGeom prst="rect">
              <a:avLst/>
            </a:prstGeom>
          </p:spPr>
          <p:txBody>
            <a:bodyPr wrap="none">
              <a:spAutoFit/>
            </a:bodyPr>
            <a:lstStyle/>
            <a:p>
              <a:r>
                <a:rPr lang="en-US" dirty="0">
                  <a:solidFill>
                    <a:srgbClr val="00B0F0"/>
                  </a:solidFill>
                  <a:latin typeface="Arial Narrow" panose="020B0606020202030204" pitchFamily="34" charset="0"/>
                </a:rPr>
                <a:t>6(6 + 1)/2 = 21</a:t>
              </a:r>
              <a:endParaRPr lang="en-IN" dirty="0"/>
            </a:p>
          </p:txBody>
        </p:sp>
      </p:grpSp>
      <p:sp>
        <p:nvSpPr>
          <p:cNvPr id="89" name="Title 1">
            <a:extLst>
              <a:ext uri="{FF2B5EF4-FFF2-40B4-BE49-F238E27FC236}">
                <a16:creationId xmlns:a16="http://schemas.microsoft.com/office/drawing/2014/main" id="{8E1C75E8-76B1-4DC0-9893-149206F5F91F}"/>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Dense-Net</a:t>
            </a:r>
            <a:endParaRPr lang="en-IN" sz="3600" dirty="0">
              <a:latin typeface="Century" panose="02040604050505020304" pitchFamily="18" charset="0"/>
            </a:endParaRPr>
          </a:p>
        </p:txBody>
      </p:sp>
    </p:spTree>
    <p:extLst>
      <p:ext uri="{BB962C8B-B14F-4D97-AF65-F5344CB8AC3E}">
        <p14:creationId xmlns:p14="http://schemas.microsoft.com/office/powerpoint/2010/main" val="999764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Content Placeholder 200">
            <a:extLst>
              <a:ext uri="{FF2B5EF4-FFF2-40B4-BE49-F238E27FC236}">
                <a16:creationId xmlns:a16="http://schemas.microsoft.com/office/drawing/2014/main" id="{D86BD9DF-D122-4DA4-9839-721E1E6FD447}"/>
              </a:ext>
            </a:extLst>
          </p:cNvPr>
          <p:cNvSpPr>
            <a:spLocks noGrp="1"/>
          </p:cNvSpPr>
          <p:nvPr>
            <p:ph idx="1"/>
          </p:nvPr>
        </p:nvSpPr>
        <p:spPr>
          <a:xfrm>
            <a:off x="838200" y="1825625"/>
            <a:ext cx="5698007" cy="4351338"/>
          </a:xfrm>
        </p:spPr>
        <p:txBody>
          <a:bodyPr>
            <a:normAutofit/>
          </a:bodyPr>
          <a:lstStyle/>
          <a:p>
            <a:pPr algn="just"/>
            <a:r>
              <a:rPr lang="en-US" sz="2200" dirty="0">
                <a:latin typeface="Arial Narrow" panose="020B0606020202030204" pitchFamily="34" charset="0"/>
              </a:rPr>
              <a:t>As a result, an </a:t>
            </a:r>
            <a:r>
              <a:rPr lang="en-US" sz="2200" dirty="0">
                <a:solidFill>
                  <a:srgbClr val="00B0F0"/>
                </a:solidFill>
                <a:latin typeface="Arial Narrow" panose="020B0606020202030204" pitchFamily="34" charset="0"/>
              </a:rPr>
              <a:t>L-layer </a:t>
            </a:r>
            <a:r>
              <a:rPr lang="en-US" sz="2200" dirty="0" err="1">
                <a:solidFill>
                  <a:srgbClr val="00B0F0"/>
                </a:solidFill>
                <a:latin typeface="Arial Narrow" panose="020B0606020202030204" pitchFamily="34" charset="0"/>
              </a:rPr>
              <a:t>DenseNet</a:t>
            </a:r>
            <a:r>
              <a:rPr lang="en-US" sz="2200" dirty="0">
                <a:solidFill>
                  <a:srgbClr val="00B0F0"/>
                </a:solidFill>
                <a:latin typeface="Arial Narrow" panose="020B0606020202030204" pitchFamily="34" charset="0"/>
              </a:rPr>
              <a:t> </a:t>
            </a:r>
            <a:r>
              <a:rPr lang="en-US" sz="2200" dirty="0">
                <a:latin typeface="Arial Narrow" panose="020B0606020202030204" pitchFamily="34" charset="0"/>
              </a:rPr>
              <a:t>contains </a:t>
            </a:r>
            <a:r>
              <a:rPr lang="en-US" sz="2200" dirty="0">
                <a:solidFill>
                  <a:srgbClr val="00B0F0"/>
                </a:solidFill>
                <a:latin typeface="Arial Narrow" panose="020B0606020202030204" pitchFamily="34" charset="0"/>
              </a:rPr>
              <a:t>L(L + 1)/2 </a:t>
            </a:r>
            <a:r>
              <a:rPr lang="en-US" sz="2200" dirty="0">
                <a:latin typeface="Arial Narrow" panose="020B0606020202030204" pitchFamily="34" charset="0"/>
              </a:rPr>
              <a:t>direct connections.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Therefore, for a network </a:t>
            </a:r>
            <a:r>
              <a:rPr lang="en-US" sz="2200">
                <a:latin typeface="Arial Narrow" panose="020B0606020202030204" pitchFamily="34" charset="0"/>
              </a:rPr>
              <a:t>with six </a:t>
            </a:r>
            <a:r>
              <a:rPr lang="en-US" sz="2200" dirty="0">
                <a:latin typeface="Arial Narrow" panose="020B0606020202030204" pitchFamily="34" charset="0"/>
              </a:rPr>
              <a:t>layers, the total number of connections becomes </a:t>
            </a:r>
            <a:r>
              <a:rPr lang="en-US" sz="2200" dirty="0">
                <a:solidFill>
                  <a:srgbClr val="00B0F0"/>
                </a:solidFill>
                <a:latin typeface="Arial Narrow" panose="020B0606020202030204" pitchFamily="34" charset="0"/>
              </a:rPr>
              <a:t>6(6 + 1)/2 = 21</a:t>
            </a:r>
            <a:r>
              <a:rPr lang="en-US" sz="2200" dirty="0">
                <a:latin typeface="Arial Narrow" panose="020B0606020202030204" pitchFamily="34" charset="0"/>
              </a:rPr>
              <a:t>.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This dense connectivity promotes </a:t>
            </a:r>
            <a:r>
              <a:rPr lang="en-US" sz="2200" dirty="0">
                <a:solidFill>
                  <a:srgbClr val="00B0F0"/>
                </a:solidFill>
                <a:latin typeface="Arial Narrow" panose="020B0606020202030204" pitchFamily="34" charset="0"/>
              </a:rPr>
              <a:t>feature reuse, strengthens gradient propagation, alleviates the vanishing gradient problem, and improves parameter efficiency</a:t>
            </a:r>
            <a:r>
              <a:rPr lang="en-US" sz="2200" dirty="0">
                <a:latin typeface="Arial Narrow" panose="020B0606020202030204" pitchFamily="34" charset="0"/>
              </a:rPr>
              <a:t> by allowing later layers to access features learned throughout the network.</a:t>
            </a:r>
            <a:endParaRPr lang="en-IN" sz="2200" dirty="0">
              <a:latin typeface="Arial Narrow" panose="020B0606020202030204" pitchFamily="34" charset="0"/>
            </a:endParaRPr>
          </a:p>
          <a:p>
            <a:endParaRPr lang="en-IN" dirty="0"/>
          </a:p>
        </p:txBody>
      </p:sp>
      <p:grpSp>
        <p:nvGrpSpPr>
          <p:cNvPr id="199" name="Group 198">
            <a:extLst>
              <a:ext uri="{FF2B5EF4-FFF2-40B4-BE49-F238E27FC236}">
                <a16:creationId xmlns:a16="http://schemas.microsoft.com/office/drawing/2014/main" id="{090EC7E6-35A3-493D-9E18-42F0BA77A547}"/>
              </a:ext>
            </a:extLst>
          </p:cNvPr>
          <p:cNvGrpSpPr/>
          <p:nvPr/>
        </p:nvGrpSpPr>
        <p:grpSpPr>
          <a:xfrm>
            <a:off x="6916081" y="1877760"/>
            <a:ext cx="5199405" cy="4393146"/>
            <a:chOff x="1229656" y="1963485"/>
            <a:chExt cx="5199405" cy="4393146"/>
          </a:xfrm>
        </p:grpSpPr>
        <p:sp>
          <p:nvSpPr>
            <p:cNvPr id="5" name="Oval 4">
              <a:extLst>
                <a:ext uri="{FF2B5EF4-FFF2-40B4-BE49-F238E27FC236}">
                  <a16:creationId xmlns:a16="http://schemas.microsoft.com/office/drawing/2014/main" id="{36486680-37E8-411C-A5A3-115A51474FDB}"/>
                </a:ext>
              </a:extLst>
            </p:cNvPr>
            <p:cNvSpPr/>
            <p:nvPr/>
          </p:nvSpPr>
          <p:spPr>
            <a:xfrm>
              <a:off x="2116790" y="2131997"/>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43ED3260-88F0-4075-8DA4-7360534D322C}"/>
                </a:ext>
              </a:extLst>
            </p:cNvPr>
            <p:cNvCxnSpPr>
              <a:stCxn id="7" idx="3"/>
              <a:endCxn id="5" idx="2"/>
            </p:cNvCxnSpPr>
            <p:nvPr/>
          </p:nvCxnSpPr>
          <p:spPr>
            <a:xfrm>
              <a:off x="1847828" y="2356544"/>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4173A296-57B0-4779-8D7F-E2ED845B75D4}"/>
                </a:ext>
              </a:extLst>
            </p:cNvPr>
            <p:cNvPicPr>
              <a:picLocks noChangeAspect="1"/>
            </p:cNvPicPr>
            <p:nvPr/>
          </p:nvPicPr>
          <p:blipFill rotWithShape="1">
            <a:blip r:embed="rId2"/>
            <a:srcRect l="12909"/>
            <a:stretch/>
          </p:blipFill>
          <p:spPr>
            <a:xfrm>
              <a:off x="1229656" y="1963485"/>
              <a:ext cx="618172" cy="786118"/>
            </a:xfrm>
            <a:prstGeom prst="rect">
              <a:avLst/>
            </a:prstGeom>
          </p:spPr>
        </p:pic>
        <p:sp>
          <p:nvSpPr>
            <p:cNvPr id="8" name="Oval 7">
              <a:extLst>
                <a:ext uri="{FF2B5EF4-FFF2-40B4-BE49-F238E27FC236}">
                  <a16:creationId xmlns:a16="http://schemas.microsoft.com/office/drawing/2014/main" id="{5AC86FEA-A0C5-460B-9F8D-18CEB39922BC}"/>
                </a:ext>
              </a:extLst>
            </p:cNvPr>
            <p:cNvSpPr/>
            <p:nvPr/>
          </p:nvSpPr>
          <p:spPr>
            <a:xfrm>
              <a:off x="5181349" y="2086708"/>
              <a:ext cx="1196340" cy="553774"/>
            </a:xfrm>
            <a:prstGeom prst="ellipse">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00B0F0"/>
                  </a:solidFill>
                  <a:latin typeface="Arial Narrow" panose="020B0606020202030204" pitchFamily="34" charset="0"/>
                </a:rPr>
                <a:t>Classifier</a:t>
              </a:r>
            </a:p>
          </p:txBody>
        </p:sp>
        <p:sp>
          <p:nvSpPr>
            <p:cNvPr id="9" name="TextBox 8">
              <a:extLst>
                <a:ext uri="{FF2B5EF4-FFF2-40B4-BE49-F238E27FC236}">
                  <a16:creationId xmlns:a16="http://schemas.microsoft.com/office/drawing/2014/main" id="{5AED9ADB-0E33-412E-A1E0-C9B3C914056B}"/>
                </a:ext>
              </a:extLst>
            </p:cNvPr>
            <p:cNvSpPr txBox="1"/>
            <p:nvPr/>
          </p:nvSpPr>
          <p:spPr>
            <a:xfrm>
              <a:off x="4504823" y="2568985"/>
              <a:ext cx="1317990" cy="400110"/>
            </a:xfrm>
            <a:prstGeom prst="rect">
              <a:avLst/>
            </a:prstGeom>
            <a:noFill/>
          </p:spPr>
          <p:txBody>
            <a:bodyPr wrap="non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Plain CNN</a:t>
              </a:r>
            </a:p>
          </p:txBody>
        </p:sp>
        <p:sp>
          <p:nvSpPr>
            <p:cNvPr id="10" name="Oval 9">
              <a:extLst>
                <a:ext uri="{FF2B5EF4-FFF2-40B4-BE49-F238E27FC236}">
                  <a16:creationId xmlns:a16="http://schemas.microsoft.com/office/drawing/2014/main" id="{604DEF3C-1E6C-4E92-8A7D-62BBA96E5FD2}"/>
                </a:ext>
              </a:extLst>
            </p:cNvPr>
            <p:cNvSpPr/>
            <p:nvPr/>
          </p:nvSpPr>
          <p:spPr>
            <a:xfrm>
              <a:off x="2636067" y="2129576"/>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BD8CB45F-C247-4CFA-8FEC-AD3BC54F1800}"/>
                </a:ext>
              </a:extLst>
            </p:cNvPr>
            <p:cNvCxnSpPr>
              <a:stCxn id="5" idx="6"/>
              <a:endCxn id="10" idx="2"/>
            </p:cNvCxnSpPr>
            <p:nvPr/>
          </p:nvCxnSpPr>
          <p:spPr>
            <a:xfrm flipV="1">
              <a:off x="2367105" y="2356544"/>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B6445DFE-E925-41D9-8AB4-1331FDB218FD}"/>
                </a:ext>
              </a:extLst>
            </p:cNvPr>
            <p:cNvSpPr/>
            <p:nvPr/>
          </p:nvSpPr>
          <p:spPr>
            <a:xfrm>
              <a:off x="3154327" y="212715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72F64569-85A8-4CD4-8D0F-1A1E8D4B4519}"/>
                </a:ext>
              </a:extLst>
            </p:cNvPr>
            <p:cNvCxnSpPr>
              <a:endCxn id="12" idx="2"/>
            </p:cNvCxnSpPr>
            <p:nvPr/>
          </p:nvCxnSpPr>
          <p:spPr>
            <a:xfrm>
              <a:off x="2885365" y="235170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B1D403D-6610-4085-B109-59B895D6D612}"/>
                </a:ext>
              </a:extLst>
            </p:cNvPr>
            <p:cNvSpPr/>
            <p:nvPr/>
          </p:nvSpPr>
          <p:spPr>
            <a:xfrm>
              <a:off x="3648844" y="212715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029725E0-5F3C-4247-BE5E-6B2E17390A76}"/>
                </a:ext>
              </a:extLst>
            </p:cNvPr>
            <p:cNvCxnSpPr>
              <a:endCxn id="14" idx="2"/>
            </p:cNvCxnSpPr>
            <p:nvPr/>
          </p:nvCxnSpPr>
          <p:spPr>
            <a:xfrm>
              <a:off x="3379882" y="235170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CF338306-A11B-49B7-8023-46FF2FB27B4B}"/>
                </a:ext>
              </a:extLst>
            </p:cNvPr>
            <p:cNvSpPr/>
            <p:nvPr/>
          </p:nvSpPr>
          <p:spPr>
            <a:xfrm>
              <a:off x="4168121" y="2124734"/>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F96CD61C-1146-4D6B-A907-E1256CB5A09C}"/>
                </a:ext>
              </a:extLst>
            </p:cNvPr>
            <p:cNvCxnSpPr>
              <a:endCxn id="16" idx="2"/>
            </p:cNvCxnSpPr>
            <p:nvPr/>
          </p:nvCxnSpPr>
          <p:spPr>
            <a:xfrm>
              <a:off x="3899159" y="2349281"/>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63269A9-415C-4410-B304-D3559710E124}"/>
                </a:ext>
              </a:extLst>
            </p:cNvPr>
            <p:cNvCxnSpPr>
              <a:cxnSpLocks/>
            </p:cNvCxnSpPr>
            <p:nvPr/>
          </p:nvCxnSpPr>
          <p:spPr>
            <a:xfrm>
              <a:off x="4417419" y="2346860"/>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D7284B26-F488-49AB-A411-8B538277197B}"/>
                </a:ext>
              </a:extLst>
            </p:cNvPr>
            <p:cNvSpPr/>
            <p:nvPr/>
          </p:nvSpPr>
          <p:spPr>
            <a:xfrm>
              <a:off x="2116790" y="326646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8" name="Straight Arrow Connector 37">
              <a:extLst>
                <a:ext uri="{FF2B5EF4-FFF2-40B4-BE49-F238E27FC236}">
                  <a16:creationId xmlns:a16="http://schemas.microsoft.com/office/drawing/2014/main" id="{FD30E828-871F-4065-A196-F75ACED95E66}"/>
                </a:ext>
              </a:extLst>
            </p:cNvPr>
            <p:cNvCxnSpPr>
              <a:stCxn id="39" idx="3"/>
              <a:endCxn id="37" idx="2"/>
            </p:cNvCxnSpPr>
            <p:nvPr/>
          </p:nvCxnSpPr>
          <p:spPr>
            <a:xfrm>
              <a:off x="1847828" y="349101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63AB0931-02E0-4B18-A0EE-56CABED8AD74}"/>
                </a:ext>
              </a:extLst>
            </p:cNvPr>
            <p:cNvPicPr>
              <a:picLocks noChangeAspect="1"/>
            </p:cNvPicPr>
            <p:nvPr/>
          </p:nvPicPr>
          <p:blipFill rotWithShape="1">
            <a:blip r:embed="rId2"/>
            <a:srcRect l="12909"/>
            <a:stretch/>
          </p:blipFill>
          <p:spPr>
            <a:xfrm>
              <a:off x="1229656" y="3097953"/>
              <a:ext cx="618172" cy="786118"/>
            </a:xfrm>
            <a:prstGeom prst="rect">
              <a:avLst/>
            </a:prstGeom>
          </p:spPr>
        </p:pic>
        <p:sp>
          <p:nvSpPr>
            <p:cNvPr id="40" name="Oval 39">
              <a:extLst>
                <a:ext uri="{FF2B5EF4-FFF2-40B4-BE49-F238E27FC236}">
                  <a16:creationId xmlns:a16="http://schemas.microsoft.com/office/drawing/2014/main" id="{D65BA1A8-5856-4CA9-93F2-F2479A8AE4B0}"/>
                </a:ext>
              </a:extLst>
            </p:cNvPr>
            <p:cNvSpPr/>
            <p:nvPr/>
          </p:nvSpPr>
          <p:spPr>
            <a:xfrm>
              <a:off x="5137111" y="3188488"/>
              <a:ext cx="1196340" cy="553774"/>
            </a:xfrm>
            <a:prstGeom prst="ellipse">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00B0F0"/>
                  </a:solidFill>
                  <a:latin typeface="Arial Narrow" panose="020B0606020202030204" pitchFamily="34" charset="0"/>
                </a:rPr>
                <a:t>Classifier</a:t>
              </a:r>
            </a:p>
          </p:txBody>
        </p:sp>
        <p:sp>
          <p:nvSpPr>
            <p:cNvPr id="43" name="Oval 42">
              <a:extLst>
                <a:ext uri="{FF2B5EF4-FFF2-40B4-BE49-F238E27FC236}">
                  <a16:creationId xmlns:a16="http://schemas.microsoft.com/office/drawing/2014/main" id="{799B8C5E-9A8D-4A8D-BA5F-37C8E456A49C}"/>
                </a:ext>
              </a:extLst>
            </p:cNvPr>
            <p:cNvSpPr/>
            <p:nvPr/>
          </p:nvSpPr>
          <p:spPr>
            <a:xfrm>
              <a:off x="2599411" y="3270490"/>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Arrow Connector 43">
              <a:extLst>
                <a:ext uri="{FF2B5EF4-FFF2-40B4-BE49-F238E27FC236}">
                  <a16:creationId xmlns:a16="http://schemas.microsoft.com/office/drawing/2014/main" id="{BA5D26A0-4C7E-423E-9E4E-9BFE871E4136}"/>
                </a:ext>
              </a:extLst>
            </p:cNvPr>
            <p:cNvCxnSpPr>
              <a:cxnSpLocks/>
            </p:cNvCxnSpPr>
            <p:nvPr/>
          </p:nvCxnSpPr>
          <p:spPr>
            <a:xfrm>
              <a:off x="2356764" y="3494115"/>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1ACD2A2-170C-43A1-B004-24BD86BB4A22}"/>
                </a:ext>
              </a:extLst>
            </p:cNvPr>
            <p:cNvCxnSpPr>
              <a:cxnSpLocks/>
              <a:endCxn id="40" idx="2"/>
            </p:cNvCxnSpPr>
            <p:nvPr/>
          </p:nvCxnSpPr>
          <p:spPr>
            <a:xfrm flipV="1">
              <a:off x="4869166" y="3465375"/>
              <a:ext cx="267945" cy="3632"/>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3ACCAE8-847E-4B3D-BFD1-1D1DAA715C07}"/>
                </a:ext>
              </a:extLst>
            </p:cNvPr>
            <p:cNvCxnSpPr>
              <a:endCxn id="43" idx="0"/>
            </p:cNvCxnSpPr>
            <p:nvPr/>
          </p:nvCxnSpPr>
          <p:spPr>
            <a:xfrm>
              <a:off x="2724568" y="3097953"/>
              <a:ext cx="1" cy="172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83E2539-2FD6-4066-AF76-530E0B06F2E3}"/>
                </a:ext>
              </a:extLst>
            </p:cNvPr>
            <p:cNvCxnSpPr>
              <a:cxnSpLocks/>
            </p:cNvCxnSpPr>
            <p:nvPr/>
          </p:nvCxnSpPr>
          <p:spPr>
            <a:xfrm flipV="1">
              <a:off x="1946113" y="3097953"/>
              <a:ext cx="0" cy="393059"/>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7FFDD8A-9F9B-4267-A15E-98E70F36F46C}"/>
                </a:ext>
              </a:extLst>
            </p:cNvPr>
            <p:cNvCxnSpPr>
              <a:cxnSpLocks/>
            </p:cNvCxnSpPr>
            <p:nvPr/>
          </p:nvCxnSpPr>
          <p:spPr>
            <a:xfrm>
              <a:off x="1946113" y="3089479"/>
              <a:ext cx="778455" cy="8474"/>
            </a:xfrm>
            <a:prstGeom prst="line">
              <a:avLst/>
            </a:prstGeom>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39FCEBA2-3E48-49D3-B48C-62A46E8CD6AE}"/>
                </a:ext>
              </a:extLst>
            </p:cNvPr>
            <p:cNvSpPr/>
            <p:nvPr/>
          </p:nvSpPr>
          <p:spPr>
            <a:xfrm>
              <a:off x="3126994" y="3257991"/>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7" name="Straight Arrow Connector 96">
              <a:extLst>
                <a:ext uri="{FF2B5EF4-FFF2-40B4-BE49-F238E27FC236}">
                  <a16:creationId xmlns:a16="http://schemas.microsoft.com/office/drawing/2014/main" id="{48F3E021-41C8-4A37-BF9C-F08BC6EA7DB2}"/>
                </a:ext>
              </a:extLst>
            </p:cNvPr>
            <p:cNvCxnSpPr>
              <a:endCxn id="96" idx="2"/>
            </p:cNvCxnSpPr>
            <p:nvPr/>
          </p:nvCxnSpPr>
          <p:spPr>
            <a:xfrm>
              <a:off x="2858032" y="3482538"/>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BB5E4FD0-46F0-499E-9C15-75E89285A7DC}"/>
                </a:ext>
              </a:extLst>
            </p:cNvPr>
            <p:cNvSpPr/>
            <p:nvPr/>
          </p:nvSpPr>
          <p:spPr>
            <a:xfrm>
              <a:off x="3609615" y="3262016"/>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9" name="Straight Arrow Connector 98">
              <a:extLst>
                <a:ext uri="{FF2B5EF4-FFF2-40B4-BE49-F238E27FC236}">
                  <a16:creationId xmlns:a16="http://schemas.microsoft.com/office/drawing/2014/main" id="{1EB6FD45-4E0A-497D-BFD6-DECD159BFFCA}"/>
                </a:ext>
              </a:extLst>
            </p:cNvPr>
            <p:cNvCxnSpPr>
              <a:cxnSpLocks/>
            </p:cNvCxnSpPr>
            <p:nvPr/>
          </p:nvCxnSpPr>
          <p:spPr>
            <a:xfrm>
              <a:off x="3366968" y="3485641"/>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12D2A8E5-5222-4138-9A38-A751A25F1643}"/>
                </a:ext>
              </a:extLst>
            </p:cNvPr>
            <p:cNvCxnSpPr>
              <a:endCxn id="98" idx="0"/>
            </p:cNvCxnSpPr>
            <p:nvPr/>
          </p:nvCxnSpPr>
          <p:spPr>
            <a:xfrm>
              <a:off x="3734772" y="3089479"/>
              <a:ext cx="1" cy="172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7FE45D0-2FED-47D2-BCB5-3702E6605054}"/>
                </a:ext>
              </a:extLst>
            </p:cNvPr>
            <p:cNvCxnSpPr>
              <a:cxnSpLocks/>
            </p:cNvCxnSpPr>
            <p:nvPr/>
          </p:nvCxnSpPr>
          <p:spPr>
            <a:xfrm flipV="1">
              <a:off x="2956317" y="3089479"/>
              <a:ext cx="0" cy="3930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DFDAAF9-B8E2-4870-AFA3-52FBF104A17E}"/>
                </a:ext>
              </a:extLst>
            </p:cNvPr>
            <p:cNvCxnSpPr>
              <a:cxnSpLocks/>
            </p:cNvCxnSpPr>
            <p:nvPr/>
          </p:nvCxnSpPr>
          <p:spPr>
            <a:xfrm>
              <a:off x="2956317" y="3081005"/>
              <a:ext cx="778455" cy="8474"/>
            </a:xfrm>
            <a:prstGeom prst="line">
              <a:avLst/>
            </a:prstGeom>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79B459FA-B709-4C4D-A3EE-E9F1A197E182}"/>
                </a:ext>
              </a:extLst>
            </p:cNvPr>
            <p:cNvSpPr/>
            <p:nvPr/>
          </p:nvSpPr>
          <p:spPr>
            <a:xfrm>
              <a:off x="4136531" y="3266130"/>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4" name="Straight Arrow Connector 103">
              <a:extLst>
                <a:ext uri="{FF2B5EF4-FFF2-40B4-BE49-F238E27FC236}">
                  <a16:creationId xmlns:a16="http://schemas.microsoft.com/office/drawing/2014/main" id="{243AE6CE-33E3-4F95-A57F-7978DDEF9816}"/>
                </a:ext>
              </a:extLst>
            </p:cNvPr>
            <p:cNvCxnSpPr>
              <a:endCxn id="103" idx="2"/>
            </p:cNvCxnSpPr>
            <p:nvPr/>
          </p:nvCxnSpPr>
          <p:spPr>
            <a:xfrm>
              <a:off x="3867569" y="3490677"/>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E4BCCBC8-052B-4092-A879-FC9288081DDB}"/>
                </a:ext>
              </a:extLst>
            </p:cNvPr>
            <p:cNvSpPr/>
            <p:nvPr/>
          </p:nvSpPr>
          <p:spPr>
            <a:xfrm>
              <a:off x="4619152" y="327015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6" name="Straight Arrow Connector 105">
              <a:extLst>
                <a:ext uri="{FF2B5EF4-FFF2-40B4-BE49-F238E27FC236}">
                  <a16:creationId xmlns:a16="http://schemas.microsoft.com/office/drawing/2014/main" id="{788550E0-822C-4095-80C6-F03EB5E46664}"/>
                </a:ext>
              </a:extLst>
            </p:cNvPr>
            <p:cNvCxnSpPr>
              <a:cxnSpLocks/>
            </p:cNvCxnSpPr>
            <p:nvPr/>
          </p:nvCxnSpPr>
          <p:spPr>
            <a:xfrm>
              <a:off x="4376505" y="3493780"/>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3AAED6A7-C6D8-4F32-8F48-79BDAFEF4956}"/>
                </a:ext>
              </a:extLst>
            </p:cNvPr>
            <p:cNvCxnSpPr>
              <a:endCxn id="105" idx="0"/>
            </p:cNvCxnSpPr>
            <p:nvPr/>
          </p:nvCxnSpPr>
          <p:spPr>
            <a:xfrm>
              <a:off x="4744309" y="3097618"/>
              <a:ext cx="1" cy="172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F68780D-100E-428F-AF10-ACFB45E3063D}"/>
                </a:ext>
              </a:extLst>
            </p:cNvPr>
            <p:cNvCxnSpPr>
              <a:cxnSpLocks/>
            </p:cNvCxnSpPr>
            <p:nvPr/>
          </p:nvCxnSpPr>
          <p:spPr>
            <a:xfrm flipV="1">
              <a:off x="3965854" y="3097618"/>
              <a:ext cx="0" cy="3930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59692072-C519-49CD-AB72-8A64B7E04DB5}"/>
                </a:ext>
              </a:extLst>
            </p:cNvPr>
            <p:cNvCxnSpPr>
              <a:cxnSpLocks/>
            </p:cNvCxnSpPr>
            <p:nvPr/>
          </p:nvCxnSpPr>
          <p:spPr>
            <a:xfrm>
              <a:off x="3965854" y="3089144"/>
              <a:ext cx="778455" cy="8474"/>
            </a:xfrm>
            <a:prstGeom prst="line">
              <a:avLst/>
            </a:prstGeom>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BA9B39A3-C28A-41A9-B7BB-D66D3B331638}"/>
                </a:ext>
              </a:extLst>
            </p:cNvPr>
            <p:cNvSpPr/>
            <p:nvPr/>
          </p:nvSpPr>
          <p:spPr>
            <a:xfrm>
              <a:off x="4672230" y="2124734"/>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1" name="Straight Arrow Connector 110">
              <a:extLst>
                <a:ext uri="{FF2B5EF4-FFF2-40B4-BE49-F238E27FC236}">
                  <a16:creationId xmlns:a16="http://schemas.microsoft.com/office/drawing/2014/main" id="{5713DBEB-8D16-4870-BDC4-B2E2C342C6F8}"/>
                </a:ext>
              </a:extLst>
            </p:cNvPr>
            <p:cNvCxnSpPr>
              <a:cxnSpLocks/>
            </p:cNvCxnSpPr>
            <p:nvPr/>
          </p:nvCxnSpPr>
          <p:spPr>
            <a:xfrm>
              <a:off x="4921528" y="2346860"/>
              <a:ext cx="268962" cy="2421"/>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923ACD0C-B484-4594-8753-7DED073C42F5}"/>
                </a:ext>
              </a:extLst>
            </p:cNvPr>
            <p:cNvSpPr/>
            <p:nvPr/>
          </p:nvSpPr>
          <p:spPr>
            <a:xfrm>
              <a:off x="2168162" y="4844367"/>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3" name="Straight Arrow Connector 112">
              <a:extLst>
                <a:ext uri="{FF2B5EF4-FFF2-40B4-BE49-F238E27FC236}">
                  <a16:creationId xmlns:a16="http://schemas.microsoft.com/office/drawing/2014/main" id="{20BBB025-01EB-495B-8A2E-272CCD370FA1}"/>
                </a:ext>
              </a:extLst>
            </p:cNvPr>
            <p:cNvCxnSpPr>
              <a:stCxn id="114" idx="3"/>
              <a:endCxn id="112" idx="2"/>
            </p:cNvCxnSpPr>
            <p:nvPr/>
          </p:nvCxnSpPr>
          <p:spPr>
            <a:xfrm>
              <a:off x="1899200" y="5068914"/>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14" name="Picture 113">
              <a:extLst>
                <a:ext uri="{FF2B5EF4-FFF2-40B4-BE49-F238E27FC236}">
                  <a16:creationId xmlns:a16="http://schemas.microsoft.com/office/drawing/2014/main" id="{639AB759-5909-4F4F-8ED0-E49068EB01BC}"/>
                </a:ext>
              </a:extLst>
            </p:cNvPr>
            <p:cNvPicPr>
              <a:picLocks noChangeAspect="1"/>
            </p:cNvPicPr>
            <p:nvPr/>
          </p:nvPicPr>
          <p:blipFill rotWithShape="1">
            <a:blip r:embed="rId2"/>
            <a:srcRect l="12909"/>
            <a:stretch/>
          </p:blipFill>
          <p:spPr>
            <a:xfrm>
              <a:off x="1281028" y="4675855"/>
              <a:ext cx="618172" cy="786118"/>
            </a:xfrm>
            <a:prstGeom prst="rect">
              <a:avLst/>
            </a:prstGeom>
          </p:spPr>
        </p:pic>
        <p:sp>
          <p:nvSpPr>
            <p:cNvPr id="115" name="Oval 114">
              <a:extLst>
                <a:ext uri="{FF2B5EF4-FFF2-40B4-BE49-F238E27FC236}">
                  <a16:creationId xmlns:a16="http://schemas.microsoft.com/office/drawing/2014/main" id="{738891F8-8332-4039-8BE7-D487E0DE08B7}"/>
                </a:ext>
              </a:extLst>
            </p:cNvPr>
            <p:cNvSpPr/>
            <p:nvPr/>
          </p:nvSpPr>
          <p:spPr>
            <a:xfrm>
              <a:off x="5232721" y="4799078"/>
              <a:ext cx="1196340" cy="553774"/>
            </a:xfrm>
            <a:prstGeom prst="ellipse">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00B0F0"/>
                  </a:solidFill>
                  <a:latin typeface="Arial Narrow" panose="020B0606020202030204" pitchFamily="34" charset="0"/>
                </a:rPr>
                <a:t>Classifier</a:t>
              </a:r>
            </a:p>
          </p:txBody>
        </p:sp>
        <p:sp>
          <p:nvSpPr>
            <p:cNvPr id="117" name="Oval 116">
              <a:extLst>
                <a:ext uri="{FF2B5EF4-FFF2-40B4-BE49-F238E27FC236}">
                  <a16:creationId xmlns:a16="http://schemas.microsoft.com/office/drawing/2014/main" id="{D468897C-4672-40B0-BE20-AD55F06940D2}"/>
                </a:ext>
              </a:extLst>
            </p:cNvPr>
            <p:cNvSpPr/>
            <p:nvPr/>
          </p:nvSpPr>
          <p:spPr>
            <a:xfrm>
              <a:off x="2687439" y="4841946"/>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8" name="Straight Arrow Connector 117">
              <a:extLst>
                <a:ext uri="{FF2B5EF4-FFF2-40B4-BE49-F238E27FC236}">
                  <a16:creationId xmlns:a16="http://schemas.microsoft.com/office/drawing/2014/main" id="{06254012-9BF7-4503-B9CC-DD73A502CD29}"/>
                </a:ext>
              </a:extLst>
            </p:cNvPr>
            <p:cNvCxnSpPr>
              <a:stCxn id="112" idx="6"/>
              <a:endCxn id="117" idx="2"/>
            </p:cNvCxnSpPr>
            <p:nvPr/>
          </p:nvCxnSpPr>
          <p:spPr>
            <a:xfrm flipV="1">
              <a:off x="2418477" y="5068914"/>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5E9FE6C2-F334-418D-8BDC-BBD46FDE1A7C}"/>
                </a:ext>
              </a:extLst>
            </p:cNvPr>
            <p:cNvSpPr/>
            <p:nvPr/>
          </p:nvSpPr>
          <p:spPr>
            <a:xfrm>
              <a:off x="3205699" y="483952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0" name="Straight Arrow Connector 119">
              <a:extLst>
                <a:ext uri="{FF2B5EF4-FFF2-40B4-BE49-F238E27FC236}">
                  <a16:creationId xmlns:a16="http://schemas.microsoft.com/office/drawing/2014/main" id="{F2302147-78A7-4458-A006-F151C7C52F49}"/>
                </a:ext>
              </a:extLst>
            </p:cNvPr>
            <p:cNvCxnSpPr>
              <a:endCxn id="119" idx="2"/>
            </p:cNvCxnSpPr>
            <p:nvPr/>
          </p:nvCxnSpPr>
          <p:spPr>
            <a:xfrm>
              <a:off x="2936737" y="506407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1" name="Oval 120">
              <a:extLst>
                <a:ext uri="{FF2B5EF4-FFF2-40B4-BE49-F238E27FC236}">
                  <a16:creationId xmlns:a16="http://schemas.microsoft.com/office/drawing/2014/main" id="{1CDF4D36-C570-414A-924D-9FFB2199CC24}"/>
                </a:ext>
              </a:extLst>
            </p:cNvPr>
            <p:cNvSpPr/>
            <p:nvPr/>
          </p:nvSpPr>
          <p:spPr>
            <a:xfrm>
              <a:off x="3700216" y="4839525"/>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2" name="Straight Arrow Connector 121">
              <a:extLst>
                <a:ext uri="{FF2B5EF4-FFF2-40B4-BE49-F238E27FC236}">
                  <a16:creationId xmlns:a16="http://schemas.microsoft.com/office/drawing/2014/main" id="{6E1FD91B-61FB-42C8-8980-89ECD99A28C8}"/>
                </a:ext>
              </a:extLst>
            </p:cNvPr>
            <p:cNvCxnSpPr>
              <a:endCxn id="121" idx="2"/>
            </p:cNvCxnSpPr>
            <p:nvPr/>
          </p:nvCxnSpPr>
          <p:spPr>
            <a:xfrm>
              <a:off x="3431254" y="5064072"/>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2B9B473E-EB74-4643-AB7D-09BD66B1B128}"/>
                </a:ext>
              </a:extLst>
            </p:cNvPr>
            <p:cNvSpPr/>
            <p:nvPr/>
          </p:nvSpPr>
          <p:spPr>
            <a:xfrm>
              <a:off x="4219493" y="4837104"/>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4" name="Straight Arrow Connector 123">
              <a:extLst>
                <a:ext uri="{FF2B5EF4-FFF2-40B4-BE49-F238E27FC236}">
                  <a16:creationId xmlns:a16="http://schemas.microsoft.com/office/drawing/2014/main" id="{169E50CA-2BF6-484E-9E65-0E2DDC5348CA}"/>
                </a:ext>
              </a:extLst>
            </p:cNvPr>
            <p:cNvCxnSpPr>
              <a:endCxn id="123" idx="2"/>
            </p:cNvCxnSpPr>
            <p:nvPr/>
          </p:nvCxnSpPr>
          <p:spPr>
            <a:xfrm>
              <a:off x="3950531" y="5061651"/>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6EDBBDD5-16BC-4A2D-8EB8-77B782360EFD}"/>
                </a:ext>
              </a:extLst>
            </p:cNvPr>
            <p:cNvCxnSpPr>
              <a:cxnSpLocks/>
            </p:cNvCxnSpPr>
            <p:nvPr/>
          </p:nvCxnSpPr>
          <p:spPr>
            <a:xfrm>
              <a:off x="4468791" y="5059230"/>
              <a:ext cx="268962" cy="2421"/>
            </a:xfrm>
            <a:prstGeom prst="straightConnector1">
              <a:avLst/>
            </a:prstGeom>
            <a:ln w="158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Oval 125">
              <a:extLst>
                <a:ext uri="{FF2B5EF4-FFF2-40B4-BE49-F238E27FC236}">
                  <a16:creationId xmlns:a16="http://schemas.microsoft.com/office/drawing/2014/main" id="{977209DF-6E96-49DB-97CF-E667073488AD}"/>
                </a:ext>
              </a:extLst>
            </p:cNvPr>
            <p:cNvSpPr/>
            <p:nvPr/>
          </p:nvSpPr>
          <p:spPr>
            <a:xfrm>
              <a:off x="4723602" y="4837104"/>
              <a:ext cx="250315" cy="453935"/>
            </a:xfrm>
            <a:prstGeom prst="ellipse">
              <a:avLst/>
            </a:prstGeom>
            <a:solidFill>
              <a:schemeClr val="accent3">
                <a:lumMod val="75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7" name="Straight Arrow Connector 126">
              <a:extLst>
                <a:ext uri="{FF2B5EF4-FFF2-40B4-BE49-F238E27FC236}">
                  <a16:creationId xmlns:a16="http://schemas.microsoft.com/office/drawing/2014/main" id="{70DE48D4-85F1-4891-A982-28646F4EB825}"/>
                </a:ext>
              </a:extLst>
            </p:cNvPr>
            <p:cNvCxnSpPr>
              <a:cxnSpLocks/>
            </p:cNvCxnSpPr>
            <p:nvPr/>
          </p:nvCxnSpPr>
          <p:spPr>
            <a:xfrm>
              <a:off x="4972900" y="5059230"/>
              <a:ext cx="268962" cy="2421"/>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001CD5D7-C6B5-453D-A5DF-2FE2C7A47007}"/>
                </a:ext>
              </a:extLst>
            </p:cNvPr>
            <p:cNvCxnSpPr/>
            <p:nvPr/>
          </p:nvCxnSpPr>
          <p:spPr>
            <a:xfrm flipV="1">
              <a:off x="2024726" y="4683117"/>
              <a:ext cx="0" cy="3833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4984C55E-062D-471A-A25D-71A576F2359B}"/>
                </a:ext>
              </a:extLst>
            </p:cNvPr>
            <p:cNvCxnSpPr/>
            <p:nvPr/>
          </p:nvCxnSpPr>
          <p:spPr>
            <a:xfrm>
              <a:off x="2024716" y="4684820"/>
              <a:ext cx="281507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7BF1BAE2-7885-4BF6-B158-FED9852E5D44}"/>
                </a:ext>
              </a:extLst>
            </p:cNvPr>
            <p:cNvCxnSpPr/>
            <p:nvPr/>
          </p:nvCxnSpPr>
          <p:spPr>
            <a:xfrm>
              <a:off x="2802626" y="4682497"/>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4F394AF6-D9C9-463C-8AA5-221267D50BF6}"/>
                </a:ext>
              </a:extLst>
            </p:cNvPr>
            <p:cNvCxnSpPr/>
            <p:nvPr/>
          </p:nvCxnSpPr>
          <p:spPr>
            <a:xfrm>
              <a:off x="3316065" y="4671830"/>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5DBF13C6-3595-476A-8E56-224B3F343143}"/>
                </a:ext>
              </a:extLst>
            </p:cNvPr>
            <p:cNvCxnSpPr/>
            <p:nvPr/>
          </p:nvCxnSpPr>
          <p:spPr>
            <a:xfrm>
              <a:off x="3827470" y="4682496"/>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817713F4-1E8B-4B8A-B0C5-020D4338F944}"/>
                </a:ext>
              </a:extLst>
            </p:cNvPr>
            <p:cNvCxnSpPr/>
            <p:nvPr/>
          </p:nvCxnSpPr>
          <p:spPr>
            <a:xfrm>
              <a:off x="4336418" y="4671830"/>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DF8AF19C-2948-48E3-839A-12C51D926043}"/>
                </a:ext>
              </a:extLst>
            </p:cNvPr>
            <p:cNvCxnSpPr/>
            <p:nvPr/>
          </p:nvCxnSpPr>
          <p:spPr>
            <a:xfrm>
              <a:off x="4838971" y="4692959"/>
              <a:ext cx="1" cy="172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D487FB1-3587-4035-9A13-FEEEB52C6E58}"/>
                </a:ext>
              </a:extLst>
            </p:cNvPr>
            <p:cNvCxnSpPr/>
            <p:nvPr/>
          </p:nvCxnSpPr>
          <p:spPr>
            <a:xfrm flipV="1">
              <a:off x="2516842" y="4584190"/>
              <a:ext cx="0" cy="482302"/>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AD5AE3CF-2A7C-4FC3-9495-8CEE698DD3A0}"/>
                </a:ext>
              </a:extLst>
            </p:cNvPr>
            <p:cNvCxnSpPr>
              <a:cxnSpLocks/>
            </p:cNvCxnSpPr>
            <p:nvPr/>
          </p:nvCxnSpPr>
          <p:spPr>
            <a:xfrm>
              <a:off x="2516842" y="4584190"/>
              <a:ext cx="241283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E3F18F19-4814-42B1-A236-AA0B3F6EF3D7}"/>
                </a:ext>
              </a:extLst>
            </p:cNvPr>
            <p:cNvCxnSpPr>
              <a:endCxn id="126" idx="7"/>
            </p:cNvCxnSpPr>
            <p:nvPr/>
          </p:nvCxnSpPr>
          <p:spPr>
            <a:xfrm>
              <a:off x="4929679" y="4584190"/>
              <a:ext cx="7580" cy="31939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AEF77407-A6DF-4DA0-B6E7-CE6C579926A8}"/>
                </a:ext>
              </a:extLst>
            </p:cNvPr>
            <p:cNvCxnSpPr/>
            <p:nvPr/>
          </p:nvCxnSpPr>
          <p:spPr>
            <a:xfrm>
              <a:off x="4419392" y="4584190"/>
              <a:ext cx="7580" cy="31939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4BE88810-C0DD-412D-9395-4070C2676B20}"/>
                </a:ext>
              </a:extLst>
            </p:cNvPr>
            <p:cNvCxnSpPr/>
            <p:nvPr/>
          </p:nvCxnSpPr>
          <p:spPr>
            <a:xfrm>
              <a:off x="3916685" y="4584190"/>
              <a:ext cx="7580" cy="31939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A7016A69-3122-4F42-A4A2-02CBB8271E02}"/>
                </a:ext>
              </a:extLst>
            </p:cNvPr>
            <p:cNvCxnSpPr/>
            <p:nvPr/>
          </p:nvCxnSpPr>
          <p:spPr>
            <a:xfrm>
              <a:off x="3406398" y="4582067"/>
              <a:ext cx="7580" cy="31939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463919A0-38FB-442A-8F5A-CF0F08C195A8}"/>
                </a:ext>
              </a:extLst>
            </p:cNvPr>
            <p:cNvCxnSpPr/>
            <p:nvPr/>
          </p:nvCxnSpPr>
          <p:spPr>
            <a:xfrm flipV="1">
              <a:off x="3016830" y="4460365"/>
              <a:ext cx="0" cy="59886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06A648CD-958C-4143-B2A5-2BC028F4CB29}"/>
                </a:ext>
              </a:extLst>
            </p:cNvPr>
            <p:cNvCxnSpPr>
              <a:cxnSpLocks/>
            </p:cNvCxnSpPr>
            <p:nvPr/>
          </p:nvCxnSpPr>
          <p:spPr>
            <a:xfrm>
              <a:off x="3016830" y="4460365"/>
              <a:ext cx="1730064" cy="781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5261AE00-B58D-4EEF-BA38-3541CA806E5D}"/>
                </a:ext>
              </a:extLst>
            </p:cNvPr>
            <p:cNvCxnSpPr/>
            <p:nvPr/>
          </p:nvCxnSpPr>
          <p:spPr>
            <a:xfrm>
              <a:off x="4746894" y="4468183"/>
              <a:ext cx="0" cy="46672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D4590BA9-6F25-4DA1-AFB1-9A8ECF349832}"/>
                </a:ext>
              </a:extLst>
            </p:cNvPr>
            <p:cNvCxnSpPr/>
            <p:nvPr/>
          </p:nvCxnSpPr>
          <p:spPr>
            <a:xfrm>
              <a:off x="4254275" y="4468183"/>
              <a:ext cx="0" cy="46672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46B50580-BFFE-4A12-9C79-093976807A49}"/>
                </a:ext>
              </a:extLst>
            </p:cNvPr>
            <p:cNvCxnSpPr/>
            <p:nvPr/>
          </p:nvCxnSpPr>
          <p:spPr>
            <a:xfrm>
              <a:off x="3728488" y="4468183"/>
              <a:ext cx="0" cy="46672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DB5F9888-ACA8-497A-9EE3-327E8026069F}"/>
                </a:ext>
              </a:extLst>
            </p:cNvPr>
            <p:cNvCxnSpPr/>
            <p:nvPr/>
          </p:nvCxnSpPr>
          <p:spPr>
            <a:xfrm>
              <a:off x="3546663" y="5066492"/>
              <a:ext cx="0" cy="395481"/>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51FFAA02-D7BD-48EC-A5A3-375B57F6EC5B}"/>
                </a:ext>
              </a:extLst>
            </p:cNvPr>
            <p:cNvCxnSpPr>
              <a:cxnSpLocks/>
            </p:cNvCxnSpPr>
            <p:nvPr/>
          </p:nvCxnSpPr>
          <p:spPr>
            <a:xfrm>
              <a:off x="3546663" y="5461973"/>
              <a:ext cx="1292308"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97C89AF7-005D-41CA-A157-CC0F04924060}"/>
                </a:ext>
              </a:extLst>
            </p:cNvPr>
            <p:cNvCxnSpPr>
              <a:cxnSpLocks/>
            </p:cNvCxnSpPr>
            <p:nvPr/>
          </p:nvCxnSpPr>
          <p:spPr>
            <a:xfrm flipV="1">
              <a:off x="4838971" y="5291039"/>
              <a:ext cx="0" cy="17093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CD91A019-51AD-4AFF-9E12-EE94BED5EC53}"/>
                </a:ext>
              </a:extLst>
            </p:cNvPr>
            <p:cNvCxnSpPr>
              <a:cxnSpLocks/>
            </p:cNvCxnSpPr>
            <p:nvPr/>
          </p:nvCxnSpPr>
          <p:spPr>
            <a:xfrm flipV="1">
              <a:off x="4336418" y="5278651"/>
              <a:ext cx="0" cy="17093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7C2C328-8AF0-4F38-AB69-FB0440A28BA2}"/>
                </a:ext>
              </a:extLst>
            </p:cNvPr>
            <p:cNvCxnSpPr/>
            <p:nvPr/>
          </p:nvCxnSpPr>
          <p:spPr>
            <a:xfrm>
              <a:off x="4026367" y="5059230"/>
              <a:ext cx="0" cy="55366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52EC2160-6FD6-48E9-9760-7AA039F96748}"/>
                </a:ext>
              </a:extLst>
            </p:cNvPr>
            <p:cNvCxnSpPr/>
            <p:nvPr/>
          </p:nvCxnSpPr>
          <p:spPr>
            <a:xfrm>
              <a:off x="4026367" y="5612890"/>
              <a:ext cx="90331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44AD3992-97F8-47BB-A44C-B12E40C3B81A}"/>
                </a:ext>
              </a:extLst>
            </p:cNvPr>
            <p:cNvCxnSpPr>
              <a:cxnSpLocks/>
            </p:cNvCxnSpPr>
            <p:nvPr/>
          </p:nvCxnSpPr>
          <p:spPr>
            <a:xfrm flipH="1" flipV="1">
              <a:off x="4929679" y="5213259"/>
              <a:ext cx="7580" cy="40915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3FAB2D9D-C065-4A8B-B52A-345472332D21}"/>
                </a:ext>
              </a:extLst>
            </p:cNvPr>
            <p:cNvSpPr txBox="1"/>
            <p:nvPr/>
          </p:nvSpPr>
          <p:spPr>
            <a:xfrm>
              <a:off x="4619152" y="3851020"/>
              <a:ext cx="1003801" cy="400110"/>
            </a:xfrm>
            <a:prstGeom prst="rect">
              <a:avLst/>
            </a:prstGeom>
            <a:noFill/>
          </p:spPr>
          <p:txBody>
            <a:bodyPr wrap="non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Res Net</a:t>
              </a:r>
            </a:p>
          </p:txBody>
        </p:sp>
        <p:sp>
          <p:nvSpPr>
            <p:cNvPr id="196" name="TextBox 195">
              <a:extLst>
                <a:ext uri="{FF2B5EF4-FFF2-40B4-BE49-F238E27FC236}">
                  <a16:creationId xmlns:a16="http://schemas.microsoft.com/office/drawing/2014/main" id="{3A0D00C9-2973-4337-AC25-C3D3068A41DA}"/>
                </a:ext>
              </a:extLst>
            </p:cNvPr>
            <p:cNvSpPr txBox="1"/>
            <p:nvPr/>
          </p:nvSpPr>
          <p:spPr>
            <a:xfrm>
              <a:off x="4592008" y="5603324"/>
              <a:ext cx="1260281" cy="400110"/>
            </a:xfrm>
            <a:prstGeom prst="rect">
              <a:avLst/>
            </a:prstGeom>
            <a:noFill/>
          </p:spPr>
          <p:txBody>
            <a:bodyPr wrap="non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Dense Net</a:t>
              </a:r>
            </a:p>
          </p:txBody>
        </p:sp>
        <p:sp>
          <p:nvSpPr>
            <p:cNvPr id="197" name="TextBox 196">
              <a:extLst>
                <a:ext uri="{FF2B5EF4-FFF2-40B4-BE49-F238E27FC236}">
                  <a16:creationId xmlns:a16="http://schemas.microsoft.com/office/drawing/2014/main" id="{CA973C4B-FF03-4F89-B52D-F82C0BE19B9F}"/>
                </a:ext>
              </a:extLst>
            </p:cNvPr>
            <p:cNvSpPr txBox="1"/>
            <p:nvPr/>
          </p:nvSpPr>
          <p:spPr>
            <a:xfrm>
              <a:off x="2024716" y="5987299"/>
              <a:ext cx="3918961" cy="369332"/>
            </a:xfrm>
            <a:prstGeom prst="rect">
              <a:avLst/>
            </a:prstGeom>
            <a:noFill/>
          </p:spPr>
          <p:txBody>
            <a:bodyPr wrap="square" rtlCol="0">
              <a:spAutoFit/>
            </a:bodyPr>
            <a:lstStyle/>
            <a:p>
              <a:r>
                <a:rPr lang="en-IN" dirty="0">
                  <a:solidFill>
                    <a:srgbClr val="7030A0"/>
                  </a:solidFill>
                  <a:latin typeface="Arial Narrow" panose="020B0606020202030204" pitchFamily="34" charset="0"/>
                </a:rPr>
                <a:t>6+5+4+3+2+1=21 (Total Connections)</a:t>
              </a:r>
            </a:p>
          </p:txBody>
        </p:sp>
        <p:sp>
          <p:nvSpPr>
            <p:cNvPr id="198" name="Rectangle 197">
              <a:extLst>
                <a:ext uri="{FF2B5EF4-FFF2-40B4-BE49-F238E27FC236}">
                  <a16:creationId xmlns:a16="http://schemas.microsoft.com/office/drawing/2014/main" id="{9C5C0333-1C69-471C-B64E-CA3B516D2B6E}"/>
                </a:ext>
              </a:extLst>
            </p:cNvPr>
            <p:cNvSpPr/>
            <p:nvPr/>
          </p:nvSpPr>
          <p:spPr>
            <a:xfrm>
              <a:off x="2046124" y="5620191"/>
              <a:ext cx="1430200" cy="369332"/>
            </a:xfrm>
            <a:prstGeom prst="rect">
              <a:avLst/>
            </a:prstGeom>
          </p:spPr>
          <p:txBody>
            <a:bodyPr wrap="none">
              <a:spAutoFit/>
            </a:bodyPr>
            <a:lstStyle/>
            <a:p>
              <a:r>
                <a:rPr lang="en-US" dirty="0">
                  <a:solidFill>
                    <a:srgbClr val="00B0F0"/>
                  </a:solidFill>
                  <a:latin typeface="Arial Narrow" panose="020B0606020202030204" pitchFamily="34" charset="0"/>
                </a:rPr>
                <a:t>6(6 + 1)/2 = 21</a:t>
              </a:r>
              <a:endParaRPr lang="en-IN" dirty="0"/>
            </a:p>
          </p:txBody>
        </p:sp>
      </p:grpSp>
      <p:sp>
        <p:nvSpPr>
          <p:cNvPr id="202" name="Title 1">
            <a:extLst>
              <a:ext uri="{FF2B5EF4-FFF2-40B4-BE49-F238E27FC236}">
                <a16:creationId xmlns:a16="http://schemas.microsoft.com/office/drawing/2014/main" id="{F9AFF608-267D-45E4-9789-0174511FF98E}"/>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Dense-Net</a:t>
            </a:r>
            <a:endParaRPr lang="en-IN" sz="3600" dirty="0">
              <a:latin typeface="Century" panose="02040604050505020304" pitchFamily="18" charset="0"/>
            </a:endParaRPr>
          </a:p>
        </p:txBody>
      </p:sp>
    </p:spTree>
    <p:extLst>
      <p:ext uri="{BB962C8B-B14F-4D97-AF65-F5344CB8AC3E}">
        <p14:creationId xmlns:p14="http://schemas.microsoft.com/office/powerpoint/2010/main" val="80246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B80029-4EAA-4050-95AD-F786E41909AC}"/>
              </a:ext>
            </a:extLst>
          </p:cNvPr>
          <p:cNvSpPr>
            <a:spLocks noGrp="1"/>
          </p:cNvSpPr>
          <p:nvPr>
            <p:ph type="title"/>
          </p:nvPr>
        </p:nvSpPr>
        <p:spPr/>
        <p:txBody>
          <a:bodyPr>
            <a:normAutofit/>
          </a:bodyPr>
          <a:lstStyle/>
          <a:p>
            <a:r>
              <a:rPr lang="en-IN" sz="3600" dirty="0">
                <a:latin typeface="Century" panose="02040604050505020304" pitchFamily="18" charset="0"/>
              </a:rPr>
              <a:t>Content</a:t>
            </a:r>
          </a:p>
        </p:txBody>
      </p:sp>
      <p:sp>
        <p:nvSpPr>
          <p:cNvPr id="5" name="Content Placeholder 4">
            <a:extLst>
              <a:ext uri="{FF2B5EF4-FFF2-40B4-BE49-F238E27FC236}">
                <a16:creationId xmlns:a16="http://schemas.microsoft.com/office/drawing/2014/main" id="{4E59758B-DD80-4677-B579-AF6EC83245F0}"/>
              </a:ext>
            </a:extLst>
          </p:cNvPr>
          <p:cNvSpPr>
            <a:spLocks noGrp="1"/>
          </p:cNvSpPr>
          <p:nvPr>
            <p:ph idx="1"/>
          </p:nvPr>
        </p:nvSpPr>
        <p:spPr/>
        <p:txBody>
          <a:bodyPr/>
          <a:lstStyle/>
          <a:p>
            <a:r>
              <a:rPr lang="en-IN" dirty="0">
                <a:solidFill>
                  <a:schemeClr val="bg1">
                    <a:lumMod val="85000"/>
                  </a:schemeClr>
                </a:solidFill>
                <a:latin typeface="Arial Narrow" panose="020B0606020202030204" pitchFamily="34" charset="0"/>
              </a:rPr>
              <a:t>Dense Net</a:t>
            </a:r>
          </a:p>
          <a:p>
            <a:r>
              <a:rPr lang="en-IN" dirty="0">
                <a:latin typeface="Arial Narrow" panose="020B0606020202030204" pitchFamily="34" charset="0"/>
              </a:rPr>
              <a:t>Mobile Net</a:t>
            </a:r>
          </a:p>
          <a:p>
            <a:r>
              <a:rPr lang="en-IN" dirty="0">
                <a:solidFill>
                  <a:schemeClr val="bg1">
                    <a:lumMod val="85000"/>
                  </a:schemeClr>
                </a:solidFill>
                <a:latin typeface="Arial Narrow" panose="020B0606020202030204" pitchFamily="34" charset="0"/>
              </a:rPr>
              <a:t>Efficient Net</a:t>
            </a:r>
          </a:p>
          <a:p>
            <a:pPr marL="0" indent="0">
              <a:buNone/>
            </a:pPr>
            <a:endParaRPr lang="en-IN" dirty="0"/>
          </a:p>
        </p:txBody>
      </p:sp>
    </p:spTree>
    <p:extLst>
      <p:ext uri="{BB962C8B-B14F-4D97-AF65-F5344CB8AC3E}">
        <p14:creationId xmlns:p14="http://schemas.microsoft.com/office/powerpoint/2010/main" val="1021974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1CD5F-B036-436D-AB32-4B1AA80CE2CB}"/>
              </a:ext>
            </a:extLst>
          </p:cNvPr>
          <p:cNvSpPr>
            <a:spLocks noGrp="1"/>
          </p:cNvSpPr>
          <p:nvPr>
            <p:ph type="title"/>
          </p:nvPr>
        </p:nvSpPr>
        <p:spPr/>
        <p:txBody>
          <a:bodyPr>
            <a:normAutofit fontScale="90000"/>
          </a:bodyPr>
          <a:lstStyle/>
          <a:p>
            <a:br>
              <a:rPr lang="en-IN" dirty="0">
                <a:latin typeface="Arial Narrow" panose="020B0606020202030204" pitchFamily="34" charset="0"/>
              </a:rPr>
            </a:br>
            <a:r>
              <a:rPr lang="en-IN" sz="4000" dirty="0">
                <a:latin typeface="Century" panose="02040604050505020304" pitchFamily="18" charset="0"/>
              </a:rPr>
              <a:t>Mobile Net</a:t>
            </a:r>
            <a:br>
              <a:rPr lang="en-IN" dirty="0">
                <a:latin typeface="Arial Narrow" panose="020B0606020202030204" pitchFamily="34" charset="0"/>
              </a:rPr>
            </a:br>
            <a:endParaRPr lang="en-IN" dirty="0"/>
          </a:p>
        </p:txBody>
      </p:sp>
      <p:sp>
        <p:nvSpPr>
          <p:cNvPr id="3" name="Content Placeholder 2">
            <a:extLst>
              <a:ext uri="{FF2B5EF4-FFF2-40B4-BE49-F238E27FC236}">
                <a16:creationId xmlns:a16="http://schemas.microsoft.com/office/drawing/2014/main" id="{C8DC91D6-9F37-4637-A07E-151863B151AE}"/>
              </a:ext>
            </a:extLst>
          </p:cNvPr>
          <p:cNvSpPr>
            <a:spLocks noGrp="1"/>
          </p:cNvSpPr>
          <p:nvPr>
            <p:ph idx="1"/>
          </p:nvPr>
        </p:nvSpPr>
        <p:spPr/>
        <p:txBody>
          <a:bodyPr>
            <a:normAutofit lnSpcReduction="10000"/>
          </a:bodyPr>
          <a:lstStyle/>
          <a:p>
            <a:pPr algn="just"/>
            <a:r>
              <a:rPr lang="en-US" sz="2000" dirty="0">
                <a:latin typeface="Arial Narrow" panose="020B0606020202030204" pitchFamily="34" charset="0"/>
              </a:rPr>
              <a:t>Mobile Net is a lightweight convolutional neural network (CNN) architecture designed for efficient image classification and computer vision tasks on resource-constrained devices such as smartphones, embedded systems, and IoT devices.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Mobile Net architecture is built upon </a:t>
            </a:r>
            <a:r>
              <a:rPr lang="en-US" sz="2000" dirty="0">
                <a:solidFill>
                  <a:srgbClr val="00B0F0"/>
                </a:solidFill>
                <a:latin typeface="Arial Narrow" panose="020B0606020202030204" pitchFamily="34" charset="0"/>
              </a:rPr>
              <a:t>depth-wise separable convolutions</a:t>
            </a:r>
            <a:r>
              <a:rPr lang="en-US" sz="2000" dirty="0">
                <a:latin typeface="Arial Narrow" panose="020B0606020202030204" pitchFamily="34" charset="0"/>
              </a:rPr>
              <a:t>, a factorized convolution technique that significantly reduces computational complexity and model size compared to standard convolutions.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Instead of performing spatial filtering and channel combination in a single operation, </a:t>
            </a:r>
            <a:r>
              <a:rPr lang="en-US" sz="2000" dirty="0">
                <a:solidFill>
                  <a:srgbClr val="00B0F0"/>
                </a:solidFill>
                <a:latin typeface="Arial Narrow" panose="020B0606020202030204" pitchFamily="34" charset="0"/>
              </a:rPr>
              <a:t>Mobile Net decomposes the standard convolution into two sequential layers</a:t>
            </a:r>
            <a:r>
              <a:rPr lang="en-US" sz="2000" dirty="0">
                <a:latin typeface="Arial Narrow" panose="020B0606020202030204" pitchFamily="34" charset="0"/>
              </a:rPr>
              <a:t>: a </a:t>
            </a:r>
            <a:r>
              <a:rPr lang="en-US" sz="2000" dirty="0">
                <a:solidFill>
                  <a:srgbClr val="00B0F0"/>
                </a:solidFill>
                <a:latin typeface="Arial Narrow" panose="020B0606020202030204" pitchFamily="34" charset="0"/>
              </a:rPr>
              <a:t>depth-wise convolution </a:t>
            </a:r>
            <a:r>
              <a:rPr lang="en-US" sz="2000" dirty="0">
                <a:latin typeface="Arial Narrow" panose="020B0606020202030204" pitchFamily="34" charset="0"/>
              </a:rPr>
              <a:t>followed by a </a:t>
            </a:r>
            <a:r>
              <a:rPr lang="en-US" sz="2000" dirty="0">
                <a:solidFill>
                  <a:srgbClr val="00B0F0"/>
                </a:solidFill>
                <a:latin typeface="Arial Narrow" panose="020B0606020202030204" pitchFamily="34" charset="0"/>
              </a:rPr>
              <a:t>pointwise convolution</a:t>
            </a:r>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factorization significantly reduces the number of parameters and floating-point operations (FLOPs) while maintaining competitive accuracy. </a:t>
            </a:r>
          </a:p>
        </p:txBody>
      </p:sp>
      <p:sp>
        <p:nvSpPr>
          <p:cNvPr id="4" name="Rectangle 3">
            <a:extLst>
              <a:ext uri="{FF2B5EF4-FFF2-40B4-BE49-F238E27FC236}">
                <a16:creationId xmlns:a16="http://schemas.microsoft.com/office/drawing/2014/main" id="{F32C2026-89D7-4F42-9256-3EF2A42AF26B}"/>
              </a:ext>
            </a:extLst>
          </p:cNvPr>
          <p:cNvSpPr/>
          <p:nvPr/>
        </p:nvSpPr>
        <p:spPr>
          <a:xfrm>
            <a:off x="838200" y="6492875"/>
            <a:ext cx="10232353" cy="307777"/>
          </a:xfrm>
          <a:prstGeom prst="rect">
            <a:avLst/>
          </a:prstGeom>
        </p:spPr>
        <p:txBody>
          <a:bodyPr wrap="none">
            <a:spAutoFit/>
          </a:bodyPr>
          <a:lstStyle/>
          <a:p>
            <a:r>
              <a:rPr lang="en-IN" sz="1400" dirty="0">
                <a:latin typeface="Arial Narrow" panose="020B0606020202030204" pitchFamily="34" charset="0"/>
              </a:rPr>
              <a:t>Andrew G. Howard et. al., “</a:t>
            </a:r>
            <a:r>
              <a:rPr lang="en-IN" sz="1400" dirty="0" err="1">
                <a:latin typeface="Arial Narrow" panose="020B0606020202030204" pitchFamily="34" charset="0"/>
              </a:rPr>
              <a:t>MobileNets</a:t>
            </a:r>
            <a:r>
              <a:rPr lang="en-IN" sz="1400" dirty="0">
                <a:latin typeface="Arial Narrow" panose="020B0606020202030204" pitchFamily="34" charset="0"/>
              </a:rPr>
              <a:t>: Efficient Convolutional Neural Networks for Mobile Vision Applications”, https://doi.org/10.48550/arXiv.1704.04861 </a:t>
            </a:r>
          </a:p>
        </p:txBody>
      </p:sp>
    </p:spTree>
    <p:extLst>
      <p:ext uri="{BB962C8B-B14F-4D97-AF65-F5344CB8AC3E}">
        <p14:creationId xmlns:p14="http://schemas.microsoft.com/office/powerpoint/2010/main" val="2850486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67433-F822-47DD-BF62-5AAE8B61F432}"/>
              </a:ext>
            </a:extLst>
          </p:cNvPr>
          <p:cNvSpPr>
            <a:spLocks noGrp="1"/>
          </p:cNvSpPr>
          <p:nvPr>
            <p:ph type="title"/>
          </p:nvPr>
        </p:nvSpPr>
        <p:spPr/>
        <p:txBody>
          <a:bodyPr>
            <a:normAutofit/>
          </a:bodyPr>
          <a:lstStyle/>
          <a:p>
            <a:r>
              <a:rPr lang="en-US" sz="3600" dirty="0">
                <a:latin typeface="Century" panose="02040604050505020304" pitchFamily="18" charset="0"/>
              </a:rPr>
              <a:t>Depth-wise separable convolutions</a:t>
            </a: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2A8E3A27-1BC8-400B-B8CC-BC8F7ED88C34}"/>
              </a:ext>
            </a:extLst>
          </p:cNvPr>
          <p:cNvSpPr>
            <a:spLocks noGrp="1"/>
          </p:cNvSpPr>
          <p:nvPr>
            <p:ph idx="1"/>
          </p:nvPr>
        </p:nvSpPr>
        <p:spPr/>
        <p:txBody>
          <a:bodyPr>
            <a:normAutofit/>
          </a:bodyPr>
          <a:lstStyle/>
          <a:p>
            <a:pPr algn="just"/>
            <a:r>
              <a:rPr lang="en-US" sz="2000" dirty="0">
                <a:latin typeface="Arial Narrow" panose="020B0606020202030204" pitchFamily="34" charset="0"/>
              </a:rPr>
              <a:t>Depth-wise separable convolutions is a form of factorized convolutions which factorize a standard convolution into a </a:t>
            </a:r>
            <a:r>
              <a:rPr lang="en-US" sz="2000" dirty="0">
                <a:solidFill>
                  <a:srgbClr val="00B0F0"/>
                </a:solidFill>
                <a:latin typeface="Arial Narrow" panose="020B0606020202030204" pitchFamily="34" charset="0"/>
              </a:rPr>
              <a:t>depth-wise convolution </a:t>
            </a:r>
            <a:r>
              <a:rPr lang="en-US" sz="2000" dirty="0">
                <a:latin typeface="Arial Narrow" panose="020B0606020202030204" pitchFamily="34" charset="0"/>
              </a:rPr>
              <a:t>and a 1×1convolution called a </a:t>
            </a:r>
            <a:r>
              <a:rPr lang="en-US" sz="2000" dirty="0">
                <a:solidFill>
                  <a:srgbClr val="00B0F0"/>
                </a:solidFill>
                <a:latin typeface="Arial Narrow" panose="020B0606020202030204" pitchFamily="34" charset="0"/>
              </a:rPr>
              <a:t>pointwise convolution</a:t>
            </a:r>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a:t>
            </a:r>
            <a:r>
              <a:rPr lang="en-US" sz="2000" dirty="0">
                <a:solidFill>
                  <a:srgbClr val="00B0F0"/>
                </a:solidFill>
                <a:latin typeface="Arial Narrow" panose="020B0606020202030204" pitchFamily="34" charset="0"/>
              </a:rPr>
              <a:t>depth-wise convolution </a:t>
            </a:r>
            <a:r>
              <a:rPr lang="en-US" sz="2000" dirty="0">
                <a:latin typeface="Arial Narrow" panose="020B0606020202030204" pitchFamily="34" charset="0"/>
              </a:rPr>
              <a:t>applies a single convolutional filter independently to each input channel, enabling efficient spatial feature extraction without mixing channel information.</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Subsequently, the </a:t>
            </a:r>
            <a:r>
              <a:rPr lang="en-US" sz="2000" dirty="0">
                <a:solidFill>
                  <a:srgbClr val="00B0F0"/>
                </a:solidFill>
                <a:latin typeface="Arial Narrow" panose="020B0606020202030204" pitchFamily="34" charset="0"/>
              </a:rPr>
              <a:t>pointwise convolution</a:t>
            </a:r>
            <a:r>
              <a:rPr lang="en-US" sz="2000" dirty="0">
                <a:latin typeface="Arial Narrow" panose="020B0606020202030204" pitchFamily="34" charset="0"/>
              </a:rPr>
              <a:t>, implemented as a (1x1) convolution, combines the outputs across all channels to generate a new set of feature maps.</a:t>
            </a:r>
            <a:endParaRPr lang="en-IN" sz="2000" dirty="0">
              <a:latin typeface="Arial Narrow" panose="020B0606020202030204" pitchFamily="34" charset="0"/>
            </a:endParaRPr>
          </a:p>
        </p:txBody>
      </p:sp>
      <p:sp>
        <p:nvSpPr>
          <p:cNvPr id="4" name="Rectangle 3">
            <a:extLst>
              <a:ext uri="{FF2B5EF4-FFF2-40B4-BE49-F238E27FC236}">
                <a16:creationId xmlns:a16="http://schemas.microsoft.com/office/drawing/2014/main" id="{3A4242F8-4E09-4510-AE87-0C11C5594CD3}"/>
              </a:ext>
            </a:extLst>
          </p:cNvPr>
          <p:cNvSpPr/>
          <p:nvPr/>
        </p:nvSpPr>
        <p:spPr>
          <a:xfrm>
            <a:off x="838200" y="6492875"/>
            <a:ext cx="10232353" cy="307777"/>
          </a:xfrm>
          <a:prstGeom prst="rect">
            <a:avLst/>
          </a:prstGeom>
        </p:spPr>
        <p:txBody>
          <a:bodyPr wrap="none">
            <a:spAutoFit/>
          </a:bodyPr>
          <a:lstStyle/>
          <a:p>
            <a:r>
              <a:rPr lang="en-IN" sz="1400" dirty="0">
                <a:latin typeface="Arial Narrow" panose="020B0606020202030204" pitchFamily="34" charset="0"/>
              </a:rPr>
              <a:t>Andrew G. Howard et. al., “</a:t>
            </a:r>
            <a:r>
              <a:rPr lang="en-IN" sz="1400" dirty="0" err="1">
                <a:latin typeface="Arial Narrow" panose="020B0606020202030204" pitchFamily="34" charset="0"/>
              </a:rPr>
              <a:t>MobileNets</a:t>
            </a:r>
            <a:r>
              <a:rPr lang="en-IN" sz="1400" dirty="0">
                <a:latin typeface="Arial Narrow" panose="020B0606020202030204" pitchFamily="34" charset="0"/>
              </a:rPr>
              <a:t>: Efficient Convolutional Neural Networks for Mobile Vision Applications”, https://doi.org/10.48550/arXiv.1704.04861 </a:t>
            </a:r>
          </a:p>
        </p:txBody>
      </p:sp>
    </p:spTree>
    <p:extLst>
      <p:ext uri="{BB962C8B-B14F-4D97-AF65-F5344CB8AC3E}">
        <p14:creationId xmlns:p14="http://schemas.microsoft.com/office/powerpoint/2010/main" val="2591318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5C8D8-3AAE-4D3E-BD66-A789CD8EC28E}"/>
              </a:ext>
            </a:extLst>
          </p:cNvPr>
          <p:cNvSpPr>
            <a:spLocks noGrp="1"/>
          </p:cNvSpPr>
          <p:nvPr>
            <p:ph type="title"/>
          </p:nvPr>
        </p:nvSpPr>
        <p:spPr/>
        <p:txBody>
          <a:bodyPr>
            <a:normAutofit/>
          </a:bodyPr>
          <a:lstStyle/>
          <a:p>
            <a:r>
              <a:rPr lang="en-IN" sz="3600" dirty="0">
                <a:latin typeface="Century" panose="02040604050505020304" pitchFamily="18" charset="0"/>
              </a:rPr>
              <a:t>Depth-wise convolution </a:t>
            </a:r>
          </a:p>
        </p:txBody>
      </p:sp>
      <p:sp>
        <p:nvSpPr>
          <p:cNvPr id="32" name="Content Placeholder 31">
            <a:extLst>
              <a:ext uri="{FF2B5EF4-FFF2-40B4-BE49-F238E27FC236}">
                <a16:creationId xmlns:a16="http://schemas.microsoft.com/office/drawing/2014/main" id="{0E199E19-1161-45CD-A038-9CB1C5B37EBE}"/>
              </a:ext>
            </a:extLst>
          </p:cNvPr>
          <p:cNvSpPr>
            <a:spLocks noGrp="1"/>
          </p:cNvSpPr>
          <p:nvPr>
            <p:ph idx="1"/>
          </p:nvPr>
        </p:nvSpPr>
        <p:spPr>
          <a:xfrm>
            <a:off x="838200" y="1825625"/>
            <a:ext cx="10515600" cy="2872055"/>
          </a:xfrm>
        </p:spPr>
        <p:txBody>
          <a:bodyPr>
            <a:normAutofit/>
          </a:bodyPr>
          <a:lstStyle/>
          <a:p>
            <a:pPr algn="just"/>
            <a:r>
              <a:rPr lang="en-US" sz="2000" dirty="0">
                <a:solidFill>
                  <a:srgbClr val="00B0F0"/>
                </a:solidFill>
                <a:latin typeface="Arial Narrow" panose="020B0606020202030204" pitchFamily="34" charset="0"/>
              </a:rPr>
              <a:t>Depth-wise convolution </a:t>
            </a:r>
            <a:r>
              <a:rPr lang="en-US" sz="2000" dirty="0">
                <a:latin typeface="Arial Narrow" panose="020B0606020202030204" pitchFamily="34" charset="0"/>
              </a:rPr>
              <a:t>is a convolution operation in which a single convolutional filter is applied independently to each input channel of a feature map. Unlike a standard convolution, which simultaneously performs spatial filtering and combines information across all input channels, depth-wise convolution processes each channel separately without inter-channel mixing.</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If the input has (K) channels, depth-wise convolution employs (K) distinct filters, each operating on one corresponding channel to extract spatial features. This operation significantly reduces the number of parameters and computational cost because it eliminates the need to convolve across all input channels.</a:t>
            </a:r>
            <a:endParaRPr lang="en-IN" sz="2000" dirty="0">
              <a:latin typeface="Arial Narrow" panose="020B0606020202030204" pitchFamily="34" charset="0"/>
            </a:endParaRPr>
          </a:p>
        </p:txBody>
      </p:sp>
      <p:sp>
        <p:nvSpPr>
          <p:cNvPr id="4" name="Cube 3">
            <a:extLst>
              <a:ext uri="{FF2B5EF4-FFF2-40B4-BE49-F238E27FC236}">
                <a16:creationId xmlns:a16="http://schemas.microsoft.com/office/drawing/2014/main" id="{6BEB9432-6693-46AF-9AF1-4E46636992B8}"/>
              </a:ext>
            </a:extLst>
          </p:cNvPr>
          <p:cNvSpPr/>
          <p:nvPr/>
        </p:nvSpPr>
        <p:spPr>
          <a:xfrm>
            <a:off x="5185485" y="5121642"/>
            <a:ext cx="409575" cy="500343"/>
          </a:xfrm>
          <a:prstGeom prst="cube">
            <a:avLst>
              <a:gd name="adj" fmla="val 1569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ube 5">
            <a:extLst>
              <a:ext uri="{FF2B5EF4-FFF2-40B4-BE49-F238E27FC236}">
                <a16:creationId xmlns:a16="http://schemas.microsoft.com/office/drawing/2014/main" id="{159C9D2A-1B46-4244-8E07-6A647345156F}"/>
              </a:ext>
            </a:extLst>
          </p:cNvPr>
          <p:cNvSpPr/>
          <p:nvPr/>
        </p:nvSpPr>
        <p:spPr>
          <a:xfrm>
            <a:off x="3157219" y="4834212"/>
            <a:ext cx="1210235" cy="111162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ube 6">
            <a:extLst>
              <a:ext uri="{FF2B5EF4-FFF2-40B4-BE49-F238E27FC236}">
                <a16:creationId xmlns:a16="http://schemas.microsoft.com/office/drawing/2014/main" id="{8D49BB03-ABB9-40E6-82D6-73539E2B585E}"/>
              </a:ext>
            </a:extLst>
          </p:cNvPr>
          <p:cNvSpPr/>
          <p:nvPr/>
        </p:nvSpPr>
        <p:spPr>
          <a:xfrm>
            <a:off x="5880810" y="5139852"/>
            <a:ext cx="409575" cy="500343"/>
          </a:xfrm>
          <a:prstGeom prst="cube">
            <a:avLst>
              <a:gd name="adj" fmla="val 1569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EDDAD43-1596-43DA-A77B-734B2F08FDC5}"/>
              </a:ext>
            </a:extLst>
          </p:cNvPr>
          <p:cNvSpPr txBox="1"/>
          <p:nvPr/>
        </p:nvSpPr>
        <p:spPr>
          <a:xfrm>
            <a:off x="6104647" y="4852544"/>
            <a:ext cx="1057275" cy="769441"/>
          </a:xfrm>
          <a:prstGeom prst="rect">
            <a:avLst/>
          </a:prstGeom>
          <a:noFill/>
        </p:spPr>
        <p:txBody>
          <a:bodyPr wrap="square" rtlCol="0">
            <a:spAutoFit/>
          </a:bodyPr>
          <a:lstStyle/>
          <a:p>
            <a:pPr algn="ctr"/>
            <a:r>
              <a:rPr lang="en-IN" sz="4400" dirty="0"/>
              <a:t>…</a:t>
            </a:r>
          </a:p>
        </p:txBody>
      </p:sp>
      <p:sp>
        <p:nvSpPr>
          <p:cNvPr id="9" name="Cube 8">
            <a:extLst>
              <a:ext uri="{FF2B5EF4-FFF2-40B4-BE49-F238E27FC236}">
                <a16:creationId xmlns:a16="http://schemas.microsoft.com/office/drawing/2014/main" id="{3C4F862A-4FDC-43C4-8F28-A3AAB004081E}"/>
              </a:ext>
            </a:extLst>
          </p:cNvPr>
          <p:cNvSpPr/>
          <p:nvPr/>
        </p:nvSpPr>
        <p:spPr>
          <a:xfrm>
            <a:off x="7095810" y="5139852"/>
            <a:ext cx="409575" cy="500343"/>
          </a:xfrm>
          <a:prstGeom prst="cube">
            <a:avLst>
              <a:gd name="adj" fmla="val 1569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F5D0E58-AA65-4EBC-A502-89148EE20201}"/>
              </a:ext>
            </a:extLst>
          </p:cNvPr>
          <p:cNvSpPr txBox="1"/>
          <p:nvPr/>
        </p:nvSpPr>
        <p:spPr>
          <a:xfrm>
            <a:off x="5196131" y="5964046"/>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11" name="TextBox 10">
            <a:extLst>
              <a:ext uri="{FF2B5EF4-FFF2-40B4-BE49-F238E27FC236}">
                <a16:creationId xmlns:a16="http://schemas.microsoft.com/office/drawing/2014/main" id="{898A9CB4-62A9-4E0D-8E44-18DEF6EEAD9B}"/>
              </a:ext>
            </a:extLst>
          </p:cNvPr>
          <p:cNvSpPr txBox="1"/>
          <p:nvPr/>
        </p:nvSpPr>
        <p:spPr>
          <a:xfrm>
            <a:off x="5872968" y="5964046"/>
            <a:ext cx="209550" cy="369332"/>
          </a:xfrm>
          <a:prstGeom prst="rect">
            <a:avLst/>
          </a:prstGeom>
          <a:noFill/>
        </p:spPr>
        <p:txBody>
          <a:bodyPr wrap="square" rtlCol="0">
            <a:spAutoFit/>
          </a:bodyPr>
          <a:lstStyle/>
          <a:p>
            <a:r>
              <a:rPr lang="en-IN" dirty="0">
                <a:latin typeface="Arial Narrow" panose="020B0606020202030204" pitchFamily="34" charset="0"/>
              </a:rPr>
              <a:t>2</a:t>
            </a:r>
          </a:p>
        </p:txBody>
      </p:sp>
      <p:sp>
        <p:nvSpPr>
          <p:cNvPr id="12" name="TextBox 11">
            <a:extLst>
              <a:ext uri="{FF2B5EF4-FFF2-40B4-BE49-F238E27FC236}">
                <a16:creationId xmlns:a16="http://schemas.microsoft.com/office/drawing/2014/main" id="{4A456EED-1F9F-4638-8462-418B31AE424E}"/>
              </a:ext>
            </a:extLst>
          </p:cNvPr>
          <p:cNvSpPr txBox="1"/>
          <p:nvPr/>
        </p:nvSpPr>
        <p:spPr>
          <a:xfrm>
            <a:off x="7095810" y="5964046"/>
            <a:ext cx="209550" cy="369332"/>
          </a:xfrm>
          <a:prstGeom prst="rect">
            <a:avLst/>
          </a:prstGeom>
          <a:noFill/>
        </p:spPr>
        <p:txBody>
          <a:bodyPr wrap="square" rtlCol="0">
            <a:spAutoFit/>
          </a:bodyPr>
          <a:lstStyle/>
          <a:p>
            <a:r>
              <a:rPr lang="en-IN" dirty="0">
                <a:latin typeface="Arial Narrow" panose="020B0606020202030204" pitchFamily="34" charset="0"/>
              </a:rPr>
              <a:t>K</a:t>
            </a:r>
          </a:p>
        </p:txBody>
      </p:sp>
      <p:sp>
        <p:nvSpPr>
          <p:cNvPr id="13" name="TextBox 12">
            <a:extLst>
              <a:ext uri="{FF2B5EF4-FFF2-40B4-BE49-F238E27FC236}">
                <a16:creationId xmlns:a16="http://schemas.microsoft.com/office/drawing/2014/main" id="{EE6F174B-B923-41AE-B575-D8BF67C2BBC4}"/>
              </a:ext>
            </a:extLst>
          </p:cNvPr>
          <p:cNvSpPr txBox="1"/>
          <p:nvPr/>
        </p:nvSpPr>
        <p:spPr>
          <a:xfrm>
            <a:off x="2835751" y="5371813"/>
            <a:ext cx="209550" cy="369332"/>
          </a:xfrm>
          <a:prstGeom prst="rect">
            <a:avLst/>
          </a:prstGeom>
          <a:noFill/>
        </p:spPr>
        <p:txBody>
          <a:bodyPr wrap="square" rtlCol="0">
            <a:spAutoFit/>
          </a:bodyPr>
          <a:lstStyle/>
          <a:p>
            <a:r>
              <a:rPr lang="en-IN" dirty="0">
                <a:latin typeface="Arial Narrow" panose="020B0606020202030204" pitchFamily="34" charset="0"/>
              </a:rPr>
              <a:t>M</a:t>
            </a:r>
          </a:p>
        </p:txBody>
      </p:sp>
      <p:sp>
        <p:nvSpPr>
          <p:cNvPr id="14" name="TextBox 13">
            <a:extLst>
              <a:ext uri="{FF2B5EF4-FFF2-40B4-BE49-F238E27FC236}">
                <a16:creationId xmlns:a16="http://schemas.microsoft.com/office/drawing/2014/main" id="{A1FBBEBC-4D1F-4471-BD4A-86AE2B67E261}"/>
              </a:ext>
            </a:extLst>
          </p:cNvPr>
          <p:cNvSpPr txBox="1"/>
          <p:nvPr/>
        </p:nvSpPr>
        <p:spPr>
          <a:xfrm>
            <a:off x="3462581" y="5964046"/>
            <a:ext cx="209550" cy="369332"/>
          </a:xfrm>
          <a:prstGeom prst="rect">
            <a:avLst/>
          </a:prstGeom>
          <a:noFill/>
        </p:spPr>
        <p:txBody>
          <a:bodyPr wrap="square" rtlCol="0">
            <a:spAutoFit/>
          </a:bodyPr>
          <a:lstStyle/>
          <a:p>
            <a:r>
              <a:rPr lang="en-IN" dirty="0">
                <a:latin typeface="Arial Narrow" panose="020B0606020202030204" pitchFamily="34" charset="0"/>
              </a:rPr>
              <a:t>N</a:t>
            </a:r>
          </a:p>
        </p:txBody>
      </p:sp>
      <p:sp>
        <p:nvSpPr>
          <p:cNvPr id="15" name="TextBox 14">
            <a:extLst>
              <a:ext uri="{FF2B5EF4-FFF2-40B4-BE49-F238E27FC236}">
                <a16:creationId xmlns:a16="http://schemas.microsoft.com/office/drawing/2014/main" id="{5D86B513-0F6F-401C-B9FA-965F5A195954}"/>
              </a:ext>
            </a:extLst>
          </p:cNvPr>
          <p:cNvSpPr txBox="1"/>
          <p:nvPr/>
        </p:nvSpPr>
        <p:spPr>
          <a:xfrm>
            <a:off x="4157904" y="5741145"/>
            <a:ext cx="209550" cy="369332"/>
          </a:xfrm>
          <a:prstGeom prst="rect">
            <a:avLst/>
          </a:prstGeom>
          <a:noFill/>
        </p:spPr>
        <p:txBody>
          <a:bodyPr wrap="square" rtlCol="0">
            <a:spAutoFit/>
          </a:bodyPr>
          <a:lstStyle/>
          <a:p>
            <a:r>
              <a:rPr lang="en-IN" dirty="0">
                <a:latin typeface="Arial Narrow" panose="020B0606020202030204" pitchFamily="34" charset="0"/>
              </a:rPr>
              <a:t>K</a:t>
            </a:r>
          </a:p>
        </p:txBody>
      </p:sp>
      <p:sp>
        <p:nvSpPr>
          <p:cNvPr id="16" name="TextBox 15">
            <a:extLst>
              <a:ext uri="{FF2B5EF4-FFF2-40B4-BE49-F238E27FC236}">
                <a16:creationId xmlns:a16="http://schemas.microsoft.com/office/drawing/2014/main" id="{A1888E00-DB22-4C7F-BCFE-49E173831227}"/>
              </a:ext>
            </a:extLst>
          </p:cNvPr>
          <p:cNvSpPr txBox="1"/>
          <p:nvPr/>
        </p:nvSpPr>
        <p:spPr>
          <a:xfrm>
            <a:off x="4937835" y="5237264"/>
            <a:ext cx="209550" cy="369332"/>
          </a:xfrm>
          <a:prstGeom prst="rect">
            <a:avLst/>
          </a:prstGeom>
          <a:noFill/>
        </p:spPr>
        <p:txBody>
          <a:bodyPr wrap="square" rtlCol="0">
            <a:spAutoFit/>
          </a:bodyPr>
          <a:lstStyle/>
          <a:p>
            <a:r>
              <a:rPr lang="en-IN" dirty="0">
                <a:latin typeface="Arial Narrow" panose="020B0606020202030204" pitchFamily="34" charset="0"/>
              </a:rPr>
              <a:t>p</a:t>
            </a:r>
          </a:p>
        </p:txBody>
      </p:sp>
      <p:sp>
        <p:nvSpPr>
          <p:cNvPr id="17" name="TextBox 16">
            <a:extLst>
              <a:ext uri="{FF2B5EF4-FFF2-40B4-BE49-F238E27FC236}">
                <a16:creationId xmlns:a16="http://schemas.microsoft.com/office/drawing/2014/main" id="{1BCEA41B-6BA4-4D74-9685-ABC4233E78F8}"/>
              </a:ext>
            </a:extLst>
          </p:cNvPr>
          <p:cNvSpPr txBox="1"/>
          <p:nvPr/>
        </p:nvSpPr>
        <p:spPr>
          <a:xfrm>
            <a:off x="5216440" y="5576504"/>
            <a:ext cx="209550" cy="369332"/>
          </a:xfrm>
          <a:prstGeom prst="rect">
            <a:avLst/>
          </a:prstGeom>
          <a:noFill/>
        </p:spPr>
        <p:txBody>
          <a:bodyPr wrap="square" rtlCol="0">
            <a:spAutoFit/>
          </a:bodyPr>
          <a:lstStyle/>
          <a:p>
            <a:r>
              <a:rPr lang="en-IN" dirty="0">
                <a:latin typeface="Arial Narrow" panose="020B0606020202030204" pitchFamily="34" charset="0"/>
              </a:rPr>
              <a:t>q</a:t>
            </a:r>
          </a:p>
        </p:txBody>
      </p:sp>
      <p:sp>
        <p:nvSpPr>
          <p:cNvPr id="18" name="TextBox 17">
            <a:extLst>
              <a:ext uri="{FF2B5EF4-FFF2-40B4-BE49-F238E27FC236}">
                <a16:creationId xmlns:a16="http://schemas.microsoft.com/office/drawing/2014/main" id="{AF5CAC57-7996-4BAF-9EAA-F6941C8C1D95}"/>
              </a:ext>
            </a:extLst>
          </p:cNvPr>
          <p:cNvSpPr txBox="1"/>
          <p:nvPr/>
        </p:nvSpPr>
        <p:spPr>
          <a:xfrm>
            <a:off x="5443850" y="5556479"/>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19" name="TextBox 18">
            <a:extLst>
              <a:ext uri="{FF2B5EF4-FFF2-40B4-BE49-F238E27FC236}">
                <a16:creationId xmlns:a16="http://schemas.microsoft.com/office/drawing/2014/main" id="{1B2352D7-F0F4-4332-B752-62A8D17F7328}"/>
              </a:ext>
            </a:extLst>
          </p:cNvPr>
          <p:cNvSpPr txBox="1"/>
          <p:nvPr/>
        </p:nvSpPr>
        <p:spPr>
          <a:xfrm>
            <a:off x="5660056" y="5217239"/>
            <a:ext cx="209550" cy="369332"/>
          </a:xfrm>
          <a:prstGeom prst="rect">
            <a:avLst/>
          </a:prstGeom>
          <a:noFill/>
        </p:spPr>
        <p:txBody>
          <a:bodyPr wrap="square" rtlCol="0">
            <a:spAutoFit/>
          </a:bodyPr>
          <a:lstStyle/>
          <a:p>
            <a:r>
              <a:rPr lang="en-IN" dirty="0">
                <a:latin typeface="Arial Narrow" panose="020B0606020202030204" pitchFamily="34" charset="0"/>
              </a:rPr>
              <a:t>p</a:t>
            </a:r>
          </a:p>
        </p:txBody>
      </p:sp>
      <p:sp>
        <p:nvSpPr>
          <p:cNvPr id="20" name="TextBox 19">
            <a:extLst>
              <a:ext uri="{FF2B5EF4-FFF2-40B4-BE49-F238E27FC236}">
                <a16:creationId xmlns:a16="http://schemas.microsoft.com/office/drawing/2014/main" id="{45633744-0BC8-4E31-8C84-EFE36B1C7705}"/>
              </a:ext>
            </a:extLst>
          </p:cNvPr>
          <p:cNvSpPr txBox="1"/>
          <p:nvPr/>
        </p:nvSpPr>
        <p:spPr>
          <a:xfrm>
            <a:off x="5938661" y="5556479"/>
            <a:ext cx="209550" cy="369332"/>
          </a:xfrm>
          <a:prstGeom prst="rect">
            <a:avLst/>
          </a:prstGeom>
          <a:noFill/>
        </p:spPr>
        <p:txBody>
          <a:bodyPr wrap="square" rtlCol="0">
            <a:spAutoFit/>
          </a:bodyPr>
          <a:lstStyle/>
          <a:p>
            <a:r>
              <a:rPr lang="en-IN" dirty="0">
                <a:latin typeface="Arial Narrow" panose="020B0606020202030204" pitchFamily="34" charset="0"/>
              </a:rPr>
              <a:t>q</a:t>
            </a:r>
          </a:p>
        </p:txBody>
      </p:sp>
      <p:sp>
        <p:nvSpPr>
          <p:cNvPr id="21" name="TextBox 20">
            <a:extLst>
              <a:ext uri="{FF2B5EF4-FFF2-40B4-BE49-F238E27FC236}">
                <a16:creationId xmlns:a16="http://schemas.microsoft.com/office/drawing/2014/main" id="{1EE6CF84-4AD7-4034-BDF1-21F90DDAFC33}"/>
              </a:ext>
            </a:extLst>
          </p:cNvPr>
          <p:cNvSpPr txBox="1"/>
          <p:nvPr/>
        </p:nvSpPr>
        <p:spPr>
          <a:xfrm>
            <a:off x="6166071" y="5536454"/>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22" name="TextBox 21">
            <a:extLst>
              <a:ext uri="{FF2B5EF4-FFF2-40B4-BE49-F238E27FC236}">
                <a16:creationId xmlns:a16="http://schemas.microsoft.com/office/drawing/2014/main" id="{3E6FE17E-562E-4740-A846-5CEB34C5F477}"/>
              </a:ext>
            </a:extLst>
          </p:cNvPr>
          <p:cNvSpPr txBox="1"/>
          <p:nvPr/>
        </p:nvSpPr>
        <p:spPr>
          <a:xfrm>
            <a:off x="6848928" y="5207172"/>
            <a:ext cx="209550" cy="369332"/>
          </a:xfrm>
          <a:prstGeom prst="rect">
            <a:avLst/>
          </a:prstGeom>
          <a:noFill/>
        </p:spPr>
        <p:txBody>
          <a:bodyPr wrap="square" rtlCol="0">
            <a:spAutoFit/>
          </a:bodyPr>
          <a:lstStyle/>
          <a:p>
            <a:r>
              <a:rPr lang="en-IN" dirty="0">
                <a:latin typeface="Arial Narrow" panose="020B0606020202030204" pitchFamily="34" charset="0"/>
              </a:rPr>
              <a:t>p</a:t>
            </a:r>
          </a:p>
        </p:txBody>
      </p:sp>
      <p:sp>
        <p:nvSpPr>
          <p:cNvPr id="23" name="TextBox 22">
            <a:extLst>
              <a:ext uri="{FF2B5EF4-FFF2-40B4-BE49-F238E27FC236}">
                <a16:creationId xmlns:a16="http://schemas.microsoft.com/office/drawing/2014/main" id="{55B73E3B-E02A-4996-9594-3253A95DBAEA}"/>
              </a:ext>
            </a:extLst>
          </p:cNvPr>
          <p:cNvSpPr txBox="1"/>
          <p:nvPr/>
        </p:nvSpPr>
        <p:spPr>
          <a:xfrm>
            <a:off x="7138811" y="5537464"/>
            <a:ext cx="209550" cy="369332"/>
          </a:xfrm>
          <a:prstGeom prst="rect">
            <a:avLst/>
          </a:prstGeom>
          <a:noFill/>
        </p:spPr>
        <p:txBody>
          <a:bodyPr wrap="square" rtlCol="0">
            <a:spAutoFit/>
          </a:bodyPr>
          <a:lstStyle/>
          <a:p>
            <a:r>
              <a:rPr lang="en-IN" dirty="0">
                <a:latin typeface="Arial Narrow" panose="020B0606020202030204" pitchFamily="34" charset="0"/>
              </a:rPr>
              <a:t>q</a:t>
            </a:r>
          </a:p>
        </p:txBody>
      </p:sp>
      <p:sp>
        <p:nvSpPr>
          <p:cNvPr id="24" name="TextBox 23">
            <a:extLst>
              <a:ext uri="{FF2B5EF4-FFF2-40B4-BE49-F238E27FC236}">
                <a16:creationId xmlns:a16="http://schemas.microsoft.com/office/drawing/2014/main" id="{23DBDE35-898C-4C88-A1AA-CBBB1D08F54A}"/>
              </a:ext>
            </a:extLst>
          </p:cNvPr>
          <p:cNvSpPr txBox="1"/>
          <p:nvPr/>
        </p:nvSpPr>
        <p:spPr>
          <a:xfrm>
            <a:off x="7366221" y="5517439"/>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25" name="Cube 24">
            <a:extLst>
              <a:ext uri="{FF2B5EF4-FFF2-40B4-BE49-F238E27FC236}">
                <a16:creationId xmlns:a16="http://schemas.microsoft.com/office/drawing/2014/main" id="{3ACFF244-7B73-45A1-85D4-003DB1D5A4D7}"/>
              </a:ext>
            </a:extLst>
          </p:cNvPr>
          <p:cNvSpPr/>
          <p:nvPr/>
        </p:nvSpPr>
        <p:spPr>
          <a:xfrm>
            <a:off x="8456203" y="5115480"/>
            <a:ext cx="857247" cy="73866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65FC9A12-94A8-4398-8D8B-9DBEAFD98587}"/>
              </a:ext>
            </a:extLst>
          </p:cNvPr>
          <p:cNvSpPr txBox="1"/>
          <p:nvPr/>
        </p:nvSpPr>
        <p:spPr>
          <a:xfrm>
            <a:off x="8194404" y="5351788"/>
            <a:ext cx="209550" cy="369332"/>
          </a:xfrm>
          <a:prstGeom prst="rect">
            <a:avLst/>
          </a:prstGeom>
          <a:noFill/>
        </p:spPr>
        <p:txBody>
          <a:bodyPr wrap="square" rtlCol="0">
            <a:spAutoFit/>
          </a:bodyPr>
          <a:lstStyle/>
          <a:p>
            <a:r>
              <a:rPr lang="en-IN" dirty="0">
                <a:latin typeface="Arial Narrow" panose="020B0606020202030204" pitchFamily="34" charset="0"/>
              </a:rPr>
              <a:t>R</a:t>
            </a:r>
          </a:p>
        </p:txBody>
      </p:sp>
      <p:sp>
        <p:nvSpPr>
          <p:cNvPr id="27" name="TextBox 26">
            <a:extLst>
              <a:ext uri="{FF2B5EF4-FFF2-40B4-BE49-F238E27FC236}">
                <a16:creationId xmlns:a16="http://schemas.microsoft.com/office/drawing/2014/main" id="{DF889FBD-67F7-44E3-A685-4EB527DF68FE}"/>
              </a:ext>
            </a:extLst>
          </p:cNvPr>
          <p:cNvSpPr txBox="1"/>
          <p:nvPr/>
        </p:nvSpPr>
        <p:spPr>
          <a:xfrm>
            <a:off x="8660502" y="5854144"/>
            <a:ext cx="209550" cy="369332"/>
          </a:xfrm>
          <a:prstGeom prst="rect">
            <a:avLst/>
          </a:prstGeom>
          <a:noFill/>
        </p:spPr>
        <p:txBody>
          <a:bodyPr wrap="square" rtlCol="0">
            <a:spAutoFit/>
          </a:bodyPr>
          <a:lstStyle/>
          <a:p>
            <a:r>
              <a:rPr lang="en-IN" dirty="0">
                <a:latin typeface="Arial Narrow" panose="020B0606020202030204" pitchFamily="34" charset="0"/>
              </a:rPr>
              <a:t>S</a:t>
            </a:r>
          </a:p>
        </p:txBody>
      </p:sp>
      <p:sp>
        <p:nvSpPr>
          <p:cNvPr id="28" name="TextBox 27">
            <a:extLst>
              <a:ext uri="{FF2B5EF4-FFF2-40B4-BE49-F238E27FC236}">
                <a16:creationId xmlns:a16="http://schemas.microsoft.com/office/drawing/2014/main" id="{B2ED5F3F-0157-4AFE-8994-60C6400659AA}"/>
              </a:ext>
            </a:extLst>
          </p:cNvPr>
          <p:cNvSpPr txBox="1"/>
          <p:nvPr/>
        </p:nvSpPr>
        <p:spPr>
          <a:xfrm>
            <a:off x="9146698" y="5669478"/>
            <a:ext cx="209550" cy="369332"/>
          </a:xfrm>
          <a:prstGeom prst="rect">
            <a:avLst/>
          </a:prstGeom>
          <a:noFill/>
        </p:spPr>
        <p:txBody>
          <a:bodyPr wrap="square" rtlCol="0">
            <a:spAutoFit/>
          </a:bodyPr>
          <a:lstStyle/>
          <a:p>
            <a:r>
              <a:rPr lang="en-IN" dirty="0">
                <a:latin typeface="Arial Narrow" panose="020B0606020202030204" pitchFamily="34" charset="0"/>
              </a:rPr>
              <a:t>K</a:t>
            </a:r>
          </a:p>
        </p:txBody>
      </p:sp>
      <p:cxnSp>
        <p:nvCxnSpPr>
          <p:cNvPr id="30" name="Straight Arrow Connector 29">
            <a:extLst>
              <a:ext uri="{FF2B5EF4-FFF2-40B4-BE49-F238E27FC236}">
                <a16:creationId xmlns:a16="http://schemas.microsoft.com/office/drawing/2014/main" id="{921896BD-3146-4753-AB9F-BE179DABFD5A}"/>
              </a:ext>
            </a:extLst>
          </p:cNvPr>
          <p:cNvCxnSpPr/>
          <p:nvPr/>
        </p:nvCxnSpPr>
        <p:spPr>
          <a:xfrm>
            <a:off x="4937835" y="4950192"/>
            <a:ext cx="3256569" cy="0"/>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EFD4FD4-2764-4C0B-9FBF-8264E332D0A5}"/>
              </a:ext>
            </a:extLst>
          </p:cNvPr>
          <p:cNvSpPr/>
          <p:nvPr/>
        </p:nvSpPr>
        <p:spPr>
          <a:xfrm>
            <a:off x="5534265" y="4576614"/>
            <a:ext cx="2198038" cy="369332"/>
          </a:xfrm>
          <a:prstGeom prst="rect">
            <a:avLst/>
          </a:prstGeom>
        </p:spPr>
        <p:txBody>
          <a:bodyPr wrap="none">
            <a:spAutoFit/>
          </a:bodyPr>
          <a:lstStyle/>
          <a:p>
            <a:r>
              <a:rPr lang="en-US" dirty="0">
                <a:solidFill>
                  <a:srgbClr val="00B0F0"/>
                </a:solidFill>
                <a:latin typeface="Arial Narrow" panose="020B0606020202030204" pitchFamily="34" charset="0"/>
              </a:rPr>
              <a:t>Depth-wise convolution </a:t>
            </a:r>
            <a:endParaRPr lang="en-IN" dirty="0"/>
          </a:p>
        </p:txBody>
      </p:sp>
      <p:sp>
        <p:nvSpPr>
          <p:cNvPr id="34" name="Rectangle 33">
            <a:extLst>
              <a:ext uri="{FF2B5EF4-FFF2-40B4-BE49-F238E27FC236}">
                <a16:creationId xmlns:a16="http://schemas.microsoft.com/office/drawing/2014/main" id="{7F1284F2-BEC1-48F2-B3AE-6CDD8BA61FFF}"/>
              </a:ext>
            </a:extLst>
          </p:cNvPr>
          <p:cNvSpPr/>
          <p:nvPr/>
        </p:nvSpPr>
        <p:spPr>
          <a:xfrm>
            <a:off x="838200" y="6492875"/>
            <a:ext cx="10232353" cy="307777"/>
          </a:xfrm>
          <a:prstGeom prst="rect">
            <a:avLst/>
          </a:prstGeom>
        </p:spPr>
        <p:txBody>
          <a:bodyPr wrap="none">
            <a:spAutoFit/>
          </a:bodyPr>
          <a:lstStyle/>
          <a:p>
            <a:r>
              <a:rPr lang="en-IN" sz="1400" dirty="0">
                <a:latin typeface="Arial Narrow" panose="020B0606020202030204" pitchFamily="34" charset="0"/>
              </a:rPr>
              <a:t>Andrew G. Howard et. al., “</a:t>
            </a:r>
            <a:r>
              <a:rPr lang="en-IN" sz="1400" dirty="0" err="1">
                <a:latin typeface="Arial Narrow" panose="020B0606020202030204" pitchFamily="34" charset="0"/>
              </a:rPr>
              <a:t>MobileNets</a:t>
            </a:r>
            <a:r>
              <a:rPr lang="en-IN" sz="1400" dirty="0">
                <a:latin typeface="Arial Narrow" panose="020B0606020202030204" pitchFamily="34" charset="0"/>
              </a:rPr>
              <a:t>: Efficient Convolutional Neural Networks for Mobile Vision Applications”, https://doi.org/10.48550/arXiv.1704.04861 </a:t>
            </a:r>
          </a:p>
        </p:txBody>
      </p:sp>
    </p:spTree>
    <p:extLst>
      <p:ext uri="{BB962C8B-B14F-4D97-AF65-F5344CB8AC3E}">
        <p14:creationId xmlns:p14="http://schemas.microsoft.com/office/powerpoint/2010/main" val="129180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5C8D8-3AAE-4D3E-BD66-A789CD8EC28E}"/>
              </a:ext>
            </a:extLst>
          </p:cNvPr>
          <p:cNvSpPr>
            <a:spLocks noGrp="1"/>
          </p:cNvSpPr>
          <p:nvPr>
            <p:ph type="title"/>
          </p:nvPr>
        </p:nvSpPr>
        <p:spPr/>
        <p:txBody>
          <a:bodyPr>
            <a:normAutofit/>
          </a:bodyPr>
          <a:lstStyle/>
          <a:p>
            <a:r>
              <a:rPr lang="en-IN" sz="3600" dirty="0">
                <a:latin typeface="Century" panose="02040604050505020304" pitchFamily="18" charset="0"/>
              </a:rPr>
              <a:t>Depth-wise convolution </a:t>
            </a:r>
          </a:p>
        </p:txBody>
      </p:sp>
      <mc:AlternateContent xmlns:mc="http://schemas.openxmlformats.org/markup-compatibility/2006" xmlns:a14="http://schemas.microsoft.com/office/drawing/2010/main">
        <mc:Choice Requires="a14">
          <p:sp>
            <p:nvSpPr>
              <p:cNvPr id="32" name="Content Placeholder 31">
                <a:extLst>
                  <a:ext uri="{FF2B5EF4-FFF2-40B4-BE49-F238E27FC236}">
                    <a16:creationId xmlns:a16="http://schemas.microsoft.com/office/drawing/2014/main" id="{0E199E19-1161-45CD-A038-9CB1C5B37EBE}"/>
                  </a:ext>
                </a:extLst>
              </p:cNvPr>
              <p:cNvSpPr>
                <a:spLocks noGrp="1"/>
              </p:cNvSpPr>
              <p:nvPr>
                <p:ph idx="1"/>
              </p:nvPr>
            </p:nvSpPr>
            <p:spPr>
              <a:xfrm>
                <a:off x="838200" y="1825625"/>
                <a:ext cx="10515600" cy="2872055"/>
              </a:xfrm>
            </p:spPr>
            <p:txBody>
              <a:bodyPr>
                <a:normAutofit/>
              </a:bodyPr>
              <a:lstStyle/>
              <a:p>
                <a:pPr algn="just"/>
                <a:r>
                  <a:rPr lang="en-US" sz="2000" dirty="0">
                    <a:solidFill>
                      <a:srgbClr val="00B0F0"/>
                    </a:solidFill>
                    <a:latin typeface="Arial Narrow" panose="020B0606020202030204" pitchFamily="34" charset="0"/>
                  </a:rPr>
                  <a:t>A single convolution operation require </a:t>
                </a:r>
                <a14:m>
                  <m:oMath xmlns:m="http://schemas.openxmlformats.org/officeDocument/2006/math">
                    <m:r>
                      <a:rPr lang="en-IN" sz="2000" b="0" i="1" smtClean="0">
                        <a:solidFill>
                          <a:srgbClr val="00B0F0"/>
                        </a:solidFill>
                        <a:latin typeface="Cambria Math" panose="02040503050406030204" pitchFamily="18" charset="0"/>
                      </a:rPr>
                      <m:t>𝑝</m:t>
                    </m:r>
                    <m:r>
                      <a:rPr lang="en-IN" sz="2000" b="0" i="1" smtClean="0">
                        <a:solidFill>
                          <a:srgbClr val="00B0F0"/>
                        </a:solidFill>
                        <a:latin typeface="Cambria Math" panose="02040503050406030204" pitchFamily="18" charset="0"/>
                        <a:ea typeface="Cambria Math" panose="02040503050406030204" pitchFamily="18" charset="0"/>
                      </a:rPr>
                      <m:t>×</m:t>
                    </m:r>
                    <m:r>
                      <a:rPr lang="en-IN" sz="2000" b="0" i="1" smtClean="0">
                        <a:solidFill>
                          <a:srgbClr val="00B0F0"/>
                        </a:solidFill>
                        <a:latin typeface="Cambria Math" panose="02040503050406030204" pitchFamily="18" charset="0"/>
                        <a:ea typeface="Cambria Math" panose="02040503050406030204" pitchFamily="18" charset="0"/>
                      </a:rPr>
                      <m:t>𝑞</m:t>
                    </m:r>
                    <m:r>
                      <a:rPr lang="en-IN" sz="2000" b="0" i="1" smtClean="0">
                        <a:solidFill>
                          <a:srgbClr val="00B0F0"/>
                        </a:solidFill>
                        <a:latin typeface="Cambria Math" panose="02040503050406030204" pitchFamily="18" charset="0"/>
                        <a:ea typeface="Cambria Math" panose="02040503050406030204" pitchFamily="18" charset="0"/>
                      </a:rPr>
                      <m:t> </m:t>
                    </m:r>
                  </m:oMath>
                </a14:m>
                <a:r>
                  <a:rPr lang="en-US" sz="2000" dirty="0">
                    <a:solidFill>
                      <a:srgbClr val="00B0F0"/>
                    </a:solidFill>
                    <a:latin typeface="Arial Narrow" panose="020B0606020202030204" pitchFamily="34" charset="0"/>
                  </a:rPr>
                  <a:t>multiplications.</a:t>
                </a:r>
              </a:p>
              <a:p>
                <a:pPr algn="just"/>
                <a:endParaRPr lang="en-US" sz="2000" dirty="0">
                  <a:solidFill>
                    <a:srgbClr val="00B0F0"/>
                  </a:solidFill>
                  <a:latin typeface="Arial Narrow" panose="020B0606020202030204" pitchFamily="34" charset="0"/>
                </a:endParaRPr>
              </a:p>
              <a:p>
                <a:pPr algn="just"/>
                <a:r>
                  <a:rPr lang="en-US" sz="2000" dirty="0">
                    <a:latin typeface="Arial Narrow" panose="020B0606020202030204" pitchFamily="34" charset="0"/>
                  </a:rPr>
                  <a:t>Since the filter are </a:t>
                </a:r>
                <a:r>
                  <a:rPr lang="en-US" sz="2000" dirty="0" err="1">
                    <a:latin typeface="Arial Narrow" panose="020B0606020202030204" pitchFamily="34" charset="0"/>
                  </a:rPr>
                  <a:t>slided</a:t>
                </a:r>
                <a:r>
                  <a:rPr lang="en-US" sz="2000" dirty="0">
                    <a:latin typeface="Arial Narrow" panose="020B0606020202030204" pitchFamily="34" charset="0"/>
                  </a:rPr>
                  <a:t> by </a:t>
                </a:r>
                <a14:m>
                  <m:oMath xmlns:m="http://schemas.openxmlformats.org/officeDocument/2006/math">
                    <m:r>
                      <a:rPr lang="en-IN" sz="2000" b="0" i="1" smtClean="0">
                        <a:solidFill>
                          <a:srgbClr val="00B0F0"/>
                        </a:solidFill>
                        <a:latin typeface="Cambria Math" panose="02040503050406030204" pitchFamily="18" charset="0"/>
                      </a:rPr>
                      <m:t>𝑅</m:t>
                    </m:r>
                    <m:r>
                      <a:rPr lang="en-IN" sz="2000" i="1">
                        <a:solidFill>
                          <a:srgbClr val="00B0F0"/>
                        </a:solidFill>
                        <a:latin typeface="Cambria Math" panose="02040503050406030204" pitchFamily="18" charset="0"/>
                        <a:ea typeface="Cambria Math" panose="02040503050406030204" pitchFamily="18" charset="0"/>
                      </a:rPr>
                      <m:t>×</m:t>
                    </m:r>
                    <m:r>
                      <a:rPr lang="en-IN" sz="2000" b="0" i="1" smtClean="0">
                        <a:solidFill>
                          <a:srgbClr val="00B0F0"/>
                        </a:solidFill>
                        <a:latin typeface="Cambria Math" panose="02040503050406030204" pitchFamily="18" charset="0"/>
                        <a:ea typeface="Cambria Math" panose="02040503050406030204" pitchFamily="18" charset="0"/>
                      </a:rPr>
                      <m:t>𝑆</m:t>
                    </m:r>
                    <m:r>
                      <a:rPr lang="en-IN" sz="2000" i="1">
                        <a:solidFill>
                          <a:srgbClr val="00B0F0"/>
                        </a:solidFill>
                        <a:latin typeface="Cambria Math" panose="02040503050406030204" pitchFamily="18" charset="0"/>
                        <a:ea typeface="Cambria Math" panose="02040503050406030204" pitchFamily="18" charset="0"/>
                      </a:rPr>
                      <m:t> </m:t>
                    </m:r>
                  </m:oMath>
                </a14:m>
                <a:r>
                  <a:rPr lang="en-US" sz="2000" dirty="0">
                    <a:latin typeface="Arial Narrow" panose="020B0606020202030204" pitchFamily="34" charset="0"/>
                  </a:rPr>
                  <a:t>times across all the </a:t>
                </a:r>
                <a14:m>
                  <m:oMath xmlns:m="http://schemas.openxmlformats.org/officeDocument/2006/math">
                    <m:r>
                      <a:rPr lang="en-IN" sz="2000" i="1">
                        <a:solidFill>
                          <a:srgbClr val="00B0F0"/>
                        </a:solidFill>
                        <a:latin typeface="Cambria Math" panose="02040503050406030204" pitchFamily="18" charset="0"/>
                      </a:rPr>
                      <m:t>𝐾</m:t>
                    </m:r>
                  </m:oMath>
                </a14:m>
                <a:r>
                  <a:rPr lang="en-US" sz="2000" dirty="0">
                    <a:latin typeface="Arial Narrow" panose="020B0606020202030204" pitchFamily="34" charset="0"/>
                  </a:rPr>
                  <a:t> channels, the total number of multiplications is equal to  </a:t>
                </a:r>
              </a:p>
              <a:p>
                <a:pPr marL="0" indent="0" algn="just">
                  <a:buNone/>
                </a:pPr>
                <a:endParaRPr lang="en-US" sz="2000" dirty="0">
                  <a:latin typeface="Arial Narrow" panose="020B060602020203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n-IN" sz="2000" b="0" i="1" smtClean="0">
                          <a:solidFill>
                            <a:srgbClr val="00B0F0"/>
                          </a:solidFill>
                          <a:latin typeface="Cambria Math" panose="02040503050406030204" pitchFamily="18" charset="0"/>
                        </a:rPr>
                        <m:t>𝐾</m:t>
                      </m:r>
                      <m:r>
                        <a:rPr lang="en-IN" sz="2000" b="0" i="1" smtClean="0">
                          <a:solidFill>
                            <a:srgbClr val="00B0F0"/>
                          </a:solidFill>
                          <a:latin typeface="Cambria Math" panose="02040503050406030204" pitchFamily="18" charset="0"/>
                          <a:ea typeface="Cambria Math" panose="02040503050406030204" pitchFamily="18" charset="0"/>
                        </a:rPr>
                        <m:t>×</m:t>
                      </m:r>
                      <m:r>
                        <a:rPr lang="en-IN" sz="2000" i="1">
                          <a:solidFill>
                            <a:srgbClr val="00B0F0"/>
                          </a:solidFill>
                          <a:latin typeface="Cambria Math" panose="02040503050406030204" pitchFamily="18" charset="0"/>
                        </a:rPr>
                        <m:t>𝑅</m:t>
                      </m:r>
                      <m:r>
                        <a:rPr lang="en-IN" sz="2000" i="1">
                          <a:solidFill>
                            <a:srgbClr val="00B0F0"/>
                          </a:solidFill>
                          <a:latin typeface="Cambria Math" panose="02040503050406030204" pitchFamily="18" charset="0"/>
                          <a:ea typeface="Cambria Math" panose="02040503050406030204" pitchFamily="18" charset="0"/>
                        </a:rPr>
                        <m:t>×</m:t>
                      </m:r>
                      <m:r>
                        <a:rPr lang="en-IN" sz="2000" i="1">
                          <a:solidFill>
                            <a:srgbClr val="00B0F0"/>
                          </a:solidFill>
                          <a:latin typeface="Cambria Math" panose="02040503050406030204" pitchFamily="18" charset="0"/>
                          <a:ea typeface="Cambria Math" panose="02040503050406030204" pitchFamily="18" charset="0"/>
                        </a:rPr>
                        <m:t>𝑆</m:t>
                      </m:r>
                      <m:r>
                        <a:rPr lang="en-IN" sz="2000" i="1">
                          <a:solidFill>
                            <a:srgbClr val="00B0F0"/>
                          </a:solidFill>
                          <a:latin typeface="Cambria Math" panose="02040503050406030204" pitchFamily="18" charset="0"/>
                          <a:ea typeface="Cambria Math" panose="02040503050406030204" pitchFamily="18" charset="0"/>
                        </a:rPr>
                        <m:t>×</m:t>
                      </m:r>
                      <m:r>
                        <a:rPr lang="en-IN" sz="2000" i="1">
                          <a:solidFill>
                            <a:srgbClr val="00B0F0"/>
                          </a:solidFill>
                          <a:latin typeface="Cambria Math" panose="02040503050406030204" pitchFamily="18" charset="0"/>
                        </a:rPr>
                        <m:t>𝑝</m:t>
                      </m:r>
                      <m:r>
                        <a:rPr lang="en-IN" sz="2000" i="1">
                          <a:solidFill>
                            <a:srgbClr val="00B0F0"/>
                          </a:solidFill>
                          <a:latin typeface="Cambria Math" panose="02040503050406030204" pitchFamily="18" charset="0"/>
                          <a:ea typeface="Cambria Math" panose="02040503050406030204" pitchFamily="18" charset="0"/>
                        </a:rPr>
                        <m:t>×</m:t>
                      </m:r>
                      <m:r>
                        <a:rPr lang="en-IN" sz="2000" i="1">
                          <a:solidFill>
                            <a:srgbClr val="00B0F0"/>
                          </a:solidFill>
                          <a:latin typeface="Cambria Math" panose="02040503050406030204" pitchFamily="18" charset="0"/>
                          <a:ea typeface="Cambria Math" panose="02040503050406030204" pitchFamily="18" charset="0"/>
                        </a:rPr>
                        <m:t>𝑞</m:t>
                      </m:r>
                    </m:oMath>
                  </m:oMathPara>
                </a14:m>
                <a:endParaRPr lang="en-US" sz="2000" dirty="0">
                  <a:solidFill>
                    <a:srgbClr val="00B0F0"/>
                  </a:solidFill>
                  <a:latin typeface="Arial Narrow" panose="020B0606020202030204" pitchFamily="34" charset="0"/>
                </a:endParaRPr>
              </a:p>
            </p:txBody>
          </p:sp>
        </mc:Choice>
        <mc:Fallback xmlns="">
          <p:sp>
            <p:nvSpPr>
              <p:cNvPr id="32" name="Content Placeholder 31">
                <a:extLst>
                  <a:ext uri="{FF2B5EF4-FFF2-40B4-BE49-F238E27FC236}">
                    <a16:creationId xmlns:a16="http://schemas.microsoft.com/office/drawing/2014/main" id="{0E199E19-1161-45CD-A038-9CB1C5B37EBE}"/>
                  </a:ext>
                </a:extLst>
              </p:cNvPr>
              <p:cNvSpPr>
                <a:spLocks noGrp="1" noRot="1" noChangeAspect="1" noMove="1" noResize="1" noEditPoints="1" noAdjustHandles="1" noChangeArrowheads="1" noChangeShapeType="1" noTextEdit="1"/>
              </p:cNvSpPr>
              <p:nvPr>
                <p:ph idx="1"/>
              </p:nvPr>
            </p:nvSpPr>
            <p:spPr>
              <a:xfrm>
                <a:off x="838200" y="1825625"/>
                <a:ext cx="10515600" cy="2872055"/>
              </a:xfrm>
              <a:blipFill>
                <a:blip r:embed="rId2"/>
                <a:stretch>
                  <a:fillRect l="-522" t="-2119" r="-580"/>
                </a:stretch>
              </a:blipFill>
            </p:spPr>
            <p:txBody>
              <a:bodyPr/>
              <a:lstStyle/>
              <a:p>
                <a:r>
                  <a:rPr lang="en-IN">
                    <a:noFill/>
                  </a:rPr>
                  <a:t> </a:t>
                </a:r>
              </a:p>
            </p:txBody>
          </p:sp>
        </mc:Fallback>
      </mc:AlternateContent>
      <p:grpSp>
        <p:nvGrpSpPr>
          <p:cNvPr id="31" name="Group 30">
            <a:extLst>
              <a:ext uri="{FF2B5EF4-FFF2-40B4-BE49-F238E27FC236}">
                <a16:creationId xmlns:a16="http://schemas.microsoft.com/office/drawing/2014/main" id="{F1DF8E11-45BE-4477-AEEC-FB197B407E07}"/>
              </a:ext>
            </a:extLst>
          </p:cNvPr>
          <p:cNvGrpSpPr/>
          <p:nvPr/>
        </p:nvGrpSpPr>
        <p:grpSpPr>
          <a:xfrm>
            <a:off x="2835751" y="4672853"/>
            <a:ext cx="6520497" cy="1499166"/>
            <a:chOff x="1659731" y="3227295"/>
            <a:chExt cx="6520497" cy="1499166"/>
          </a:xfrm>
        </p:grpSpPr>
        <p:sp>
          <p:nvSpPr>
            <p:cNvPr id="4" name="Cube 3">
              <a:extLst>
                <a:ext uri="{FF2B5EF4-FFF2-40B4-BE49-F238E27FC236}">
                  <a16:creationId xmlns:a16="http://schemas.microsoft.com/office/drawing/2014/main" id="{6BEB9432-6693-46AF-9AF1-4E46636992B8}"/>
                </a:ext>
              </a:extLst>
            </p:cNvPr>
            <p:cNvSpPr/>
            <p:nvPr/>
          </p:nvSpPr>
          <p:spPr>
            <a:xfrm>
              <a:off x="4009465" y="3514725"/>
              <a:ext cx="409575" cy="500343"/>
            </a:xfrm>
            <a:prstGeom prst="cube">
              <a:avLst>
                <a:gd name="adj" fmla="val 1569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ube 5">
              <a:extLst>
                <a:ext uri="{FF2B5EF4-FFF2-40B4-BE49-F238E27FC236}">
                  <a16:creationId xmlns:a16="http://schemas.microsoft.com/office/drawing/2014/main" id="{159C9D2A-1B46-4244-8E07-6A647345156F}"/>
                </a:ext>
              </a:extLst>
            </p:cNvPr>
            <p:cNvSpPr/>
            <p:nvPr/>
          </p:nvSpPr>
          <p:spPr>
            <a:xfrm>
              <a:off x="1981199" y="3227295"/>
              <a:ext cx="1210235" cy="111162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ube 6">
              <a:extLst>
                <a:ext uri="{FF2B5EF4-FFF2-40B4-BE49-F238E27FC236}">
                  <a16:creationId xmlns:a16="http://schemas.microsoft.com/office/drawing/2014/main" id="{8D49BB03-ABB9-40E6-82D6-73539E2B585E}"/>
                </a:ext>
              </a:extLst>
            </p:cNvPr>
            <p:cNvSpPr/>
            <p:nvPr/>
          </p:nvSpPr>
          <p:spPr>
            <a:xfrm>
              <a:off x="4704790" y="3532935"/>
              <a:ext cx="409575" cy="500343"/>
            </a:xfrm>
            <a:prstGeom prst="cube">
              <a:avLst>
                <a:gd name="adj" fmla="val 1569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EDDAD43-1596-43DA-A77B-734B2F08FDC5}"/>
                </a:ext>
              </a:extLst>
            </p:cNvPr>
            <p:cNvSpPr txBox="1"/>
            <p:nvPr/>
          </p:nvSpPr>
          <p:spPr>
            <a:xfrm>
              <a:off x="4928627" y="3245627"/>
              <a:ext cx="1057275" cy="769441"/>
            </a:xfrm>
            <a:prstGeom prst="rect">
              <a:avLst/>
            </a:prstGeom>
            <a:noFill/>
          </p:spPr>
          <p:txBody>
            <a:bodyPr wrap="square" rtlCol="0">
              <a:spAutoFit/>
            </a:bodyPr>
            <a:lstStyle/>
            <a:p>
              <a:pPr algn="ctr"/>
              <a:r>
                <a:rPr lang="en-IN" sz="4400" dirty="0"/>
                <a:t>…</a:t>
              </a:r>
            </a:p>
          </p:txBody>
        </p:sp>
        <p:sp>
          <p:nvSpPr>
            <p:cNvPr id="9" name="Cube 8">
              <a:extLst>
                <a:ext uri="{FF2B5EF4-FFF2-40B4-BE49-F238E27FC236}">
                  <a16:creationId xmlns:a16="http://schemas.microsoft.com/office/drawing/2014/main" id="{3C4F862A-4FDC-43C4-8F28-A3AAB004081E}"/>
                </a:ext>
              </a:extLst>
            </p:cNvPr>
            <p:cNvSpPr/>
            <p:nvPr/>
          </p:nvSpPr>
          <p:spPr>
            <a:xfrm>
              <a:off x="5919790" y="3532935"/>
              <a:ext cx="409575" cy="500343"/>
            </a:xfrm>
            <a:prstGeom prst="cube">
              <a:avLst>
                <a:gd name="adj" fmla="val 1569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F5D0E58-AA65-4EBC-A502-89148EE20201}"/>
                </a:ext>
              </a:extLst>
            </p:cNvPr>
            <p:cNvSpPr txBox="1"/>
            <p:nvPr/>
          </p:nvSpPr>
          <p:spPr>
            <a:xfrm>
              <a:off x="4020111" y="4357129"/>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11" name="TextBox 10">
              <a:extLst>
                <a:ext uri="{FF2B5EF4-FFF2-40B4-BE49-F238E27FC236}">
                  <a16:creationId xmlns:a16="http://schemas.microsoft.com/office/drawing/2014/main" id="{898A9CB4-62A9-4E0D-8E44-18DEF6EEAD9B}"/>
                </a:ext>
              </a:extLst>
            </p:cNvPr>
            <p:cNvSpPr txBox="1"/>
            <p:nvPr/>
          </p:nvSpPr>
          <p:spPr>
            <a:xfrm>
              <a:off x="4696948" y="4357129"/>
              <a:ext cx="209550" cy="369332"/>
            </a:xfrm>
            <a:prstGeom prst="rect">
              <a:avLst/>
            </a:prstGeom>
            <a:noFill/>
          </p:spPr>
          <p:txBody>
            <a:bodyPr wrap="square" rtlCol="0">
              <a:spAutoFit/>
            </a:bodyPr>
            <a:lstStyle/>
            <a:p>
              <a:r>
                <a:rPr lang="en-IN" dirty="0">
                  <a:latin typeface="Arial Narrow" panose="020B0606020202030204" pitchFamily="34" charset="0"/>
                </a:rPr>
                <a:t>2</a:t>
              </a:r>
            </a:p>
          </p:txBody>
        </p:sp>
        <p:sp>
          <p:nvSpPr>
            <p:cNvPr id="12" name="TextBox 11">
              <a:extLst>
                <a:ext uri="{FF2B5EF4-FFF2-40B4-BE49-F238E27FC236}">
                  <a16:creationId xmlns:a16="http://schemas.microsoft.com/office/drawing/2014/main" id="{4A456EED-1F9F-4638-8462-418B31AE424E}"/>
                </a:ext>
              </a:extLst>
            </p:cNvPr>
            <p:cNvSpPr txBox="1"/>
            <p:nvPr/>
          </p:nvSpPr>
          <p:spPr>
            <a:xfrm>
              <a:off x="5919790" y="4357129"/>
              <a:ext cx="209550" cy="369332"/>
            </a:xfrm>
            <a:prstGeom prst="rect">
              <a:avLst/>
            </a:prstGeom>
            <a:noFill/>
          </p:spPr>
          <p:txBody>
            <a:bodyPr wrap="square" rtlCol="0">
              <a:spAutoFit/>
            </a:bodyPr>
            <a:lstStyle/>
            <a:p>
              <a:r>
                <a:rPr lang="en-IN" dirty="0">
                  <a:latin typeface="Arial Narrow" panose="020B0606020202030204" pitchFamily="34" charset="0"/>
                </a:rPr>
                <a:t>K</a:t>
              </a:r>
            </a:p>
          </p:txBody>
        </p:sp>
        <p:sp>
          <p:nvSpPr>
            <p:cNvPr id="13" name="TextBox 12">
              <a:extLst>
                <a:ext uri="{FF2B5EF4-FFF2-40B4-BE49-F238E27FC236}">
                  <a16:creationId xmlns:a16="http://schemas.microsoft.com/office/drawing/2014/main" id="{EE6F174B-B923-41AE-B575-D8BF67C2BBC4}"/>
                </a:ext>
              </a:extLst>
            </p:cNvPr>
            <p:cNvSpPr txBox="1"/>
            <p:nvPr/>
          </p:nvSpPr>
          <p:spPr>
            <a:xfrm>
              <a:off x="1659731" y="3764896"/>
              <a:ext cx="209550" cy="369332"/>
            </a:xfrm>
            <a:prstGeom prst="rect">
              <a:avLst/>
            </a:prstGeom>
            <a:noFill/>
          </p:spPr>
          <p:txBody>
            <a:bodyPr wrap="square" rtlCol="0">
              <a:spAutoFit/>
            </a:bodyPr>
            <a:lstStyle/>
            <a:p>
              <a:r>
                <a:rPr lang="en-IN" dirty="0">
                  <a:latin typeface="Arial Narrow" panose="020B0606020202030204" pitchFamily="34" charset="0"/>
                </a:rPr>
                <a:t>M</a:t>
              </a:r>
            </a:p>
          </p:txBody>
        </p:sp>
        <p:sp>
          <p:nvSpPr>
            <p:cNvPr id="14" name="TextBox 13">
              <a:extLst>
                <a:ext uri="{FF2B5EF4-FFF2-40B4-BE49-F238E27FC236}">
                  <a16:creationId xmlns:a16="http://schemas.microsoft.com/office/drawing/2014/main" id="{A1FBBEBC-4D1F-4471-BD4A-86AE2B67E261}"/>
                </a:ext>
              </a:extLst>
            </p:cNvPr>
            <p:cNvSpPr txBox="1"/>
            <p:nvPr/>
          </p:nvSpPr>
          <p:spPr>
            <a:xfrm>
              <a:off x="2286561" y="4357129"/>
              <a:ext cx="209550" cy="369332"/>
            </a:xfrm>
            <a:prstGeom prst="rect">
              <a:avLst/>
            </a:prstGeom>
            <a:noFill/>
          </p:spPr>
          <p:txBody>
            <a:bodyPr wrap="square" rtlCol="0">
              <a:spAutoFit/>
            </a:bodyPr>
            <a:lstStyle/>
            <a:p>
              <a:r>
                <a:rPr lang="en-IN" dirty="0">
                  <a:latin typeface="Arial Narrow" panose="020B0606020202030204" pitchFamily="34" charset="0"/>
                </a:rPr>
                <a:t>N</a:t>
              </a:r>
            </a:p>
          </p:txBody>
        </p:sp>
        <p:sp>
          <p:nvSpPr>
            <p:cNvPr id="15" name="TextBox 14">
              <a:extLst>
                <a:ext uri="{FF2B5EF4-FFF2-40B4-BE49-F238E27FC236}">
                  <a16:creationId xmlns:a16="http://schemas.microsoft.com/office/drawing/2014/main" id="{5D86B513-0F6F-401C-B9FA-965F5A195954}"/>
                </a:ext>
              </a:extLst>
            </p:cNvPr>
            <p:cNvSpPr txBox="1"/>
            <p:nvPr/>
          </p:nvSpPr>
          <p:spPr>
            <a:xfrm>
              <a:off x="2981884" y="4134228"/>
              <a:ext cx="209550" cy="369332"/>
            </a:xfrm>
            <a:prstGeom prst="rect">
              <a:avLst/>
            </a:prstGeom>
            <a:noFill/>
          </p:spPr>
          <p:txBody>
            <a:bodyPr wrap="square" rtlCol="0">
              <a:spAutoFit/>
            </a:bodyPr>
            <a:lstStyle/>
            <a:p>
              <a:r>
                <a:rPr lang="en-IN" dirty="0">
                  <a:latin typeface="Arial Narrow" panose="020B0606020202030204" pitchFamily="34" charset="0"/>
                </a:rPr>
                <a:t>K</a:t>
              </a:r>
            </a:p>
          </p:txBody>
        </p:sp>
        <p:sp>
          <p:nvSpPr>
            <p:cNvPr id="16" name="TextBox 15">
              <a:extLst>
                <a:ext uri="{FF2B5EF4-FFF2-40B4-BE49-F238E27FC236}">
                  <a16:creationId xmlns:a16="http://schemas.microsoft.com/office/drawing/2014/main" id="{A1888E00-DB22-4C7F-BCFE-49E173831227}"/>
                </a:ext>
              </a:extLst>
            </p:cNvPr>
            <p:cNvSpPr txBox="1"/>
            <p:nvPr/>
          </p:nvSpPr>
          <p:spPr>
            <a:xfrm>
              <a:off x="3761815" y="3630347"/>
              <a:ext cx="209550" cy="369332"/>
            </a:xfrm>
            <a:prstGeom prst="rect">
              <a:avLst/>
            </a:prstGeom>
            <a:noFill/>
          </p:spPr>
          <p:txBody>
            <a:bodyPr wrap="square" rtlCol="0">
              <a:spAutoFit/>
            </a:bodyPr>
            <a:lstStyle/>
            <a:p>
              <a:r>
                <a:rPr lang="en-IN" dirty="0">
                  <a:latin typeface="Arial Narrow" panose="020B0606020202030204" pitchFamily="34" charset="0"/>
                </a:rPr>
                <a:t>p</a:t>
              </a:r>
            </a:p>
          </p:txBody>
        </p:sp>
        <p:sp>
          <p:nvSpPr>
            <p:cNvPr id="17" name="TextBox 16">
              <a:extLst>
                <a:ext uri="{FF2B5EF4-FFF2-40B4-BE49-F238E27FC236}">
                  <a16:creationId xmlns:a16="http://schemas.microsoft.com/office/drawing/2014/main" id="{1BCEA41B-6BA4-4D74-9685-ABC4233E78F8}"/>
                </a:ext>
              </a:extLst>
            </p:cNvPr>
            <p:cNvSpPr txBox="1"/>
            <p:nvPr/>
          </p:nvSpPr>
          <p:spPr>
            <a:xfrm>
              <a:off x="4040420" y="3969587"/>
              <a:ext cx="209550" cy="369332"/>
            </a:xfrm>
            <a:prstGeom prst="rect">
              <a:avLst/>
            </a:prstGeom>
            <a:noFill/>
          </p:spPr>
          <p:txBody>
            <a:bodyPr wrap="square" rtlCol="0">
              <a:spAutoFit/>
            </a:bodyPr>
            <a:lstStyle/>
            <a:p>
              <a:r>
                <a:rPr lang="en-IN" dirty="0">
                  <a:latin typeface="Arial Narrow" panose="020B0606020202030204" pitchFamily="34" charset="0"/>
                </a:rPr>
                <a:t>q</a:t>
              </a:r>
            </a:p>
          </p:txBody>
        </p:sp>
        <p:sp>
          <p:nvSpPr>
            <p:cNvPr id="18" name="TextBox 17">
              <a:extLst>
                <a:ext uri="{FF2B5EF4-FFF2-40B4-BE49-F238E27FC236}">
                  <a16:creationId xmlns:a16="http://schemas.microsoft.com/office/drawing/2014/main" id="{AF5CAC57-7996-4BAF-9EAA-F6941C8C1D95}"/>
                </a:ext>
              </a:extLst>
            </p:cNvPr>
            <p:cNvSpPr txBox="1"/>
            <p:nvPr/>
          </p:nvSpPr>
          <p:spPr>
            <a:xfrm>
              <a:off x="4267830" y="3949562"/>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19" name="TextBox 18">
              <a:extLst>
                <a:ext uri="{FF2B5EF4-FFF2-40B4-BE49-F238E27FC236}">
                  <a16:creationId xmlns:a16="http://schemas.microsoft.com/office/drawing/2014/main" id="{1B2352D7-F0F4-4332-B752-62A8D17F7328}"/>
                </a:ext>
              </a:extLst>
            </p:cNvPr>
            <p:cNvSpPr txBox="1"/>
            <p:nvPr/>
          </p:nvSpPr>
          <p:spPr>
            <a:xfrm>
              <a:off x="4484036" y="3610322"/>
              <a:ext cx="209550" cy="369332"/>
            </a:xfrm>
            <a:prstGeom prst="rect">
              <a:avLst/>
            </a:prstGeom>
            <a:noFill/>
          </p:spPr>
          <p:txBody>
            <a:bodyPr wrap="square" rtlCol="0">
              <a:spAutoFit/>
            </a:bodyPr>
            <a:lstStyle/>
            <a:p>
              <a:r>
                <a:rPr lang="en-IN" dirty="0">
                  <a:latin typeface="Arial Narrow" panose="020B0606020202030204" pitchFamily="34" charset="0"/>
                </a:rPr>
                <a:t>p</a:t>
              </a:r>
            </a:p>
          </p:txBody>
        </p:sp>
        <p:sp>
          <p:nvSpPr>
            <p:cNvPr id="20" name="TextBox 19">
              <a:extLst>
                <a:ext uri="{FF2B5EF4-FFF2-40B4-BE49-F238E27FC236}">
                  <a16:creationId xmlns:a16="http://schemas.microsoft.com/office/drawing/2014/main" id="{45633744-0BC8-4E31-8C84-EFE36B1C7705}"/>
                </a:ext>
              </a:extLst>
            </p:cNvPr>
            <p:cNvSpPr txBox="1"/>
            <p:nvPr/>
          </p:nvSpPr>
          <p:spPr>
            <a:xfrm>
              <a:off x="4762641" y="3949562"/>
              <a:ext cx="209550" cy="369332"/>
            </a:xfrm>
            <a:prstGeom prst="rect">
              <a:avLst/>
            </a:prstGeom>
            <a:noFill/>
          </p:spPr>
          <p:txBody>
            <a:bodyPr wrap="square" rtlCol="0">
              <a:spAutoFit/>
            </a:bodyPr>
            <a:lstStyle/>
            <a:p>
              <a:r>
                <a:rPr lang="en-IN" dirty="0">
                  <a:latin typeface="Arial Narrow" panose="020B0606020202030204" pitchFamily="34" charset="0"/>
                </a:rPr>
                <a:t>q</a:t>
              </a:r>
            </a:p>
          </p:txBody>
        </p:sp>
        <p:sp>
          <p:nvSpPr>
            <p:cNvPr id="21" name="TextBox 20">
              <a:extLst>
                <a:ext uri="{FF2B5EF4-FFF2-40B4-BE49-F238E27FC236}">
                  <a16:creationId xmlns:a16="http://schemas.microsoft.com/office/drawing/2014/main" id="{1EE6CF84-4AD7-4034-BDF1-21F90DDAFC33}"/>
                </a:ext>
              </a:extLst>
            </p:cNvPr>
            <p:cNvSpPr txBox="1"/>
            <p:nvPr/>
          </p:nvSpPr>
          <p:spPr>
            <a:xfrm>
              <a:off x="4990051" y="3929537"/>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22" name="TextBox 21">
              <a:extLst>
                <a:ext uri="{FF2B5EF4-FFF2-40B4-BE49-F238E27FC236}">
                  <a16:creationId xmlns:a16="http://schemas.microsoft.com/office/drawing/2014/main" id="{3E6FE17E-562E-4740-A846-5CEB34C5F477}"/>
                </a:ext>
              </a:extLst>
            </p:cNvPr>
            <p:cNvSpPr txBox="1"/>
            <p:nvPr/>
          </p:nvSpPr>
          <p:spPr>
            <a:xfrm>
              <a:off x="5672908" y="3600255"/>
              <a:ext cx="209550" cy="369332"/>
            </a:xfrm>
            <a:prstGeom prst="rect">
              <a:avLst/>
            </a:prstGeom>
            <a:noFill/>
          </p:spPr>
          <p:txBody>
            <a:bodyPr wrap="square" rtlCol="0">
              <a:spAutoFit/>
            </a:bodyPr>
            <a:lstStyle/>
            <a:p>
              <a:r>
                <a:rPr lang="en-IN" dirty="0">
                  <a:latin typeface="Arial Narrow" panose="020B0606020202030204" pitchFamily="34" charset="0"/>
                </a:rPr>
                <a:t>p</a:t>
              </a:r>
            </a:p>
          </p:txBody>
        </p:sp>
        <p:sp>
          <p:nvSpPr>
            <p:cNvPr id="23" name="TextBox 22">
              <a:extLst>
                <a:ext uri="{FF2B5EF4-FFF2-40B4-BE49-F238E27FC236}">
                  <a16:creationId xmlns:a16="http://schemas.microsoft.com/office/drawing/2014/main" id="{55B73E3B-E02A-4996-9594-3253A95DBAEA}"/>
                </a:ext>
              </a:extLst>
            </p:cNvPr>
            <p:cNvSpPr txBox="1"/>
            <p:nvPr/>
          </p:nvSpPr>
          <p:spPr>
            <a:xfrm>
              <a:off x="5962791" y="3930547"/>
              <a:ext cx="209550" cy="369332"/>
            </a:xfrm>
            <a:prstGeom prst="rect">
              <a:avLst/>
            </a:prstGeom>
            <a:noFill/>
          </p:spPr>
          <p:txBody>
            <a:bodyPr wrap="square" rtlCol="0">
              <a:spAutoFit/>
            </a:bodyPr>
            <a:lstStyle/>
            <a:p>
              <a:r>
                <a:rPr lang="en-IN" dirty="0">
                  <a:latin typeface="Arial Narrow" panose="020B0606020202030204" pitchFamily="34" charset="0"/>
                </a:rPr>
                <a:t>q</a:t>
              </a:r>
            </a:p>
          </p:txBody>
        </p:sp>
        <p:sp>
          <p:nvSpPr>
            <p:cNvPr id="24" name="TextBox 23">
              <a:extLst>
                <a:ext uri="{FF2B5EF4-FFF2-40B4-BE49-F238E27FC236}">
                  <a16:creationId xmlns:a16="http://schemas.microsoft.com/office/drawing/2014/main" id="{23DBDE35-898C-4C88-A1AA-CBBB1D08F54A}"/>
                </a:ext>
              </a:extLst>
            </p:cNvPr>
            <p:cNvSpPr txBox="1"/>
            <p:nvPr/>
          </p:nvSpPr>
          <p:spPr>
            <a:xfrm>
              <a:off x="6190201" y="3910522"/>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25" name="Cube 24">
              <a:extLst>
                <a:ext uri="{FF2B5EF4-FFF2-40B4-BE49-F238E27FC236}">
                  <a16:creationId xmlns:a16="http://schemas.microsoft.com/office/drawing/2014/main" id="{3ACFF244-7B73-45A1-85D4-003DB1D5A4D7}"/>
                </a:ext>
              </a:extLst>
            </p:cNvPr>
            <p:cNvSpPr/>
            <p:nvPr/>
          </p:nvSpPr>
          <p:spPr>
            <a:xfrm>
              <a:off x="7280183" y="3508563"/>
              <a:ext cx="857247" cy="73866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65FC9A12-94A8-4398-8D8B-9DBEAFD98587}"/>
                </a:ext>
              </a:extLst>
            </p:cNvPr>
            <p:cNvSpPr txBox="1"/>
            <p:nvPr/>
          </p:nvSpPr>
          <p:spPr>
            <a:xfrm>
              <a:off x="7018384" y="3744871"/>
              <a:ext cx="209550" cy="369332"/>
            </a:xfrm>
            <a:prstGeom prst="rect">
              <a:avLst/>
            </a:prstGeom>
            <a:noFill/>
          </p:spPr>
          <p:txBody>
            <a:bodyPr wrap="square" rtlCol="0">
              <a:spAutoFit/>
            </a:bodyPr>
            <a:lstStyle/>
            <a:p>
              <a:r>
                <a:rPr lang="en-IN" dirty="0">
                  <a:latin typeface="Arial Narrow" panose="020B0606020202030204" pitchFamily="34" charset="0"/>
                </a:rPr>
                <a:t>R</a:t>
              </a:r>
            </a:p>
          </p:txBody>
        </p:sp>
        <p:sp>
          <p:nvSpPr>
            <p:cNvPr id="27" name="TextBox 26">
              <a:extLst>
                <a:ext uri="{FF2B5EF4-FFF2-40B4-BE49-F238E27FC236}">
                  <a16:creationId xmlns:a16="http://schemas.microsoft.com/office/drawing/2014/main" id="{DF889FBD-67F7-44E3-A685-4EB527DF68FE}"/>
                </a:ext>
              </a:extLst>
            </p:cNvPr>
            <p:cNvSpPr txBox="1"/>
            <p:nvPr/>
          </p:nvSpPr>
          <p:spPr>
            <a:xfrm>
              <a:off x="7484482" y="4247227"/>
              <a:ext cx="209550" cy="369332"/>
            </a:xfrm>
            <a:prstGeom prst="rect">
              <a:avLst/>
            </a:prstGeom>
            <a:noFill/>
          </p:spPr>
          <p:txBody>
            <a:bodyPr wrap="square" rtlCol="0">
              <a:spAutoFit/>
            </a:bodyPr>
            <a:lstStyle/>
            <a:p>
              <a:r>
                <a:rPr lang="en-IN" dirty="0">
                  <a:latin typeface="Arial Narrow" panose="020B0606020202030204" pitchFamily="34" charset="0"/>
                </a:rPr>
                <a:t>S</a:t>
              </a:r>
            </a:p>
          </p:txBody>
        </p:sp>
        <p:sp>
          <p:nvSpPr>
            <p:cNvPr id="28" name="TextBox 27">
              <a:extLst>
                <a:ext uri="{FF2B5EF4-FFF2-40B4-BE49-F238E27FC236}">
                  <a16:creationId xmlns:a16="http://schemas.microsoft.com/office/drawing/2014/main" id="{B2ED5F3F-0157-4AFE-8994-60C6400659AA}"/>
                </a:ext>
              </a:extLst>
            </p:cNvPr>
            <p:cNvSpPr txBox="1"/>
            <p:nvPr/>
          </p:nvSpPr>
          <p:spPr>
            <a:xfrm>
              <a:off x="7970678" y="4062561"/>
              <a:ext cx="209550" cy="369332"/>
            </a:xfrm>
            <a:prstGeom prst="rect">
              <a:avLst/>
            </a:prstGeom>
            <a:noFill/>
          </p:spPr>
          <p:txBody>
            <a:bodyPr wrap="square" rtlCol="0">
              <a:spAutoFit/>
            </a:bodyPr>
            <a:lstStyle/>
            <a:p>
              <a:r>
                <a:rPr lang="en-IN" dirty="0">
                  <a:latin typeface="Arial Narrow" panose="020B0606020202030204" pitchFamily="34" charset="0"/>
                </a:rPr>
                <a:t>K</a:t>
              </a:r>
            </a:p>
          </p:txBody>
        </p:sp>
        <p:cxnSp>
          <p:nvCxnSpPr>
            <p:cNvPr id="30" name="Straight Arrow Connector 29">
              <a:extLst>
                <a:ext uri="{FF2B5EF4-FFF2-40B4-BE49-F238E27FC236}">
                  <a16:creationId xmlns:a16="http://schemas.microsoft.com/office/drawing/2014/main" id="{921896BD-3146-4753-AB9F-BE179DABFD5A}"/>
                </a:ext>
              </a:extLst>
            </p:cNvPr>
            <p:cNvCxnSpPr/>
            <p:nvPr/>
          </p:nvCxnSpPr>
          <p:spPr>
            <a:xfrm>
              <a:off x="3761815" y="3343275"/>
              <a:ext cx="3256569" cy="0"/>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7EFD4FD4-2764-4C0B-9FBF-8264E332D0A5}"/>
              </a:ext>
            </a:extLst>
          </p:cNvPr>
          <p:cNvSpPr/>
          <p:nvPr/>
        </p:nvSpPr>
        <p:spPr>
          <a:xfrm>
            <a:off x="5534265" y="4415255"/>
            <a:ext cx="2198038" cy="369332"/>
          </a:xfrm>
          <a:prstGeom prst="rect">
            <a:avLst/>
          </a:prstGeom>
        </p:spPr>
        <p:txBody>
          <a:bodyPr wrap="none">
            <a:spAutoFit/>
          </a:bodyPr>
          <a:lstStyle/>
          <a:p>
            <a:r>
              <a:rPr lang="en-US" dirty="0">
                <a:solidFill>
                  <a:srgbClr val="00B0F0"/>
                </a:solidFill>
                <a:latin typeface="Arial Narrow" panose="020B0606020202030204" pitchFamily="34" charset="0"/>
              </a:rPr>
              <a:t>Depth-wise convolution </a:t>
            </a:r>
            <a:endParaRPr lang="en-IN" dirty="0"/>
          </a:p>
        </p:txBody>
      </p:sp>
      <p:sp>
        <p:nvSpPr>
          <p:cNvPr id="34" name="Rectangle 33">
            <a:extLst>
              <a:ext uri="{FF2B5EF4-FFF2-40B4-BE49-F238E27FC236}">
                <a16:creationId xmlns:a16="http://schemas.microsoft.com/office/drawing/2014/main" id="{37CEC667-0997-476A-8C02-A23CE357768E}"/>
              </a:ext>
            </a:extLst>
          </p:cNvPr>
          <p:cNvSpPr/>
          <p:nvPr/>
        </p:nvSpPr>
        <p:spPr>
          <a:xfrm>
            <a:off x="838200" y="6492875"/>
            <a:ext cx="10232353" cy="307777"/>
          </a:xfrm>
          <a:prstGeom prst="rect">
            <a:avLst/>
          </a:prstGeom>
        </p:spPr>
        <p:txBody>
          <a:bodyPr wrap="none">
            <a:spAutoFit/>
          </a:bodyPr>
          <a:lstStyle/>
          <a:p>
            <a:r>
              <a:rPr lang="en-IN" sz="1400" dirty="0">
                <a:latin typeface="Arial Narrow" panose="020B0606020202030204" pitchFamily="34" charset="0"/>
              </a:rPr>
              <a:t>Andrew G. Howard et. al., “</a:t>
            </a:r>
            <a:r>
              <a:rPr lang="en-IN" sz="1400" dirty="0" err="1">
                <a:latin typeface="Arial Narrow" panose="020B0606020202030204" pitchFamily="34" charset="0"/>
              </a:rPr>
              <a:t>MobileNets</a:t>
            </a:r>
            <a:r>
              <a:rPr lang="en-IN" sz="1400" dirty="0">
                <a:latin typeface="Arial Narrow" panose="020B0606020202030204" pitchFamily="34" charset="0"/>
              </a:rPr>
              <a:t>: Efficient Convolutional Neural Networks for Mobile Vision Applications”, https://doi.org/10.48550/arXiv.1704.04861 </a:t>
            </a:r>
          </a:p>
        </p:txBody>
      </p:sp>
    </p:spTree>
    <p:extLst>
      <p:ext uri="{BB962C8B-B14F-4D97-AF65-F5344CB8AC3E}">
        <p14:creationId xmlns:p14="http://schemas.microsoft.com/office/powerpoint/2010/main" val="3096287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B915F-C5A9-465E-BDAE-E2E9029610F1}"/>
              </a:ext>
            </a:extLst>
          </p:cNvPr>
          <p:cNvSpPr>
            <a:spLocks noGrp="1"/>
          </p:cNvSpPr>
          <p:nvPr>
            <p:ph type="title"/>
          </p:nvPr>
        </p:nvSpPr>
        <p:spPr/>
        <p:txBody>
          <a:bodyPr/>
          <a:lstStyle/>
          <a:p>
            <a:br>
              <a:rPr lang="en-US" dirty="0">
                <a:latin typeface="Arial Narrow" panose="020B0606020202030204" pitchFamily="34" charset="0"/>
              </a:rPr>
            </a:br>
            <a:r>
              <a:rPr lang="en-US" sz="3600" dirty="0">
                <a:latin typeface="Century" panose="02040604050505020304" pitchFamily="18" charset="0"/>
              </a:rPr>
              <a:t>Pointwise convolution</a:t>
            </a:r>
            <a:endParaRPr lang="en-IN" sz="3600" dirty="0">
              <a:latin typeface="Century" panose="020406040505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0334F5-A532-4E38-92F6-76C4B0278E36}"/>
                  </a:ext>
                </a:extLst>
              </p:cNvPr>
              <p:cNvSpPr>
                <a:spLocks noGrp="1"/>
              </p:cNvSpPr>
              <p:nvPr>
                <p:ph idx="1"/>
              </p:nvPr>
            </p:nvSpPr>
            <p:spPr/>
            <p:txBody>
              <a:bodyPr>
                <a:normAutofit/>
              </a:bodyPr>
              <a:lstStyle/>
              <a:p>
                <a:pPr algn="just"/>
                <a:r>
                  <a:rPr lang="en-US" sz="2000" dirty="0">
                    <a:latin typeface="Arial Narrow" panose="020B0606020202030204" pitchFamily="34" charset="0"/>
                  </a:rPr>
                  <a:t>However, since depth-wise convolution </a:t>
                </a:r>
                <a:r>
                  <a:rPr lang="en-US" sz="2000" dirty="0">
                    <a:solidFill>
                      <a:srgbClr val="00B0F0"/>
                    </a:solidFill>
                    <a:latin typeface="Arial Narrow" panose="020B0606020202030204" pitchFamily="34" charset="0"/>
                  </a:rPr>
                  <a:t>does not combine information between channels</a:t>
                </a:r>
                <a:r>
                  <a:rPr lang="en-US" sz="2000" dirty="0">
                    <a:latin typeface="Arial Narrow" panose="020B0606020202030204" pitchFamily="34" charset="0"/>
                  </a:rPr>
                  <a:t>, it is typically followed by a </a:t>
                </a:r>
                <a:r>
                  <a:rPr lang="en-US" sz="2000" dirty="0">
                    <a:solidFill>
                      <a:srgbClr val="00B0F0"/>
                    </a:solidFill>
                    <a:latin typeface="Arial Narrow" panose="020B0606020202030204" pitchFamily="34" charset="0"/>
                  </a:rPr>
                  <a:t>pointwise convolution </a:t>
                </a:r>
                <a:r>
                  <a:rPr lang="en-US" sz="2000" dirty="0">
                    <a:latin typeface="Arial Narrow" panose="020B0606020202030204" pitchFamily="34" charset="0"/>
                  </a:rPr>
                  <a:t>(a </a:t>
                </a:r>
                <a14:m>
                  <m:oMath xmlns:m="http://schemas.openxmlformats.org/officeDocument/2006/math">
                    <m:r>
                      <a:rPr lang="en-IN" sz="2000" b="0" i="1" smtClean="0">
                        <a:latin typeface="Cambria Math" panose="02040503050406030204" pitchFamily="18" charset="0"/>
                      </a:rPr>
                      <m:t>1</m:t>
                    </m:r>
                    <m:r>
                      <a:rPr lang="en-IN" sz="2000" b="0" i="1" smtClean="0">
                        <a:latin typeface="Cambria Math" panose="02040503050406030204" pitchFamily="18" charset="0"/>
                        <a:ea typeface="Cambria Math" panose="02040503050406030204" pitchFamily="18" charset="0"/>
                      </a:rPr>
                      <m:t>×1</m:t>
                    </m:r>
                  </m:oMath>
                </a14:m>
                <a:r>
                  <a:rPr lang="en-US" sz="2000" dirty="0">
                    <a:latin typeface="Arial Narrow" panose="020B0606020202030204" pitchFamily="34" charset="0"/>
                  </a:rPr>
                  <a:t> convolution), which integrates the channel-wise features into a new set of output feature maps. </a:t>
                </a:r>
              </a:p>
              <a:p>
                <a:pPr algn="just"/>
                <a:r>
                  <a:rPr lang="en-US" sz="2000" dirty="0">
                    <a:latin typeface="Arial Narrow" panose="020B0606020202030204" pitchFamily="34" charset="0"/>
                  </a:rPr>
                  <a:t>So for point wise convolution operation, Total no of multiplications = </a:t>
                </a:r>
                <a14:m>
                  <m:oMath xmlns:m="http://schemas.openxmlformats.org/officeDocument/2006/math">
                    <m:r>
                      <a:rPr lang="en-IN" sz="2000" b="0" i="1" smtClean="0">
                        <a:latin typeface="Cambria Math" panose="02040503050406030204" pitchFamily="18" charset="0"/>
                      </a:rPr>
                      <m:t>𝐾</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𝑀</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𝑁</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𝐿</m:t>
                    </m:r>
                  </m:oMath>
                </a14:m>
                <a:endParaRPr lang="en-US" sz="2000" dirty="0">
                  <a:latin typeface="Arial Narrow" panose="020B0606020202030204" pitchFamily="34" charset="0"/>
                </a:endParaRPr>
              </a:p>
              <a:p>
                <a:pPr algn="just"/>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910334F5-A532-4E38-92F6-76C4B0278E36}"/>
                  </a:ext>
                </a:extLst>
              </p:cNvPr>
              <p:cNvSpPr>
                <a:spLocks noGrp="1" noRot="1" noChangeAspect="1" noMove="1" noResize="1" noEditPoints="1" noAdjustHandles="1" noChangeArrowheads="1" noChangeShapeType="1" noTextEdit="1"/>
              </p:cNvSpPr>
              <p:nvPr>
                <p:ph idx="1"/>
              </p:nvPr>
            </p:nvSpPr>
            <p:spPr>
              <a:blipFill>
                <a:blip r:embed="rId2"/>
                <a:stretch>
                  <a:fillRect l="-522" t="-1401" r="-580"/>
                </a:stretch>
              </a:blipFill>
            </p:spPr>
            <p:txBody>
              <a:bodyPr/>
              <a:lstStyle/>
              <a:p>
                <a:r>
                  <a:rPr lang="en-IN">
                    <a:noFill/>
                  </a:rPr>
                  <a:t> </a:t>
                </a:r>
              </a:p>
            </p:txBody>
          </p:sp>
        </mc:Fallback>
      </mc:AlternateContent>
      <p:grpSp>
        <p:nvGrpSpPr>
          <p:cNvPr id="52" name="Group 51">
            <a:extLst>
              <a:ext uri="{FF2B5EF4-FFF2-40B4-BE49-F238E27FC236}">
                <a16:creationId xmlns:a16="http://schemas.microsoft.com/office/drawing/2014/main" id="{FCAE49F0-0D00-4FA4-BA7E-6D69473C95D0}"/>
              </a:ext>
            </a:extLst>
          </p:cNvPr>
          <p:cNvGrpSpPr/>
          <p:nvPr/>
        </p:nvGrpSpPr>
        <p:grpSpPr>
          <a:xfrm>
            <a:off x="2249123" y="3749491"/>
            <a:ext cx="7158181" cy="2160216"/>
            <a:chOff x="2620598" y="4521016"/>
            <a:chExt cx="7158181" cy="2160216"/>
          </a:xfrm>
        </p:grpSpPr>
        <p:sp>
          <p:nvSpPr>
            <p:cNvPr id="6" name="Cube 5">
              <a:extLst>
                <a:ext uri="{FF2B5EF4-FFF2-40B4-BE49-F238E27FC236}">
                  <a16:creationId xmlns:a16="http://schemas.microsoft.com/office/drawing/2014/main" id="{A2C6699B-C301-44FB-AFF5-982170781973}"/>
                </a:ext>
              </a:extLst>
            </p:cNvPr>
            <p:cNvSpPr/>
            <p:nvPr/>
          </p:nvSpPr>
          <p:spPr>
            <a:xfrm>
              <a:off x="2942066" y="4812734"/>
              <a:ext cx="1210235" cy="111162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A19AA626-5779-4381-8D2F-6D25FFEBE67A}"/>
                </a:ext>
              </a:extLst>
            </p:cNvPr>
            <p:cNvSpPr txBox="1"/>
            <p:nvPr/>
          </p:nvSpPr>
          <p:spPr>
            <a:xfrm>
              <a:off x="2620598" y="5350335"/>
              <a:ext cx="209550" cy="369332"/>
            </a:xfrm>
            <a:prstGeom prst="rect">
              <a:avLst/>
            </a:prstGeom>
            <a:noFill/>
          </p:spPr>
          <p:txBody>
            <a:bodyPr wrap="square" rtlCol="0">
              <a:spAutoFit/>
            </a:bodyPr>
            <a:lstStyle/>
            <a:p>
              <a:r>
                <a:rPr lang="en-IN" dirty="0">
                  <a:latin typeface="Arial Narrow" panose="020B0606020202030204" pitchFamily="34" charset="0"/>
                </a:rPr>
                <a:t>M</a:t>
              </a:r>
            </a:p>
          </p:txBody>
        </p:sp>
        <p:sp>
          <p:nvSpPr>
            <p:cNvPr id="14" name="TextBox 13">
              <a:extLst>
                <a:ext uri="{FF2B5EF4-FFF2-40B4-BE49-F238E27FC236}">
                  <a16:creationId xmlns:a16="http://schemas.microsoft.com/office/drawing/2014/main" id="{5A3DF1F1-9773-46CB-8442-6CFCF6237F39}"/>
                </a:ext>
              </a:extLst>
            </p:cNvPr>
            <p:cNvSpPr txBox="1"/>
            <p:nvPr/>
          </p:nvSpPr>
          <p:spPr>
            <a:xfrm>
              <a:off x="3247428" y="5942568"/>
              <a:ext cx="209550" cy="369332"/>
            </a:xfrm>
            <a:prstGeom prst="rect">
              <a:avLst/>
            </a:prstGeom>
            <a:noFill/>
          </p:spPr>
          <p:txBody>
            <a:bodyPr wrap="square" rtlCol="0">
              <a:spAutoFit/>
            </a:bodyPr>
            <a:lstStyle/>
            <a:p>
              <a:r>
                <a:rPr lang="en-IN" dirty="0">
                  <a:latin typeface="Arial Narrow" panose="020B0606020202030204" pitchFamily="34" charset="0"/>
                </a:rPr>
                <a:t>N</a:t>
              </a:r>
            </a:p>
          </p:txBody>
        </p:sp>
        <p:sp>
          <p:nvSpPr>
            <p:cNvPr id="15" name="TextBox 14">
              <a:extLst>
                <a:ext uri="{FF2B5EF4-FFF2-40B4-BE49-F238E27FC236}">
                  <a16:creationId xmlns:a16="http://schemas.microsoft.com/office/drawing/2014/main" id="{4C5D34E0-CE3D-4008-B3A7-655A45ADAC5A}"/>
                </a:ext>
              </a:extLst>
            </p:cNvPr>
            <p:cNvSpPr txBox="1"/>
            <p:nvPr/>
          </p:nvSpPr>
          <p:spPr>
            <a:xfrm>
              <a:off x="3942751" y="5719667"/>
              <a:ext cx="209550" cy="369332"/>
            </a:xfrm>
            <a:prstGeom prst="rect">
              <a:avLst/>
            </a:prstGeom>
            <a:noFill/>
          </p:spPr>
          <p:txBody>
            <a:bodyPr wrap="square" rtlCol="0">
              <a:spAutoFit/>
            </a:bodyPr>
            <a:lstStyle/>
            <a:p>
              <a:r>
                <a:rPr lang="en-IN" dirty="0">
                  <a:latin typeface="Arial Narrow" panose="020B0606020202030204" pitchFamily="34" charset="0"/>
                </a:rPr>
                <a:t>K</a:t>
              </a:r>
            </a:p>
          </p:txBody>
        </p:sp>
        <p:cxnSp>
          <p:nvCxnSpPr>
            <p:cNvPr id="29" name="Straight Arrow Connector 28">
              <a:extLst>
                <a:ext uri="{FF2B5EF4-FFF2-40B4-BE49-F238E27FC236}">
                  <a16:creationId xmlns:a16="http://schemas.microsoft.com/office/drawing/2014/main" id="{F8AEC05A-39BF-4326-A8B2-E14CE774FA8A}"/>
                </a:ext>
              </a:extLst>
            </p:cNvPr>
            <p:cNvCxnSpPr/>
            <p:nvPr/>
          </p:nvCxnSpPr>
          <p:spPr>
            <a:xfrm>
              <a:off x="4722682" y="4928714"/>
              <a:ext cx="3256569" cy="0"/>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0" name="Cube 29">
              <a:extLst>
                <a:ext uri="{FF2B5EF4-FFF2-40B4-BE49-F238E27FC236}">
                  <a16:creationId xmlns:a16="http://schemas.microsoft.com/office/drawing/2014/main" id="{B8F67E58-6C41-44A5-A4BE-AFEDF290C70C}"/>
                </a:ext>
              </a:extLst>
            </p:cNvPr>
            <p:cNvSpPr/>
            <p:nvPr/>
          </p:nvSpPr>
          <p:spPr>
            <a:xfrm>
              <a:off x="4944173" y="5192009"/>
              <a:ext cx="672353" cy="721659"/>
            </a:xfrm>
            <a:prstGeom prst="cube">
              <a:avLst>
                <a:gd name="adj" fmla="val 77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9016136F-2B83-4509-8E5D-752196498F78}"/>
                </a:ext>
              </a:extLst>
            </p:cNvPr>
            <p:cNvSpPr txBox="1"/>
            <p:nvPr/>
          </p:nvSpPr>
          <p:spPr>
            <a:xfrm>
              <a:off x="4842796" y="5875100"/>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33" name="TextBox 32">
              <a:extLst>
                <a:ext uri="{FF2B5EF4-FFF2-40B4-BE49-F238E27FC236}">
                  <a16:creationId xmlns:a16="http://schemas.microsoft.com/office/drawing/2014/main" id="{CFE7BC34-BD2B-4367-BF1F-3A728248B53D}"/>
                </a:ext>
              </a:extLst>
            </p:cNvPr>
            <p:cNvSpPr txBox="1"/>
            <p:nvPr/>
          </p:nvSpPr>
          <p:spPr>
            <a:xfrm>
              <a:off x="4708499" y="5648000"/>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34" name="TextBox 33">
              <a:extLst>
                <a:ext uri="{FF2B5EF4-FFF2-40B4-BE49-F238E27FC236}">
                  <a16:creationId xmlns:a16="http://schemas.microsoft.com/office/drawing/2014/main" id="{54C0D0C2-E2A4-43F6-9B01-AD8A96DD9637}"/>
                </a:ext>
              </a:extLst>
            </p:cNvPr>
            <p:cNvSpPr txBox="1"/>
            <p:nvPr/>
          </p:nvSpPr>
          <p:spPr>
            <a:xfrm>
              <a:off x="5292201" y="5578071"/>
              <a:ext cx="209550" cy="369332"/>
            </a:xfrm>
            <a:prstGeom prst="rect">
              <a:avLst/>
            </a:prstGeom>
            <a:noFill/>
          </p:spPr>
          <p:txBody>
            <a:bodyPr wrap="square" rtlCol="0">
              <a:spAutoFit/>
            </a:bodyPr>
            <a:lstStyle/>
            <a:p>
              <a:r>
                <a:rPr lang="en-IN" dirty="0">
                  <a:latin typeface="Arial Narrow" panose="020B0606020202030204" pitchFamily="34" charset="0"/>
                </a:rPr>
                <a:t>K</a:t>
              </a:r>
            </a:p>
          </p:txBody>
        </p:sp>
        <p:sp>
          <p:nvSpPr>
            <p:cNvPr id="35" name="Cube 34">
              <a:extLst>
                <a:ext uri="{FF2B5EF4-FFF2-40B4-BE49-F238E27FC236}">
                  <a16:creationId xmlns:a16="http://schemas.microsoft.com/office/drawing/2014/main" id="{CEE6C88A-CCE3-433F-BF09-0631FDB2DE38}"/>
                </a:ext>
              </a:extLst>
            </p:cNvPr>
            <p:cNvSpPr/>
            <p:nvPr/>
          </p:nvSpPr>
          <p:spPr>
            <a:xfrm>
              <a:off x="5742507" y="5255000"/>
              <a:ext cx="672353" cy="721659"/>
            </a:xfrm>
            <a:prstGeom prst="cube">
              <a:avLst>
                <a:gd name="adj" fmla="val 77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ADFEF4D4-E7D2-4AC8-841B-675E9D305C2A}"/>
                </a:ext>
              </a:extLst>
            </p:cNvPr>
            <p:cNvSpPr txBox="1"/>
            <p:nvPr/>
          </p:nvSpPr>
          <p:spPr>
            <a:xfrm>
              <a:off x="5641130" y="5938091"/>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37" name="TextBox 36">
              <a:extLst>
                <a:ext uri="{FF2B5EF4-FFF2-40B4-BE49-F238E27FC236}">
                  <a16:creationId xmlns:a16="http://schemas.microsoft.com/office/drawing/2014/main" id="{9AE28952-0AE2-44C2-89DC-E2AC83A3B6BD}"/>
                </a:ext>
              </a:extLst>
            </p:cNvPr>
            <p:cNvSpPr txBox="1"/>
            <p:nvPr/>
          </p:nvSpPr>
          <p:spPr>
            <a:xfrm>
              <a:off x="5506833" y="5710991"/>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38" name="TextBox 37">
              <a:extLst>
                <a:ext uri="{FF2B5EF4-FFF2-40B4-BE49-F238E27FC236}">
                  <a16:creationId xmlns:a16="http://schemas.microsoft.com/office/drawing/2014/main" id="{24611BA2-FF92-4C95-BCBD-D7E91D3D9DC8}"/>
                </a:ext>
              </a:extLst>
            </p:cNvPr>
            <p:cNvSpPr txBox="1"/>
            <p:nvPr/>
          </p:nvSpPr>
          <p:spPr>
            <a:xfrm>
              <a:off x="6090535" y="5641062"/>
              <a:ext cx="209550" cy="369332"/>
            </a:xfrm>
            <a:prstGeom prst="rect">
              <a:avLst/>
            </a:prstGeom>
            <a:noFill/>
          </p:spPr>
          <p:txBody>
            <a:bodyPr wrap="square" rtlCol="0">
              <a:spAutoFit/>
            </a:bodyPr>
            <a:lstStyle/>
            <a:p>
              <a:r>
                <a:rPr lang="en-IN" dirty="0">
                  <a:latin typeface="Arial Narrow" panose="020B0606020202030204" pitchFamily="34" charset="0"/>
                </a:rPr>
                <a:t>K</a:t>
              </a:r>
            </a:p>
          </p:txBody>
        </p:sp>
        <p:sp>
          <p:nvSpPr>
            <p:cNvPr id="39" name="TextBox 38">
              <a:extLst>
                <a:ext uri="{FF2B5EF4-FFF2-40B4-BE49-F238E27FC236}">
                  <a16:creationId xmlns:a16="http://schemas.microsoft.com/office/drawing/2014/main" id="{F4E1A809-279C-4E64-870D-5550F6AEEEF4}"/>
                </a:ext>
              </a:extLst>
            </p:cNvPr>
            <p:cNvSpPr txBox="1"/>
            <p:nvPr/>
          </p:nvSpPr>
          <p:spPr>
            <a:xfrm>
              <a:off x="6057022" y="5264927"/>
              <a:ext cx="1057275" cy="769441"/>
            </a:xfrm>
            <a:prstGeom prst="rect">
              <a:avLst/>
            </a:prstGeom>
            <a:noFill/>
          </p:spPr>
          <p:txBody>
            <a:bodyPr wrap="square" rtlCol="0">
              <a:spAutoFit/>
            </a:bodyPr>
            <a:lstStyle/>
            <a:p>
              <a:pPr algn="ctr"/>
              <a:r>
                <a:rPr lang="en-IN" sz="4400" dirty="0"/>
                <a:t>…</a:t>
              </a:r>
            </a:p>
          </p:txBody>
        </p:sp>
        <p:sp>
          <p:nvSpPr>
            <p:cNvPr id="40" name="Cube 39">
              <a:extLst>
                <a:ext uri="{FF2B5EF4-FFF2-40B4-BE49-F238E27FC236}">
                  <a16:creationId xmlns:a16="http://schemas.microsoft.com/office/drawing/2014/main" id="{07B1EA24-6569-4C7D-9500-F363BF77F711}"/>
                </a:ext>
              </a:extLst>
            </p:cNvPr>
            <p:cNvSpPr/>
            <p:nvPr/>
          </p:nvSpPr>
          <p:spPr>
            <a:xfrm>
              <a:off x="6988090" y="5255000"/>
              <a:ext cx="672353" cy="721659"/>
            </a:xfrm>
            <a:prstGeom prst="cube">
              <a:avLst>
                <a:gd name="adj" fmla="val 77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81FC2330-B2BA-4C9B-B0F8-AA5AD975FF1E}"/>
                </a:ext>
              </a:extLst>
            </p:cNvPr>
            <p:cNvSpPr txBox="1"/>
            <p:nvPr/>
          </p:nvSpPr>
          <p:spPr>
            <a:xfrm>
              <a:off x="6886713" y="5938091"/>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42" name="TextBox 41">
              <a:extLst>
                <a:ext uri="{FF2B5EF4-FFF2-40B4-BE49-F238E27FC236}">
                  <a16:creationId xmlns:a16="http://schemas.microsoft.com/office/drawing/2014/main" id="{C9843A1A-7300-45C1-AD43-C2459591DD87}"/>
                </a:ext>
              </a:extLst>
            </p:cNvPr>
            <p:cNvSpPr txBox="1"/>
            <p:nvPr/>
          </p:nvSpPr>
          <p:spPr>
            <a:xfrm>
              <a:off x="6771938" y="5710991"/>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43" name="TextBox 42">
              <a:extLst>
                <a:ext uri="{FF2B5EF4-FFF2-40B4-BE49-F238E27FC236}">
                  <a16:creationId xmlns:a16="http://schemas.microsoft.com/office/drawing/2014/main" id="{A9E614EE-4C5E-4FFE-B0EC-5E7EA821B900}"/>
                </a:ext>
              </a:extLst>
            </p:cNvPr>
            <p:cNvSpPr txBox="1"/>
            <p:nvPr/>
          </p:nvSpPr>
          <p:spPr>
            <a:xfrm>
              <a:off x="7336118" y="5641062"/>
              <a:ext cx="209550" cy="369332"/>
            </a:xfrm>
            <a:prstGeom prst="rect">
              <a:avLst/>
            </a:prstGeom>
            <a:noFill/>
          </p:spPr>
          <p:txBody>
            <a:bodyPr wrap="square" rtlCol="0">
              <a:spAutoFit/>
            </a:bodyPr>
            <a:lstStyle/>
            <a:p>
              <a:r>
                <a:rPr lang="en-IN" dirty="0">
                  <a:latin typeface="Arial Narrow" panose="020B0606020202030204" pitchFamily="34" charset="0"/>
                </a:rPr>
                <a:t>K</a:t>
              </a:r>
            </a:p>
          </p:txBody>
        </p:sp>
        <p:sp>
          <p:nvSpPr>
            <p:cNvPr id="44" name="TextBox 43">
              <a:extLst>
                <a:ext uri="{FF2B5EF4-FFF2-40B4-BE49-F238E27FC236}">
                  <a16:creationId xmlns:a16="http://schemas.microsoft.com/office/drawing/2014/main" id="{9B0C9722-B885-47DE-AA61-F92F2BBE96B5}"/>
                </a:ext>
              </a:extLst>
            </p:cNvPr>
            <p:cNvSpPr txBox="1"/>
            <p:nvPr/>
          </p:nvSpPr>
          <p:spPr>
            <a:xfrm>
              <a:off x="4783310" y="6308209"/>
              <a:ext cx="209550" cy="369332"/>
            </a:xfrm>
            <a:prstGeom prst="rect">
              <a:avLst/>
            </a:prstGeom>
            <a:noFill/>
          </p:spPr>
          <p:txBody>
            <a:bodyPr wrap="square" rtlCol="0">
              <a:spAutoFit/>
            </a:bodyPr>
            <a:lstStyle/>
            <a:p>
              <a:r>
                <a:rPr lang="en-IN" dirty="0">
                  <a:latin typeface="Arial Narrow" panose="020B0606020202030204" pitchFamily="34" charset="0"/>
                </a:rPr>
                <a:t>1</a:t>
              </a:r>
            </a:p>
          </p:txBody>
        </p:sp>
        <p:sp>
          <p:nvSpPr>
            <p:cNvPr id="45" name="TextBox 44">
              <a:extLst>
                <a:ext uri="{FF2B5EF4-FFF2-40B4-BE49-F238E27FC236}">
                  <a16:creationId xmlns:a16="http://schemas.microsoft.com/office/drawing/2014/main" id="{A20279F4-BEAC-494B-8CFF-6D061F2E838A}"/>
                </a:ext>
              </a:extLst>
            </p:cNvPr>
            <p:cNvSpPr txBox="1"/>
            <p:nvPr/>
          </p:nvSpPr>
          <p:spPr>
            <a:xfrm>
              <a:off x="5641130" y="6308209"/>
              <a:ext cx="209550" cy="369332"/>
            </a:xfrm>
            <a:prstGeom prst="rect">
              <a:avLst/>
            </a:prstGeom>
            <a:noFill/>
          </p:spPr>
          <p:txBody>
            <a:bodyPr wrap="square" rtlCol="0">
              <a:spAutoFit/>
            </a:bodyPr>
            <a:lstStyle/>
            <a:p>
              <a:r>
                <a:rPr lang="en-IN" dirty="0">
                  <a:latin typeface="Arial Narrow" panose="020B0606020202030204" pitchFamily="34" charset="0"/>
                </a:rPr>
                <a:t>2</a:t>
              </a:r>
            </a:p>
          </p:txBody>
        </p:sp>
        <p:sp>
          <p:nvSpPr>
            <p:cNvPr id="46" name="TextBox 45">
              <a:extLst>
                <a:ext uri="{FF2B5EF4-FFF2-40B4-BE49-F238E27FC236}">
                  <a16:creationId xmlns:a16="http://schemas.microsoft.com/office/drawing/2014/main" id="{D9CFAB11-1500-4F9B-BE5A-8F011855E264}"/>
                </a:ext>
              </a:extLst>
            </p:cNvPr>
            <p:cNvSpPr txBox="1"/>
            <p:nvPr/>
          </p:nvSpPr>
          <p:spPr>
            <a:xfrm>
              <a:off x="6904747" y="6311900"/>
              <a:ext cx="209550" cy="369332"/>
            </a:xfrm>
            <a:prstGeom prst="rect">
              <a:avLst/>
            </a:prstGeom>
            <a:noFill/>
          </p:spPr>
          <p:txBody>
            <a:bodyPr wrap="square" rtlCol="0">
              <a:spAutoFit/>
            </a:bodyPr>
            <a:lstStyle/>
            <a:p>
              <a:r>
                <a:rPr lang="en-IN" dirty="0">
                  <a:latin typeface="Arial Narrow" panose="020B0606020202030204" pitchFamily="34" charset="0"/>
                </a:rPr>
                <a:t>L</a:t>
              </a:r>
            </a:p>
          </p:txBody>
        </p:sp>
        <p:sp>
          <p:nvSpPr>
            <p:cNvPr id="47" name="Rectangle 46">
              <a:extLst>
                <a:ext uri="{FF2B5EF4-FFF2-40B4-BE49-F238E27FC236}">
                  <a16:creationId xmlns:a16="http://schemas.microsoft.com/office/drawing/2014/main" id="{B3A3FB3C-1B8C-4462-AEA9-6AE790C5AB6E}"/>
                </a:ext>
              </a:extLst>
            </p:cNvPr>
            <p:cNvSpPr/>
            <p:nvPr/>
          </p:nvSpPr>
          <p:spPr>
            <a:xfrm>
              <a:off x="5504725" y="4521016"/>
              <a:ext cx="2061783" cy="369332"/>
            </a:xfrm>
            <a:prstGeom prst="rect">
              <a:avLst/>
            </a:prstGeom>
          </p:spPr>
          <p:txBody>
            <a:bodyPr wrap="none">
              <a:spAutoFit/>
            </a:bodyPr>
            <a:lstStyle/>
            <a:p>
              <a:r>
                <a:rPr lang="en-US" dirty="0">
                  <a:solidFill>
                    <a:srgbClr val="00B0F0"/>
                  </a:solidFill>
                  <a:latin typeface="Arial Narrow" panose="020B0606020202030204" pitchFamily="34" charset="0"/>
                </a:rPr>
                <a:t>Pointwise convolution </a:t>
              </a:r>
              <a:endParaRPr lang="en-IN" dirty="0"/>
            </a:p>
          </p:txBody>
        </p:sp>
        <p:sp>
          <p:nvSpPr>
            <p:cNvPr id="48" name="Cube 47">
              <a:extLst>
                <a:ext uri="{FF2B5EF4-FFF2-40B4-BE49-F238E27FC236}">
                  <a16:creationId xmlns:a16="http://schemas.microsoft.com/office/drawing/2014/main" id="{4B6BC273-7D5C-41C2-A4CC-96A89F57AF4C}"/>
                </a:ext>
              </a:extLst>
            </p:cNvPr>
            <p:cNvSpPr/>
            <p:nvPr/>
          </p:nvSpPr>
          <p:spPr>
            <a:xfrm>
              <a:off x="8413817" y="4816027"/>
              <a:ext cx="1322153" cy="1213267"/>
            </a:xfrm>
            <a:prstGeom prst="cube">
              <a:avLst>
                <a:gd name="adj" fmla="val 3014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C1D8663B-8594-4620-90B8-CAB896E0E792}"/>
                </a:ext>
              </a:extLst>
            </p:cNvPr>
            <p:cNvSpPr txBox="1"/>
            <p:nvPr/>
          </p:nvSpPr>
          <p:spPr>
            <a:xfrm>
              <a:off x="8097521" y="5426034"/>
              <a:ext cx="209550" cy="369332"/>
            </a:xfrm>
            <a:prstGeom prst="rect">
              <a:avLst/>
            </a:prstGeom>
            <a:noFill/>
          </p:spPr>
          <p:txBody>
            <a:bodyPr wrap="square" rtlCol="0">
              <a:spAutoFit/>
            </a:bodyPr>
            <a:lstStyle/>
            <a:p>
              <a:r>
                <a:rPr lang="en-IN" dirty="0">
                  <a:latin typeface="Arial Narrow" panose="020B0606020202030204" pitchFamily="34" charset="0"/>
                </a:rPr>
                <a:t>M</a:t>
              </a:r>
            </a:p>
          </p:txBody>
        </p:sp>
        <p:sp>
          <p:nvSpPr>
            <p:cNvPr id="50" name="TextBox 49">
              <a:extLst>
                <a:ext uri="{FF2B5EF4-FFF2-40B4-BE49-F238E27FC236}">
                  <a16:creationId xmlns:a16="http://schemas.microsoft.com/office/drawing/2014/main" id="{633672F9-067F-4E46-8002-5DDFDF7EB214}"/>
                </a:ext>
              </a:extLst>
            </p:cNvPr>
            <p:cNvSpPr txBox="1"/>
            <p:nvPr/>
          </p:nvSpPr>
          <p:spPr>
            <a:xfrm>
              <a:off x="8768936" y="6033214"/>
              <a:ext cx="209550" cy="369332"/>
            </a:xfrm>
            <a:prstGeom prst="rect">
              <a:avLst/>
            </a:prstGeom>
            <a:noFill/>
          </p:spPr>
          <p:txBody>
            <a:bodyPr wrap="square" rtlCol="0">
              <a:spAutoFit/>
            </a:bodyPr>
            <a:lstStyle/>
            <a:p>
              <a:r>
                <a:rPr lang="en-IN" dirty="0">
                  <a:latin typeface="Arial Narrow" panose="020B0606020202030204" pitchFamily="34" charset="0"/>
                </a:rPr>
                <a:t>N</a:t>
              </a:r>
            </a:p>
          </p:txBody>
        </p:sp>
        <p:sp>
          <p:nvSpPr>
            <p:cNvPr id="51" name="TextBox 50">
              <a:extLst>
                <a:ext uri="{FF2B5EF4-FFF2-40B4-BE49-F238E27FC236}">
                  <a16:creationId xmlns:a16="http://schemas.microsoft.com/office/drawing/2014/main" id="{656C8877-6904-4BB9-A915-C7BA14D273E1}"/>
                </a:ext>
              </a:extLst>
            </p:cNvPr>
            <p:cNvSpPr txBox="1"/>
            <p:nvPr/>
          </p:nvSpPr>
          <p:spPr>
            <a:xfrm>
              <a:off x="9569229" y="5759775"/>
              <a:ext cx="209550" cy="369332"/>
            </a:xfrm>
            <a:prstGeom prst="rect">
              <a:avLst/>
            </a:prstGeom>
            <a:noFill/>
          </p:spPr>
          <p:txBody>
            <a:bodyPr wrap="square" rtlCol="0">
              <a:spAutoFit/>
            </a:bodyPr>
            <a:lstStyle/>
            <a:p>
              <a:r>
                <a:rPr lang="en-IN" dirty="0">
                  <a:latin typeface="Arial Narrow" panose="020B0606020202030204" pitchFamily="34" charset="0"/>
                </a:rPr>
                <a:t>L</a:t>
              </a:r>
            </a:p>
          </p:txBody>
        </p:sp>
      </p:grpSp>
      <p:sp>
        <p:nvSpPr>
          <p:cNvPr id="53" name="Rectangle 52">
            <a:extLst>
              <a:ext uri="{FF2B5EF4-FFF2-40B4-BE49-F238E27FC236}">
                <a16:creationId xmlns:a16="http://schemas.microsoft.com/office/drawing/2014/main" id="{C3E749E2-7F90-453A-903B-314858CC8249}"/>
              </a:ext>
            </a:extLst>
          </p:cNvPr>
          <p:cNvSpPr/>
          <p:nvPr/>
        </p:nvSpPr>
        <p:spPr>
          <a:xfrm>
            <a:off x="838200" y="6492875"/>
            <a:ext cx="10232353" cy="307777"/>
          </a:xfrm>
          <a:prstGeom prst="rect">
            <a:avLst/>
          </a:prstGeom>
        </p:spPr>
        <p:txBody>
          <a:bodyPr wrap="none">
            <a:spAutoFit/>
          </a:bodyPr>
          <a:lstStyle/>
          <a:p>
            <a:r>
              <a:rPr lang="en-IN" sz="1400" dirty="0">
                <a:latin typeface="Arial Narrow" panose="020B0606020202030204" pitchFamily="34" charset="0"/>
              </a:rPr>
              <a:t>Andrew G. Howard et. al., “</a:t>
            </a:r>
            <a:r>
              <a:rPr lang="en-IN" sz="1400" dirty="0" err="1">
                <a:latin typeface="Arial Narrow" panose="020B0606020202030204" pitchFamily="34" charset="0"/>
              </a:rPr>
              <a:t>MobileNets</a:t>
            </a:r>
            <a:r>
              <a:rPr lang="en-IN" sz="1400" dirty="0">
                <a:latin typeface="Arial Narrow" panose="020B0606020202030204" pitchFamily="34" charset="0"/>
              </a:rPr>
              <a:t>: Efficient Convolutional Neural Networks for Mobile Vision Applications”, https://doi.org/10.48550/arXiv.1704.04861 </a:t>
            </a:r>
          </a:p>
        </p:txBody>
      </p:sp>
    </p:spTree>
    <p:extLst>
      <p:ext uri="{BB962C8B-B14F-4D97-AF65-F5344CB8AC3E}">
        <p14:creationId xmlns:p14="http://schemas.microsoft.com/office/powerpoint/2010/main" val="1353201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67433-F822-47DD-BF62-5AAE8B61F432}"/>
              </a:ext>
            </a:extLst>
          </p:cNvPr>
          <p:cNvSpPr>
            <a:spLocks noGrp="1"/>
          </p:cNvSpPr>
          <p:nvPr>
            <p:ph type="title"/>
          </p:nvPr>
        </p:nvSpPr>
        <p:spPr/>
        <p:txBody>
          <a:bodyPr>
            <a:normAutofit/>
          </a:bodyPr>
          <a:lstStyle/>
          <a:p>
            <a:r>
              <a:rPr lang="en-US" sz="3600" dirty="0">
                <a:latin typeface="Century" panose="02040604050505020304" pitchFamily="18" charset="0"/>
              </a:rPr>
              <a:t>Depth-wise separable convolutions</a:t>
            </a:r>
            <a:endParaRPr lang="en-IN" sz="3600" dirty="0">
              <a:latin typeface="Century" panose="020406040505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8E3A27-1BC8-400B-B8CC-BC8F7ED88C34}"/>
                  </a:ext>
                </a:extLst>
              </p:cNvPr>
              <p:cNvSpPr>
                <a:spLocks noGrp="1"/>
              </p:cNvSpPr>
              <p:nvPr>
                <p:ph idx="1"/>
              </p:nvPr>
            </p:nvSpPr>
            <p:spPr/>
            <p:txBody>
              <a:bodyPr>
                <a:normAutofit/>
              </a:bodyPr>
              <a:lstStyle/>
              <a:p>
                <a:pPr algn="just"/>
                <a:r>
                  <a:rPr lang="en-US" sz="2000" dirty="0">
                    <a:latin typeface="Arial Narrow" panose="020B0606020202030204" pitchFamily="34" charset="0"/>
                  </a:rPr>
                  <a:t>So for depth wise separable convolution operation:</a:t>
                </a:r>
              </a:p>
              <a:p>
                <a:pPr algn="just"/>
                <a:r>
                  <a:rPr lang="en-IN" sz="2000" dirty="0">
                    <a:latin typeface="Arial Narrow" panose="020B0606020202030204" pitchFamily="34" charset="0"/>
                  </a:rPr>
                  <a:t>Total no of multiplications = </a:t>
                </a:r>
                <a14:m>
                  <m:oMath xmlns:m="http://schemas.openxmlformats.org/officeDocument/2006/math">
                    <m:r>
                      <a:rPr lang="en-IN" sz="2000" b="0" i="1" smtClean="0">
                        <a:solidFill>
                          <a:schemeClr val="tx1"/>
                        </a:solidFill>
                        <a:latin typeface="Cambria Math" panose="02040503050406030204" pitchFamily="18" charset="0"/>
                      </a:rPr>
                      <m:t>𝐾</m:t>
                    </m:r>
                    <m:r>
                      <a:rPr lang="en-IN" sz="2000" b="0" i="1" smtClean="0">
                        <a:solidFill>
                          <a:schemeClr val="tx1"/>
                        </a:solidFill>
                        <a:latin typeface="Cambria Math" panose="02040503050406030204" pitchFamily="18" charset="0"/>
                        <a:ea typeface="Cambria Math" panose="02040503050406030204" pitchFamily="18" charset="0"/>
                      </a:rPr>
                      <m:t>×</m:t>
                    </m:r>
                    <m:d>
                      <m:dPr>
                        <m:ctrlPr>
                          <a:rPr lang="en-IN" sz="2000" b="0" i="1" smtClean="0">
                            <a:solidFill>
                              <a:schemeClr val="tx1"/>
                            </a:solidFill>
                            <a:latin typeface="Cambria Math" panose="02040503050406030204" pitchFamily="18" charset="0"/>
                            <a:ea typeface="Cambria Math" panose="02040503050406030204" pitchFamily="18" charset="0"/>
                          </a:rPr>
                        </m:ctrlPr>
                      </m:dPr>
                      <m:e>
                        <m:r>
                          <a:rPr lang="en-IN" sz="2000" b="0" i="1" smtClean="0">
                            <a:solidFill>
                              <a:schemeClr val="tx1"/>
                            </a:solidFill>
                            <a:latin typeface="Cambria Math" panose="02040503050406030204" pitchFamily="18" charset="0"/>
                            <a:ea typeface="Cambria Math" panose="02040503050406030204" pitchFamily="18" charset="0"/>
                          </a:rPr>
                          <m:t>𝑅</m:t>
                        </m:r>
                        <m:r>
                          <a:rPr lang="en-IN" sz="2000" b="0" i="1" smtClean="0">
                            <a:solidFill>
                              <a:schemeClr val="tx1"/>
                            </a:solidFill>
                            <a:latin typeface="Cambria Math" panose="02040503050406030204" pitchFamily="18" charset="0"/>
                            <a:ea typeface="Cambria Math" panose="02040503050406030204" pitchFamily="18" charset="0"/>
                          </a:rPr>
                          <m:t>×</m:t>
                        </m:r>
                        <m:r>
                          <a:rPr lang="en-IN" sz="2000" b="0" i="1" smtClean="0">
                            <a:solidFill>
                              <a:schemeClr val="tx1"/>
                            </a:solidFill>
                            <a:latin typeface="Cambria Math" panose="02040503050406030204" pitchFamily="18" charset="0"/>
                            <a:ea typeface="Cambria Math" panose="02040503050406030204" pitchFamily="18" charset="0"/>
                          </a:rPr>
                          <m:t>𝑆</m:t>
                        </m:r>
                      </m:e>
                    </m:d>
                    <m:r>
                      <a:rPr lang="en-IN" sz="2000" b="0" i="1" smtClean="0">
                        <a:solidFill>
                          <a:schemeClr val="tx1"/>
                        </a:solidFill>
                        <a:latin typeface="Cambria Math" panose="02040503050406030204" pitchFamily="18" charset="0"/>
                        <a:ea typeface="Cambria Math" panose="02040503050406030204" pitchFamily="18" charset="0"/>
                      </a:rPr>
                      <m:t>×(</m:t>
                    </m:r>
                    <m:d>
                      <m:dPr>
                        <m:ctrlPr>
                          <a:rPr lang="en-IN" sz="2000" b="0" i="1" smtClean="0">
                            <a:solidFill>
                              <a:schemeClr val="tx1"/>
                            </a:solidFill>
                            <a:latin typeface="Cambria Math" panose="02040503050406030204" pitchFamily="18" charset="0"/>
                            <a:ea typeface="Cambria Math" panose="02040503050406030204" pitchFamily="18" charset="0"/>
                          </a:rPr>
                        </m:ctrlPr>
                      </m:dPr>
                      <m:e>
                        <m:r>
                          <a:rPr lang="en-IN" sz="2000" i="1">
                            <a:solidFill>
                              <a:schemeClr val="tx1"/>
                            </a:solidFill>
                            <a:latin typeface="Cambria Math" panose="02040503050406030204" pitchFamily="18" charset="0"/>
                          </a:rPr>
                          <m:t>𝑝</m:t>
                        </m:r>
                        <m:r>
                          <a:rPr lang="en-IN" sz="2000" i="1">
                            <a:solidFill>
                              <a:schemeClr val="tx1"/>
                            </a:solidFill>
                            <a:latin typeface="Cambria Math" panose="02040503050406030204" pitchFamily="18" charset="0"/>
                            <a:ea typeface="Cambria Math" panose="02040503050406030204" pitchFamily="18" charset="0"/>
                          </a:rPr>
                          <m:t>×</m:t>
                        </m:r>
                        <m:r>
                          <a:rPr lang="en-IN" sz="2000" i="1">
                            <a:solidFill>
                              <a:schemeClr val="tx1"/>
                            </a:solidFill>
                            <a:latin typeface="Cambria Math" panose="02040503050406030204" pitchFamily="18" charset="0"/>
                            <a:ea typeface="Cambria Math" panose="02040503050406030204" pitchFamily="18" charset="0"/>
                          </a:rPr>
                          <m:t>𝑞</m:t>
                        </m:r>
                      </m:e>
                    </m:d>
                    <m:r>
                      <a:rPr lang="en-IN" sz="2000" b="0" i="1" smtClean="0">
                        <a:solidFill>
                          <a:schemeClr val="tx1"/>
                        </a:solidFill>
                        <a:latin typeface="Cambria Math" panose="02040503050406030204" pitchFamily="18" charset="0"/>
                        <a:ea typeface="Cambria Math" panose="02040503050406030204" pitchFamily="18" charset="0"/>
                      </a:rPr>
                      <m:t>+</m:t>
                    </m:r>
                    <m:r>
                      <a:rPr lang="en-IN" sz="2000" b="0" i="1" smtClean="0">
                        <a:solidFill>
                          <a:schemeClr val="tx1"/>
                        </a:solidFill>
                        <a:latin typeface="Cambria Math" panose="02040503050406030204" pitchFamily="18" charset="0"/>
                        <a:ea typeface="Cambria Math" panose="02040503050406030204" pitchFamily="18" charset="0"/>
                      </a:rPr>
                      <m:t>𝐿</m:t>
                    </m:r>
                    <m:r>
                      <a:rPr lang="en-IN" sz="2000" b="0" i="1" smtClean="0">
                        <a:solidFill>
                          <a:schemeClr val="tx1"/>
                        </a:solidFill>
                        <a:latin typeface="Cambria Math" panose="02040503050406030204" pitchFamily="18" charset="0"/>
                        <a:ea typeface="Cambria Math" panose="02040503050406030204" pitchFamily="18" charset="0"/>
                      </a:rPr>
                      <m:t>)</m:t>
                    </m:r>
                  </m:oMath>
                </a14:m>
                <a:endParaRPr lang="en-IN" sz="2000" dirty="0">
                  <a:latin typeface="Arial Narrow" panose="020B0606020202030204" pitchFamily="34" charset="0"/>
                </a:endParaRPr>
              </a:p>
              <a:p>
                <a:pPr algn="just"/>
                <a:r>
                  <a:rPr lang="en-IN" sz="2000" dirty="0">
                    <a:latin typeface="Arial Narrow" panose="020B0606020202030204" pitchFamily="34" charset="0"/>
                  </a:rPr>
                  <a:t>For standard convolution, </a:t>
                </a:r>
              </a:p>
              <a:p>
                <a:pPr algn="just"/>
                <a:endParaRPr lang="en-IN" sz="2000" dirty="0">
                  <a:latin typeface="Arial Narrow" panose="020B0606020202030204" pitchFamily="34" charset="0"/>
                </a:endParaRPr>
              </a:p>
              <a:p>
                <a:pPr algn="just"/>
                <a:endParaRPr lang="en-IN" sz="2000" dirty="0">
                  <a:latin typeface="Arial Narrow" panose="020B0606020202030204" pitchFamily="34" charset="0"/>
                </a:endParaRPr>
              </a:p>
              <a:p>
                <a:pPr algn="just"/>
                <a:endParaRPr lang="en-IN" sz="2000" dirty="0">
                  <a:latin typeface="Arial Narrow" panose="020B0606020202030204" pitchFamily="34" charset="0"/>
                </a:endParaRPr>
              </a:p>
              <a:p>
                <a:pPr algn="just"/>
                <a:endParaRPr lang="en-IN" sz="2000" dirty="0">
                  <a:latin typeface="Arial Narrow" panose="020B0606020202030204" pitchFamily="34" charset="0"/>
                </a:endParaRPr>
              </a:p>
              <a:p>
                <a:pPr algn="just"/>
                <a:endParaRPr lang="en-IN" sz="2000" dirty="0">
                  <a:latin typeface="Arial Narrow" panose="020B0606020202030204" pitchFamily="34" charset="0"/>
                </a:endParaRPr>
              </a:p>
              <a:p>
                <a:pPr algn="just"/>
                <a:r>
                  <a:rPr lang="en-IN" sz="2000" dirty="0">
                    <a:latin typeface="Arial Narrow" panose="020B0606020202030204" pitchFamily="34" charset="0"/>
                  </a:rPr>
                  <a:t>The total no of multiplications = </a:t>
                </a:r>
                <a14:m>
                  <m:oMath xmlns:m="http://schemas.openxmlformats.org/officeDocument/2006/math">
                    <m:r>
                      <a:rPr lang="en-IN" sz="2000" i="1">
                        <a:latin typeface="Cambria Math" panose="02040503050406030204" pitchFamily="18" charset="0"/>
                        <a:ea typeface="Cambria Math" panose="02040503050406030204" pitchFamily="18" charset="0"/>
                      </a:rPr>
                      <m:t>𝐿</m:t>
                    </m:r>
                    <m:r>
                      <a:rPr lang="en-IN" sz="200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𝑅</m:t>
                    </m:r>
                    <m:r>
                      <a:rPr lang="en-IN" sz="2000" i="1">
                        <a:latin typeface="Cambria Math" panose="02040503050406030204" pitchFamily="18" charset="0"/>
                        <a:ea typeface="Cambria Math" panose="02040503050406030204" pitchFamily="18" charset="0"/>
                      </a:rPr>
                      <m:t>×</m:t>
                    </m:r>
                    <m:r>
                      <m:rPr>
                        <m:sty m:val="p"/>
                      </m:rPr>
                      <a:rPr lang="en-IN" sz="2000" b="0" i="0" smtClean="0">
                        <a:latin typeface="Cambria Math" panose="02040503050406030204" pitchFamily="18" charset="0"/>
                        <a:ea typeface="Cambria Math" panose="02040503050406030204" pitchFamily="18" charset="0"/>
                      </a:rPr>
                      <m:t>S</m:t>
                    </m:r>
                    <m:r>
                      <a:rPr lang="en-IN" sz="2000" b="0" i="0" smtClean="0">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m:t>
                    </m:r>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rPr>
                          <m:t>𝑝</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𝑞</m:t>
                        </m:r>
                      </m:e>
                    </m:d>
                    <m:r>
                      <a:rPr lang="en-IN" sz="2000" i="1">
                        <a:latin typeface="Cambria Math" panose="02040503050406030204" pitchFamily="18" charset="0"/>
                        <a:ea typeface="Cambria Math" panose="02040503050406030204" pitchFamily="18" charset="0"/>
                      </a:rPr>
                      <m:t>×</m:t>
                    </m:r>
                    <m:r>
                      <m:rPr>
                        <m:sty m:val="p"/>
                      </m:rPr>
                      <a:rPr lang="en-IN" sz="2000" b="0" i="0" smtClean="0">
                        <a:latin typeface="Cambria Math" panose="02040503050406030204" pitchFamily="18" charset="0"/>
                        <a:ea typeface="Cambria Math" panose="02040503050406030204" pitchFamily="18" charset="0"/>
                      </a:rPr>
                      <m:t>K</m:t>
                    </m:r>
                  </m:oMath>
                </a14:m>
                <a:endParaRPr lang="en-IN" sz="2000" dirty="0">
                  <a:latin typeface="Arial Narrow" panose="020B0606020202030204" pitchFamily="34" charset="0"/>
                </a:endParaRPr>
              </a:p>
              <a:p>
                <a:pPr algn="just"/>
                <a:r>
                  <a:rPr lang="en-IN" sz="2000" dirty="0">
                    <a:latin typeface="Arial Narrow" panose="020B0606020202030204" pitchFamily="34" charset="0"/>
                  </a:rPr>
                  <a:t>So, if p=q=512 and L= 100, </a:t>
                </a:r>
                <a:r>
                  <a:rPr lang="en-US" sz="2000" dirty="0">
                    <a:latin typeface="Arial Narrow" panose="020B0606020202030204" pitchFamily="34" charset="0"/>
                  </a:rPr>
                  <a:t>depth wise separable convolution required 100 times less multiplications.</a:t>
                </a:r>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2A8E3A27-1BC8-400B-B8CC-BC8F7ED88C34}"/>
                  </a:ext>
                </a:extLst>
              </p:cNvPr>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en-IN">
                    <a:noFill/>
                  </a:rPr>
                  <a:t> </a:t>
                </a:r>
              </a:p>
            </p:txBody>
          </p:sp>
        </mc:Fallback>
      </mc:AlternateContent>
      <p:sp>
        <p:nvSpPr>
          <p:cNvPr id="4" name="Cube 3">
            <a:extLst>
              <a:ext uri="{FF2B5EF4-FFF2-40B4-BE49-F238E27FC236}">
                <a16:creationId xmlns:a16="http://schemas.microsoft.com/office/drawing/2014/main" id="{C1C8D91F-14C6-4BC1-9601-46730AFFA559}"/>
              </a:ext>
            </a:extLst>
          </p:cNvPr>
          <p:cNvSpPr/>
          <p:nvPr/>
        </p:nvSpPr>
        <p:spPr>
          <a:xfrm>
            <a:off x="3604894" y="3429000"/>
            <a:ext cx="1210235" cy="111162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46173EA-96CB-4964-AE24-3D8278D6DB9C}"/>
              </a:ext>
            </a:extLst>
          </p:cNvPr>
          <p:cNvSpPr txBox="1"/>
          <p:nvPr/>
        </p:nvSpPr>
        <p:spPr>
          <a:xfrm>
            <a:off x="3283426" y="3966601"/>
            <a:ext cx="209550" cy="369332"/>
          </a:xfrm>
          <a:prstGeom prst="rect">
            <a:avLst/>
          </a:prstGeom>
          <a:noFill/>
        </p:spPr>
        <p:txBody>
          <a:bodyPr wrap="square" rtlCol="0">
            <a:spAutoFit/>
          </a:bodyPr>
          <a:lstStyle/>
          <a:p>
            <a:r>
              <a:rPr lang="en-IN" dirty="0">
                <a:latin typeface="Arial Narrow" panose="020B0606020202030204" pitchFamily="34" charset="0"/>
              </a:rPr>
              <a:t>M</a:t>
            </a:r>
          </a:p>
        </p:txBody>
      </p:sp>
      <p:sp>
        <p:nvSpPr>
          <p:cNvPr id="6" name="TextBox 5">
            <a:extLst>
              <a:ext uri="{FF2B5EF4-FFF2-40B4-BE49-F238E27FC236}">
                <a16:creationId xmlns:a16="http://schemas.microsoft.com/office/drawing/2014/main" id="{039A4DF0-ADA8-4A22-8E72-ED7F85FAC611}"/>
              </a:ext>
            </a:extLst>
          </p:cNvPr>
          <p:cNvSpPr txBox="1"/>
          <p:nvPr/>
        </p:nvSpPr>
        <p:spPr>
          <a:xfrm>
            <a:off x="3910256" y="4558834"/>
            <a:ext cx="209550" cy="369332"/>
          </a:xfrm>
          <a:prstGeom prst="rect">
            <a:avLst/>
          </a:prstGeom>
          <a:noFill/>
        </p:spPr>
        <p:txBody>
          <a:bodyPr wrap="square" rtlCol="0">
            <a:spAutoFit/>
          </a:bodyPr>
          <a:lstStyle/>
          <a:p>
            <a:r>
              <a:rPr lang="en-IN" dirty="0">
                <a:latin typeface="Arial Narrow" panose="020B0606020202030204" pitchFamily="34" charset="0"/>
              </a:rPr>
              <a:t>N</a:t>
            </a:r>
          </a:p>
        </p:txBody>
      </p:sp>
      <p:sp>
        <p:nvSpPr>
          <p:cNvPr id="7" name="TextBox 6">
            <a:extLst>
              <a:ext uri="{FF2B5EF4-FFF2-40B4-BE49-F238E27FC236}">
                <a16:creationId xmlns:a16="http://schemas.microsoft.com/office/drawing/2014/main" id="{694EA40F-D416-48AF-8E65-08B370457308}"/>
              </a:ext>
            </a:extLst>
          </p:cNvPr>
          <p:cNvSpPr txBox="1"/>
          <p:nvPr/>
        </p:nvSpPr>
        <p:spPr>
          <a:xfrm>
            <a:off x="4605579" y="4335933"/>
            <a:ext cx="209550" cy="369332"/>
          </a:xfrm>
          <a:prstGeom prst="rect">
            <a:avLst/>
          </a:prstGeom>
          <a:noFill/>
        </p:spPr>
        <p:txBody>
          <a:bodyPr wrap="square" rtlCol="0">
            <a:spAutoFit/>
          </a:bodyPr>
          <a:lstStyle/>
          <a:p>
            <a:r>
              <a:rPr lang="en-IN" dirty="0">
                <a:latin typeface="Arial Narrow" panose="020B0606020202030204" pitchFamily="34" charset="0"/>
              </a:rPr>
              <a:t>K</a:t>
            </a:r>
          </a:p>
        </p:txBody>
      </p:sp>
      <p:grpSp>
        <p:nvGrpSpPr>
          <p:cNvPr id="10" name="Group 9">
            <a:extLst>
              <a:ext uri="{FF2B5EF4-FFF2-40B4-BE49-F238E27FC236}">
                <a16:creationId xmlns:a16="http://schemas.microsoft.com/office/drawing/2014/main" id="{17E9C364-A913-4853-B80C-79B3D01E54D7}"/>
              </a:ext>
            </a:extLst>
          </p:cNvPr>
          <p:cNvGrpSpPr/>
          <p:nvPr/>
        </p:nvGrpSpPr>
        <p:grpSpPr>
          <a:xfrm>
            <a:off x="4927047" y="3781935"/>
            <a:ext cx="402674" cy="369332"/>
            <a:chOff x="10504763" y="6308209"/>
            <a:chExt cx="402674" cy="369332"/>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2A5E444-C9AE-4779-827B-F83B39C99910}"/>
                    </a:ext>
                  </a:extLst>
                </p:cNvPr>
                <p:cNvSpPr/>
                <p:nvPr/>
              </p:nvSpPr>
              <p:spPr>
                <a:xfrm>
                  <a:off x="10504763" y="6308209"/>
                  <a:ext cx="402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8" name="Rectangle 7">
                  <a:extLst>
                    <a:ext uri="{FF2B5EF4-FFF2-40B4-BE49-F238E27FC236}">
                      <a16:creationId xmlns:a16="http://schemas.microsoft.com/office/drawing/2014/main" id="{92A5E444-C9AE-4779-827B-F83B39C99910}"/>
                    </a:ext>
                  </a:extLst>
                </p:cNvPr>
                <p:cNvSpPr>
                  <a:spLocks noRot="1" noChangeAspect="1" noMove="1" noResize="1" noEditPoints="1" noAdjustHandles="1" noChangeArrowheads="1" noChangeShapeType="1" noTextEdit="1"/>
                </p:cNvSpPr>
                <p:nvPr/>
              </p:nvSpPr>
              <p:spPr>
                <a:xfrm>
                  <a:off x="10504763" y="6308209"/>
                  <a:ext cx="402674" cy="369332"/>
                </a:xfrm>
                <a:prstGeom prst="rect">
                  <a:avLst/>
                </a:prstGeom>
                <a:blipFill>
                  <a:blip r:embed="rId3"/>
                  <a:stretch>
                    <a:fillRect/>
                  </a:stretch>
                </a:blipFill>
              </p:spPr>
              <p:txBody>
                <a:bodyPr/>
                <a:lstStyle/>
                <a:p>
                  <a:r>
                    <a:rPr lang="en-IN">
                      <a:noFill/>
                    </a:rPr>
                    <a:t> </a:t>
                  </a:r>
                </a:p>
              </p:txBody>
            </p:sp>
          </mc:Fallback>
        </mc:AlternateContent>
        <p:sp>
          <p:nvSpPr>
            <p:cNvPr id="9" name="Oval 8">
              <a:extLst>
                <a:ext uri="{FF2B5EF4-FFF2-40B4-BE49-F238E27FC236}">
                  <a16:creationId xmlns:a16="http://schemas.microsoft.com/office/drawing/2014/main" id="{5FE9ED1F-DC6D-4296-A09E-F5E946FBD9C6}"/>
                </a:ext>
              </a:extLst>
            </p:cNvPr>
            <p:cNvSpPr/>
            <p:nvPr/>
          </p:nvSpPr>
          <p:spPr>
            <a:xfrm>
              <a:off x="10601325" y="6392862"/>
              <a:ext cx="190500" cy="2190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1" name="Cube 10">
            <a:extLst>
              <a:ext uri="{FF2B5EF4-FFF2-40B4-BE49-F238E27FC236}">
                <a16:creationId xmlns:a16="http://schemas.microsoft.com/office/drawing/2014/main" id="{B59508B8-F676-4716-89D4-432AA1E82573}"/>
              </a:ext>
            </a:extLst>
          </p:cNvPr>
          <p:cNvSpPr/>
          <p:nvPr/>
        </p:nvSpPr>
        <p:spPr>
          <a:xfrm>
            <a:off x="5633961" y="3603822"/>
            <a:ext cx="608481" cy="581952"/>
          </a:xfrm>
          <a:prstGeom prst="cube">
            <a:avLst>
              <a:gd name="adj" fmla="val 2965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7D71BB6B-AD85-4CEC-8517-2F353C08AAD3}"/>
              </a:ext>
            </a:extLst>
          </p:cNvPr>
          <p:cNvSpPr txBox="1"/>
          <p:nvPr/>
        </p:nvSpPr>
        <p:spPr>
          <a:xfrm>
            <a:off x="5404171" y="3766448"/>
            <a:ext cx="209550" cy="369332"/>
          </a:xfrm>
          <a:prstGeom prst="rect">
            <a:avLst/>
          </a:prstGeom>
          <a:noFill/>
        </p:spPr>
        <p:txBody>
          <a:bodyPr wrap="square" rtlCol="0">
            <a:spAutoFit/>
          </a:bodyPr>
          <a:lstStyle/>
          <a:p>
            <a:r>
              <a:rPr lang="en-IN" dirty="0">
                <a:latin typeface="Arial Narrow" panose="020B0606020202030204" pitchFamily="34" charset="0"/>
              </a:rPr>
              <a:t>p</a:t>
            </a:r>
          </a:p>
        </p:txBody>
      </p:sp>
      <p:sp>
        <p:nvSpPr>
          <p:cNvPr id="13" name="TextBox 12">
            <a:extLst>
              <a:ext uri="{FF2B5EF4-FFF2-40B4-BE49-F238E27FC236}">
                <a16:creationId xmlns:a16="http://schemas.microsoft.com/office/drawing/2014/main" id="{3D175D16-57E7-405F-8209-D0DF3E438C83}"/>
              </a:ext>
            </a:extLst>
          </p:cNvPr>
          <p:cNvSpPr txBox="1"/>
          <p:nvPr/>
        </p:nvSpPr>
        <p:spPr>
          <a:xfrm>
            <a:off x="5682776" y="4105688"/>
            <a:ext cx="209550" cy="369332"/>
          </a:xfrm>
          <a:prstGeom prst="rect">
            <a:avLst/>
          </a:prstGeom>
          <a:noFill/>
        </p:spPr>
        <p:txBody>
          <a:bodyPr wrap="square" rtlCol="0">
            <a:spAutoFit/>
          </a:bodyPr>
          <a:lstStyle/>
          <a:p>
            <a:r>
              <a:rPr lang="en-IN" dirty="0">
                <a:latin typeface="Arial Narrow" panose="020B0606020202030204" pitchFamily="34" charset="0"/>
              </a:rPr>
              <a:t>q</a:t>
            </a:r>
          </a:p>
        </p:txBody>
      </p:sp>
      <p:sp>
        <p:nvSpPr>
          <p:cNvPr id="14" name="TextBox 13">
            <a:extLst>
              <a:ext uri="{FF2B5EF4-FFF2-40B4-BE49-F238E27FC236}">
                <a16:creationId xmlns:a16="http://schemas.microsoft.com/office/drawing/2014/main" id="{6F45BDD2-EA39-4C9C-9976-3D1BD19CEDAD}"/>
              </a:ext>
            </a:extLst>
          </p:cNvPr>
          <p:cNvSpPr txBox="1"/>
          <p:nvPr/>
        </p:nvSpPr>
        <p:spPr>
          <a:xfrm>
            <a:off x="6103175" y="4016421"/>
            <a:ext cx="209550" cy="369332"/>
          </a:xfrm>
          <a:prstGeom prst="rect">
            <a:avLst/>
          </a:prstGeom>
          <a:noFill/>
        </p:spPr>
        <p:txBody>
          <a:bodyPr wrap="square" rtlCol="0">
            <a:spAutoFit/>
          </a:bodyPr>
          <a:lstStyle/>
          <a:p>
            <a:r>
              <a:rPr lang="en-IN" dirty="0">
                <a:latin typeface="Arial Narrow" panose="020B0606020202030204" pitchFamily="34" charset="0"/>
              </a:rPr>
              <a:t>L</a:t>
            </a:r>
          </a:p>
        </p:txBody>
      </p:sp>
      <p:cxnSp>
        <p:nvCxnSpPr>
          <p:cNvPr id="16" name="Straight Arrow Connector 15">
            <a:extLst>
              <a:ext uri="{FF2B5EF4-FFF2-40B4-BE49-F238E27FC236}">
                <a16:creationId xmlns:a16="http://schemas.microsoft.com/office/drawing/2014/main" id="{98ECDCB2-218D-460D-9BAE-F9E00D73FA2B}"/>
              </a:ext>
            </a:extLst>
          </p:cNvPr>
          <p:cNvCxnSpPr/>
          <p:nvPr/>
        </p:nvCxnSpPr>
        <p:spPr>
          <a:xfrm>
            <a:off x="6619875" y="3866588"/>
            <a:ext cx="676275" cy="0"/>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7" name="Cube 16">
            <a:extLst>
              <a:ext uri="{FF2B5EF4-FFF2-40B4-BE49-F238E27FC236}">
                <a16:creationId xmlns:a16="http://schemas.microsoft.com/office/drawing/2014/main" id="{B86DBC89-2C59-4B6D-8A19-8025F6322935}"/>
              </a:ext>
            </a:extLst>
          </p:cNvPr>
          <p:cNvSpPr/>
          <p:nvPr/>
        </p:nvSpPr>
        <p:spPr>
          <a:xfrm>
            <a:off x="7646905" y="3462423"/>
            <a:ext cx="857247" cy="73866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61057D39-0533-43EC-B9A0-BD2E0FB6B2AA}"/>
              </a:ext>
            </a:extLst>
          </p:cNvPr>
          <p:cNvSpPr txBox="1"/>
          <p:nvPr/>
        </p:nvSpPr>
        <p:spPr>
          <a:xfrm>
            <a:off x="7385106" y="3698731"/>
            <a:ext cx="209550" cy="369332"/>
          </a:xfrm>
          <a:prstGeom prst="rect">
            <a:avLst/>
          </a:prstGeom>
          <a:noFill/>
        </p:spPr>
        <p:txBody>
          <a:bodyPr wrap="square" rtlCol="0">
            <a:spAutoFit/>
          </a:bodyPr>
          <a:lstStyle/>
          <a:p>
            <a:r>
              <a:rPr lang="en-IN" dirty="0">
                <a:latin typeface="Arial Narrow" panose="020B0606020202030204" pitchFamily="34" charset="0"/>
              </a:rPr>
              <a:t>R</a:t>
            </a:r>
          </a:p>
        </p:txBody>
      </p:sp>
      <p:sp>
        <p:nvSpPr>
          <p:cNvPr id="19" name="TextBox 18">
            <a:extLst>
              <a:ext uri="{FF2B5EF4-FFF2-40B4-BE49-F238E27FC236}">
                <a16:creationId xmlns:a16="http://schemas.microsoft.com/office/drawing/2014/main" id="{52C68153-79A4-487D-B431-F0DA370C1FFE}"/>
              </a:ext>
            </a:extLst>
          </p:cNvPr>
          <p:cNvSpPr txBox="1"/>
          <p:nvPr/>
        </p:nvSpPr>
        <p:spPr>
          <a:xfrm>
            <a:off x="7851204" y="4201087"/>
            <a:ext cx="209550" cy="369332"/>
          </a:xfrm>
          <a:prstGeom prst="rect">
            <a:avLst/>
          </a:prstGeom>
          <a:noFill/>
        </p:spPr>
        <p:txBody>
          <a:bodyPr wrap="square" rtlCol="0">
            <a:spAutoFit/>
          </a:bodyPr>
          <a:lstStyle/>
          <a:p>
            <a:r>
              <a:rPr lang="en-IN" dirty="0">
                <a:latin typeface="Arial Narrow" panose="020B0606020202030204" pitchFamily="34" charset="0"/>
              </a:rPr>
              <a:t>S</a:t>
            </a:r>
          </a:p>
        </p:txBody>
      </p:sp>
      <p:sp>
        <p:nvSpPr>
          <p:cNvPr id="20" name="TextBox 19">
            <a:extLst>
              <a:ext uri="{FF2B5EF4-FFF2-40B4-BE49-F238E27FC236}">
                <a16:creationId xmlns:a16="http://schemas.microsoft.com/office/drawing/2014/main" id="{FB722357-0964-4F5F-949E-99DF1430AA3A}"/>
              </a:ext>
            </a:extLst>
          </p:cNvPr>
          <p:cNvSpPr txBox="1"/>
          <p:nvPr/>
        </p:nvSpPr>
        <p:spPr>
          <a:xfrm>
            <a:off x="8334148" y="4048730"/>
            <a:ext cx="209550" cy="369332"/>
          </a:xfrm>
          <a:prstGeom prst="rect">
            <a:avLst/>
          </a:prstGeom>
          <a:noFill/>
        </p:spPr>
        <p:txBody>
          <a:bodyPr wrap="square" rtlCol="0">
            <a:spAutoFit/>
          </a:bodyPr>
          <a:lstStyle/>
          <a:p>
            <a:r>
              <a:rPr lang="en-IN" dirty="0">
                <a:latin typeface="Arial Narrow" panose="020B0606020202030204" pitchFamily="34" charset="0"/>
              </a:rPr>
              <a:t>L</a:t>
            </a:r>
          </a:p>
        </p:txBody>
      </p:sp>
      <p:sp>
        <p:nvSpPr>
          <p:cNvPr id="21" name="Rectangle 20">
            <a:extLst>
              <a:ext uri="{FF2B5EF4-FFF2-40B4-BE49-F238E27FC236}">
                <a16:creationId xmlns:a16="http://schemas.microsoft.com/office/drawing/2014/main" id="{9D21A0FF-C1A0-45A1-A2BF-85226B8F96EC}"/>
              </a:ext>
            </a:extLst>
          </p:cNvPr>
          <p:cNvSpPr/>
          <p:nvPr/>
        </p:nvSpPr>
        <p:spPr>
          <a:xfrm>
            <a:off x="838200" y="6492875"/>
            <a:ext cx="10232353" cy="307777"/>
          </a:xfrm>
          <a:prstGeom prst="rect">
            <a:avLst/>
          </a:prstGeom>
        </p:spPr>
        <p:txBody>
          <a:bodyPr wrap="none">
            <a:spAutoFit/>
          </a:bodyPr>
          <a:lstStyle/>
          <a:p>
            <a:r>
              <a:rPr lang="en-IN" sz="1400" dirty="0">
                <a:latin typeface="Arial Narrow" panose="020B0606020202030204" pitchFamily="34" charset="0"/>
              </a:rPr>
              <a:t>Andrew G. Howard et. al., “</a:t>
            </a:r>
            <a:r>
              <a:rPr lang="en-IN" sz="1400" dirty="0" err="1">
                <a:latin typeface="Arial Narrow" panose="020B0606020202030204" pitchFamily="34" charset="0"/>
              </a:rPr>
              <a:t>MobileNets</a:t>
            </a:r>
            <a:r>
              <a:rPr lang="en-IN" sz="1400" dirty="0">
                <a:latin typeface="Arial Narrow" panose="020B0606020202030204" pitchFamily="34" charset="0"/>
              </a:rPr>
              <a:t>: Efficient Convolutional Neural Networks for Mobile Vision Applications”, https://doi.org/10.48550/arXiv.1704.04861 </a:t>
            </a:r>
          </a:p>
        </p:txBody>
      </p:sp>
    </p:spTree>
    <p:extLst>
      <p:ext uri="{BB962C8B-B14F-4D97-AF65-F5344CB8AC3E}">
        <p14:creationId xmlns:p14="http://schemas.microsoft.com/office/powerpoint/2010/main" val="1656806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9D7168-FD07-48E2-AFCB-9A0E1A2D8DB5}"/>
              </a:ext>
            </a:extLst>
          </p:cNvPr>
          <p:cNvSpPr>
            <a:spLocks noGrp="1"/>
          </p:cNvSpPr>
          <p:nvPr>
            <p:ph idx="1"/>
          </p:nvPr>
        </p:nvSpPr>
        <p:spPr/>
        <p:txBody>
          <a:bodyPr>
            <a:normAutofit lnSpcReduction="10000"/>
          </a:bodyPr>
          <a:lstStyle/>
          <a:p>
            <a:pPr algn="just"/>
            <a:r>
              <a:rPr lang="en-US" sz="2000" dirty="0">
                <a:latin typeface="Arial Narrow" panose="020B0606020202030204" pitchFamily="34" charset="0"/>
              </a:rPr>
              <a:t>A standard convolution simultaneously performs both spatial filtering and channel-wise feature aggregation in a single operation, resulting in substantially </a:t>
            </a:r>
            <a:r>
              <a:rPr lang="en-US" sz="2000" dirty="0">
                <a:solidFill>
                  <a:srgbClr val="00B0F0"/>
                </a:solidFill>
                <a:latin typeface="Arial Narrow" panose="020B0606020202030204" pitchFamily="34" charset="0"/>
              </a:rPr>
              <a:t>higher computational cost</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By separating these processes, </a:t>
            </a:r>
            <a:r>
              <a:rPr lang="en-US" sz="2000" dirty="0">
                <a:solidFill>
                  <a:srgbClr val="00B0F0"/>
                </a:solidFill>
                <a:latin typeface="Arial Narrow" panose="020B0606020202030204" pitchFamily="34" charset="0"/>
              </a:rPr>
              <a:t>depth-wise separable convolutions </a:t>
            </a:r>
            <a:r>
              <a:rPr lang="en-US" sz="2000" dirty="0">
                <a:latin typeface="Arial Narrow" panose="020B0606020202030204" pitchFamily="34" charset="0"/>
              </a:rPr>
              <a:t>substantially reduce the number of parameters and floating-point operations (FLOPs) while preserving strong feature representation capability.</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a:t>
            </a:r>
            <a:r>
              <a:rPr lang="en-US" sz="2000" dirty="0">
                <a:solidFill>
                  <a:srgbClr val="00B0F0"/>
                </a:solidFill>
                <a:latin typeface="Arial Narrow" panose="020B0606020202030204" pitchFamily="34" charset="0"/>
              </a:rPr>
              <a:t>computational efficiency</a:t>
            </a:r>
            <a:r>
              <a:rPr lang="en-US" sz="2000" dirty="0">
                <a:latin typeface="Arial Narrow" panose="020B0606020202030204" pitchFamily="34" charset="0"/>
              </a:rPr>
              <a:t> makes </a:t>
            </a:r>
            <a:r>
              <a:rPr lang="en-US" sz="2000" dirty="0">
                <a:solidFill>
                  <a:srgbClr val="00B0F0"/>
                </a:solidFill>
                <a:latin typeface="Arial Narrow" panose="020B0606020202030204" pitchFamily="34" charset="0"/>
              </a:rPr>
              <a:t>Mobile Net </a:t>
            </a:r>
            <a:r>
              <a:rPr lang="en-US" sz="2000" dirty="0">
                <a:latin typeface="Arial Narrow" panose="020B0606020202030204" pitchFamily="34" charset="0"/>
              </a:rPr>
              <a:t>particularly well suited for deployment on </a:t>
            </a:r>
            <a:r>
              <a:rPr lang="en-US" sz="2000" dirty="0">
                <a:solidFill>
                  <a:srgbClr val="00B0F0"/>
                </a:solidFill>
                <a:latin typeface="Arial Narrow" panose="020B0606020202030204" pitchFamily="34" charset="0"/>
              </a:rPr>
              <a:t>resource-constrained devices</a:t>
            </a:r>
            <a:r>
              <a:rPr lang="en-US" sz="2000" dirty="0">
                <a:latin typeface="Arial Narrow" panose="020B0606020202030204" pitchFamily="34" charset="0"/>
              </a:rPr>
              <a:t>, such as smartphones, embedded systems, and Internet of Things (IoT) applications, where </a:t>
            </a:r>
            <a:r>
              <a:rPr lang="en-US" sz="2000" dirty="0">
                <a:solidFill>
                  <a:srgbClr val="00B0F0"/>
                </a:solidFill>
                <a:latin typeface="Arial Narrow" panose="020B0606020202030204" pitchFamily="34" charset="0"/>
              </a:rPr>
              <a:t>low latency and limited memory </a:t>
            </a:r>
            <a:r>
              <a:rPr lang="en-US" sz="2000" dirty="0">
                <a:latin typeface="Arial Narrow" panose="020B0606020202030204" pitchFamily="34" charset="0"/>
              </a:rPr>
              <a:t>are critical requirements.</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Subsequent versions, including </a:t>
            </a:r>
            <a:r>
              <a:rPr lang="en-US" sz="2000" dirty="0">
                <a:solidFill>
                  <a:srgbClr val="00B0F0"/>
                </a:solidFill>
                <a:latin typeface="Arial Narrow" panose="020B0606020202030204" pitchFamily="34" charset="0"/>
              </a:rPr>
              <a:t>MobileNetV2</a:t>
            </a:r>
            <a:r>
              <a:rPr lang="en-US" sz="2000" dirty="0">
                <a:latin typeface="Arial Narrow" panose="020B0606020202030204" pitchFamily="34" charset="0"/>
              </a:rPr>
              <a:t> and </a:t>
            </a:r>
            <a:r>
              <a:rPr lang="en-US" sz="2000" dirty="0">
                <a:solidFill>
                  <a:srgbClr val="00B0F0"/>
                </a:solidFill>
                <a:latin typeface="Arial Narrow" panose="020B0606020202030204" pitchFamily="34" charset="0"/>
              </a:rPr>
              <a:t>MobileNetV3</a:t>
            </a:r>
            <a:r>
              <a:rPr lang="en-US" sz="2000" dirty="0">
                <a:latin typeface="Arial Narrow" panose="020B0606020202030204" pitchFamily="34" charset="0"/>
              </a:rPr>
              <a:t>, further enhance performance through innovations such as </a:t>
            </a:r>
            <a:r>
              <a:rPr lang="en-US" sz="2000" dirty="0">
                <a:solidFill>
                  <a:srgbClr val="00B0F0"/>
                </a:solidFill>
                <a:latin typeface="Arial Narrow" panose="020B0606020202030204" pitchFamily="34" charset="0"/>
              </a:rPr>
              <a:t>inverted residual blocks, linear bottlenecks, squeeze-and-excitation modules, and neural architecture search</a:t>
            </a:r>
            <a:r>
              <a:rPr lang="en-US" sz="2000" dirty="0">
                <a:latin typeface="Arial Narrow" panose="020B0606020202030204" pitchFamily="34" charset="0"/>
              </a:rPr>
              <a:t>, making the </a:t>
            </a:r>
            <a:r>
              <a:rPr lang="en-US" sz="2000" dirty="0" err="1">
                <a:latin typeface="Arial Narrow" panose="020B0606020202030204" pitchFamily="34" charset="0"/>
              </a:rPr>
              <a:t>MobileNet</a:t>
            </a:r>
            <a:r>
              <a:rPr lang="en-US" sz="2000" dirty="0">
                <a:latin typeface="Arial Narrow" panose="020B0606020202030204" pitchFamily="34" charset="0"/>
              </a:rPr>
              <a:t> family well suited for real-time applications requiring high accuracy with low latency and minimal memory consumption.</a:t>
            </a:r>
          </a:p>
          <a:p>
            <a:pPr algn="just"/>
            <a:endParaRPr lang="en-IN" sz="2000" dirty="0">
              <a:latin typeface="Arial Narrow" panose="020B0606020202030204" pitchFamily="34" charset="0"/>
            </a:endParaRPr>
          </a:p>
        </p:txBody>
      </p:sp>
      <p:sp>
        <p:nvSpPr>
          <p:cNvPr id="4" name="Title 1">
            <a:extLst>
              <a:ext uri="{FF2B5EF4-FFF2-40B4-BE49-F238E27FC236}">
                <a16:creationId xmlns:a16="http://schemas.microsoft.com/office/drawing/2014/main" id="{3D0FF825-3E70-4759-B105-9858FE106582}"/>
              </a:ext>
            </a:extLst>
          </p:cNvPr>
          <p:cNvSpPr>
            <a:spLocks noGrp="1"/>
          </p:cNvSpPr>
          <p:nvPr>
            <p:ph type="title"/>
          </p:nvPr>
        </p:nvSpPr>
        <p:spPr>
          <a:xfrm>
            <a:off x="838200" y="365125"/>
            <a:ext cx="10515600" cy="1325563"/>
          </a:xfrm>
        </p:spPr>
        <p:txBody>
          <a:bodyPr>
            <a:normAutofit fontScale="90000"/>
          </a:bodyPr>
          <a:lstStyle/>
          <a:p>
            <a:br>
              <a:rPr lang="en-IN" dirty="0">
                <a:latin typeface="Arial Narrow" panose="020B0606020202030204" pitchFamily="34" charset="0"/>
              </a:rPr>
            </a:br>
            <a:r>
              <a:rPr lang="en-IN" sz="4000" dirty="0">
                <a:latin typeface="Century" panose="02040604050505020304" pitchFamily="18" charset="0"/>
              </a:rPr>
              <a:t>Mobile Net</a:t>
            </a:r>
            <a:br>
              <a:rPr lang="en-IN" dirty="0">
                <a:latin typeface="Arial Narrow" panose="020B0606020202030204" pitchFamily="34" charset="0"/>
              </a:rPr>
            </a:br>
            <a:endParaRPr lang="en-IN" dirty="0"/>
          </a:p>
        </p:txBody>
      </p:sp>
      <p:sp>
        <p:nvSpPr>
          <p:cNvPr id="5" name="Rectangle 4">
            <a:extLst>
              <a:ext uri="{FF2B5EF4-FFF2-40B4-BE49-F238E27FC236}">
                <a16:creationId xmlns:a16="http://schemas.microsoft.com/office/drawing/2014/main" id="{C9E11E4B-215A-4218-B10C-5E1944B5FE56}"/>
              </a:ext>
            </a:extLst>
          </p:cNvPr>
          <p:cNvSpPr/>
          <p:nvPr/>
        </p:nvSpPr>
        <p:spPr>
          <a:xfrm>
            <a:off x="838200" y="6492875"/>
            <a:ext cx="10232353" cy="307777"/>
          </a:xfrm>
          <a:prstGeom prst="rect">
            <a:avLst/>
          </a:prstGeom>
        </p:spPr>
        <p:txBody>
          <a:bodyPr wrap="none">
            <a:spAutoFit/>
          </a:bodyPr>
          <a:lstStyle/>
          <a:p>
            <a:r>
              <a:rPr lang="en-IN" sz="1400" dirty="0">
                <a:latin typeface="Arial Narrow" panose="020B0606020202030204" pitchFamily="34" charset="0"/>
              </a:rPr>
              <a:t>Andrew G. Howard et. al., “</a:t>
            </a:r>
            <a:r>
              <a:rPr lang="en-IN" sz="1400" dirty="0" err="1">
                <a:latin typeface="Arial Narrow" panose="020B0606020202030204" pitchFamily="34" charset="0"/>
              </a:rPr>
              <a:t>MobileNets</a:t>
            </a:r>
            <a:r>
              <a:rPr lang="en-IN" sz="1400" dirty="0">
                <a:latin typeface="Arial Narrow" panose="020B0606020202030204" pitchFamily="34" charset="0"/>
              </a:rPr>
              <a:t>: Efficient Convolutional Neural Networks for Mobile Vision Applications”, https://doi.org/10.48550/arXiv.1704.04861 </a:t>
            </a:r>
          </a:p>
        </p:txBody>
      </p:sp>
    </p:spTree>
    <p:extLst>
      <p:ext uri="{BB962C8B-B14F-4D97-AF65-F5344CB8AC3E}">
        <p14:creationId xmlns:p14="http://schemas.microsoft.com/office/powerpoint/2010/main" val="1754298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B80029-4EAA-4050-95AD-F786E41909AC}"/>
              </a:ext>
            </a:extLst>
          </p:cNvPr>
          <p:cNvSpPr>
            <a:spLocks noGrp="1"/>
          </p:cNvSpPr>
          <p:nvPr>
            <p:ph type="title"/>
          </p:nvPr>
        </p:nvSpPr>
        <p:spPr/>
        <p:txBody>
          <a:bodyPr>
            <a:normAutofit/>
          </a:bodyPr>
          <a:lstStyle/>
          <a:p>
            <a:r>
              <a:rPr lang="en-IN" sz="3600" dirty="0">
                <a:latin typeface="Century" panose="02040604050505020304" pitchFamily="18" charset="0"/>
              </a:rPr>
              <a:t>Content</a:t>
            </a:r>
          </a:p>
        </p:txBody>
      </p:sp>
      <p:sp>
        <p:nvSpPr>
          <p:cNvPr id="5" name="Content Placeholder 4">
            <a:extLst>
              <a:ext uri="{FF2B5EF4-FFF2-40B4-BE49-F238E27FC236}">
                <a16:creationId xmlns:a16="http://schemas.microsoft.com/office/drawing/2014/main" id="{4E59758B-DD80-4677-B579-AF6EC83245F0}"/>
              </a:ext>
            </a:extLst>
          </p:cNvPr>
          <p:cNvSpPr>
            <a:spLocks noGrp="1"/>
          </p:cNvSpPr>
          <p:nvPr>
            <p:ph idx="1"/>
          </p:nvPr>
        </p:nvSpPr>
        <p:spPr/>
        <p:txBody>
          <a:bodyPr/>
          <a:lstStyle/>
          <a:p>
            <a:r>
              <a:rPr lang="en-IN" dirty="0">
                <a:solidFill>
                  <a:schemeClr val="bg1">
                    <a:lumMod val="85000"/>
                  </a:schemeClr>
                </a:solidFill>
                <a:latin typeface="Arial Narrow" panose="020B0606020202030204" pitchFamily="34" charset="0"/>
              </a:rPr>
              <a:t>Dense Net</a:t>
            </a:r>
          </a:p>
          <a:p>
            <a:r>
              <a:rPr lang="en-IN" dirty="0">
                <a:solidFill>
                  <a:schemeClr val="bg1">
                    <a:lumMod val="85000"/>
                  </a:schemeClr>
                </a:solidFill>
                <a:latin typeface="Arial Narrow" panose="020B0606020202030204" pitchFamily="34" charset="0"/>
              </a:rPr>
              <a:t>Mobile Net</a:t>
            </a:r>
          </a:p>
          <a:p>
            <a:r>
              <a:rPr lang="en-IN" dirty="0">
                <a:latin typeface="Arial Narrow" panose="020B0606020202030204" pitchFamily="34" charset="0"/>
              </a:rPr>
              <a:t>Efficient Net</a:t>
            </a:r>
          </a:p>
          <a:p>
            <a:pPr marL="0" indent="0">
              <a:buNone/>
            </a:pPr>
            <a:endParaRPr lang="en-IN" dirty="0"/>
          </a:p>
        </p:txBody>
      </p:sp>
    </p:spTree>
    <p:extLst>
      <p:ext uri="{BB962C8B-B14F-4D97-AF65-F5344CB8AC3E}">
        <p14:creationId xmlns:p14="http://schemas.microsoft.com/office/powerpoint/2010/main" val="2345400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46677-73A1-4539-A616-4726C042546B}"/>
              </a:ext>
            </a:extLst>
          </p:cNvPr>
          <p:cNvSpPr>
            <a:spLocks noGrp="1"/>
          </p:cNvSpPr>
          <p:nvPr>
            <p:ph type="title"/>
          </p:nvPr>
        </p:nvSpPr>
        <p:spPr/>
        <p:txBody>
          <a:bodyPr>
            <a:normAutofit/>
          </a:bodyPr>
          <a:lstStyle/>
          <a:p>
            <a:r>
              <a:rPr lang="en-US" sz="3600" dirty="0">
                <a:latin typeface="Century" panose="02040604050505020304" pitchFamily="18" charset="0"/>
              </a:rPr>
              <a:t>Efficient Net</a:t>
            </a: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075AA76E-480F-4CBB-B0E9-527B23D1B6C6}"/>
              </a:ext>
            </a:extLst>
          </p:cNvPr>
          <p:cNvSpPr>
            <a:spLocks noGrp="1"/>
          </p:cNvSpPr>
          <p:nvPr>
            <p:ph idx="1"/>
          </p:nvPr>
        </p:nvSpPr>
        <p:spPr/>
        <p:txBody>
          <a:bodyPr>
            <a:normAutofit/>
          </a:bodyPr>
          <a:lstStyle/>
          <a:p>
            <a:pPr algn="just"/>
            <a:r>
              <a:rPr lang="en-US" sz="2000" dirty="0">
                <a:solidFill>
                  <a:srgbClr val="00B0F0"/>
                </a:solidFill>
                <a:latin typeface="Arial Narrow" panose="020B0606020202030204" pitchFamily="34" charset="0"/>
              </a:rPr>
              <a:t>Efficient Net </a:t>
            </a:r>
            <a:r>
              <a:rPr lang="en-US" sz="2000" dirty="0">
                <a:latin typeface="Arial Narrow" panose="020B0606020202030204" pitchFamily="34" charset="0"/>
              </a:rPr>
              <a:t>is a family of convolutional neural network (CNN) architectures that achieves </a:t>
            </a:r>
            <a:r>
              <a:rPr lang="en-US" sz="2000" dirty="0">
                <a:solidFill>
                  <a:srgbClr val="00B0F0"/>
                </a:solidFill>
                <a:latin typeface="Arial Narrow" panose="020B0606020202030204" pitchFamily="34" charset="0"/>
              </a:rPr>
              <a:t>high classification accuracy with significantly fewer parameters</a:t>
            </a:r>
            <a:r>
              <a:rPr lang="en-US" sz="2000" dirty="0">
                <a:latin typeface="Arial Narrow" panose="020B0606020202030204" pitchFamily="34" charset="0"/>
              </a:rPr>
              <a:t> and </a:t>
            </a:r>
            <a:r>
              <a:rPr lang="en-US" sz="2000" dirty="0">
                <a:solidFill>
                  <a:srgbClr val="00B0F0"/>
                </a:solidFill>
                <a:latin typeface="Arial Narrow" panose="020B0606020202030204" pitchFamily="34" charset="0"/>
              </a:rPr>
              <a:t>lower computational cost </a:t>
            </a:r>
            <a:r>
              <a:rPr lang="en-US" sz="2000" dirty="0">
                <a:latin typeface="Arial Narrow" panose="020B0606020202030204" pitchFamily="34" charset="0"/>
              </a:rPr>
              <a:t>through a </a:t>
            </a:r>
            <a:r>
              <a:rPr lang="en-US" sz="2000" dirty="0">
                <a:solidFill>
                  <a:srgbClr val="00B0F0"/>
                </a:solidFill>
                <a:latin typeface="Arial Narrow" panose="020B0606020202030204" pitchFamily="34" charset="0"/>
              </a:rPr>
              <a:t>compound scaling strategy</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Unlike conventional approaches that arbitrarily scale network depth, width, or input image resolution independently, </a:t>
            </a:r>
            <a:r>
              <a:rPr lang="en-US" sz="2000" dirty="0">
                <a:solidFill>
                  <a:srgbClr val="00B0F0"/>
                </a:solidFill>
                <a:latin typeface="Arial Narrow" panose="020B0606020202030204" pitchFamily="34" charset="0"/>
              </a:rPr>
              <a:t>Efficient Net uniformly scales all three dimensions using a fixed set of scaling coefficients</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baseline model, </a:t>
            </a:r>
            <a:r>
              <a:rPr lang="en-US" sz="2000" dirty="0">
                <a:solidFill>
                  <a:srgbClr val="00B0F0"/>
                </a:solidFill>
                <a:latin typeface="Arial Narrow" panose="020B0606020202030204" pitchFamily="34" charset="0"/>
              </a:rPr>
              <a:t>EfficientNet-B0</a:t>
            </a:r>
            <a:r>
              <a:rPr lang="en-US" sz="2000" dirty="0">
                <a:latin typeface="Arial Narrow" panose="020B0606020202030204" pitchFamily="34" charset="0"/>
              </a:rPr>
              <a:t>, is designed through </a:t>
            </a:r>
            <a:r>
              <a:rPr lang="en-US" sz="2000" dirty="0">
                <a:solidFill>
                  <a:srgbClr val="00B0F0"/>
                </a:solidFill>
                <a:latin typeface="Arial Narrow" panose="020B0606020202030204" pitchFamily="34" charset="0"/>
              </a:rPr>
              <a:t>neural architecture search (NAS) </a:t>
            </a:r>
            <a:r>
              <a:rPr lang="en-US" sz="2000" dirty="0">
                <a:latin typeface="Arial Narrow" panose="020B0606020202030204" pitchFamily="34" charset="0"/>
              </a:rPr>
              <a:t>and employs </a:t>
            </a:r>
            <a:r>
              <a:rPr lang="en-US" sz="2000" dirty="0">
                <a:solidFill>
                  <a:srgbClr val="00B0F0"/>
                </a:solidFill>
                <a:latin typeface="Arial Narrow" panose="020B0606020202030204" pitchFamily="34" charset="0"/>
              </a:rPr>
              <a:t>mobile inverted bottleneck convolution (</a:t>
            </a:r>
            <a:r>
              <a:rPr lang="en-US" sz="2000" dirty="0" err="1">
                <a:solidFill>
                  <a:srgbClr val="00B0F0"/>
                </a:solidFill>
                <a:latin typeface="Arial Narrow" panose="020B0606020202030204" pitchFamily="34" charset="0"/>
              </a:rPr>
              <a:t>MBConv</a:t>
            </a:r>
            <a:r>
              <a:rPr lang="en-US" sz="2000" dirty="0">
                <a:solidFill>
                  <a:srgbClr val="00B0F0"/>
                </a:solidFill>
                <a:latin typeface="Arial Narrow" panose="020B0606020202030204" pitchFamily="34" charset="0"/>
              </a:rPr>
              <a:t>) </a:t>
            </a:r>
            <a:r>
              <a:rPr lang="en-US" sz="2000" dirty="0">
                <a:latin typeface="Arial Narrow" panose="020B0606020202030204" pitchFamily="34" charset="0"/>
              </a:rPr>
              <a:t>blocks, which incorporate </a:t>
            </a:r>
            <a:r>
              <a:rPr lang="en-US" sz="2000" dirty="0">
                <a:solidFill>
                  <a:srgbClr val="00B0F0"/>
                </a:solidFill>
                <a:latin typeface="Arial Narrow" panose="020B0606020202030204" pitchFamily="34" charset="0"/>
              </a:rPr>
              <a:t>depth-wise separable convolutions, inverted residual connections, linear bottlenecks, and squeeze-and-excitation (SE) attention modules</a:t>
            </a:r>
            <a:r>
              <a:rPr lang="en-US" sz="2000" dirty="0">
                <a:latin typeface="Arial Narrow" panose="020B0606020202030204" pitchFamily="34" charset="0"/>
              </a:rPr>
              <a:t> to enhance feature representation while maintaining computational efficiency. </a:t>
            </a:r>
            <a:endParaRPr lang="en-IN" sz="2000" dirty="0">
              <a:latin typeface="Arial Narrow" panose="020B0606020202030204" pitchFamily="34" charset="0"/>
            </a:endParaRPr>
          </a:p>
        </p:txBody>
      </p:sp>
      <p:sp>
        <p:nvSpPr>
          <p:cNvPr id="4" name="Rectangle 3">
            <a:extLst>
              <a:ext uri="{FF2B5EF4-FFF2-40B4-BE49-F238E27FC236}">
                <a16:creationId xmlns:a16="http://schemas.microsoft.com/office/drawing/2014/main" id="{0ABC3016-8D58-4D63-A0AC-458731560E42}"/>
              </a:ext>
            </a:extLst>
          </p:cNvPr>
          <p:cNvSpPr/>
          <p:nvPr/>
        </p:nvSpPr>
        <p:spPr>
          <a:xfrm>
            <a:off x="412376" y="6423212"/>
            <a:ext cx="9610166" cy="307777"/>
          </a:xfrm>
          <a:prstGeom prst="rect">
            <a:avLst/>
          </a:prstGeom>
        </p:spPr>
        <p:txBody>
          <a:bodyPr wrap="square">
            <a:spAutoFit/>
          </a:bodyPr>
          <a:lstStyle/>
          <a:p>
            <a:r>
              <a:rPr lang="es-ES" sz="1400" dirty="0" err="1">
                <a:latin typeface="Arial Narrow" panose="020B0606020202030204" pitchFamily="34" charset="0"/>
              </a:rPr>
              <a:t>Mingxing</a:t>
            </a:r>
            <a:r>
              <a:rPr lang="es-ES" sz="1400" dirty="0">
                <a:latin typeface="Arial Narrow" panose="020B0606020202030204" pitchFamily="34" charset="0"/>
              </a:rPr>
              <a:t> Tan, </a:t>
            </a:r>
            <a:r>
              <a:rPr lang="es-ES" sz="1400" dirty="0" err="1">
                <a:latin typeface="Arial Narrow" panose="020B0606020202030204" pitchFamily="34" charset="0"/>
              </a:rPr>
              <a:t>Quoc</a:t>
            </a:r>
            <a:r>
              <a:rPr lang="es-ES" sz="1400" dirty="0">
                <a:latin typeface="Arial Narrow" panose="020B0606020202030204" pitchFamily="34" charset="0"/>
              </a:rPr>
              <a:t> V. Le, </a:t>
            </a:r>
            <a:r>
              <a:rPr lang="en-IN" sz="1400" dirty="0" err="1">
                <a:latin typeface="Arial Narrow" panose="020B0606020202030204" pitchFamily="34" charset="0"/>
              </a:rPr>
              <a:t>EfficientNet</a:t>
            </a:r>
            <a:r>
              <a:rPr lang="en-IN" sz="1400" dirty="0">
                <a:latin typeface="Arial Narrow" panose="020B0606020202030204" pitchFamily="34" charset="0"/>
              </a:rPr>
              <a:t>: Rethinking Model Scaling for Convolutional Neural Networks, https://doi.org/10.48550/arXiv.1905.11946</a:t>
            </a:r>
            <a:endParaRPr lang="en-IN" dirty="0"/>
          </a:p>
        </p:txBody>
      </p:sp>
    </p:spTree>
    <p:extLst>
      <p:ext uri="{BB962C8B-B14F-4D97-AF65-F5344CB8AC3E}">
        <p14:creationId xmlns:p14="http://schemas.microsoft.com/office/powerpoint/2010/main" val="3059809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B63AFE-5ED5-4373-BA1D-1D6617AB22A9}"/>
              </a:ext>
            </a:extLst>
          </p:cNvPr>
          <p:cNvSpPr>
            <a:spLocks noGrp="1"/>
          </p:cNvSpPr>
          <p:nvPr>
            <p:ph idx="1"/>
          </p:nvPr>
        </p:nvSpPr>
        <p:spPr/>
        <p:txBody>
          <a:bodyPr>
            <a:normAutofit/>
          </a:bodyPr>
          <a:lstStyle/>
          <a:p>
            <a:pPr algn="just"/>
            <a:r>
              <a:rPr lang="en-US" sz="2000" dirty="0">
                <a:latin typeface="Arial Narrow" panose="020B0606020202030204" pitchFamily="34" charset="0"/>
              </a:rPr>
              <a:t>Higher variants, ranging from </a:t>
            </a:r>
            <a:r>
              <a:rPr lang="en-US" sz="2000" dirty="0">
                <a:solidFill>
                  <a:srgbClr val="00B0F0"/>
                </a:solidFill>
                <a:latin typeface="Arial Narrow" panose="020B0606020202030204" pitchFamily="34" charset="0"/>
              </a:rPr>
              <a:t>EfficientNet-B1</a:t>
            </a:r>
            <a:r>
              <a:rPr lang="en-US" sz="2000" dirty="0">
                <a:latin typeface="Arial Narrow" panose="020B0606020202030204" pitchFamily="34" charset="0"/>
              </a:rPr>
              <a:t> to </a:t>
            </a:r>
            <a:r>
              <a:rPr lang="en-US" sz="2000" dirty="0">
                <a:solidFill>
                  <a:srgbClr val="00B0F0"/>
                </a:solidFill>
                <a:latin typeface="Arial Narrow" panose="020B0606020202030204" pitchFamily="34" charset="0"/>
              </a:rPr>
              <a:t>EfficientNet-B7</a:t>
            </a:r>
            <a:r>
              <a:rPr lang="en-US" sz="2000" dirty="0">
                <a:latin typeface="Arial Narrow" panose="020B0606020202030204" pitchFamily="34" charset="0"/>
              </a:rPr>
              <a:t>, are generated by systematically applying the </a:t>
            </a:r>
            <a:r>
              <a:rPr lang="en-US" sz="2000" dirty="0">
                <a:solidFill>
                  <a:srgbClr val="00B0F0"/>
                </a:solidFill>
                <a:latin typeface="Arial Narrow" panose="020B0606020202030204" pitchFamily="34" charset="0"/>
              </a:rPr>
              <a:t>compound scaling method</a:t>
            </a:r>
            <a:r>
              <a:rPr lang="en-US" sz="2000" dirty="0">
                <a:latin typeface="Arial Narrow" panose="020B0606020202030204" pitchFamily="34" charset="0"/>
              </a:rPr>
              <a:t>, resulting in improved accuracy without a proportional increase in computational complexity.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architecture also utilizes </a:t>
            </a:r>
            <a:r>
              <a:rPr lang="en-US" sz="2000" dirty="0">
                <a:solidFill>
                  <a:srgbClr val="00B0F0"/>
                </a:solidFill>
                <a:latin typeface="Arial Narrow" panose="020B0606020202030204" pitchFamily="34" charset="0"/>
              </a:rPr>
              <a:t>batch normalization, the Swish (</a:t>
            </a:r>
            <a:r>
              <a:rPr lang="en-US" sz="2000" dirty="0" err="1">
                <a:solidFill>
                  <a:srgbClr val="00B0F0"/>
                </a:solidFill>
                <a:latin typeface="Arial Narrow" panose="020B0606020202030204" pitchFamily="34" charset="0"/>
              </a:rPr>
              <a:t>SiLU</a:t>
            </a:r>
            <a:r>
              <a:rPr lang="en-US" sz="2000" dirty="0">
                <a:solidFill>
                  <a:srgbClr val="00B0F0"/>
                </a:solidFill>
                <a:latin typeface="Arial Narrow" panose="020B0606020202030204" pitchFamily="34" charset="0"/>
              </a:rPr>
              <a:t>) activation function, and residual connections</a:t>
            </a:r>
            <a:r>
              <a:rPr lang="en-US" sz="2000" dirty="0">
                <a:latin typeface="Arial Narrow" panose="020B0606020202030204" pitchFamily="34" charset="0"/>
              </a:rPr>
              <a:t> to facilitate </a:t>
            </a:r>
            <a:r>
              <a:rPr lang="en-US" sz="2000" dirty="0">
                <a:solidFill>
                  <a:srgbClr val="00B0F0"/>
                </a:solidFill>
                <a:latin typeface="Arial Narrow" panose="020B0606020202030204" pitchFamily="34" charset="0"/>
              </a:rPr>
              <a:t>efficient gradient propagation </a:t>
            </a:r>
            <a:r>
              <a:rPr lang="en-US" sz="2000" dirty="0">
                <a:latin typeface="Arial Narrow" panose="020B0606020202030204" pitchFamily="34" charset="0"/>
              </a:rPr>
              <a:t>and </a:t>
            </a:r>
            <a:r>
              <a:rPr lang="en-US" sz="2000" dirty="0">
                <a:solidFill>
                  <a:srgbClr val="00B0F0"/>
                </a:solidFill>
                <a:latin typeface="Arial Narrow" panose="020B0606020202030204" pitchFamily="34" charset="0"/>
              </a:rPr>
              <a:t>stable training</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Owing to its balanced scaling strategy and optimized building blocks, Efficient Net provides an excellent </a:t>
            </a:r>
            <a:r>
              <a:rPr lang="en-US" sz="2000" dirty="0">
                <a:solidFill>
                  <a:srgbClr val="00B0F0"/>
                </a:solidFill>
                <a:latin typeface="Arial Narrow" panose="020B0606020202030204" pitchFamily="34" charset="0"/>
              </a:rPr>
              <a:t>trade-off between accuracy, model size, and inference speed</a:t>
            </a:r>
            <a:r>
              <a:rPr lang="en-US" sz="2000" dirty="0">
                <a:latin typeface="Arial Narrow" panose="020B0606020202030204" pitchFamily="34" charset="0"/>
              </a:rPr>
              <a:t>, making it well suited for </a:t>
            </a:r>
            <a:r>
              <a:rPr lang="en-US" sz="2000" dirty="0">
                <a:solidFill>
                  <a:srgbClr val="00B0F0"/>
                </a:solidFill>
                <a:latin typeface="Arial Narrow" panose="020B0606020202030204" pitchFamily="34" charset="0"/>
              </a:rPr>
              <a:t>image classification, object detection, and transfer learning applications</a:t>
            </a:r>
            <a:r>
              <a:rPr lang="en-US" sz="2000" dirty="0">
                <a:latin typeface="Arial Narrow" panose="020B0606020202030204" pitchFamily="34" charset="0"/>
              </a:rPr>
              <a:t>, particularly in environments with </a:t>
            </a:r>
            <a:r>
              <a:rPr lang="en-US" sz="2000" dirty="0">
                <a:solidFill>
                  <a:srgbClr val="00B0F0"/>
                </a:solidFill>
                <a:latin typeface="Arial Narrow" panose="020B0606020202030204" pitchFamily="34" charset="0"/>
              </a:rPr>
              <a:t>limited computational resources</a:t>
            </a:r>
            <a:r>
              <a:rPr lang="en-US" sz="2000" dirty="0">
                <a:latin typeface="Arial Narrow" panose="020B0606020202030204" pitchFamily="34" charset="0"/>
              </a:rPr>
              <a:t>.</a:t>
            </a:r>
            <a:endParaRPr lang="en-IN" sz="2000" dirty="0"/>
          </a:p>
        </p:txBody>
      </p:sp>
      <p:sp>
        <p:nvSpPr>
          <p:cNvPr id="4" name="Title 1">
            <a:extLst>
              <a:ext uri="{FF2B5EF4-FFF2-40B4-BE49-F238E27FC236}">
                <a16:creationId xmlns:a16="http://schemas.microsoft.com/office/drawing/2014/main" id="{AD9B570D-C35A-4CE4-BB13-B5A591AFF362}"/>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Efficient Net</a:t>
            </a:r>
            <a:endParaRPr lang="en-IN" sz="3600" dirty="0">
              <a:latin typeface="Century" panose="02040604050505020304" pitchFamily="18" charset="0"/>
            </a:endParaRPr>
          </a:p>
        </p:txBody>
      </p:sp>
      <p:sp>
        <p:nvSpPr>
          <p:cNvPr id="5" name="Rectangle 4">
            <a:extLst>
              <a:ext uri="{FF2B5EF4-FFF2-40B4-BE49-F238E27FC236}">
                <a16:creationId xmlns:a16="http://schemas.microsoft.com/office/drawing/2014/main" id="{9F5E3DC8-12AC-41C5-9F3F-52DF4FC381A5}"/>
              </a:ext>
            </a:extLst>
          </p:cNvPr>
          <p:cNvSpPr/>
          <p:nvPr/>
        </p:nvSpPr>
        <p:spPr>
          <a:xfrm>
            <a:off x="412376" y="6423212"/>
            <a:ext cx="9610166" cy="307777"/>
          </a:xfrm>
          <a:prstGeom prst="rect">
            <a:avLst/>
          </a:prstGeom>
        </p:spPr>
        <p:txBody>
          <a:bodyPr wrap="square">
            <a:spAutoFit/>
          </a:bodyPr>
          <a:lstStyle/>
          <a:p>
            <a:r>
              <a:rPr lang="es-ES" sz="1400" dirty="0" err="1">
                <a:latin typeface="Arial Narrow" panose="020B0606020202030204" pitchFamily="34" charset="0"/>
              </a:rPr>
              <a:t>Mingxing</a:t>
            </a:r>
            <a:r>
              <a:rPr lang="es-ES" sz="1400" dirty="0">
                <a:latin typeface="Arial Narrow" panose="020B0606020202030204" pitchFamily="34" charset="0"/>
              </a:rPr>
              <a:t> Tan, </a:t>
            </a:r>
            <a:r>
              <a:rPr lang="es-ES" sz="1400" dirty="0" err="1">
                <a:latin typeface="Arial Narrow" panose="020B0606020202030204" pitchFamily="34" charset="0"/>
              </a:rPr>
              <a:t>Quoc</a:t>
            </a:r>
            <a:r>
              <a:rPr lang="es-ES" sz="1400" dirty="0">
                <a:latin typeface="Arial Narrow" panose="020B0606020202030204" pitchFamily="34" charset="0"/>
              </a:rPr>
              <a:t> V. Le, </a:t>
            </a:r>
            <a:r>
              <a:rPr lang="en-IN" sz="1400" dirty="0" err="1">
                <a:latin typeface="Arial Narrow" panose="020B0606020202030204" pitchFamily="34" charset="0"/>
              </a:rPr>
              <a:t>EfficientNet</a:t>
            </a:r>
            <a:r>
              <a:rPr lang="en-IN" sz="1400" dirty="0">
                <a:latin typeface="Arial Narrow" panose="020B0606020202030204" pitchFamily="34" charset="0"/>
              </a:rPr>
              <a:t>: Rethinking Model Scaling for Convolutional Neural Networks, https://doi.org/10.48550/arXiv.1905.11946</a:t>
            </a:r>
            <a:endParaRPr lang="en-IN" dirty="0"/>
          </a:p>
        </p:txBody>
      </p:sp>
    </p:spTree>
    <p:extLst>
      <p:ext uri="{BB962C8B-B14F-4D97-AF65-F5344CB8AC3E}">
        <p14:creationId xmlns:p14="http://schemas.microsoft.com/office/powerpoint/2010/main" val="2575488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5727-49A6-49D5-93FC-55A046AABBB6}"/>
              </a:ext>
            </a:extLst>
          </p:cNvPr>
          <p:cNvSpPr>
            <a:spLocks noGrp="1"/>
          </p:cNvSpPr>
          <p:nvPr>
            <p:ph type="title"/>
          </p:nvPr>
        </p:nvSpPr>
        <p:spPr/>
        <p:txBody>
          <a:bodyPr>
            <a:normAutofit/>
          </a:bodyPr>
          <a:lstStyle/>
          <a:p>
            <a:r>
              <a:rPr lang="en-IN" sz="3600" dirty="0">
                <a:latin typeface="Century" panose="02040604050505020304" pitchFamily="18" charset="0"/>
              </a:rPr>
              <a:t>Model Scaling</a:t>
            </a:r>
          </a:p>
        </p:txBody>
      </p:sp>
      <p:sp>
        <p:nvSpPr>
          <p:cNvPr id="3" name="Content Placeholder 2">
            <a:extLst>
              <a:ext uri="{FF2B5EF4-FFF2-40B4-BE49-F238E27FC236}">
                <a16:creationId xmlns:a16="http://schemas.microsoft.com/office/drawing/2014/main" id="{BC56D758-C705-4183-91AF-E20D8572456F}"/>
              </a:ext>
            </a:extLst>
          </p:cNvPr>
          <p:cNvSpPr>
            <a:spLocks noGrp="1"/>
          </p:cNvSpPr>
          <p:nvPr>
            <p:ph idx="1"/>
          </p:nvPr>
        </p:nvSpPr>
        <p:spPr/>
        <p:txBody>
          <a:bodyPr>
            <a:noAutofit/>
          </a:bodyPr>
          <a:lstStyle/>
          <a:p>
            <a:pPr algn="just"/>
            <a:r>
              <a:rPr lang="en-US" sz="2000" dirty="0">
                <a:latin typeface="Arial Narrow" panose="020B0606020202030204" pitchFamily="34" charset="0"/>
              </a:rPr>
              <a:t>Convolutional Neural Networks (CNNs) can be scaled to satisfy different computational and memory constraints by increasing their </a:t>
            </a:r>
            <a:r>
              <a:rPr lang="en-US" sz="2000" dirty="0">
                <a:solidFill>
                  <a:srgbClr val="00B0F0"/>
                </a:solidFill>
                <a:latin typeface="Arial Narrow" panose="020B0606020202030204" pitchFamily="34" charset="0"/>
              </a:rPr>
              <a:t>network depth, network width</a:t>
            </a:r>
            <a:r>
              <a:rPr lang="en-US" sz="2000" dirty="0">
                <a:latin typeface="Arial Narrow" panose="020B0606020202030204" pitchFamily="34" charset="0"/>
              </a:rPr>
              <a:t>, or </a:t>
            </a:r>
            <a:r>
              <a:rPr lang="en-US" sz="2000" dirty="0">
                <a:solidFill>
                  <a:srgbClr val="00B0F0"/>
                </a:solidFill>
                <a:latin typeface="Arial Narrow" panose="020B0606020202030204" pitchFamily="34" charset="0"/>
              </a:rPr>
              <a:t>input image resolution</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For example, the Res-Net family scales model capacity by varying the number of layers, while architectures such as Wide-Res-Net and Mobile Net increase representational power by expanding the number of channels in each layer.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Similarly, increasing the </a:t>
            </a:r>
            <a:r>
              <a:rPr lang="en-US" sz="2000" dirty="0">
                <a:solidFill>
                  <a:srgbClr val="00B0F0"/>
                </a:solidFill>
                <a:latin typeface="Arial Narrow" panose="020B0606020202030204" pitchFamily="34" charset="0"/>
              </a:rPr>
              <a:t>input image resolution </a:t>
            </a:r>
            <a:r>
              <a:rPr lang="en-US" sz="2000" dirty="0">
                <a:latin typeface="Arial Narrow" panose="020B0606020202030204" pitchFamily="34" charset="0"/>
              </a:rPr>
              <a:t>enables the network to capture </a:t>
            </a:r>
            <a:r>
              <a:rPr lang="en-US" sz="2000" dirty="0">
                <a:solidFill>
                  <a:srgbClr val="00B0F0"/>
                </a:solidFill>
                <a:latin typeface="Arial Narrow" panose="020B0606020202030204" pitchFamily="34" charset="0"/>
              </a:rPr>
              <a:t>finer spatial details</a:t>
            </a:r>
            <a:r>
              <a:rPr lang="en-US" sz="2000" dirty="0">
                <a:latin typeface="Arial Narrow" panose="020B0606020202030204" pitchFamily="34" charset="0"/>
              </a:rPr>
              <a:t>, often leading to improved classification accuracy at the </a:t>
            </a:r>
            <a:r>
              <a:rPr lang="en-US" sz="2000" dirty="0">
                <a:solidFill>
                  <a:srgbClr val="00B0F0"/>
                </a:solidFill>
                <a:latin typeface="Arial Narrow" panose="020B0606020202030204" pitchFamily="34" charset="0"/>
              </a:rPr>
              <a:t>expense of higher computational complexity and increased floating-point operations (FLOPs)</a:t>
            </a:r>
            <a:r>
              <a:rPr lang="en-US" sz="2000" dirty="0">
                <a:latin typeface="Arial Narrow" panose="020B0606020202030204" pitchFamily="34" charset="0"/>
              </a:rPr>
              <a:t>. </a:t>
            </a:r>
            <a:endParaRPr lang="en-IN" sz="2000" dirty="0">
              <a:latin typeface="Arial Narrow" panose="020B0606020202030204" pitchFamily="34" charset="0"/>
            </a:endParaRPr>
          </a:p>
        </p:txBody>
      </p:sp>
      <p:sp>
        <p:nvSpPr>
          <p:cNvPr id="4" name="Rectangle 3">
            <a:extLst>
              <a:ext uri="{FF2B5EF4-FFF2-40B4-BE49-F238E27FC236}">
                <a16:creationId xmlns:a16="http://schemas.microsoft.com/office/drawing/2014/main" id="{45437D12-4AED-42A9-87A9-FE36FD203F20}"/>
              </a:ext>
            </a:extLst>
          </p:cNvPr>
          <p:cNvSpPr/>
          <p:nvPr/>
        </p:nvSpPr>
        <p:spPr>
          <a:xfrm>
            <a:off x="412376" y="6423212"/>
            <a:ext cx="9610166" cy="307777"/>
          </a:xfrm>
          <a:prstGeom prst="rect">
            <a:avLst/>
          </a:prstGeom>
        </p:spPr>
        <p:txBody>
          <a:bodyPr wrap="square">
            <a:spAutoFit/>
          </a:bodyPr>
          <a:lstStyle/>
          <a:p>
            <a:r>
              <a:rPr lang="es-ES" sz="1400" dirty="0" err="1">
                <a:latin typeface="Arial Narrow" panose="020B0606020202030204" pitchFamily="34" charset="0"/>
              </a:rPr>
              <a:t>Mingxing</a:t>
            </a:r>
            <a:r>
              <a:rPr lang="es-ES" sz="1400" dirty="0">
                <a:latin typeface="Arial Narrow" panose="020B0606020202030204" pitchFamily="34" charset="0"/>
              </a:rPr>
              <a:t> Tan, </a:t>
            </a:r>
            <a:r>
              <a:rPr lang="es-ES" sz="1400" dirty="0" err="1">
                <a:latin typeface="Arial Narrow" panose="020B0606020202030204" pitchFamily="34" charset="0"/>
              </a:rPr>
              <a:t>Quoc</a:t>
            </a:r>
            <a:r>
              <a:rPr lang="es-ES" sz="1400" dirty="0">
                <a:latin typeface="Arial Narrow" panose="020B0606020202030204" pitchFamily="34" charset="0"/>
              </a:rPr>
              <a:t> V. Le, </a:t>
            </a:r>
            <a:r>
              <a:rPr lang="en-IN" sz="1400" dirty="0" err="1">
                <a:latin typeface="Arial Narrow" panose="020B0606020202030204" pitchFamily="34" charset="0"/>
              </a:rPr>
              <a:t>EfficientNet</a:t>
            </a:r>
            <a:r>
              <a:rPr lang="en-IN" sz="1400" dirty="0">
                <a:latin typeface="Arial Narrow" panose="020B0606020202030204" pitchFamily="34" charset="0"/>
              </a:rPr>
              <a:t>: Rethinking Model Scaling for Convolutional Neural Networks, https://doi.org/10.48550/arXiv.1905.11946</a:t>
            </a:r>
            <a:endParaRPr lang="en-IN" dirty="0"/>
          </a:p>
        </p:txBody>
      </p:sp>
    </p:spTree>
    <p:extLst>
      <p:ext uri="{BB962C8B-B14F-4D97-AF65-F5344CB8AC3E}">
        <p14:creationId xmlns:p14="http://schemas.microsoft.com/office/powerpoint/2010/main" val="2528644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5727-49A6-49D5-93FC-55A046AABBB6}"/>
              </a:ext>
            </a:extLst>
          </p:cNvPr>
          <p:cNvSpPr>
            <a:spLocks noGrp="1"/>
          </p:cNvSpPr>
          <p:nvPr>
            <p:ph type="title"/>
          </p:nvPr>
        </p:nvSpPr>
        <p:spPr/>
        <p:txBody>
          <a:bodyPr>
            <a:normAutofit/>
          </a:bodyPr>
          <a:lstStyle/>
          <a:p>
            <a:r>
              <a:rPr lang="en-IN" sz="3600" dirty="0">
                <a:latin typeface="Century" panose="02040604050505020304" pitchFamily="18" charset="0"/>
              </a:rPr>
              <a:t>Model Scaling</a:t>
            </a:r>
          </a:p>
        </p:txBody>
      </p:sp>
      <p:sp>
        <p:nvSpPr>
          <p:cNvPr id="3" name="Content Placeholder 2">
            <a:extLst>
              <a:ext uri="{FF2B5EF4-FFF2-40B4-BE49-F238E27FC236}">
                <a16:creationId xmlns:a16="http://schemas.microsoft.com/office/drawing/2014/main" id="{BC56D758-C705-4183-91AF-E20D8572456F}"/>
              </a:ext>
            </a:extLst>
          </p:cNvPr>
          <p:cNvSpPr>
            <a:spLocks noGrp="1"/>
          </p:cNvSpPr>
          <p:nvPr>
            <p:ph idx="1"/>
          </p:nvPr>
        </p:nvSpPr>
        <p:spPr/>
        <p:txBody>
          <a:bodyPr>
            <a:noAutofit/>
          </a:bodyPr>
          <a:lstStyle/>
          <a:p>
            <a:pPr algn="just"/>
            <a:r>
              <a:rPr lang="en-US" sz="2000" dirty="0">
                <a:latin typeface="Arial Narrow" panose="020B0606020202030204" pitchFamily="34" charset="0"/>
              </a:rPr>
              <a:t>Although previous studies have demonstrated that network depth and width significantly influence the representational capacity and learning ability of CNNs, these dimensions have traditionally been scaled independently, resulting in suboptimal trade-offs between accuracy and computational efficiency.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Efficient Net addresses this limitation by introducing a </a:t>
            </a:r>
            <a:r>
              <a:rPr lang="en-US" sz="2000" dirty="0">
                <a:solidFill>
                  <a:srgbClr val="00B0F0"/>
                </a:solidFill>
                <a:latin typeface="Arial Narrow" panose="020B0606020202030204" pitchFamily="34" charset="0"/>
              </a:rPr>
              <a:t>compound scaling </a:t>
            </a:r>
            <a:r>
              <a:rPr lang="en-US" sz="2000" dirty="0">
                <a:latin typeface="Arial Narrow" panose="020B0606020202030204" pitchFamily="34" charset="0"/>
              </a:rPr>
              <a:t>strategy that systematically and uniformly scales network depth, width, and input resolution using a fixed set of scaling coefficients.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balanced scaling approach enables the network to utilize </a:t>
            </a:r>
            <a:r>
              <a:rPr lang="en-US" sz="2000" dirty="0">
                <a:solidFill>
                  <a:srgbClr val="00B0F0"/>
                </a:solidFill>
                <a:latin typeface="Arial Narrow" panose="020B0606020202030204" pitchFamily="34" charset="0"/>
              </a:rPr>
              <a:t>computational resources more effectively</a:t>
            </a:r>
            <a:r>
              <a:rPr lang="en-US" sz="2000" dirty="0">
                <a:latin typeface="Arial Narrow" panose="020B0606020202030204" pitchFamily="34" charset="0"/>
              </a:rPr>
              <a:t>, achieving </a:t>
            </a:r>
            <a:r>
              <a:rPr lang="en-US" sz="2000" dirty="0">
                <a:solidFill>
                  <a:srgbClr val="00B0F0"/>
                </a:solidFill>
                <a:latin typeface="Arial Narrow" panose="020B0606020202030204" pitchFamily="34" charset="0"/>
              </a:rPr>
              <a:t>superior accuracy </a:t>
            </a:r>
            <a:r>
              <a:rPr lang="en-US" sz="2000" dirty="0">
                <a:latin typeface="Arial Narrow" panose="020B0606020202030204" pitchFamily="34" charset="0"/>
              </a:rPr>
              <a:t>while maintaining a relatively </a:t>
            </a:r>
            <a:r>
              <a:rPr lang="en-US" sz="2000" dirty="0">
                <a:solidFill>
                  <a:srgbClr val="00B0F0"/>
                </a:solidFill>
                <a:latin typeface="Arial Narrow" panose="020B0606020202030204" pitchFamily="34" charset="0"/>
              </a:rPr>
              <a:t>small model size and lower computational cost compared with conventional scaling methods</a:t>
            </a:r>
            <a:r>
              <a:rPr lang="en-US" sz="2000" dirty="0">
                <a:latin typeface="Arial Narrow" panose="020B0606020202030204" pitchFamily="34" charset="0"/>
              </a:rPr>
              <a:t>.</a:t>
            </a:r>
            <a:endParaRPr lang="en-IN" sz="2000" dirty="0"/>
          </a:p>
        </p:txBody>
      </p:sp>
      <p:sp>
        <p:nvSpPr>
          <p:cNvPr id="4" name="Rectangle 3">
            <a:extLst>
              <a:ext uri="{FF2B5EF4-FFF2-40B4-BE49-F238E27FC236}">
                <a16:creationId xmlns:a16="http://schemas.microsoft.com/office/drawing/2014/main" id="{B843FDC8-668C-441C-8D26-AA275E5E5A29}"/>
              </a:ext>
            </a:extLst>
          </p:cNvPr>
          <p:cNvSpPr/>
          <p:nvPr/>
        </p:nvSpPr>
        <p:spPr>
          <a:xfrm>
            <a:off x="412376" y="6423212"/>
            <a:ext cx="9610166" cy="307777"/>
          </a:xfrm>
          <a:prstGeom prst="rect">
            <a:avLst/>
          </a:prstGeom>
        </p:spPr>
        <p:txBody>
          <a:bodyPr wrap="square">
            <a:spAutoFit/>
          </a:bodyPr>
          <a:lstStyle/>
          <a:p>
            <a:r>
              <a:rPr lang="es-ES" sz="1400" dirty="0" err="1">
                <a:latin typeface="Arial Narrow" panose="020B0606020202030204" pitchFamily="34" charset="0"/>
              </a:rPr>
              <a:t>Mingxing</a:t>
            </a:r>
            <a:r>
              <a:rPr lang="es-ES" sz="1400" dirty="0">
                <a:latin typeface="Arial Narrow" panose="020B0606020202030204" pitchFamily="34" charset="0"/>
              </a:rPr>
              <a:t> Tan, </a:t>
            </a:r>
            <a:r>
              <a:rPr lang="es-ES" sz="1400" dirty="0" err="1">
                <a:latin typeface="Arial Narrow" panose="020B0606020202030204" pitchFamily="34" charset="0"/>
              </a:rPr>
              <a:t>Quoc</a:t>
            </a:r>
            <a:r>
              <a:rPr lang="es-ES" sz="1400" dirty="0">
                <a:latin typeface="Arial Narrow" panose="020B0606020202030204" pitchFamily="34" charset="0"/>
              </a:rPr>
              <a:t> V. Le, </a:t>
            </a:r>
            <a:r>
              <a:rPr lang="en-IN" sz="1400" dirty="0" err="1">
                <a:latin typeface="Arial Narrow" panose="020B0606020202030204" pitchFamily="34" charset="0"/>
              </a:rPr>
              <a:t>EfficientNet</a:t>
            </a:r>
            <a:r>
              <a:rPr lang="en-IN" sz="1400" dirty="0">
                <a:latin typeface="Arial Narrow" panose="020B0606020202030204" pitchFamily="34" charset="0"/>
              </a:rPr>
              <a:t>: Rethinking Model Scaling for Convolutional Neural Networks, https://doi.org/10.48550/arXiv.1905.11946</a:t>
            </a:r>
            <a:endParaRPr lang="en-IN" dirty="0"/>
          </a:p>
        </p:txBody>
      </p:sp>
    </p:spTree>
    <p:extLst>
      <p:ext uri="{BB962C8B-B14F-4D97-AF65-F5344CB8AC3E}">
        <p14:creationId xmlns:p14="http://schemas.microsoft.com/office/powerpoint/2010/main" val="2789012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fficientNet: Improving Accuracy and Efficiency through AutoML and Model  Scaling">
            <a:extLst>
              <a:ext uri="{FF2B5EF4-FFF2-40B4-BE49-F238E27FC236}">
                <a16:creationId xmlns:a16="http://schemas.microsoft.com/office/drawing/2014/main" id="{05A844E2-88F5-4A97-BF7D-5150D17AF3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152" y="1308847"/>
            <a:ext cx="9475695" cy="473784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4D45CF8F-9EE9-432B-9A3D-5C06E2353002}"/>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Model Scaling</a:t>
            </a:r>
          </a:p>
        </p:txBody>
      </p:sp>
      <p:sp>
        <p:nvSpPr>
          <p:cNvPr id="5" name="Rectangle 4">
            <a:extLst>
              <a:ext uri="{FF2B5EF4-FFF2-40B4-BE49-F238E27FC236}">
                <a16:creationId xmlns:a16="http://schemas.microsoft.com/office/drawing/2014/main" id="{9DECBBB1-8995-4208-9E5F-4F4671957A5B}"/>
              </a:ext>
            </a:extLst>
          </p:cNvPr>
          <p:cNvSpPr/>
          <p:nvPr/>
        </p:nvSpPr>
        <p:spPr>
          <a:xfrm>
            <a:off x="412376" y="6423212"/>
            <a:ext cx="9610166" cy="307777"/>
          </a:xfrm>
          <a:prstGeom prst="rect">
            <a:avLst/>
          </a:prstGeom>
        </p:spPr>
        <p:txBody>
          <a:bodyPr wrap="square">
            <a:spAutoFit/>
          </a:bodyPr>
          <a:lstStyle/>
          <a:p>
            <a:r>
              <a:rPr lang="es-ES" sz="1400" dirty="0" err="1">
                <a:latin typeface="Arial Narrow" panose="020B0606020202030204" pitchFamily="34" charset="0"/>
              </a:rPr>
              <a:t>Mingxing</a:t>
            </a:r>
            <a:r>
              <a:rPr lang="es-ES" sz="1400" dirty="0">
                <a:latin typeface="Arial Narrow" panose="020B0606020202030204" pitchFamily="34" charset="0"/>
              </a:rPr>
              <a:t> Tan, </a:t>
            </a:r>
            <a:r>
              <a:rPr lang="es-ES" sz="1400" dirty="0" err="1">
                <a:latin typeface="Arial Narrow" panose="020B0606020202030204" pitchFamily="34" charset="0"/>
              </a:rPr>
              <a:t>Quoc</a:t>
            </a:r>
            <a:r>
              <a:rPr lang="es-ES" sz="1400" dirty="0">
                <a:latin typeface="Arial Narrow" panose="020B0606020202030204" pitchFamily="34" charset="0"/>
              </a:rPr>
              <a:t> V. Le, </a:t>
            </a:r>
            <a:r>
              <a:rPr lang="en-IN" sz="1400" dirty="0" err="1">
                <a:latin typeface="Arial Narrow" panose="020B0606020202030204" pitchFamily="34" charset="0"/>
              </a:rPr>
              <a:t>EfficientNet</a:t>
            </a:r>
            <a:r>
              <a:rPr lang="en-IN" sz="1400" dirty="0">
                <a:latin typeface="Arial Narrow" panose="020B0606020202030204" pitchFamily="34" charset="0"/>
              </a:rPr>
              <a:t>: Rethinking Model Scaling for Convolutional Neural Networks, https://doi.org/10.48550/arXiv.1905.11946</a:t>
            </a:r>
            <a:endParaRPr lang="en-IN" dirty="0"/>
          </a:p>
        </p:txBody>
      </p:sp>
    </p:spTree>
    <p:extLst>
      <p:ext uri="{BB962C8B-B14F-4D97-AF65-F5344CB8AC3E}">
        <p14:creationId xmlns:p14="http://schemas.microsoft.com/office/powerpoint/2010/main" val="423661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08DE4-D2A4-49E7-A8F4-6C016D62301D}"/>
              </a:ext>
            </a:extLst>
          </p:cNvPr>
          <p:cNvSpPr>
            <a:spLocks noGrp="1"/>
          </p:cNvSpPr>
          <p:nvPr>
            <p:ph type="title"/>
          </p:nvPr>
        </p:nvSpPr>
        <p:spPr/>
        <p:txBody>
          <a:bodyPr>
            <a:normAutofit/>
          </a:bodyPr>
          <a:lstStyle/>
          <a:p>
            <a:r>
              <a:rPr lang="en-IN" sz="3600" dirty="0">
                <a:latin typeface="Century" panose="02040604050505020304" pitchFamily="18" charset="0"/>
              </a:rPr>
              <a:t>Compound scaling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A0F8A1-A378-495C-824A-DFF808B80762}"/>
                  </a:ext>
                </a:extLst>
              </p:cNvPr>
              <p:cNvSpPr>
                <a:spLocks noGrp="1"/>
              </p:cNvSpPr>
              <p:nvPr>
                <p:ph idx="1"/>
              </p:nvPr>
            </p:nvSpPr>
            <p:spPr/>
            <p:txBody>
              <a:bodyPr>
                <a:noAutofit/>
              </a:bodyPr>
              <a:lstStyle/>
              <a:p>
                <a:pPr algn="just"/>
                <a:r>
                  <a:rPr lang="en-US" sz="2000" dirty="0">
                    <a:solidFill>
                      <a:srgbClr val="00B0F0"/>
                    </a:solidFill>
                    <a:latin typeface="Arial Narrow" panose="020B0606020202030204" pitchFamily="34" charset="0"/>
                  </a:rPr>
                  <a:t>Compound scaling </a:t>
                </a:r>
                <a:r>
                  <a:rPr lang="en-US" sz="2000" dirty="0">
                    <a:latin typeface="Arial Narrow" panose="020B0606020202030204" pitchFamily="34" charset="0"/>
                  </a:rPr>
                  <a:t>is a model scaling strategy introduced in Efficient Net that uniformly scales the three fundamental dimensions of a convolutional neural network (CNN)—</a:t>
                </a:r>
                <a:r>
                  <a:rPr lang="en-US" sz="2000" dirty="0">
                    <a:solidFill>
                      <a:srgbClr val="00B0F0"/>
                    </a:solidFill>
                    <a:latin typeface="Arial Narrow" panose="020B0606020202030204" pitchFamily="34" charset="0"/>
                  </a:rPr>
                  <a:t>network depth, network width</a:t>
                </a:r>
                <a:r>
                  <a:rPr lang="en-US" sz="2000" dirty="0">
                    <a:latin typeface="Arial Narrow" panose="020B0606020202030204" pitchFamily="34" charset="0"/>
                  </a:rPr>
                  <a:t>, and </a:t>
                </a:r>
                <a:r>
                  <a:rPr lang="en-US" sz="2000" dirty="0">
                    <a:solidFill>
                      <a:srgbClr val="00B0F0"/>
                    </a:solidFill>
                    <a:latin typeface="Arial Narrow" panose="020B0606020202030204" pitchFamily="34" charset="0"/>
                  </a:rPr>
                  <a:t>input image resolution</a:t>
                </a:r>
                <a:r>
                  <a:rPr lang="en-US" sz="2000" dirty="0">
                    <a:latin typeface="Arial Narrow" panose="020B0606020202030204" pitchFamily="34" charset="0"/>
                  </a:rPr>
                  <a:t>—using a single compound coefficient.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Unlike conventional scaling methods that increase only one dimension at a time, compound scaling maintains a </a:t>
                </a:r>
                <a:r>
                  <a:rPr lang="en-US" sz="2000" dirty="0">
                    <a:solidFill>
                      <a:srgbClr val="00B0F0"/>
                    </a:solidFill>
                    <a:latin typeface="Arial Narrow" panose="020B0606020202030204" pitchFamily="34" charset="0"/>
                  </a:rPr>
                  <a:t>balanced relationship among all three dimensions to maximize model accuracy while minimizing computational cost</a:t>
                </a:r>
                <a:r>
                  <a:rPr lang="en-US" sz="2000" dirty="0">
                    <a:latin typeface="Arial Narrow" panose="020B0606020202030204" pitchFamily="34" charset="0"/>
                  </a:rPr>
                  <a:t>. </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Specifically, given a scaling coefficient </a:t>
                </a:r>
                <a14:m>
                  <m:oMath xmlns:m="http://schemas.openxmlformats.org/officeDocument/2006/math">
                    <m:r>
                      <a:rPr lang="en-IN" sz="2000" b="0" i="0"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𝜑</m:t>
                    </m:r>
                    <m:r>
                      <a:rPr lang="en-IN" sz="2000" b="0" i="1" dirty="0" smtClean="0">
                        <a:latin typeface="Cambria Math" panose="02040503050406030204" pitchFamily="18" charset="0"/>
                        <a:ea typeface="Cambria Math" panose="02040503050406030204" pitchFamily="18" charset="0"/>
                      </a:rPr>
                      <m:t>)</m:t>
                    </m:r>
                  </m:oMath>
                </a14:m>
                <a:r>
                  <a:rPr lang="en-US" sz="2000" dirty="0">
                    <a:latin typeface="Arial Narrow" panose="020B0606020202030204" pitchFamily="34" charset="0"/>
                  </a:rPr>
                  <a:t>, the network depth, width, and input resolution are scaled according to the equations (</a:t>
                </a:r>
                <a14:m>
                  <m:oMath xmlns:m="http://schemas.openxmlformats.org/officeDocument/2006/math">
                    <m:r>
                      <a:rPr lang="en-IN" sz="2000" b="0" i="1" smtClean="0">
                        <a:latin typeface="Cambria Math" panose="02040503050406030204" pitchFamily="18" charset="0"/>
                      </a:rPr>
                      <m:t>𝑑</m:t>
                    </m:r>
                    <m:r>
                      <a:rPr lang="en-IN" sz="2000" b="0" i="1" smtClean="0">
                        <a:latin typeface="Cambria Math" panose="02040503050406030204" pitchFamily="18" charset="0"/>
                      </a:rPr>
                      <m:t>=</m:t>
                    </m:r>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ea typeface="Cambria Math" panose="02040503050406030204" pitchFamily="18" charset="0"/>
                          </a:rPr>
                          <m:t>𝛼</m:t>
                        </m:r>
                      </m:e>
                      <m:sup>
                        <m:r>
                          <a:rPr lang="en-IN" sz="2000" b="0" i="1" smtClean="0">
                            <a:latin typeface="Cambria Math" panose="02040503050406030204" pitchFamily="18" charset="0"/>
                            <a:ea typeface="Cambria Math" panose="02040503050406030204" pitchFamily="18" charset="0"/>
                          </a:rPr>
                          <m:t>𝜑</m:t>
                        </m:r>
                      </m:sup>
                    </m:sSup>
                  </m:oMath>
                </a14:m>
                <a:r>
                  <a:rPr lang="en-US" sz="2000" dirty="0">
                    <a:latin typeface="Arial Narrow" panose="020B0606020202030204" pitchFamily="34" charset="0"/>
                  </a:rPr>
                  <a:t>), (</a:t>
                </a:r>
                <a14:m>
                  <m:oMath xmlns:m="http://schemas.openxmlformats.org/officeDocument/2006/math">
                    <m:r>
                      <a:rPr lang="en-IN" sz="2000" b="0" i="1" dirty="0" smtClean="0">
                        <a:latin typeface="Cambria Math" panose="02040503050406030204" pitchFamily="18" charset="0"/>
                      </a:rPr>
                      <m:t>𝑤</m:t>
                    </m:r>
                    <m:r>
                      <a:rPr lang="en-IN" sz="2000" i="1" dirty="0" smtClean="0">
                        <a:latin typeface="Cambria Math" panose="02040503050406030204" pitchFamily="18" charset="0"/>
                      </a:rPr>
                      <m:t>=</m:t>
                    </m:r>
                    <m:sSup>
                      <m:sSupPr>
                        <m:ctrlPr>
                          <a:rPr lang="en-IN" sz="2000" i="1" dirty="0" smtClean="0">
                            <a:latin typeface="Cambria Math" panose="02040503050406030204" pitchFamily="18" charset="0"/>
                          </a:rPr>
                        </m:ctrlPr>
                      </m:sSupPr>
                      <m:e>
                        <m:r>
                          <a:rPr lang="en-IN" sz="2000" i="1" dirty="0" smtClean="0">
                            <a:latin typeface="Cambria Math" panose="02040503050406030204" pitchFamily="18" charset="0"/>
                            <a:ea typeface="Cambria Math" panose="02040503050406030204" pitchFamily="18" charset="0"/>
                          </a:rPr>
                          <m:t>𝛽</m:t>
                        </m:r>
                      </m:e>
                      <m:sup>
                        <m:r>
                          <a:rPr lang="en-IN" sz="2000" i="1" dirty="0" smtClean="0">
                            <a:latin typeface="Cambria Math" panose="02040503050406030204" pitchFamily="18" charset="0"/>
                            <a:ea typeface="Cambria Math" panose="02040503050406030204" pitchFamily="18" charset="0"/>
                          </a:rPr>
                          <m:t>𝜑</m:t>
                        </m:r>
                      </m:sup>
                    </m:sSup>
                  </m:oMath>
                </a14:m>
                <a:r>
                  <a:rPr lang="en-US" sz="2000" dirty="0">
                    <a:latin typeface="Arial Narrow" panose="020B0606020202030204" pitchFamily="34" charset="0"/>
                  </a:rPr>
                  <a:t>), and (</a:t>
                </a:r>
                <a14:m>
                  <m:oMath xmlns:m="http://schemas.openxmlformats.org/officeDocument/2006/math">
                    <m:r>
                      <a:rPr lang="en-IN" sz="2000" b="0" i="1" smtClean="0">
                        <a:latin typeface="Cambria Math" panose="02040503050406030204" pitchFamily="18" charset="0"/>
                      </a:rPr>
                      <m:t>𝑟</m:t>
                    </m:r>
                    <m:r>
                      <a:rPr lang="en-IN" sz="2000" b="0" i="1" smtClean="0">
                        <a:latin typeface="Cambria Math" panose="02040503050406030204" pitchFamily="18" charset="0"/>
                      </a:rPr>
                      <m:t>=</m:t>
                    </m:r>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ea typeface="Cambria Math" panose="02040503050406030204" pitchFamily="18" charset="0"/>
                          </a:rPr>
                          <m:t>𝛾</m:t>
                        </m:r>
                      </m:e>
                      <m:sup>
                        <m:r>
                          <a:rPr lang="en-IN" sz="2000" b="0" i="1" smtClean="0">
                            <a:latin typeface="Cambria Math" panose="02040503050406030204" pitchFamily="18" charset="0"/>
                            <a:ea typeface="Cambria Math" panose="02040503050406030204" pitchFamily="18" charset="0"/>
                          </a:rPr>
                          <m:t>𝜑</m:t>
                        </m:r>
                      </m:sup>
                    </m:sSup>
                  </m:oMath>
                </a14:m>
                <a:r>
                  <a:rPr lang="en-US" sz="2000" dirty="0">
                    <a:latin typeface="Arial Narrow" panose="020B0606020202030204" pitchFamily="34" charset="0"/>
                  </a:rPr>
                  <a:t>), where (</a:t>
                </a:r>
                <a14:m>
                  <m:oMath xmlns:m="http://schemas.openxmlformats.org/officeDocument/2006/math">
                    <m:r>
                      <a:rPr lang="en-IN" sz="2000" i="1">
                        <a:latin typeface="Cambria Math" panose="02040503050406030204" pitchFamily="18" charset="0"/>
                        <a:ea typeface="Cambria Math" panose="02040503050406030204" pitchFamily="18" charset="0"/>
                      </a:rPr>
                      <m:t>𝛼</m:t>
                    </m:r>
                  </m:oMath>
                </a14:m>
                <a:r>
                  <a:rPr lang="en-US" sz="2000" dirty="0">
                    <a:latin typeface="Arial Narrow" panose="020B0606020202030204" pitchFamily="34" charset="0"/>
                  </a:rPr>
                  <a:t>), (</a:t>
                </a:r>
                <a14:m>
                  <m:oMath xmlns:m="http://schemas.openxmlformats.org/officeDocument/2006/math">
                    <m:r>
                      <a:rPr lang="en-IN" sz="2000" i="1" dirty="0">
                        <a:latin typeface="Cambria Math" panose="02040503050406030204" pitchFamily="18" charset="0"/>
                        <a:ea typeface="Cambria Math" panose="02040503050406030204" pitchFamily="18" charset="0"/>
                      </a:rPr>
                      <m:t>𝛽</m:t>
                    </m:r>
                  </m:oMath>
                </a14:m>
                <a:r>
                  <a:rPr lang="en-US" sz="2000" dirty="0">
                    <a:latin typeface="Arial Narrow" panose="020B0606020202030204" pitchFamily="34" charset="0"/>
                  </a:rPr>
                  <a:t>), and (</a:t>
                </a:r>
                <a14:m>
                  <m:oMath xmlns:m="http://schemas.openxmlformats.org/officeDocument/2006/math">
                    <m:r>
                      <a:rPr lang="en-IN" sz="2000" i="1">
                        <a:latin typeface="Cambria Math" panose="02040503050406030204" pitchFamily="18" charset="0"/>
                        <a:ea typeface="Cambria Math" panose="02040503050406030204" pitchFamily="18" charset="0"/>
                      </a:rPr>
                      <m:t>𝛾</m:t>
                    </m:r>
                  </m:oMath>
                </a14:m>
                <a:r>
                  <a:rPr lang="en-US" sz="2000" dirty="0">
                    <a:latin typeface="Arial Narrow" panose="020B0606020202030204" pitchFamily="34" charset="0"/>
                  </a:rPr>
                  <a:t>) are predefined scaling constants determined through optimization. </a:t>
                </a:r>
              </a:p>
            </p:txBody>
          </p:sp>
        </mc:Choice>
        <mc:Fallback xmlns="">
          <p:sp>
            <p:nvSpPr>
              <p:cNvPr id="3" name="Content Placeholder 2">
                <a:extLst>
                  <a:ext uri="{FF2B5EF4-FFF2-40B4-BE49-F238E27FC236}">
                    <a16:creationId xmlns:a16="http://schemas.microsoft.com/office/drawing/2014/main" id="{EEA0F8A1-A378-495C-824A-DFF808B80762}"/>
                  </a:ext>
                </a:extLst>
              </p:cNvPr>
              <p:cNvSpPr>
                <a:spLocks noGrp="1" noRot="1" noChangeAspect="1" noMove="1" noResize="1" noEditPoints="1" noAdjustHandles="1" noChangeArrowheads="1" noChangeShapeType="1" noTextEdit="1"/>
              </p:cNvSpPr>
              <p:nvPr>
                <p:ph idx="1"/>
              </p:nvPr>
            </p:nvSpPr>
            <p:spPr>
              <a:blipFill>
                <a:blip r:embed="rId2"/>
                <a:stretch>
                  <a:fillRect l="-522" t="-1401" r="-580"/>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254B87D9-E325-41C0-9218-C96509F8CD7C}"/>
              </a:ext>
            </a:extLst>
          </p:cNvPr>
          <p:cNvSpPr/>
          <p:nvPr/>
        </p:nvSpPr>
        <p:spPr>
          <a:xfrm>
            <a:off x="412376" y="6441142"/>
            <a:ext cx="9610166" cy="307777"/>
          </a:xfrm>
          <a:prstGeom prst="rect">
            <a:avLst/>
          </a:prstGeom>
        </p:spPr>
        <p:txBody>
          <a:bodyPr wrap="square">
            <a:spAutoFit/>
          </a:bodyPr>
          <a:lstStyle/>
          <a:p>
            <a:r>
              <a:rPr lang="es-ES" sz="1400" dirty="0" err="1">
                <a:latin typeface="Arial Narrow" panose="020B0606020202030204" pitchFamily="34" charset="0"/>
              </a:rPr>
              <a:t>Mingxing</a:t>
            </a:r>
            <a:r>
              <a:rPr lang="es-ES" sz="1400" dirty="0">
                <a:latin typeface="Arial Narrow" panose="020B0606020202030204" pitchFamily="34" charset="0"/>
              </a:rPr>
              <a:t> Tan, </a:t>
            </a:r>
            <a:r>
              <a:rPr lang="es-ES" sz="1400" dirty="0" err="1">
                <a:latin typeface="Arial Narrow" panose="020B0606020202030204" pitchFamily="34" charset="0"/>
              </a:rPr>
              <a:t>Quoc</a:t>
            </a:r>
            <a:r>
              <a:rPr lang="es-ES" sz="1400" dirty="0">
                <a:latin typeface="Arial Narrow" panose="020B0606020202030204" pitchFamily="34" charset="0"/>
              </a:rPr>
              <a:t> V. Le, </a:t>
            </a:r>
            <a:r>
              <a:rPr lang="en-IN" sz="1400" dirty="0" err="1">
                <a:latin typeface="Arial Narrow" panose="020B0606020202030204" pitchFamily="34" charset="0"/>
              </a:rPr>
              <a:t>EfficientNet</a:t>
            </a:r>
            <a:r>
              <a:rPr lang="en-IN" sz="1400" dirty="0">
                <a:latin typeface="Arial Narrow" panose="020B0606020202030204" pitchFamily="34" charset="0"/>
              </a:rPr>
              <a:t>: Rethinking Model Scaling for Convolutional Neural Networks, https://doi.org/10.48550/arXiv.1905.11946</a:t>
            </a:r>
            <a:endParaRPr lang="en-IN" dirty="0"/>
          </a:p>
        </p:txBody>
      </p:sp>
    </p:spTree>
    <p:extLst>
      <p:ext uri="{BB962C8B-B14F-4D97-AF65-F5344CB8AC3E}">
        <p14:creationId xmlns:p14="http://schemas.microsoft.com/office/powerpoint/2010/main" val="2960098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DEE412-BE3B-408E-8684-276468D36525}"/>
                  </a:ext>
                </a:extLst>
              </p:cNvPr>
              <p:cNvSpPr>
                <a:spLocks noGrp="1"/>
              </p:cNvSpPr>
              <p:nvPr>
                <p:ph idx="1"/>
              </p:nvPr>
            </p:nvSpPr>
            <p:spPr/>
            <p:txBody>
              <a:bodyPr>
                <a:normAutofit/>
              </a:bodyPr>
              <a:lstStyle/>
              <a:p>
                <a:pPr algn="just"/>
                <a:r>
                  <a:rPr lang="en-US" sz="2200" dirty="0">
                    <a:latin typeface="Arial Narrow" panose="020B0606020202030204" pitchFamily="34" charset="0"/>
                  </a:rPr>
                  <a:t>These coefficients satisfy the constraint (</a:t>
                </a:r>
                <a14:m>
                  <m:oMath xmlns:m="http://schemas.openxmlformats.org/officeDocument/2006/math">
                    <m:r>
                      <a:rPr lang="en-US" sz="2200" i="1" smtClean="0">
                        <a:solidFill>
                          <a:srgbClr val="00B0F0"/>
                        </a:solidFill>
                        <a:latin typeface="Cambria Math" panose="02040503050406030204" pitchFamily="18" charset="0"/>
                        <a:ea typeface="Cambria Math" panose="02040503050406030204" pitchFamily="18" charset="0"/>
                      </a:rPr>
                      <m:t>𝛼</m:t>
                    </m:r>
                    <m:r>
                      <a:rPr lang="en-IN" sz="2200" b="0" i="1" smtClean="0">
                        <a:solidFill>
                          <a:srgbClr val="00B0F0"/>
                        </a:solidFill>
                        <a:latin typeface="Cambria Math" panose="02040503050406030204" pitchFamily="18" charset="0"/>
                        <a:ea typeface="Cambria Math" panose="02040503050406030204" pitchFamily="18" charset="0"/>
                      </a:rPr>
                      <m:t>.</m:t>
                    </m:r>
                    <m:sSup>
                      <m:sSupPr>
                        <m:ctrlPr>
                          <a:rPr lang="en-IN" sz="2200" b="0" i="1" smtClean="0">
                            <a:solidFill>
                              <a:srgbClr val="00B0F0"/>
                            </a:solidFill>
                            <a:latin typeface="Cambria Math" panose="02040503050406030204" pitchFamily="18" charset="0"/>
                            <a:ea typeface="Cambria Math" panose="02040503050406030204" pitchFamily="18" charset="0"/>
                          </a:rPr>
                        </m:ctrlPr>
                      </m:sSupPr>
                      <m:e>
                        <m:r>
                          <a:rPr lang="en-IN" sz="2200" b="0" i="1" smtClean="0">
                            <a:solidFill>
                              <a:srgbClr val="00B0F0"/>
                            </a:solidFill>
                            <a:latin typeface="Cambria Math" panose="02040503050406030204" pitchFamily="18" charset="0"/>
                            <a:ea typeface="Cambria Math" panose="02040503050406030204" pitchFamily="18" charset="0"/>
                          </a:rPr>
                          <m:t>𝛽</m:t>
                        </m:r>
                      </m:e>
                      <m:sup>
                        <m:r>
                          <a:rPr lang="en-IN" sz="2200" b="0" i="1" smtClean="0">
                            <a:solidFill>
                              <a:srgbClr val="00B0F0"/>
                            </a:solidFill>
                            <a:latin typeface="Cambria Math" panose="02040503050406030204" pitchFamily="18" charset="0"/>
                            <a:ea typeface="Cambria Math" panose="02040503050406030204" pitchFamily="18" charset="0"/>
                          </a:rPr>
                          <m:t>2</m:t>
                        </m:r>
                      </m:sup>
                    </m:sSup>
                    <m:r>
                      <a:rPr lang="en-IN" sz="2200" b="0" i="1" smtClean="0">
                        <a:solidFill>
                          <a:srgbClr val="00B0F0"/>
                        </a:solidFill>
                        <a:latin typeface="Cambria Math" panose="02040503050406030204" pitchFamily="18" charset="0"/>
                        <a:ea typeface="Cambria Math" panose="02040503050406030204" pitchFamily="18" charset="0"/>
                      </a:rPr>
                      <m:t>.</m:t>
                    </m:r>
                    <m:sSup>
                      <m:sSupPr>
                        <m:ctrlPr>
                          <a:rPr lang="en-IN" sz="2200" b="0" i="1" smtClean="0">
                            <a:solidFill>
                              <a:srgbClr val="00B0F0"/>
                            </a:solidFill>
                            <a:latin typeface="Cambria Math" panose="02040503050406030204" pitchFamily="18" charset="0"/>
                            <a:ea typeface="Cambria Math" panose="02040503050406030204" pitchFamily="18" charset="0"/>
                          </a:rPr>
                        </m:ctrlPr>
                      </m:sSupPr>
                      <m:e>
                        <m:r>
                          <a:rPr lang="en-IN" sz="2200" b="0" i="1" smtClean="0">
                            <a:solidFill>
                              <a:srgbClr val="00B0F0"/>
                            </a:solidFill>
                            <a:latin typeface="Cambria Math" panose="02040503050406030204" pitchFamily="18" charset="0"/>
                            <a:ea typeface="Cambria Math" panose="02040503050406030204" pitchFamily="18" charset="0"/>
                          </a:rPr>
                          <m:t>𝛾</m:t>
                        </m:r>
                      </m:e>
                      <m:sup>
                        <m:r>
                          <a:rPr lang="en-IN" sz="2200" b="0" i="1" smtClean="0">
                            <a:solidFill>
                              <a:srgbClr val="00B0F0"/>
                            </a:solidFill>
                            <a:latin typeface="Cambria Math" panose="02040503050406030204" pitchFamily="18" charset="0"/>
                            <a:ea typeface="Cambria Math" panose="02040503050406030204" pitchFamily="18" charset="0"/>
                          </a:rPr>
                          <m:t>2</m:t>
                        </m:r>
                      </m:sup>
                    </m:sSup>
                    <m:r>
                      <a:rPr lang="en-IN" sz="2200" b="0" i="1" smtClean="0">
                        <a:solidFill>
                          <a:srgbClr val="00B0F0"/>
                        </a:solidFill>
                        <a:latin typeface="Cambria Math" panose="02040503050406030204" pitchFamily="18" charset="0"/>
                        <a:ea typeface="Cambria Math" panose="02040503050406030204" pitchFamily="18" charset="0"/>
                      </a:rPr>
                      <m:t>≈2</m:t>
                    </m:r>
                  </m:oMath>
                </a14:m>
                <a:r>
                  <a:rPr lang="en-US" sz="2200" dirty="0">
                    <a:latin typeface="Arial Narrow" panose="020B0606020202030204" pitchFamily="34" charset="0"/>
                  </a:rPr>
                  <a:t>), ensuring that the computational complexity, measured in floating-point operations (FLOPs), approximately doubles with each increment of the compound coefficient.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By jointly scaling these dimensions in a principled manner, </a:t>
                </a:r>
                <a:r>
                  <a:rPr lang="en-US" sz="2200" dirty="0">
                    <a:solidFill>
                      <a:srgbClr val="00B0F0"/>
                    </a:solidFill>
                    <a:latin typeface="Arial Narrow" panose="020B0606020202030204" pitchFamily="34" charset="0"/>
                  </a:rPr>
                  <a:t>compound scaling achieves a more effective balance between feature representation, model capacity, and computational efficiency </a:t>
                </a:r>
                <a:r>
                  <a:rPr lang="en-US" sz="2200" dirty="0">
                    <a:latin typeface="Arial Narrow" panose="020B0606020202030204" pitchFamily="34" charset="0"/>
                  </a:rPr>
                  <a:t>than independent scaling approaches.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This methodology enables the Efficient Net family (EfficientNet-B0 to EfficientNet-B7) to </a:t>
                </a:r>
                <a:r>
                  <a:rPr lang="en-US" sz="2200" dirty="0">
                    <a:solidFill>
                      <a:srgbClr val="00B0F0"/>
                    </a:solidFill>
                    <a:latin typeface="Arial Narrow" panose="020B0606020202030204" pitchFamily="34" charset="0"/>
                  </a:rPr>
                  <a:t>deliver state-of-the-art accuracy while maintaining significantly fewer parameters and lower computational requirements</a:t>
                </a:r>
                <a:r>
                  <a:rPr lang="en-US" sz="2200" dirty="0">
                    <a:latin typeface="Arial Narrow" panose="020B0606020202030204" pitchFamily="34" charset="0"/>
                  </a:rPr>
                  <a:t>, making it highly suitable for both </a:t>
                </a:r>
                <a:r>
                  <a:rPr lang="en-US" sz="2200" dirty="0">
                    <a:solidFill>
                      <a:srgbClr val="00B0F0"/>
                    </a:solidFill>
                    <a:latin typeface="Arial Narrow" panose="020B0606020202030204" pitchFamily="34" charset="0"/>
                  </a:rPr>
                  <a:t>high-performance and resource-constrained computer vision applications</a:t>
                </a:r>
                <a:r>
                  <a:rPr lang="en-US" sz="2200" dirty="0">
                    <a:latin typeface="Arial Narrow" panose="020B0606020202030204" pitchFamily="34" charset="0"/>
                  </a:rPr>
                  <a:t>.</a:t>
                </a:r>
                <a:endParaRPr lang="en-IN" sz="2200" dirty="0">
                  <a:latin typeface="Arial Narrow" panose="020B0606020202030204" pitchFamily="34" charset="0"/>
                </a:endParaRPr>
              </a:p>
              <a:p>
                <a:endParaRPr lang="en-IN" dirty="0"/>
              </a:p>
            </p:txBody>
          </p:sp>
        </mc:Choice>
        <mc:Fallback xmlns="">
          <p:sp>
            <p:nvSpPr>
              <p:cNvPr id="3" name="Content Placeholder 2">
                <a:extLst>
                  <a:ext uri="{FF2B5EF4-FFF2-40B4-BE49-F238E27FC236}">
                    <a16:creationId xmlns:a16="http://schemas.microsoft.com/office/drawing/2014/main" id="{0EDEE412-BE3B-408E-8684-276468D36525}"/>
                  </a:ext>
                </a:extLst>
              </p:cNvPr>
              <p:cNvSpPr>
                <a:spLocks noGrp="1" noRot="1" noChangeAspect="1" noMove="1" noResize="1" noEditPoints="1" noAdjustHandles="1" noChangeArrowheads="1" noChangeShapeType="1" noTextEdit="1"/>
              </p:cNvSpPr>
              <p:nvPr>
                <p:ph idx="1"/>
              </p:nvPr>
            </p:nvSpPr>
            <p:spPr>
              <a:blipFill>
                <a:blip r:embed="rId2"/>
                <a:stretch>
                  <a:fillRect l="-696" t="-1541" r="-696"/>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9718083D-E40F-4C8D-A781-B1E8B4E4A75E}"/>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Compound scaling </a:t>
            </a:r>
          </a:p>
        </p:txBody>
      </p:sp>
      <p:sp>
        <p:nvSpPr>
          <p:cNvPr id="5" name="Rectangle 4">
            <a:extLst>
              <a:ext uri="{FF2B5EF4-FFF2-40B4-BE49-F238E27FC236}">
                <a16:creationId xmlns:a16="http://schemas.microsoft.com/office/drawing/2014/main" id="{B410AC9E-95B3-47B3-922E-B56C7C79B8E8}"/>
              </a:ext>
            </a:extLst>
          </p:cNvPr>
          <p:cNvSpPr/>
          <p:nvPr/>
        </p:nvSpPr>
        <p:spPr>
          <a:xfrm>
            <a:off x="412376" y="6423212"/>
            <a:ext cx="9610166" cy="307777"/>
          </a:xfrm>
          <a:prstGeom prst="rect">
            <a:avLst/>
          </a:prstGeom>
        </p:spPr>
        <p:txBody>
          <a:bodyPr wrap="square">
            <a:spAutoFit/>
          </a:bodyPr>
          <a:lstStyle/>
          <a:p>
            <a:r>
              <a:rPr lang="es-ES" sz="1400" dirty="0" err="1">
                <a:latin typeface="Arial Narrow" panose="020B0606020202030204" pitchFamily="34" charset="0"/>
              </a:rPr>
              <a:t>Mingxing</a:t>
            </a:r>
            <a:r>
              <a:rPr lang="es-ES" sz="1400" dirty="0">
                <a:latin typeface="Arial Narrow" panose="020B0606020202030204" pitchFamily="34" charset="0"/>
              </a:rPr>
              <a:t> Tan, </a:t>
            </a:r>
            <a:r>
              <a:rPr lang="es-ES" sz="1400" dirty="0" err="1">
                <a:latin typeface="Arial Narrow" panose="020B0606020202030204" pitchFamily="34" charset="0"/>
              </a:rPr>
              <a:t>Quoc</a:t>
            </a:r>
            <a:r>
              <a:rPr lang="es-ES" sz="1400" dirty="0">
                <a:latin typeface="Arial Narrow" panose="020B0606020202030204" pitchFamily="34" charset="0"/>
              </a:rPr>
              <a:t> V. Le, </a:t>
            </a:r>
            <a:r>
              <a:rPr lang="en-IN" sz="1400" dirty="0" err="1">
                <a:latin typeface="Arial Narrow" panose="020B0606020202030204" pitchFamily="34" charset="0"/>
              </a:rPr>
              <a:t>EfficientNet</a:t>
            </a:r>
            <a:r>
              <a:rPr lang="en-IN" sz="1400" dirty="0">
                <a:latin typeface="Arial Narrow" panose="020B0606020202030204" pitchFamily="34" charset="0"/>
              </a:rPr>
              <a:t>: Rethinking Model Scaling for Convolutional Neural Networks, https://doi.org/10.48550/arXiv.1905.11946</a:t>
            </a:r>
            <a:endParaRPr lang="en-IN" dirty="0"/>
          </a:p>
        </p:txBody>
      </p:sp>
    </p:spTree>
    <p:extLst>
      <p:ext uri="{BB962C8B-B14F-4D97-AF65-F5344CB8AC3E}">
        <p14:creationId xmlns:p14="http://schemas.microsoft.com/office/powerpoint/2010/main" val="1267417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B80029-4EAA-4050-95AD-F786E41909AC}"/>
              </a:ext>
            </a:extLst>
          </p:cNvPr>
          <p:cNvSpPr>
            <a:spLocks noGrp="1"/>
          </p:cNvSpPr>
          <p:nvPr>
            <p:ph type="title"/>
          </p:nvPr>
        </p:nvSpPr>
        <p:spPr/>
        <p:txBody>
          <a:bodyPr>
            <a:normAutofit/>
          </a:bodyPr>
          <a:lstStyle/>
          <a:p>
            <a:r>
              <a:rPr lang="en-IN" sz="3600" dirty="0">
                <a:latin typeface="Century" panose="02040604050505020304" pitchFamily="18" charset="0"/>
              </a:rPr>
              <a:t>Summary</a:t>
            </a:r>
          </a:p>
        </p:txBody>
      </p:sp>
      <p:sp>
        <p:nvSpPr>
          <p:cNvPr id="5" name="Content Placeholder 4">
            <a:extLst>
              <a:ext uri="{FF2B5EF4-FFF2-40B4-BE49-F238E27FC236}">
                <a16:creationId xmlns:a16="http://schemas.microsoft.com/office/drawing/2014/main" id="{4E59758B-DD80-4677-B579-AF6EC83245F0}"/>
              </a:ext>
            </a:extLst>
          </p:cNvPr>
          <p:cNvSpPr>
            <a:spLocks noGrp="1"/>
          </p:cNvSpPr>
          <p:nvPr>
            <p:ph idx="1"/>
          </p:nvPr>
        </p:nvSpPr>
        <p:spPr/>
        <p:txBody>
          <a:bodyPr/>
          <a:lstStyle/>
          <a:p>
            <a:r>
              <a:rPr lang="en-IN" dirty="0">
                <a:latin typeface="Arial Narrow" panose="020B0606020202030204" pitchFamily="34" charset="0"/>
              </a:rPr>
              <a:t>Dense Net</a:t>
            </a:r>
          </a:p>
          <a:p>
            <a:r>
              <a:rPr lang="en-IN" dirty="0">
                <a:latin typeface="Arial Narrow" panose="020B0606020202030204" pitchFamily="34" charset="0"/>
              </a:rPr>
              <a:t>Mobile Net</a:t>
            </a:r>
          </a:p>
          <a:p>
            <a:r>
              <a:rPr lang="en-IN" dirty="0">
                <a:latin typeface="Arial Narrow" panose="020B0606020202030204" pitchFamily="34" charset="0"/>
              </a:rPr>
              <a:t>Efficient Net</a:t>
            </a:r>
          </a:p>
          <a:p>
            <a:pPr marL="0" indent="0">
              <a:buNone/>
            </a:pPr>
            <a:endParaRPr lang="en-IN" dirty="0"/>
          </a:p>
        </p:txBody>
      </p:sp>
    </p:spTree>
    <p:extLst>
      <p:ext uri="{BB962C8B-B14F-4D97-AF65-F5344CB8AC3E}">
        <p14:creationId xmlns:p14="http://schemas.microsoft.com/office/powerpoint/2010/main" val="3390790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543688"/>
            <a:ext cx="9144000" cy="2387600"/>
          </a:xfrm>
        </p:spPr>
        <p:txBody>
          <a:bodyPr>
            <a:normAutofit/>
          </a:bodyPr>
          <a:lstStyle/>
          <a:p>
            <a:r>
              <a:rPr lang="en-IN" sz="4000" dirty="0">
                <a:solidFill>
                  <a:srgbClr val="002060"/>
                </a:solidFill>
                <a:latin typeface="Arial Narrow" panose="020B0606020202030204" pitchFamily="34" charset="0"/>
              </a:rPr>
              <a:t>Sequential Learning</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6: Part I</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12220</TotalTime>
  <Words>2370</Words>
  <Application>Microsoft Office PowerPoint</Application>
  <PresentationFormat>Widescreen</PresentationFormat>
  <Paragraphs>241</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Arial Narrow</vt:lpstr>
      <vt:lpstr>Book Antiqua</vt:lpstr>
      <vt:lpstr>Calibri</vt:lpstr>
      <vt:lpstr>Calibri Light</vt:lpstr>
      <vt:lpstr>Cambria Math</vt:lpstr>
      <vt:lpstr>Century</vt:lpstr>
      <vt:lpstr>Times New Roman</vt:lpstr>
      <vt:lpstr>Office Theme</vt:lpstr>
      <vt:lpstr>CNN Model Architectures -II </vt:lpstr>
      <vt:lpstr>Content</vt:lpstr>
      <vt:lpstr>Content</vt:lpstr>
      <vt:lpstr>Dense-Net</vt:lpstr>
      <vt:lpstr>Dense-Net</vt:lpstr>
      <vt:lpstr>Dense-Net</vt:lpstr>
      <vt:lpstr>Dense-Net</vt:lpstr>
      <vt:lpstr>Content</vt:lpstr>
      <vt:lpstr> Mobile Net </vt:lpstr>
      <vt:lpstr>Depth-wise separable convolutions</vt:lpstr>
      <vt:lpstr>Depth-wise convolution </vt:lpstr>
      <vt:lpstr>Depth-wise convolution </vt:lpstr>
      <vt:lpstr> Pointwise convolution</vt:lpstr>
      <vt:lpstr>Depth-wise separable convolutions</vt:lpstr>
      <vt:lpstr> Mobile Net </vt:lpstr>
      <vt:lpstr>Content</vt:lpstr>
      <vt:lpstr>Efficient Net</vt:lpstr>
      <vt:lpstr>Efficient Net</vt:lpstr>
      <vt:lpstr>Model Scaling</vt:lpstr>
      <vt:lpstr>Model Scaling</vt:lpstr>
      <vt:lpstr>Model Scaling</vt:lpstr>
      <vt:lpstr>Compound scaling </vt:lpstr>
      <vt:lpstr>Compound scaling </vt:lpstr>
      <vt:lpstr>Summary</vt:lpstr>
      <vt:lpstr>Sequential Learning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CNN for Vision Applications - II Model Architectures </dc:title>
  <dc:creator>IITG</dc:creator>
  <cp:lastModifiedBy>HP</cp:lastModifiedBy>
  <cp:revision>45</cp:revision>
  <dcterms:created xsi:type="dcterms:W3CDTF">2026-07-19T08:23:57Z</dcterms:created>
  <dcterms:modified xsi:type="dcterms:W3CDTF">2026-07-30T16:09:37Z</dcterms:modified>
</cp:coreProperties>
</file>